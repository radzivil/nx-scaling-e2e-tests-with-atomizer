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ask these and actually wait. The italic lines are what usually happens, not something to read out. The third question is the one that stings — that is the gap you are here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argument for caring. Do not oversell AI — the point is only that the ratio moved. Generation is cheap, verification is not, so verification is where the leverage went.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 it is orientation, not content. The one thing to point at is that the libs are shared unevenly: formatting by shop and admin, ui by admin and docs. That asymmetry is what makes the affected demo land later. Have `nx graph` open in a tab if you would rather show the real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4m20s to 55s, but do not skip rung 2. Rung 3 is one flag and gets most of the win; rung 4 needs CI to have a matrix. Tell them to climb only as far as their pain justifies. Re-measure with npm run e2e:benchmark before the talk — rung 3 varied between 2m11s and 2m32s on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Q&amp;A. The bullet list is a prompt for the room when nobody wants to 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you answer the last question so people can scan it before they stand. Read the recap only if the room is still settling; otherwise let them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41148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700" dirty="0"/>
          </a:p>
        </p:txBody>
      </p:sp>
      <p:sp>
        <p:nvSpPr>
          <p:cNvPr id="5" name="Shape 3"/>
          <p:cNvSpPr/>
          <p:nvPr/>
        </p:nvSpPr>
        <p:spPr>
          <a:xfrm>
            <a:off x="640080" y="3977640"/>
            <a:ext cx="1005840" cy="32004"/>
          </a:xfrm>
          <a:prstGeom prst="rect">
            <a:avLst/>
          </a:prstGeom>
          <a:solidFill>
            <a:srgbClr val="4ADE80"/>
          </a:solidFill>
          <a:ln w="12700">
            <a:solidFill>
              <a:srgbClr val="333333"/>
            </a:solidFill>
            <a:prstDash val="solid"/>
          </a:ln>
        </p:spPr>
      </p:sp>
      <p:sp>
        <p:nvSpPr>
          <p:cNvPr id="6" name="Text 4"/>
          <p:cNvSpPr txBox="1"/>
          <p:nvPr/>
        </p:nvSpPr>
        <p:spPr>
          <a:xfrm>
            <a:off x="640080" y="4297680"/>
            <a:ext cx="786384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7" name="Text 5"/>
          <p:cNvSpPr txBox="1"/>
          <p:nvPr/>
        </p:nvSpPr>
        <p:spPr>
          <a:xfrm>
            <a:off x="640080" y="4709160"/>
            <a:ext cx="786384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8"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9" name="Image 0" descr="/Users/vra/IdeaProjects/nx-scaling-e2e-tests-with-atomizer/talk/assets/qr-linkedin.png">    </p:cNvPr>
          <p:cNvPicPr>
            <a:picLocks noChangeAspect="1"/>
          </p:cNvPicPr>
          <p:nvPr/>
        </p:nvPicPr>
        <p:blipFill>
          <a:blip r:embed="rId1"/>
          <a:stretch>
            <a:fillRect/>
          </a:stretch>
        </p:blipFill>
        <p:spPr>
          <a:xfrm>
            <a:off x="8988552" y="2130552"/>
            <a:ext cx="2048256" cy="2048256"/>
          </a:xfrm>
          <a:prstGeom prst="rect">
            <a:avLst/>
          </a:prstGeom>
        </p:spPr>
      </p:pic>
      <p:sp>
        <p:nvSpPr>
          <p:cNvPr id="10"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Three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FFFFF"/>
          </a:solidFill>
          <a:ln w="12700">
            <a:solidFill>
              <a:srgbClr val="E2E6ED"/>
            </a:solidFill>
            <a:prstDash val="solid"/>
          </a:ln>
        </p:spPr>
      </p:sp>
      <p:sp>
        <p:nvSpPr>
          <p:cNvPr id="15" name="Shape 13"/>
          <p:cNvSpPr/>
          <p:nvPr/>
        </p:nvSpPr>
        <p:spPr>
          <a:xfrm>
            <a:off x="8275320" y="2240280"/>
            <a:ext cx="566928" cy="566928"/>
          </a:xfrm>
          <a:prstGeom prst="ellipse">
            <a:avLst/>
          </a:prstGeom>
          <a:solidFill>
            <a:srgbClr val="FBE0E2"/>
          </a:solidFill>
          <a:ln w="12700">
            <a:solidFill>
              <a:srgbClr val="333333"/>
            </a:solidFill>
            <a:prstDash val="solid"/>
          </a:ln>
        </p:spPr>
      </p:sp>
      <p:sp>
        <p:nvSpPr>
          <p:cNvPr id="16" name="Text 14"/>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27532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8" name="Text 16"/>
          <p:cNvSpPr txBox="1"/>
          <p:nvPr/>
        </p:nvSpPr>
        <p:spPr>
          <a:xfrm>
            <a:off x="827532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Almost none.</a:t>
            </a:r>
            <a:endParaRPr lang="en-US" sz="1300" dirty="0"/>
          </a:p>
        </p:txBody>
      </p:sp>
      <p:sp>
        <p:nvSpPr>
          <p:cNvPr id="19" name="Shape 17"/>
          <p:cNvSpPr/>
          <p:nvPr/>
        </p:nvSpPr>
        <p:spPr>
          <a:xfrm>
            <a:off x="640080" y="4800600"/>
            <a:ext cx="10881360" cy="1051560"/>
          </a:xfrm>
          <a:prstGeom prst="roundRect">
            <a:avLst>
              <a:gd name="adj" fmla="val 6087"/>
            </a:avLst>
          </a:prstGeom>
          <a:solidFill>
            <a:srgbClr val="FFF7E6"/>
          </a:solidFill>
          <a:ln w="12700">
            <a:solidFill>
              <a:srgbClr val="F5A524"/>
            </a:solidFill>
            <a:prstDash val="solid"/>
          </a:ln>
        </p:spPr>
      </p:sp>
      <p:sp>
        <p:nvSpPr>
          <p:cNvPr id="20" name="Text 18"/>
          <p:cNvSpPr txBox="1"/>
          <p:nvPr/>
        </p:nvSpPr>
        <p:spPr>
          <a:xfrm>
            <a:off x="914400" y="49834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gap between question one and question three is this talk. Nobody gates a PR on a suite that takes twenty minutes and fails for reasons nobody trusts.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920240"/>
            <a:ext cx="5257800" cy="2103120"/>
          </a:xfrm>
          <a:prstGeom prst="roundRect">
            <a:avLst>
              <a:gd name="adj" fmla="val 3913"/>
            </a:avLst>
          </a:prstGeom>
          <a:solidFill>
            <a:srgbClr val="1B2029"/>
          </a:solidFill>
          <a:ln w="19050">
            <a:solidFill>
              <a:srgbClr val="4ADE80"/>
            </a:solidFill>
            <a:prstDash val="solid"/>
          </a:ln>
        </p:spPr>
      </p:sp>
      <p:sp>
        <p:nvSpPr>
          <p:cNvPr id="5" name="Text 3"/>
          <p:cNvSpPr txBox="1"/>
          <p:nvPr/>
        </p:nvSpPr>
        <p:spPr>
          <a:xfrm>
            <a:off x="914400" y="2148840"/>
            <a:ext cx="47091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Writing the change</a:t>
            </a:r>
            <a:endParaRPr lang="en-US" sz="2000" dirty="0"/>
          </a:p>
        </p:txBody>
      </p:sp>
      <p:sp>
        <p:nvSpPr>
          <p:cNvPr id="6" name="Text 4"/>
          <p:cNvSpPr txBox="1"/>
          <p:nvPr/>
        </p:nvSpPr>
        <p:spPr>
          <a:xfrm>
            <a:off x="914400" y="2606040"/>
            <a:ext cx="4709160" cy="365760"/>
          </a:xfrm>
          <a:prstGeom prst="rect">
            <a:avLst/>
          </a:prstGeom>
          <a:noFill/>
          <a:ln/>
        </p:spPr>
        <p:txBody>
          <a:bodyPr wrap="square" lIns="0" tIns="0" rIns="0" bIns="0" rtlCol="0" anchor="ctr"/>
          <a:lstStyle/>
          <a:p>
            <a:pPr indent="0" marL="0">
              <a:buNone/>
            </a:pPr>
            <a:r>
              <a:rPr lang="en-US" sz="2200" b="1" spc="100" kern="0" dirty="0">
                <a:solidFill>
                  <a:srgbClr val="4ADE80"/>
                </a:solidFill>
                <a:latin typeface="Courier New" pitchFamily="34" charset="0"/>
                <a:ea typeface="Courier New" pitchFamily="34" charset="-122"/>
                <a:cs typeface="Courier New" pitchFamily="34" charset="-120"/>
              </a:rPr>
              <a:t>MINUTES</a:t>
            </a:r>
            <a:endParaRPr lang="en-US" sz="2200" dirty="0"/>
          </a:p>
        </p:txBody>
      </p:sp>
      <p:sp>
        <p:nvSpPr>
          <p:cNvPr id="7" name="Text 5"/>
          <p:cNvSpPr txBox="1"/>
          <p:nvPr/>
        </p:nvSpPr>
        <p:spPr>
          <a:xfrm>
            <a:off x="914400" y="3063240"/>
            <a:ext cx="4709160" cy="77724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AI writes it, reviews it, refactors it. The cost collapsed this year.</a:t>
            </a:r>
            <a:endParaRPr lang="en-US" sz="1400" dirty="0"/>
          </a:p>
        </p:txBody>
      </p:sp>
      <p:sp>
        <p:nvSpPr>
          <p:cNvPr id="8" name="Shape 6"/>
          <p:cNvSpPr/>
          <p:nvPr/>
        </p:nvSpPr>
        <p:spPr>
          <a:xfrm>
            <a:off x="6263640" y="1920240"/>
            <a:ext cx="5257800" cy="2103120"/>
          </a:xfrm>
          <a:prstGeom prst="roundRect">
            <a:avLst>
              <a:gd name="adj" fmla="val 3913"/>
            </a:avLst>
          </a:prstGeom>
          <a:solidFill>
            <a:srgbClr val="1B2029"/>
          </a:solidFill>
          <a:ln w="19050">
            <a:solidFill>
              <a:srgbClr val="FB7185"/>
            </a:solidFill>
            <a:prstDash val="solid"/>
          </a:ln>
        </p:spPr>
      </p:sp>
      <p:sp>
        <p:nvSpPr>
          <p:cNvPr id="9" name="Text 7"/>
          <p:cNvSpPr txBox="1"/>
          <p:nvPr/>
        </p:nvSpPr>
        <p:spPr>
          <a:xfrm>
            <a:off x="6537960" y="2148840"/>
            <a:ext cx="47091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Trusting the change</a:t>
            </a:r>
            <a:endParaRPr lang="en-US" sz="2000" dirty="0"/>
          </a:p>
        </p:txBody>
      </p:sp>
      <p:sp>
        <p:nvSpPr>
          <p:cNvPr id="10" name="Text 8"/>
          <p:cNvSpPr txBox="1"/>
          <p:nvPr/>
        </p:nvSpPr>
        <p:spPr>
          <a:xfrm>
            <a:off x="6537960" y="2606040"/>
            <a:ext cx="4709160" cy="365760"/>
          </a:xfrm>
          <a:prstGeom prst="rect">
            <a:avLst/>
          </a:prstGeom>
          <a:noFill/>
          <a:ln/>
        </p:spPr>
        <p:txBody>
          <a:bodyPr wrap="square" lIns="0" tIns="0" rIns="0" bIns="0" rtlCol="0" anchor="ctr"/>
          <a:lstStyle/>
          <a:p>
            <a:pPr indent="0" marL="0">
              <a:buNone/>
            </a:pPr>
            <a:r>
              <a:rPr lang="en-US" sz="2200" b="1" spc="100" kern="0" dirty="0">
                <a:solidFill>
                  <a:srgbClr val="FB7185"/>
                </a:solidFill>
                <a:latin typeface="Courier New" pitchFamily="34" charset="0"/>
                <a:ea typeface="Courier New" pitchFamily="34" charset="-122"/>
                <a:cs typeface="Courier New" pitchFamily="34" charset="-120"/>
              </a:rPr>
              <a:t>UNCHANGED</a:t>
            </a:r>
            <a:endParaRPr lang="en-US" sz="2200" dirty="0"/>
          </a:p>
        </p:txBody>
      </p:sp>
      <p:sp>
        <p:nvSpPr>
          <p:cNvPr id="11" name="Text 9"/>
          <p:cNvSpPr txBox="1"/>
          <p:nvPr/>
        </p:nvSpPr>
        <p:spPr>
          <a:xfrm>
            <a:off x="6537960" y="3063240"/>
            <a:ext cx="4709160" cy="77724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Still the same slow suite, still the same nightly run, still the same shrug.</a:t>
            </a:r>
            <a:endParaRPr lang="en-US" sz="1400" dirty="0"/>
          </a:p>
        </p:txBody>
      </p:sp>
      <p:sp>
        <p:nvSpPr>
          <p:cNvPr id="12" name="Text 10"/>
          <p:cNvSpPr txBox="1"/>
          <p:nvPr/>
        </p:nvSpPr>
        <p:spPr>
          <a:xfrm>
            <a:off x="640080" y="4434840"/>
            <a:ext cx="10881360" cy="45720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A quality gate you can run in a minute is worth more than one you can trust in principle.</a:t>
            </a:r>
            <a:endParaRPr lang="en-US" sz="1900" dirty="0"/>
          </a:p>
        </p:txBody>
      </p:sp>
      <p:sp>
        <p:nvSpPr>
          <p:cNvPr id="13" name="Text 11"/>
          <p:cNvSpPr txBox="1"/>
          <p:nvPr/>
        </p:nvSpPr>
        <p:spPr>
          <a:xfrm>
            <a:off x="640080" y="4983480"/>
            <a:ext cx="10881360" cy="91440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When a change costs an afternoon, a twenty-minute suite is a rounding error. When it costs four minutes, the suite is the bottleneck — and the thing standing between you and merging code you did not write line by line.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1828800" y="2743200"/>
            <a:ext cx="1463040" cy="1051560"/>
          </a:xfrm>
          <a:prstGeom prst="line">
            <a:avLst/>
          </a:prstGeom>
          <a:noFill/>
          <a:ln w="19050">
            <a:solidFill>
              <a:srgbClr val="B8C0CC"/>
            </a:solidFill>
            <a:prstDash val="solid"/>
          </a:ln>
        </p:spPr>
      </p:sp>
      <p:sp>
        <p:nvSpPr>
          <p:cNvPr id="5" name="Shape 3"/>
          <p:cNvSpPr/>
          <p:nvPr/>
        </p:nvSpPr>
        <p:spPr>
          <a:xfrm flipH="1">
            <a:off x="3291840" y="2743200"/>
            <a:ext cx="1645920" cy="1051560"/>
          </a:xfrm>
          <a:prstGeom prst="line">
            <a:avLst/>
          </a:prstGeom>
          <a:noFill/>
          <a:ln w="19050">
            <a:solidFill>
              <a:srgbClr val="B8C0CC"/>
            </a:solidFill>
            <a:prstDash val="solid"/>
          </a:ln>
        </p:spPr>
      </p:sp>
      <p:sp>
        <p:nvSpPr>
          <p:cNvPr id="6" name="Shape 4"/>
          <p:cNvSpPr/>
          <p:nvPr/>
        </p:nvSpPr>
        <p:spPr>
          <a:xfrm>
            <a:off x="4937760" y="2743200"/>
            <a:ext cx="1554480" cy="1051560"/>
          </a:xfrm>
          <a:prstGeom prst="line">
            <a:avLst/>
          </a:prstGeom>
          <a:noFill/>
          <a:ln w="19050">
            <a:solidFill>
              <a:srgbClr val="B8C0CC"/>
            </a:solidFill>
            <a:prstDash val="solid"/>
          </a:ln>
        </p:spPr>
      </p:sp>
      <p:sp>
        <p:nvSpPr>
          <p:cNvPr id="7" name="Shape 5"/>
          <p:cNvSpPr/>
          <p:nvPr/>
        </p:nvSpPr>
        <p:spPr>
          <a:xfrm flipH="1">
            <a:off x="6492240" y="2743200"/>
            <a:ext cx="1554480" cy="1051560"/>
          </a:xfrm>
          <a:prstGeom prst="line">
            <a:avLst/>
          </a:prstGeom>
          <a:noFill/>
          <a:ln w="19050">
            <a:solidFill>
              <a:srgbClr val="B8C0CC"/>
            </a:solidFill>
            <a:prstDash val="solid"/>
          </a:ln>
        </p:spPr>
      </p:sp>
      <p:sp>
        <p:nvSpPr>
          <p:cNvPr id="8" name="Shape 6"/>
          <p:cNvSpPr/>
          <p:nvPr/>
        </p:nvSpPr>
        <p:spPr>
          <a:xfrm>
            <a:off x="685800" y="2057400"/>
            <a:ext cx="2286000" cy="685800"/>
          </a:xfrm>
          <a:prstGeom prst="roundRect">
            <a:avLst>
              <a:gd name="adj" fmla="val 10667"/>
            </a:avLst>
          </a:prstGeom>
          <a:solidFill>
            <a:srgbClr val="10131A"/>
          </a:solidFill>
          <a:ln w="12700">
            <a:solidFill>
              <a:srgbClr val="10131A"/>
            </a:solidFill>
            <a:prstDash val="solid"/>
          </a:ln>
        </p:spPr>
      </p:sp>
      <p:sp>
        <p:nvSpPr>
          <p:cNvPr id="9" name="Text 7"/>
          <p:cNvSpPr txBox="1"/>
          <p:nvPr/>
        </p:nvSpPr>
        <p:spPr>
          <a:xfrm>
            <a:off x="68580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0" name="Text 8"/>
          <p:cNvSpPr txBox="1"/>
          <p:nvPr/>
        </p:nvSpPr>
        <p:spPr>
          <a:xfrm>
            <a:off x="68580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1" name="Shape 9"/>
          <p:cNvSpPr/>
          <p:nvPr/>
        </p:nvSpPr>
        <p:spPr>
          <a:xfrm>
            <a:off x="3794760" y="2057400"/>
            <a:ext cx="2286000" cy="685800"/>
          </a:xfrm>
          <a:prstGeom prst="roundRect">
            <a:avLst>
              <a:gd name="adj" fmla="val 10667"/>
            </a:avLst>
          </a:prstGeom>
          <a:solidFill>
            <a:srgbClr val="10131A"/>
          </a:solidFill>
          <a:ln w="12700">
            <a:solidFill>
              <a:srgbClr val="10131A"/>
            </a:solidFill>
            <a:prstDash val="solid"/>
          </a:ln>
        </p:spPr>
      </p:sp>
      <p:sp>
        <p:nvSpPr>
          <p:cNvPr id="12" name="Text 10"/>
          <p:cNvSpPr txBox="1"/>
          <p:nvPr/>
        </p:nvSpPr>
        <p:spPr>
          <a:xfrm>
            <a:off x="379476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3" name="Text 11"/>
          <p:cNvSpPr txBox="1"/>
          <p:nvPr/>
        </p:nvSpPr>
        <p:spPr>
          <a:xfrm>
            <a:off x="379476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4" name="Shape 12"/>
          <p:cNvSpPr/>
          <p:nvPr/>
        </p:nvSpPr>
        <p:spPr>
          <a:xfrm>
            <a:off x="6903720" y="2057400"/>
            <a:ext cx="2286000" cy="685800"/>
          </a:xfrm>
          <a:prstGeom prst="roundRect">
            <a:avLst>
              <a:gd name="adj" fmla="val 10667"/>
            </a:avLst>
          </a:prstGeom>
          <a:solidFill>
            <a:srgbClr val="10131A"/>
          </a:solidFill>
          <a:ln w="12700">
            <a:solidFill>
              <a:srgbClr val="10131A"/>
            </a:solidFill>
            <a:prstDash val="solid"/>
          </a:ln>
        </p:spPr>
      </p:sp>
      <p:sp>
        <p:nvSpPr>
          <p:cNvPr id="15" name="Text 13"/>
          <p:cNvSpPr txBox="1"/>
          <p:nvPr/>
        </p:nvSpPr>
        <p:spPr>
          <a:xfrm>
            <a:off x="690372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16" name="Text 14"/>
          <p:cNvSpPr txBox="1"/>
          <p:nvPr/>
        </p:nvSpPr>
        <p:spPr>
          <a:xfrm>
            <a:off x="690372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7" name="Shape 15"/>
          <p:cNvSpPr/>
          <p:nvPr/>
        </p:nvSpPr>
        <p:spPr>
          <a:xfrm>
            <a:off x="2148840" y="3794760"/>
            <a:ext cx="2286000" cy="640080"/>
          </a:xfrm>
          <a:prstGeom prst="roundRect">
            <a:avLst>
              <a:gd name="adj" fmla="val 11429"/>
            </a:avLst>
          </a:prstGeom>
          <a:solidFill>
            <a:srgbClr val="FFFFFF"/>
          </a:solidFill>
          <a:ln w="19050">
            <a:solidFill>
              <a:srgbClr val="0B7A44"/>
            </a:solidFill>
            <a:prstDash val="solid"/>
          </a:ln>
        </p:spPr>
      </p:sp>
      <p:sp>
        <p:nvSpPr>
          <p:cNvPr id="18" name="Text 16"/>
          <p:cNvSpPr txBox="1"/>
          <p:nvPr/>
        </p:nvSpPr>
        <p:spPr>
          <a:xfrm>
            <a:off x="2148840" y="3794760"/>
            <a:ext cx="228600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19" name="Shape 17"/>
          <p:cNvSpPr/>
          <p:nvPr/>
        </p:nvSpPr>
        <p:spPr>
          <a:xfrm>
            <a:off x="5349240" y="3794760"/>
            <a:ext cx="2286000" cy="640080"/>
          </a:xfrm>
          <a:prstGeom prst="roundRect">
            <a:avLst>
              <a:gd name="adj" fmla="val 11429"/>
            </a:avLst>
          </a:prstGeom>
          <a:solidFill>
            <a:srgbClr val="FFFFFF"/>
          </a:solidFill>
          <a:ln w="19050">
            <a:solidFill>
              <a:srgbClr val="0B7A44"/>
            </a:solidFill>
            <a:prstDash val="solid"/>
          </a:ln>
        </p:spPr>
      </p:sp>
      <p:sp>
        <p:nvSpPr>
          <p:cNvPr id="20" name="Text 18"/>
          <p:cNvSpPr txBox="1"/>
          <p:nvPr/>
        </p:nvSpPr>
        <p:spPr>
          <a:xfrm>
            <a:off x="5349240" y="3794760"/>
            <a:ext cx="228600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1" name="Text 19"/>
          <p:cNvSpPr txBox="1"/>
          <p:nvPr/>
        </p:nvSpPr>
        <p:spPr>
          <a:xfrm>
            <a:off x="685800" y="3931920"/>
            <a:ext cx="1280160" cy="36576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2" name="Shape 20"/>
          <p:cNvSpPr/>
          <p:nvPr/>
        </p:nvSpPr>
        <p:spPr>
          <a:xfrm>
            <a:off x="9418320" y="1783080"/>
            <a:ext cx="2103120" cy="2743200"/>
          </a:xfrm>
          <a:prstGeom prst="roundRect">
            <a:avLst>
              <a:gd name="adj" fmla="val 3478"/>
            </a:avLst>
          </a:prstGeom>
          <a:solidFill>
            <a:srgbClr val="FFFFFF"/>
          </a:solidFill>
          <a:ln w="12700">
            <a:solidFill>
              <a:srgbClr val="E2E6ED"/>
            </a:solidFill>
            <a:prstDash val="solid"/>
          </a:ln>
        </p:spPr>
      </p:sp>
      <p:sp>
        <p:nvSpPr>
          <p:cNvPr id="23" name="Text 21"/>
          <p:cNvSpPr txBox="1"/>
          <p:nvPr/>
        </p:nvSpPr>
        <p:spPr>
          <a:xfrm>
            <a:off x="9646920" y="1965960"/>
            <a:ext cx="169164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What Nx is</a:t>
            </a:r>
            <a:endParaRPr lang="en-US" sz="1500" dirty="0"/>
          </a:p>
        </p:txBody>
      </p:sp>
      <p:sp>
        <p:nvSpPr>
          <p:cNvPr id="24" name="Text 22"/>
          <p:cNvSpPr txBox="1"/>
          <p:nvPr/>
        </p:nvSpPr>
        <p:spPr>
          <a:xfrm>
            <a:off x="9646920" y="2331720"/>
            <a:ext cx="1691640" cy="2103120"/>
          </a:xfrm>
          <a:prstGeom prst="rect">
            <a:avLst/>
          </a:prstGeom>
          <a:noFill/>
          <a:ln/>
        </p:spPr>
        <p:txBody>
          <a:bodyPr wrap="square" lIns="0" tIns="0" rIns="0" bIns="0" rtlCol="0" anchor="t"/>
          <a:lstStyle/>
          <a:p>
            <a:pPr indent="0" marL="0">
              <a:spcAft>
                <a:spcPts val="800"/>
              </a:spcAft>
              <a:buNone/>
            </a:pPr>
            <a:r>
              <a:rPr lang="en-US" sz="1200" dirty="0">
                <a:solidFill>
                  <a:srgbClr val="5C6675"/>
                </a:solidFill>
                <a:latin typeface="Calibri" pitchFamily="34" charset="0"/>
                <a:ea typeface="Calibri" pitchFamily="34" charset="-122"/>
                <a:cs typeface="Calibri" pitchFamily="34" charset="-120"/>
              </a:rPr>
              <a:t>A task graph over your repo.</a:t>
            </a:r>
            <a:endParaRPr lang="en-US" sz="1200" dirty="0"/>
          </a:p>
          <a:p>
            <a:pPr indent="0" marL="0">
              <a:spcAft>
                <a:spcPts val="800"/>
              </a:spcAft>
              <a:buNone/>
            </a:pPr>
            <a:r>
              <a:rPr lang="en-US" sz="1200" dirty="0">
                <a:solidFill>
                  <a:srgbClr val="5C6675"/>
                </a:solidFill>
                <a:latin typeface="Calibri" pitchFamily="34" charset="0"/>
                <a:ea typeface="Calibri" pitchFamily="34" charset="-122"/>
                <a:cs typeface="Calibri" pitchFamily="34" charset="-120"/>
              </a:rPr>
              <a:t>It knows what depends on what, runs tasks in the right order, and caches the results.</a:t>
            </a:r>
            <a:endParaRPr lang="en-US" sz="1200" dirty="0"/>
          </a:p>
          <a:p>
            <a:pPr indent="0" marL="0">
              <a:buNone/>
            </a:pPr>
            <a:r>
              <a:rPr lang="en-US" sz="1200" dirty="0">
                <a:solidFill>
                  <a:srgbClr val="5C6675"/>
                </a:solidFill>
                <a:latin typeface="Calibri" pitchFamily="34" charset="0"/>
                <a:ea typeface="Calibri" pitchFamily="34" charset="-122"/>
                <a:cs typeface="Calibri" pitchFamily="34" charset="-120"/>
              </a:rPr>
              <a:t>It is not a test runner. Cypress still runs the tests.</a:t>
            </a:r>
            <a:endParaRPr lang="en-US" sz="1200" dirty="0"/>
          </a:p>
        </p:txBody>
      </p:sp>
      <p:sp>
        <p:nvSpPr>
          <p:cNvPr id="25" name="Shape 23"/>
          <p:cNvSpPr/>
          <p:nvPr/>
        </p:nvSpPr>
        <p:spPr>
          <a:xfrm>
            <a:off x="640080" y="4846320"/>
            <a:ext cx="3429000" cy="1234440"/>
          </a:xfrm>
          <a:prstGeom prst="roundRect">
            <a:avLst>
              <a:gd name="adj" fmla="val 6667"/>
            </a:avLst>
          </a:prstGeom>
          <a:solidFill>
            <a:srgbClr val="FFFFFF"/>
          </a:solidFill>
          <a:ln w="12700">
            <a:solidFill>
              <a:srgbClr val="E2E6ED"/>
            </a:solidFill>
            <a:prstDash val="solid"/>
          </a:ln>
        </p:spPr>
      </p:sp>
      <p:sp>
        <p:nvSpPr>
          <p:cNvPr id="26" name="Text 24"/>
          <p:cNvSpPr txBox="1"/>
          <p:nvPr/>
        </p:nvSpPr>
        <p:spPr>
          <a:xfrm>
            <a:off x="868680" y="5010912"/>
            <a:ext cx="2971800" cy="603504"/>
          </a:xfrm>
          <a:prstGeom prst="rect">
            <a:avLst/>
          </a:prstGeom>
          <a:noFill/>
          <a:ln/>
        </p:spPr>
        <p:txBody>
          <a:bodyPr wrap="square" lIns="0" tIns="0" rIns="0" bIns="0" rtlCol="0" anchor="ctr"/>
          <a:lstStyle/>
          <a:p>
            <a:pPr indent="0" marL="0">
              <a:buNone/>
            </a:pPr>
            <a:r>
              <a:rPr lang="en-US" sz="3200" b="1" dirty="0">
                <a:solidFill>
                  <a:srgbClr val="0B7A44"/>
                </a:solidFill>
                <a:latin typeface="Cambria" pitchFamily="34" charset="0"/>
                <a:ea typeface="Cambria" pitchFamily="34" charset="-122"/>
                <a:cs typeface="Cambria" pitchFamily="34" charset="-120"/>
              </a:rPr>
              <a:t>30</a:t>
            </a:r>
            <a:endParaRPr lang="en-US" sz="3200" dirty="0"/>
          </a:p>
        </p:txBody>
      </p:sp>
      <p:sp>
        <p:nvSpPr>
          <p:cNvPr id="27" name="Text 25"/>
          <p:cNvSpPr txBox="1"/>
          <p:nvPr/>
        </p:nvSpPr>
        <p:spPr>
          <a:xfrm>
            <a:off x="86868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spec files</a:t>
            </a:r>
            <a:endParaRPr lang="en-US" sz="1400" dirty="0"/>
          </a:p>
        </p:txBody>
      </p:sp>
      <p:sp>
        <p:nvSpPr>
          <p:cNvPr id="28" name="Shape 26"/>
          <p:cNvSpPr/>
          <p:nvPr/>
        </p:nvSpPr>
        <p:spPr>
          <a:xfrm>
            <a:off x="4343400" y="4846320"/>
            <a:ext cx="3429000" cy="1234440"/>
          </a:xfrm>
          <a:prstGeom prst="roundRect">
            <a:avLst>
              <a:gd name="adj" fmla="val 6667"/>
            </a:avLst>
          </a:prstGeom>
          <a:solidFill>
            <a:srgbClr val="FFFFFF"/>
          </a:solidFill>
          <a:ln w="12700">
            <a:solidFill>
              <a:srgbClr val="E2E6ED"/>
            </a:solidFill>
            <a:prstDash val="solid"/>
          </a:ln>
        </p:spPr>
      </p:sp>
      <p:sp>
        <p:nvSpPr>
          <p:cNvPr id="29" name="Text 27"/>
          <p:cNvSpPr txBox="1"/>
          <p:nvPr/>
        </p:nvSpPr>
        <p:spPr>
          <a:xfrm>
            <a:off x="4572000" y="5010912"/>
            <a:ext cx="2971800" cy="603504"/>
          </a:xfrm>
          <a:prstGeom prst="rect">
            <a:avLst/>
          </a:prstGeom>
          <a:noFill/>
          <a:ln/>
        </p:spPr>
        <p:txBody>
          <a:bodyPr wrap="square" lIns="0" tIns="0" rIns="0" bIns="0" rtlCol="0" anchor="ctr"/>
          <a:lstStyle/>
          <a:p>
            <a:pPr indent="0" marL="0">
              <a:buNone/>
            </a:pPr>
            <a:r>
              <a:rPr lang="en-US" sz="3200" b="1" dirty="0">
                <a:solidFill>
                  <a:srgbClr val="10131A"/>
                </a:solidFill>
                <a:latin typeface="Cambria" pitchFamily="34" charset="0"/>
                <a:ea typeface="Cambria" pitchFamily="34" charset="-122"/>
                <a:cs typeface="Cambria" pitchFamily="34" charset="-120"/>
              </a:rPr>
              <a:t>202</a:t>
            </a:r>
            <a:endParaRPr lang="en-US" sz="3200" dirty="0"/>
          </a:p>
        </p:txBody>
      </p:sp>
      <p:sp>
        <p:nvSpPr>
          <p:cNvPr id="30" name="Text 28"/>
          <p:cNvSpPr txBox="1"/>
          <p:nvPr/>
        </p:nvSpPr>
        <p:spPr>
          <a:xfrm>
            <a:off x="457200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tests</a:t>
            </a:r>
            <a:endParaRPr lang="en-US" sz="1400" dirty="0"/>
          </a:p>
        </p:txBody>
      </p:sp>
      <p:sp>
        <p:nvSpPr>
          <p:cNvPr id="31" name="Shape 29"/>
          <p:cNvSpPr/>
          <p:nvPr/>
        </p:nvSpPr>
        <p:spPr>
          <a:xfrm>
            <a:off x="8046720" y="4846320"/>
            <a:ext cx="3429000" cy="1234440"/>
          </a:xfrm>
          <a:prstGeom prst="roundRect">
            <a:avLst>
              <a:gd name="adj" fmla="val 6667"/>
            </a:avLst>
          </a:prstGeom>
          <a:solidFill>
            <a:srgbClr val="FFFFFF"/>
          </a:solidFill>
          <a:ln w="12700">
            <a:solidFill>
              <a:srgbClr val="E2E6ED"/>
            </a:solidFill>
            <a:prstDash val="solid"/>
          </a:ln>
        </p:spPr>
      </p:sp>
      <p:sp>
        <p:nvSpPr>
          <p:cNvPr id="32" name="Text 30"/>
          <p:cNvSpPr txBox="1"/>
          <p:nvPr/>
        </p:nvSpPr>
        <p:spPr>
          <a:xfrm>
            <a:off x="8275320" y="5010912"/>
            <a:ext cx="2971800" cy="603504"/>
          </a:xfrm>
          <a:prstGeom prst="rect">
            <a:avLst/>
          </a:prstGeom>
          <a:noFill/>
          <a:ln/>
        </p:spPr>
        <p:txBody>
          <a:bodyPr wrap="square" lIns="0" tIns="0" rIns="0" bIns="0" rtlCol="0" anchor="ctr"/>
          <a:lstStyle/>
          <a:p>
            <a:pPr indent="0" marL="0">
              <a:buNone/>
            </a:pPr>
            <a:r>
              <a:rPr lang="en-US" sz="3200" b="1" dirty="0">
                <a:solidFill>
                  <a:srgbClr val="B45309"/>
                </a:solidFill>
                <a:latin typeface="Cambria" pitchFamily="34" charset="0"/>
                <a:ea typeface="Cambria" pitchFamily="34" charset="-122"/>
                <a:cs typeface="Cambria" pitchFamily="34" charset="-120"/>
              </a:rPr>
              <a:t>1</a:t>
            </a:r>
            <a:endParaRPr lang="en-US" sz="3200" dirty="0"/>
          </a:p>
        </p:txBody>
      </p:sp>
      <p:sp>
        <p:nvSpPr>
          <p:cNvPr id="33" name="Text 31"/>
          <p:cNvSpPr txBox="1"/>
          <p:nvPr/>
        </p:nvSpPr>
        <p:spPr>
          <a:xfrm>
            <a:off x="827532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task, before we start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234440"/>
          </a:xfrm>
          <a:prstGeom prst="roundRect">
            <a:avLst>
              <a:gd name="adj" fmla="val 5185"/>
            </a:avLst>
          </a:prstGeom>
          <a:solidFill>
            <a:srgbClr val="2A1116"/>
          </a:solidFill>
          <a:ln w="19050">
            <a:solidFill>
              <a:srgbClr val="FB7185"/>
            </a:solidFill>
            <a:prstDash val="solid"/>
          </a:ln>
        </p:spPr>
      </p:sp>
      <p:sp>
        <p:nvSpPr>
          <p:cNvPr id="7" name="Text 5"/>
          <p:cNvSpPr txBox="1"/>
          <p:nvPr/>
        </p:nvSpPr>
        <p:spPr>
          <a:xfrm>
            <a:off x="914400" y="2926080"/>
            <a:ext cx="10332720" cy="82296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shop-e2e:e2e-ci task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16052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4663440"/>
            <a:ext cx="10881360" cy="1554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e2e-ci is a no-op coordinator that just depends on the ten real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Run one directly and it works, cache and all</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640080" y="192024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5" name="Text 3"/>
          <p:cNvSpPr txBox="1"/>
          <p:nvPr/>
        </p:nvSpPr>
        <p:spPr>
          <a:xfrm>
            <a:off x="1051560" y="1920240"/>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6" name="Shape 4"/>
          <p:cNvSpPr/>
          <p:nvPr/>
        </p:nvSpPr>
        <p:spPr>
          <a:xfrm>
            <a:off x="4754880" y="1984248"/>
            <a:ext cx="4796589" cy="292608"/>
          </a:xfrm>
          <a:prstGeom prst="roundRect">
            <a:avLst>
              <a:gd name="adj" fmla="val 12500"/>
            </a:avLst>
          </a:prstGeom>
          <a:solidFill>
            <a:srgbClr val="F5A524"/>
          </a:solidFill>
          <a:ln w="12700">
            <a:solidFill>
              <a:srgbClr val="F5A524"/>
            </a:solidFill>
            <a:prstDash val="solid"/>
          </a:ln>
        </p:spPr>
      </p:sp>
      <p:sp>
        <p:nvSpPr>
          <p:cNvPr id="7" name="Text 5"/>
          <p:cNvSpPr txBox="1"/>
          <p:nvPr/>
        </p:nvSpPr>
        <p:spPr>
          <a:xfrm>
            <a:off x="9642909" y="1920240"/>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8" name="Text 6"/>
          <p:cNvSpPr txBox="1"/>
          <p:nvPr/>
        </p:nvSpPr>
        <p:spPr>
          <a:xfrm>
            <a:off x="640080" y="267004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9" name="Text 7"/>
          <p:cNvSpPr txBox="1"/>
          <p:nvPr/>
        </p:nvSpPr>
        <p:spPr>
          <a:xfrm>
            <a:off x="1051560" y="2670048"/>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0" name="Shape 8"/>
          <p:cNvSpPr/>
          <p:nvPr/>
        </p:nvSpPr>
        <p:spPr>
          <a:xfrm>
            <a:off x="4754880" y="2734056"/>
            <a:ext cx="6309360" cy="292608"/>
          </a:xfrm>
          <a:prstGeom prst="roundRect">
            <a:avLst>
              <a:gd name="adj" fmla="val 12500"/>
            </a:avLst>
          </a:prstGeom>
          <a:solidFill>
            <a:srgbClr val="C2410C"/>
          </a:solidFill>
          <a:ln w="12700">
            <a:solidFill>
              <a:srgbClr val="C2410C"/>
            </a:solidFill>
            <a:prstDash val="solid"/>
          </a:ln>
        </p:spPr>
      </p:sp>
      <p:sp>
        <p:nvSpPr>
          <p:cNvPr id="11" name="Text 9"/>
          <p:cNvSpPr txBox="1"/>
          <p:nvPr/>
        </p:nvSpPr>
        <p:spPr>
          <a:xfrm>
            <a:off x="11155680" y="2670048"/>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42s</a:t>
            </a:r>
            <a:endParaRPr lang="en-US" sz="1400" dirty="0"/>
          </a:p>
        </p:txBody>
      </p:sp>
      <p:sp>
        <p:nvSpPr>
          <p:cNvPr id="12" name="Text 10"/>
          <p:cNvSpPr txBox="1"/>
          <p:nvPr/>
        </p:nvSpPr>
        <p:spPr>
          <a:xfrm>
            <a:off x="640080" y="341985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3" name="Text 11"/>
          <p:cNvSpPr txBox="1"/>
          <p:nvPr/>
        </p:nvSpPr>
        <p:spPr>
          <a:xfrm>
            <a:off x="1051560" y="3419856"/>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5 at a time, one machine</a:t>
            </a:r>
            <a:endParaRPr lang="en-US" sz="1300" dirty="0"/>
          </a:p>
        </p:txBody>
      </p:sp>
      <p:sp>
        <p:nvSpPr>
          <p:cNvPr id="14" name="Shape 12"/>
          <p:cNvSpPr/>
          <p:nvPr/>
        </p:nvSpPr>
        <p:spPr>
          <a:xfrm>
            <a:off x="4754880" y="3483864"/>
            <a:ext cx="2804160" cy="292608"/>
          </a:xfrm>
          <a:prstGeom prst="roundRect">
            <a:avLst>
              <a:gd name="adj" fmla="val 12500"/>
            </a:avLst>
          </a:prstGeom>
          <a:solidFill>
            <a:srgbClr val="0B7A44"/>
          </a:solidFill>
          <a:ln w="12700">
            <a:solidFill>
              <a:srgbClr val="0B7A44"/>
            </a:solidFill>
            <a:prstDash val="solid"/>
          </a:ln>
        </p:spPr>
      </p:sp>
      <p:sp>
        <p:nvSpPr>
          <p:cNvPr id="15" name="Text 13"/>
          <p:cNvSpPr txBox="1"/>
          <p:nvPr/>
        </p:nvSpPr>
        <p:spPr>
          <a:xfrm>
            <a:off x="7650480" y="3419856"/>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32s</a:t>
            </a:r>
            <a:endParaRPr lang="en-US" sz="1400" dirty="0"/>
          </a:p>
        </p:txBody>
      </p:sp>
      <p:sp>
        <p:nvSpPr>
          <p:cNvPr id="16" name="Text 14"/>
          <p:cNvSpPr txBox="1"/>
          <p:nvPr/>
        </p:nvSpPr>
        <p:spPr>
          <a:xfrm>
            <a:off x="640080" y="416966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17" name="Text 15"/>
          <p:cNvSpPr txBox="1"/>
          <p:nvPr/>
        </p:nvSpPr>
        <p:spPr>
          <a:xfrm>
            <a:off x="1051560" y="4169664"/>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18" name="Shape 16"/>
          <p:cNvSpPr/>
          <p:nvPr/>
        </p:nvSpPr>
        <p:spPr>
          <a:xfrm>
            <a:off x="4754880" y="4233672"/>
            <a:ext cx="1014663" cy="292608"/>
          </a:xfrm>
          <a:prstGeom prst="roundRect">
            <a:avLst>
              <a:gd name="adj" fmla="val 12500"/>
            </a:avLst>
          </a:prstGeom>
          <a:solidFill>
            <a:srgbClr val="0B7A44"/>
          </a:solidFill>
          <a:ln w="12700">
            <a:solidFill>
              <a:srgbClr val="0B7A44"/>
            </a:solidFill>
            <a:prstDash val="solid"/>
          </a:ln>
        </p:spPr>
      </p:sp>
      <p:sp>
        <p:nvSpPr>
          <p:cNvPr id="19" name="Text 17"/>
          <p:cNvSpPr txBox="1"/>
          <p:nvPr/>
        </p:nvSpPr>
        <p:spPr>
          <a:xfrm>
            <a:off x="5860983" y="4169664"/>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0" name="Text 18"/>
          <p:cNvSpPr txBox="1"/>
          <p:nvPr/>
        </p:nvSpPr>
        <p:spPr>
          <a:xfrm>
            <a:off x="640080" y="491947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1" name="Text 19"/>
          <p:cNvSpPr txBox="1"/>
          <p:nvPr/>
        </p:nvSpPr>
        <p:spPr>
          <a:xfrm>
            <a:off x="1051560" y="4919472"/>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2" name="Shape 20"/>
          <p:cNvSpPr/>
          <p:nvPr/>
        </p:nvSpPr>
        <p:spPr>
          <a:xfrm>
            <a:off x="4754880" y="4983480"/>
            <a:ext cx="92242" cy="292608"/>
          </a:xfrm>
          <a:prstGeom prst="roundRect">
            <a:avLst>
              <a:gd name="adj" fmla="val 39652"/>
            </a:avLst>
          </a:prstGeom>
          <a:solidFill>
            <a:srgbClr val="15803D"/>
          </a:solidFill>
          <a:ln w="12700">
            <a:solidFill>
              <a:srgbClr val="15803D"/>
            </a:solidFill>
            <a:prstDash val="solid"/>
          </a:ln>
        </p:spPr>
      </p:sp>
      <p:sp>
        <p:nvSpPr>
          <p:cNvPr id="23" name="Text 21"/>
          <p:cNvSpPr txBox="1"/>
          <p:nvPr/>
        </p:nvSpPr>
        <p:spPr>
          <a:xfrm>
            <a:off x="4938562" y="4919472"/>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24" name="Shape 22"/>
          <p:cNvSpPr/>
          <p:nvPr/>
        </p:nvSpPr>
        <p:spPr>
          <a:xfrm>
            <a:off x="640080" y="5760720"/>
            <a:ext cx="10881360" cy="685800"/>
          </a:xfrm>
          <a:prstGeom prst="roundRect">
            <a:avLst>
              <a:gd name="adj" fmla="val 9333"/>
            </a:avLst>
          </a:prstGeom>
          <a:solidFill>
            <a:srgbClr val="FFF7E6"/>
          </a:solidFill>
          <a:ln w="12700">
            <a:solidFill>
              <a:srgbClr val="F5A524"/>
            </a:solidFill>
            <a:prstDash val="solid"/>
          </a:ln>
        </p:spPr>
      </p:sp>
      <p:sp>
        <p:nvSpPr>
          <p:cNvPr id="25" name="Text 23"/>
          <p:cNvSpPr txBox="1"/>
          <p:nvPr/>
        </p:nvSpPr>
        <p:spPr>
          <a:xfrm>
            <a:off x="914400" y="5916168"/>
            <a:ext cx="10332720" cy="41148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Rung 2 is still the honest one: at 30 specs, atomizing without parallelism is 31% slower than not atomizing at all.</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Steal this.</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QUESTIONS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Q&amp;A</a:t>
            </a:r>
            <a:endParaRPr lang="en-US" sz="3800" dirty="0"/>
          </a:p>
        </p:txBody>
      </p:sp>
      <p:sp>
        <p:nvSpPr>
          <p:cNvPr id="4" name="Text 2"/>
          <p:cNvSpPr txBox="1"/>
          <p:nvPr/>
        </p:nvSpPr>
        <p:spPr>
          <a:xfrm>
            <a:off x="640080" y="2011680"/>
            <a:ext cx="694944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Things I am happy to go deeper on:</a:t>
            </a:r>
            <a:endParaRPr lang="en-US" sz="1500" dirty="0"/>
          </a:p>
        </p:txBody>
      </p:sp>
      <p:sp>
        <p:nvSpPr>
          <p:cNvPr id="5" name="Text 3"/>
          <p:cNvSpPr txBox="1"/>
          <p:nvPr/>
        </p:nvSpPr>
        <p:spPr>
          <a:xfrm>
            <a:off x="640080" y="2468880"/>
            <a:ext cx="6949440" cy="27432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Why the Nx Cloud gate exists, and whether to just pay for it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Making this work with Playwright instead of Cypress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Flaky tests — what the cache does and does not fix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Sharding a single app that dominates the critical path</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What it took to review 1,000 tests without stopping delivery</a:t>
            </a:r>
            <a:endParaRPr lang="en-US" sz="1500" dirty="0"/>
          </a:p>
        </p:txBody>
      </p:sp>
      <p:sp>
        <p:nvSpPr>
          <p:cNvPr id="6" name="Shape 4"/>
          <p:cNvSpPr/>
          <p:nvPr/>
        </p:nvSpPr>
        <p:spPr>
          <a:xfrm>
            <a:off x="8778240" y="2011680"/>
            <a:ext cx="2468880" cy="2468880"/>
          </a:xfrm>
          <a:prstGeom prst="roundRect">
            <a:avLst>
              <a:gd name="adj" fmla="val 2222"/>
            </a:avLst>
          </a:prstGeom>
          <a:solidFill>
            <a:srgbClr val="FFFFFF"/>
          </a:solidFill>
          <a:ln w="12700">
            <a:solidFill>
              <a:srgbClr val="333333"/>
            </a:solidFill>
            <a:prstDash val="solid"/>
          </a:ln>
        </p:spPr>
      </p:sp>
      <p:pic>
        <p:nvPicPr>
          <p:cNvPr id="7" name="Image 0" descr="/Users/vra/IdeaProjects/nx-scaling-e2e-tests-with-atomizer/talk/assets/qr-repo.png">    </p:cNvPr>
          <p:cNvPicPr>
            <a:picLocks noChangeAspect="1"/>
          </p:cNvPicPr>
          <p:nvPr/>
        </p:nvPicPr>
        <p:blipFill>
          <a:blip r:embed="rId1"/>
          <a:stretch>
            <a:fillRect/>
          </a:stretch>
        </p:blipFill>
        <p:spPr>
          <a:xfrm>
            <a:off x="8897112" y="2130552"/>
            <a:ext cx="2231136" cy="2231136"/>
          </a:xfrm>
          <a:prstGeom prst="rect">
            <a:avLst/>
          </a:prstGeom>
        </p:spPr>
      </p:pic>
      <p:sp>
        <p:nvSpPr>
          <p:cNvPr id="8" name="Text 5"/>
          <p:cNvSpPr txBox="1"/>
          <p:nvPr/>
        </p:nvSpPr>
        <p:spPr>
          <a:xfrm>
            <a:off x="8778240" y="4608576"/>
            <a:ext cx="246888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The repo</a:t>
            </a:r>
            <a:endParaRPr lang="en-US" sz="1200" dirty="0"/>
          </a:p>
        </p:txBody>
      </p:sp>
      <p:sp>
        <p:nvSpPr>
          <p:cNvPr id="9" name="Text 6"/>
          <p:cNvSpPr txBox="1"/>
          <p:nvPr/>
        </p:nvSpPr>
        <p:spPr>
          <a:xfrm>
            <a:off x="640080" y="5669280"/>
            <a:ext cx="10881360" cy="365760"/>
          </a:xfrm>
          <a:prstGeom prst="rect">
            <a:avLst/>
          </a:prstGeom>
          <a:noFill/>
          <a:ln/>
        </p:spPr>
        <p:txBody>
          <a:bodyPr wrap="square" lIns="0" tIns="0" rIns="0" bIns="0" rtlCol="0" anchor="ctr"/>
          <a:lstStyle/>
          <a:p>
            <a:pPr indent="0" marL="0">
              <a:buNone/>
            </a:pPr>
            <a:r>
              <a:rPr lang="en-US" sz="1300" dirty="0">
                <a:solidFill>
                  <a:srgbClr val="8A94A6"/>
                </a:solidFill>
                <a:latin typeface="Courier New" pitchFamily="34" charset="0"/>
                <a:ea typeface="Courier New" pitchFamily="34" charset="-122"/>
                <a:cs typeface="Courier New" pitchFamily="34" charset="-120"/>
              </a:rPr>
              <a:t>github.com/radzivil/nx-scaling-e2e-tests-with-atomizer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How was it?</a:t>
            </a:r>
            <a:endParaRPr lang="en-US" sz="3800" dirty="0"/>
          </a:p>
        </p:txBody>
      </p:sp>
      <p:sp>
        <p:nvSpPr>
          <p:cNvPr id="4" name="Text 2"/>
          <p:cNvSpPr txBox="1"/>
          <p:nvPr/>
        </p:nvSpPr>
        <p:spPr>
          <a:xfrm>
            <a:off x="640080" y="1965960"/>
            <a:ext cx="67665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Two minutes of feedback makes the next one better.</a:t>
            </a:r>
            <a:endParaRPr lang="en-US" sz="1900" dirty="0"/>
          </a:p>
        </p:txBody>
      </p:sp>
      <p:sp>
        <p:nvSpPr>
          <p:cNvPr id="5" name="Text 3"/>
          <p:cNvSpPr txBox="1"/>
          <p:nvPr/>
        </p:nvSpPr>
        <p:spPr>
          <a:xfrm>
            <a:off x="640080" y="2697480"/>
            <a:ext cx="67665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108960"/>
            <a:ext cx="67665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321040" y="1920240"/>
            <a:ext cx="2926080" cy="2926080"/>
          </a:xfrm>
          <a:prstGeom prst="roundRect">
            <a:avLst>
              <a:gd name="adj" fmla="val 187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439912" y="2039112"/>
            <a:ext cx="2688336" cy="2688336"/>
          </a:xfrm>
          <a:prstGeom prst="rect">
            <a:avLst/>
          </a:prstGeom>
        </p:spPr>
      </p:pic>
      <p:sp>
        <p:nvSpPr>
          <p:cNvPr id="9" name="Text 6"/>
          <p:cNvSpPr txBox="1"/>
          <p:nvPr/>
        </p:nvSpPr>
        <p:spPr>
          <a:xfrm>
            <a:off x="8321040" y="4974336"/>
            <a:ext cx="292608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1088136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Vladimir Radzivil · linkedin.com/in/vladimirradzivil</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2026-09-08T00:53:37Z</dcterms:created>
  <dcterms:modified xsi:type="dcterms:W3CDTF">2026-09-08T00:53:37Z</dcterms:modified>
</cp:coreProperties>
</file>