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on who you are, then move. The QR stays useful all talk — people scan it while you set up the demo. Everything in this deck was measured on the repo linked at the end; nothing needs an Nx Cloud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quiet part: every other talk today has AI in the title. This one earns attention by being the unglamorous thing that makes the glamorous thing safe. The last line sets up the next slide, so land it and pause.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seconds. Point at 05 and 06 as the parts worth staying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it, then actually wait for the hands. Nearly everyone puts one up, which is the point — this is not a niche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question, same room. The hands thin out and someone usually laughs. Do not rush past that laugh, it is the whole talk in one reaction.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question kills it. Almost nobody gates a merge on a suite they cannot trust. Now reveal the line at the bottom and move — you have earned the next ten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argument for caring. Do not oversell AI — the point is only that the ratio moved. Generation is cheap, verification is not, so verification is where the leverage went.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short — it is orientation, not content. The one thing to point at is that the libs are shared unevenly: formatting by shop and admin, ui by admin and docs. That asymmetry is what makes the affected demo land later. Have `nx graph` open in a tab if you would rather show the real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if the timing works, otherwise show the recording. The number to sit with is 4m20s on a toy repo with 30 specs — the audience can extrapolate to their own suite faster than you can do it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promise slide — everything after it is delivery. Read the four out loud; they map one-to-one onto the rest of the talk, in order. The closing line is the hook: people expect this to be a paid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"generated". Nobody maintains this list — that is the difference from hand-rolled spec sharding.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Piping through `npm run e2e:targets` gives a cleaner list if the JSON is too wide for the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did not exist last time. Nx 23 added the guard. Show the error live, then immediately run one atomized target directly to prove the split itself is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script is twenty lines and does two things: ask Nx for the target list, hand it to run-many. Do not hand-roll a process pool — you lose the cache and the usual first attempt swallows exit codes. The amber box buys you credibility for the cache claims coming next, so do not rush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Sharding by index is the answer people expect, so say why it is the wrong default here and keep it for the case it is good at: one app big enough to dominate. The cross-product point is real — this repo has two login.cy.ts files and the runner refuses the selection rather than quietly running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Hit up-arrow and enter. The whole point is that it returns before you finish the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37→28: the two seeded failures are the two slowest specs and each still boots Cypress. The saving scales with how many specs pass — on 200 specs with 3 failures it is enormous.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want the "everything re-runs" version instead, run nx reset before this step. Best real example from this repo: a commit that touched only the slide deck restored the previous commit's cache and reported 33/36 hits and a 119ms run — the single-machine CI job went from 3m44s to 35s without anyone planning it. Inputs, not commits.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is 4m20s to 55s, but do not skip rung 2. Rung 3 is one flag and gets most of the win; rung 4 needs CI to have a matrix. Tell them to climb only as far as their pain justifies. Re-measure with npm run e2e:benchmark before the talk — rung 3 varied between 2m11s and 2m32s on repeats.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npm run e2e:affected on a clean tree exits green instantly, then touch libs/ui and watch two apps light up. The last row is the one that lands — most CI runs on most days are documentation and config.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story: the suite was already stable-ish, about a thousand tests. We read all of them, deleted a lot that tested nothing, and added more that tested something — ending near 1,500 with 85% coverage. The 48 to 25 minutes is a full rebuild; the number people actually feel day to day is under ten minutes for a change in one app. That is the affected graph doing the work, and it shows up on the invoice.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realistic ask is not "rebuild your CI this week". It is "clone it, let your agent read it, and run the benchmark". Step three matters most — the numbers in this deck are from my laptop and my suite, and the only ones that will convince their team are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the whole Q&amp;A. The bullet list is a prompt for the room when nobody wants to go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up while you answer the last question so people can scan it before they stand. Read the recap only if the room is still settling; otherwise let them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Skip past this unless someone asks. The gotchas slide behind it is the one people photograph.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slide to leave up during questions. Items 3 and 4 both bit this repo on its first CI run — worth telling as war stories rather than reading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1417320"/>
            <a:ext cx="7863840" cy="8686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Scaling E2E Tests</a:t>
            </a:r>
            <a:endParaRPr lang="en-US" sz="5000" dirty="0"/>
          </a:p>
        </p:txBody>
      </p:sp>
      <p:sp>
        <p:nvSpPr>
          <p:cNvPr id="3" name="Text 1"/>
          <p:cNvSpPr txBox="1"/>
          <p:nvPr/>
        </p:nvSpPr>
        <p:spPr>
          <a:xfrm>
            <a:off x="640080" y="2212848"/>
            <a:ext cx="7863840" cy="868680"/>
          </a:xfrm>
          <a:prstGeom prst="rect">
            <a:avLst/>
          </a:prstGeom>
          <a:noFill/>
          <a:ln/>
        </p:spPr>
        <p:txBody>
          <a:bodyPr wrap="square" lIns="0" tIns="0" rIns="0" bIns="0" rtlCol="0" anchor="ctr"/>
          <a:lstStyle/>
          <a:p>
            <a:pPr indent="0" marL="0">
              <a:buNone/>
            </a:pPr>
            <a:r>
              <a:rPr lang="en-US" sz="5000" b="1" dirty="0">
                <a:solidFill>
                  <a:srgbClr val="4ADE80"/>
                </a:solidFill>
                <a:latin typeface="Cambria" pitchFamily="34" charset="0"/>
                <a:ea typeface="Cambria" pitchFamily="34" charset="-122"/>
                <a:cs typeface="Cambria" pitchFamily="34" charset="-120"/>
              </a:rPr>
              <a:t>the Smart Way with Nx</a:t>
            </a:r>
            <a:endParaRPr lang="en-US" sz="5000" dirty="0"/>
          </a:p>
        </p:txBody>
      </p:sp>
      <p:sp>
        <p:nvSpPr>
          <p:cNvPr id="4" name="Text 2"/>
          <p:cNvSpPr txBox="1"/>
          <p:nvPr/>
        </p:nvSpPr>
        <p:spPr>
          <a:xfrm>
            <a:off x="640080" y="3200400"/>
            <a:ext cx="7863840" cy="411480"/>
          </a:xfrm>
          <a:prstGeom prst="rect">
            <a:avLst/>
          </a:prstGeom>
          <a:noFill/>
          <a:ln/>
        </p:spPr>
        <p:txBody>
          <a:bodyPr wrap="square" lIns="0" tIns="0" rIns="0" bIns="0" rtlCol="0" anchor="ctr"/>
          <a:lstStyle/>
          <a:p>
            <a:pPr indent="0" marL="0">
              <a:buNone/>
            </a:pPr>
            <a:r>
              <a:rPr lang="en-US" sz="1700" dirty="0">
                <a:solidFill>
                  <a:srgbClr val="C3CAD6"/>
                </a:solidFill>
                <a:latin typeface="Calibri" pitchFamily="34" charset="0"/>
                <a:ea typeface="Calibri" pitchFamily="34" charset="-122"/>
                <a:cs typeface="Calibri" pitchFamily="34" charset="-120"/>
              </a:rPr>
              <a:t>Atomizing, parallelising and caching a Cypress suite — without Nx Cloud</a:t>
            </a:r>
            <a:endParaRPr lang="en-US" sz="1700" dirty="0"/>
          </a:p>
        </p:txBody>
      </p:sp>
      <p:sp>
        <p:nvSpPr>
          <p:cNvPr id="5" name="Shape 3"/>
          <p:cNvSpPr/>
          <p:nvPr/>
        </p:nvSpPr>
        <p:spPr>
          <a:xfrm>
            <a:off x="640080" y="3977640"/>
            <a:ext cx="1005840" cy="32004"/>
          </a:xfrm>
          <a:prstGeom prst="rect">
            <a:avLst/>
          </a:prstGeom>
          <a:solidFill>
            <a:srgbClr val="4ADE80"/>
          </a:solidFill>
          <a:ln w="12700">
            <a:solidFill>
              <a:srgbClr val="333333"/>
            </a:solidFill>
            <a:prstDash val="solid"/>
          </a:ln>
        </p:spPr>
      </p:sp>
      <p:pic>
        <p:nvPicPr>
          <p:cNvPr id="6" name="Image 0" descr="/Users/vra/IdeaProjects/nx-scaling-e2e-tests-with-atomizer/talk/assets/avatar.jpg">    </p:cNvPr>
          <p:cNvPicPr>
            <a:picLocks noChangeAspect="1"/>
          </p:cNvPicPr>
          <p:nvPr/>
        </p:nvPicPr>
        <p:blipFill>
          <a:blip r:embed="rId1"/>
          <a:stretch>
            <a:fillRect/>
          </a:stretch>
        </p:blipFill>
        <p:spPr>
          <a:xfrm>
            <a:off x="640080" y="4224528"/>
            <a:ext cx="1234440" cy="1234440"/>
          </a:xfrm>
          <a:prstGeom prst="ellipse">
            <a:avLst/>
          </a:prstGeom>
        </p:spPr>
      </p:pic>
      <p:sp>
        <p:nvSpPr>
          <p:cNvPr id="7" name="Text 4"/>
          <p:cNvSpPr txBox="1"/>
          <p:nvPr/>
        </p:nvSpPr>
        <p:spPr>
          <a:xfrm>
            <a:off x="2148840" y="4416552"/>
            <a:ext cx="6309360" cy="41148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Vladimir Radzivil</a:t>
            </a:r>
            <a:endParaRPr lang="en-US" sz="2200" dirty="0"/>
          </a:p>
        </p:txBody>
      </p:sp>
      <p:sp>
        <p:nvSpPr>
          <p:cNvPr id="8" name="Text 5"/>
          <p:cNvSpPr txBox="1"/>
          <p:nvPr/>
        </p:nvSpPr>
        <p:spPr>
          <a:xfrm>
            <a:off x="2148840" y="4828032"/>
            <a:ext cx="6309360" cy="36576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Principal Consultant &amp; Partner, Zühlke</a:t>
            </a:r>
            <a:endParaRPr lang="en-US" sz="1500" dirty="0"/>
          </a:p>
        </p:txBody>
      </p:sp>
      <p:sp>
        <p:nvSpPr>
          <p:cNvPr id="9" name="Shape 6"/>
          <p:cNvSpPr/>
          <p:nvPr/>
        </p:nvSpPr>
        <p:spPr>
          <a:xfrm>
            <a:off x="8869680" y="2011680"/>
            <a:ext cx="2286000" cy="2286000"/>
          </a:xfrm>
          <a:prstGeom prst="roundRect">
            <a:avLst>
              <a:gd name="adj" fmla="val 2400"/>
            </a:avLst>
          </a:prstGeom>
          <a:solidFill>
            <a:srgbClr val="FFFFFF"/>
          </a:solidFill>
          <a:ln w="12700">
            <a:solidFill>
              <a:srgbClr val="333333"/>
            </a:solidFill>
            <a:prstDash val="solid"/>
          </a:ln>
        </p:spPr>
      </p:sp>
      <p:pic>
        <p:nvPicPr>
          <p:cNvPr id="10" name="Image 1" descr="/Users/vra/IdeaProjects/nx-scaling-e2e-tests-with-atomizer/talk/assets/qr-linkedin.png">    </p:cNvPr>
          <p:cNvPicPr>
            <a:picLocks noChangeAspect="1"/>
          </p:cNvPicPr>
          <p:nvPr/>
        </p:nvPicPr>
        <p:blipFill>
          <a:blip r:embed="rId2"/>
          <a:stretch>
            <a:fillRect/>
          </a:stretch>
        </p:blipFill>
        <p:spPr>
          <a:xfrm>
            <a:off x="8988552" y="2130552"/>
            <a:ext cx="2048256" cy="2048256"/>
          </a:xfrm>
          <a:prstGeom prst="rect">
            <a:avLst/>
          </a:prstGeom>
        </p:spPr>
      </p:pic>
      <p:sp>
        <p:nvSpPr>
          <p:cNvPr id="11" name="Text 7"/>
          <p:cNvSpPr txBox="1"/>
          <p:nvPr/>
        </p:nvSpPr>
        <p:spPr>
          <a:xfrm>
            <a:off x="8869680" y="4425696"/>
            <a:ext cx="228600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Connect on LinkedIn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WHY THIS TOPIC</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This one is not about AI</a:t>
            </a:r>
            <a:endParaRPr lang="en-US" sz="3800" dirty="0"/>
          </a:p>
        </p:txBody>
      </p:sp>
      <p:sp>
        <p:nvSpPr>
          <p:cNvPr id="4" name="Shape 2"/>
          <p:cNvSpPr/>
          <p:nvPr/>
        </p:nvSpPr>
        <p:spPr>
          <a:xfrm>
            <a:off x="640080" y="2011680"/>
            <a:ext cx="45720" cy="749808"/>
          </a:xfrm>
          <a:prstGeom prst="rect">
            <a:avLst/>
          </a:prstGeom>
          <a:solidFill>
            <a:srgbClr val="0B7A44"/>
          </a:solidFill>
          <a:ln w="12700">
            <a:solidFill>
              <a:srgbClr val="333333"/>
            </a:solidFill>
            <a:prstDash val="solid"/>
          </a:ln>
        </p:spPr>
      </p:sp>
      <p:sp>
        <p:nvSpPr>
          <p:cNvPr id="5" name="Text 3"/>
          <p:cNvSpPr txBox="1"/>
          <p:nvPr/>
        </p:nvSpPr>
        <p:spPr>
          <a:xfrm>
            <a:off x="914400" y="1965960"/>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is engineering</a:t>
            </a:r>
            <a:endParaRPr lang="en-US" sz="1900" dirty="0"/>
          </a:p>
        </p:txBody>
      </p:sp>
      <p:sp>
        <p:nvSpPr>
          <p:cNvPr id="6" name="Text 4"/>
          <p:cNvSpPr txBox="1"/>
          <p:nvPr/>
        </p:nvSpPr>
        <p:spPr>
          <a:xfrm>
            <a:off x="914400" y="2368296"/>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Configuration and a task graph. No model, no prompt, no vendor.</a:t>
            </a:r>
            <a:endParaRPr lang="en-US" sz="1400" dirty="0"/>
          </a:p>
        </p:txBody>
      </p:sp>
      <p:sp>
        <p:nvSpPr>
          <p:cNvPr id="7" name="Shape 5"/>
          <p:cNvSpPr/>
          <p:nvPr/>
        </p:nvSpPr>
        <p:spPr>
          <a:xfrm>
            <a:off x="640080" y="3035808"/>
            <a:ext cx="45720" cy="749808"/>
          </a:xfrm>
          <a:prstGeom prst="rect">
            <a:avLst/>
          </a:prstGeom>
          <a:solidFill>
            <a:srgbClr val="0B7A44"/>
          </a:solidFill>
          <a:ln w="12700">
            <a:solidFill>
              <a:srgbClr val="333333"/>
            </a:solidFill>
            <a:prstDash val="solid"/>
          </a:ln>
        </p:spPr>
      </p:sp>
      <p:sp>
        <p:nvSpPr>
          <p:cNvPr id="8" name="Text 6"/>
          <p:cNvSpPr txBox="1"/>
          <p:nvPr/>
        </p:nvSpPr>
        <p:spPr>
          <a:xfrm>
            <a:off x="914400" y="2990088"/>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is from a real project</a:t>
            </a:r>
            <a:endParaRPr lang="en-US" sz="1900" dirty="0"/>
          </a:p>
        </p:txBody>
      </p:sp>
      <p:sp>
        <p:nvSpPr>
          <p:cNvPr id="9" name="Text 7"/>
          <p:cNvSpPr txBox="1"/>
          <p:nvPr/>
        </p:nvSpPr>
        <p:spPr>
          <a:xfrm>
            <a:off x="914400" y="3392424"/>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Fifteen applications, a suite that had grown past what one machine could run.</a:t>
            </a:r>
            <a:endParaRPr lang="en-US" sz="1400" dirty="0"/>
          </a:p>
        </p:txBody>
      </p:sp>
      <p:sp>
        <p:nvSpPr>
          <p:cNvPr id="10" name="Shape 8"/>
          <p:cNvSpPr/>
          <p:nvPr/>
        </p:nvSpPr>
        <p:spPr>
          <a:xfrm>
            <a:off x="640080" y="4059936"/>
            <a:ext cx="45720" cy="749808"/>
          </a:xfrm>
          <a:prstGeom prst="rect">
            <a:avLst/>
          </a:prstGeom>
          <a:solidFill>
            <a:srgbClr val="0B7A44"/>
          </a:solidFill>
          <a:ln w="12700">
            <a:solidFill>
              <a:srgbClr val="333333"/>
            </a:solidFill>
            <a:prstDash val="solid"/>
          </a:ln>
        </p:spPr>
      </p:sp>
      <p:sp>
        <p:nvSpPr>
          <p:cNvPr id="11" name="Text 9"/>
          <p:cNvSpPr txBox="1"/>
          <p:nvPr/>
        </p:nvSpPr>
        <p:spPr>
          <a:xfrm>
            <a:off x="914400" y="4014216"/>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applies to most teams</a:t>
            </a:r>
            <a:endParaRPr lang="en-US" sz="1900" dirty="0"/>
          </a:p>
        </p:txBody>
      </p:sp>
      <p:sp>
        <p:nvSpPr>
          <p:cNvPr id="12" name="Text 10"/>
          <p:cNvSpPr txBox="1"/>
          <p:nvPr/>
        </p:nvSpPr>
        <p:spPr>
          <a:xfrm>
            <a:off x="914400" y="4416552"/>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If you have e2e tests and a monorepo, you already have the preconditions.</a:t>
            </a:r>
            <a:endParaRPr lang="en-US" sz="1400" dirty="0"/>
          </a:p>
        </p:txBody>
      </p:sp>
      <p:sp>
        <p:nvSpPr>
          <p:cNvPr id="13" name="Shape 11"/>
          <p:cNvSpPr/>
          <p:nvPr/>
        </p:nvSpPr>
        <p:spPr>
          <a:xfrm>
            <a:off x="640080" y="5084064"/>
            <a:ext cx="45720" cy="749808"/>
          </a:xfrm>
          <a:prstGeom prst="rect">
            <a:avLst/>
          </a:prstGeom>
          <a:solidFill>
            <a:srgbClr val="0B7A44"/>
          </a:solidFill>
          <a:ln w="12700">
            <a:solidFill>
              <a:srgbClr val="333333"/>
            </a:solidFill>
            <a:prstDash val="solid"/>
          </a:ln>
        </p:spPr>
      </p:sp>
      <p:sp>
        <p:nvSpPr>
          <p:cNvPr id="14" name="Text 12"/>
          <p:cNvSpPr txBox="1"/>
          <p:nvPr/>
        </p:nvSpPr>
        <p:spPr>
          <a:xfrm>
            <a:off x="914400" y="5038344"/>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You can use it today</a:t>
            </a:r>
            <a:endParaRPr lang="en-US" sz="1900" dirty="0"/>
          </a:p>
        </p:txBody>
      </p:sp>
      <p:sp>
        <p:nvSpPr>
          <p:cNvPr id="15" name="Text 13"/>
          <p:cNvSpPr txBox="1"/>
          <p:nvPr/>
        </p:nvSpPr>
        <p:spPr>
          <a:xfrm>
            <a:off x="914400" y="5440680"/>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Everything here is in the open-source plugin you probably already depend on.</a:t>
            </a:r>
            <a:endParaRPr lang="en-US" sz="1400" dirty="0"/>
          </a:p>
        </p:txBody>
      </p:sp>
      <p:sp>
        <p:nvSpPr>
          <p:cNvPr id="16" name="Text 14"/>
          <p:cNvSpPr txBox="1"/>
          <p:nvPr/>
        </p:nvSpPr>
        <p:spPr>
          <a:xfrm>
            <a:off x="640080" y="6172200"/>
            <a:ext cx="10881360" cy="411480"/>
          </a:xfrm>
          <a:prstGeom prst="rect">
            <a:avLst/>
          </a:prstGeom>
          <a:noFill/>
          <a:ln/>
        </p:spPr>
        <p:txBody>
          <a:bodyPr wrap="square" lIns="0" tIns="0" rIns="0" bIns="0" rtlCol="0" anchor="ctr"/>
          <a:lstStyle/>
          <a:p>
            <a:pPr indent="0" marL="0">
              <a:buNone/>
            </a:pPr>
            <a:r>
              <a:rPr lang="en-US" sz="1600" i="1" dirty="0">
                <a:solidFill>
                  <a:srgbClr val="0B7A44"/>
                </a:solidFill>
                <a:latin typeface="Calibri" pitchFamily="34" charset="0"/>
                <a:ea typeface="Calibri" pitchFamily="34" charset="-122"/>
                <a:cs typeface="Calibri" pitchFamily="34" charset="-120"/>
              </a:rPr>
              <a:t>Change got cheap this year. Confidence did not.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Where this goes</a:t>
            </a:r>
            <a:endParaRPr lang="en-US" sz="3800" dirty="0"/>
          </a:p>
        </p:txBody>
      </p:sp>
      <p:sp>
        <p:nvSpPr>
          <p:cNvPr id="4" name="Text 2"/>
          <p:cNvSpPr txBox="1"/>
          <p:nvPr/>
        </p:nvSpPr>
        <p:spPr>
          <a:xfrm>
            <a:off x="64008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01</a:t>
            </a:r>
            <a:endParaRPr lang="en-US" sz="2000" dirty="0"/>
          </a:p>
        </p:txBody>
      </p:sp>
      <p:sp>
        <p:nvSpPr>
          <p:cNvPr id="5" name="Text 3"/>
          <p:cNvSpPr txBox="1"/>
          <p:nvPr/>
        </p:nvSpPr>
        <p:spPr>
          <a:xfrm>
            <a:off x="132588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problem</a:t>
            </a:r>
            <a:endParaRPr lang="en-US" sz="1800" dirty="0"/>
          </a:p>
        </p:txBody>
      </p:sp>
      <p:sp>
        <p:nvSpPr>
          <p:cNvPr id="6" name="Text 4"/>
          <p:cNvSpPr txBox="1"/>
          <p:nvPr/>
        </p:nvSpPr>
        <p:spPr>
          <a:xfrm>
            <a:off x="132588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E2E is the slowest signal you have</a:t>
            </a:r>
            <a:endParaRPr lang="en-US" sz="1300" dirty="0"/>
          </a:p>
        </p:txBody>
      </p:sp>
      <p:sp>
        <p:nvSpPr>
          <p:cNvPr id="7" name="Text 5"/>
          <p:cNvSpPr txBox="1"/>
          <p:nvPr/>
        </p:nvSpPr>
        <p:spPr>
          <a:xfrm>
            <a:off x="626364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02</a:t>
            </a:r>
            <a:endParaRPr lang="en-US" sz="2000" dirty="0"/>
          </a:p>
        </p:txBody>
      </p:sp>
      <p:sp>
        <p:nvSpPr>
          <p:cNvPr id="8" name="Text 6"/>
          <p:cNvSpPr txBox="1"/>
          <p:nvPr/>
        </p:nvSpPr>
        <p:spPr>
          <a:xfrm>
            <a:off x="694944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atomizer</a:t>
            </a:r>
            <a:endParaRPr lang="en-US" sz="1800" dirty="0"/>
          </a:p>
        </p:txBody>
      </p:sp>
      <p:sp>
        <p:nvSpPr>
          <p:cNvPr id="9" name="Text 7"/>
          <p:cNvSpPr txBox="1"/>
          <p:nvPr/>
        </p:nvSpPr>
        <p:spPr>
          <a:xfrm>
            <a:off x="694944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One target per spec file, generated for you</a:t>
            </a:r>
            <a:endParaRPr lang="en-US" sz="1300" dirty="0"/>
          </a:p>
        </p:txBody>
      </p:sp>
      <p:sp>
        <p:nvSpPr>
          <p:cNvPr id="10" name="Text 8"/>
          <p:cNvSpPr txBox="1"/>
          <p:nvPr/>
        </p:nvSpPr>
        <p:spPr>
          <a:xfrm>
            <a:off x="64008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03</a:t>
            </a:r>
            <a:endParaRPr lang="en-US" sz="2000" dirty="0"/>
          </a:p>
        </p:txBody>
      </p:sp>
      <p:sp>
        <p:nvSpPr>
          <p:cNvPr id="11" name="Text 9"/>
          <p:cNvSpPr txBox="1"/>
          <p:nvPr/>
        </p:nvSpPr>
        <p:spPr>
          <a:xfrm>
            <a:off x="132588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catch</a:t>
            </a:r>
            <a:endParaRPr lang="en-US" sz="1800" dirty="0"/>
          </a:p>
        </p:txBody>
      </p:sp>
      <p:sp>
        <p:nvSpPr>
          <p:cNvPr id="12" name="Text 10"/>
          <p:cNvSpPr txBox="1"/>
          <p:nvPr/>
        </p:nvSpPr>
        <p:spPr>
          <a:xfrm>
            <a:off x="132588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Nx 23 gates the wrapper task behind Nx Cloud</a:t>
            </a:r>
            <a:endParaRPr lang="en-US" sz="1300" dirty="0"/>
          </a:p>
        </p:txBody>
      </p:sp>
      <p:sp>
        <p:nvSpPr>
          <p:cNvPr id="13" name="Text 11"/>
          <p:cNvSpPr txBox="1"/>
          <p:nvPr/>
        </p:nvSpPr>
        <p:spPr>
          <a:xfrm>
            <a:off x="626364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04</a:t>
            </a:r>
            <a:endParaRPr lang="en-US" sz="2000" dirty="0"/>
          </a:p>
        </p:txBody>
      </p:sp>
      <p:sp>
        <p:nvSpPr>
          <p:cNvPr id="14" name="Text 12"/>
          <p:cNvSpPr txBox="1"/>
          <p:nvPr/>
        </p:nvSpPr>
        <p:spPr>
          <a:xfrm>
            <a:off x="694944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Parallel, no cloud</a:t>
            </a:r>
            <a:endParaRPr lang="en-US" sz="1800" dirty="0"/>
          </a:p>
        </p:txBody>
      </p:sp>
      <p:sp>
        <p:nvSpPr>
          <p:cNvPr id="15" name="Text 13"/>
          <p:cNvSpPr txBox="1"/>
          <p:nvPr/>
        </p:nvSpPr>
        <p:spPr>
          <a:xfrm>
            <a:off x="694944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The same command locally and on CI</a:t>
            </a:r>
            <a:endParaRPr lang="en-US" sz="1300" dirty="0"/>
          </a:p>
        </p:txBody>
      </p:sp>
      <p:sp>
        <p:nvSpPr>
          <p:cNvPr id="16" name="Text 14"/>
          <p:cNvSpPr txBox="1"/>
          <p:nvPr/>
        </p:nvSpPr>
        <p:spPr>
          <a:xfrm>
            <a:off x="64008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05</a:t>
            </a:r>
            <a:endParaRPr lang="en-US" sz="2000" dirty="0"/>
          </a:p>
        </p:txBody>
      </p:sp>
      <p:sp>
        <p:nvSpPr>
          <p:cNvPr id="17" name="Text 15"/>
          <p:cNvSpPr txBox="1"/>
          <p:nvPr/>
        </p:nvSpPr>
        <p:spPr>
          <a:xfrm>
            <a:off x="132588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cache</a:t>
            </a:r>
            <a:endParaRPr lang="en-US" sz="1800" dirty="0"/>
          </a:p>
        </p:txBody>
      </p:sp>
      <p:sp>
        <p:nvSpPr>
          <p:cNvPr id="18" name="Text 16"/>
          <p:cNvSpPr txBox="1"/>
          <p:nvPr/>
        </p:nvSpPr>
        <p:spPr>
          <a:xfrm>
            <a:off x="132588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Why a re-run only executes the failures</a:t>
            </a:r>
            <a:endParaRPr lang="en-US" sz="1300" dirty="0"/>
          </a:p>
        </p:txBody>
      </p:sp>
      <p:sp>
        <p:nvSpPr>
          <p:cNvPr id="19" name="Text 17"/>
          <p:cNvSpPr txBox="1"/>
          <p:nvPr/>
        </p:nvSpPr>
        <p:spPr>
          <a:xfrm>
            <a:off x="626364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06</a:t>
            </a:r>
            <a:endParaRPr lang="en-US" sz="2000" dirty="0"/>
          </a:p>
        </p:txBody>
      </p:sp>
      <p:sp>
        <p:nvSpPr>
          <p:cNvPr id="20" name="Text 18"/>
          <p:cNvSpPr txBox="1"/>
          <p:nvPr/>
        </p:nvSpPr>
        <p:spPr>
          <a:xfrm>
            <a:off x="694944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Scale</a:t>
            </a:r>
            <a:endParaRPr lang="en-US" sz="1800" dirty="0"/>
          </a:p>
        </p:txBody>
      </p:sp>
      <p:sp>
        <p:nvSpPr>
          <p:cNvPr id="21" name="Text 19"/>
          <p:cNvSpPr txBox="1"/>
          <p:nvPr/>
        </p:nvSpPr>
        <p:spPr>
          <a:xfrm>
            <a:off x="694944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Three apps, 30 targets, and what it did on a real project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2331720"/>
          </a:xfrm>
          <a:prstGeom prst="roundRect">
            <a:avLst>
              <a:gd name="adj" fmla="val 3529"/>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runs E2E tests?</a:t>
            </a:r>
            <a:endParaRPr lang="en-US" sz="1900" dirty="0"/>
          </a:p>
        </p:txBody>
      </p:sp>
      <p:sp>
        <p:nvSpPr>
          <p:cNvPr id="8" name="Text 6"/>
          <p:cNvSpPr txBox="1"/>
          <p:nvPr/>
        </p:nvSpPr>
        <p:spPr>
          <a:xfrm>
            <a:off x="86868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Most hands go up.</a:t>
            </a:r>
            <a:endParaRPr lang="en-US" sz="1300" dirty="0"/>
          </a:p>
        </p:txBody>
      </p:sp>
      <p:sp>
        <p:nvSpPr>
          <p:cNvPr id="9" name="Shape 7"/>
          <p:cNvSpPr/>
          <p:nvPr/>
        </p:nvSpPr>
        <p:spPr>
          <a:xfrm>
            <a:off x="4343400" y="2011680"/>
            <a:ext cx="3429000" cy="2331720"/>
          </a:xfrm>
          <a:prstGeom prst="roundRect">
            <a:avLst>
              <a:gd name="adj" fmla="val 3529"/>
            </a:avLst>
          </a:prstGeom>
          <a:solidFill>
            <a:srgbClr val="F2F4F7"/>
          </a:solidFill>
          <a:ln w="12700">
            <a:solidFill>
              <a:srgbClr val="DDE3EA"/>
            </a:solidFill>
            <a:prstDash val="dash"/>
          </a:ln>
        </p:spPr>
      </p:sp>
      <p:sp>
        <p:nvSpPr>
          <p:cNvPr id="10" name="Text 8"/>
          <p:cNvSpPr txBox="1"/>
          <p:nvPr/>
        </p:nvSpPr>
        <p:spPr>
          <a:xfrm>
            <a:off x="4343400" y="2011680"/>
            <a:ext cx="3429000" cy="233172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2</a:t>
            </a:r>
            <a:endParaRPr lang="en-US" sz="4000" dirty="0"/>
          </a:p>
        </p:txBody>
      </p:sp>
      <p:sp>
        <p:nvSpPr>
          <p:cNvPr id="11" name="Shape 9"/>
          <p:cNvSpPr/>
          <p:nvPr/>
        </p:nvSpPr>
        <p:spPr>
          <a:xfrm>
            <a:off x="8046720" y="2011680"/>
            <a:ext cx="3429000" cy="2331720"/>
          </a:xfrm>
          <a:prstGeom prst="roundRect">
            <a:avLst>
              <a:gd name="adj" fmla="val 3529"/>
            </a:avLst>
          </a:prstGeom>
          <a:solidFill>
            <a:srgbClr val="F2F4F7"/>
          </a:solidFill>
          <a:ln w="12700">
            <a:solidFill>
              <a:srgbClr val="DDE3EA"/>
            </a:solidFill>
            <a:prstDash val="dash"/>
          </a:ln>
        </p:spPr>
      </p:sp>
      <p:sp>
        <p:nvSpPr>
          <p:cNvPr id="12" name="Text 10"/>
          <p:cNvSpPr txBox="1"/>
          <p:nvPr/>
        </p:nvSpPr>
        <p:spPr>
          <a:xfrm>
            <a:off x="8046720" y="2011680"/>
            <a:ext cx="3429000" cy="233172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3</a:t>
            </a:r>
            <a:endParaRPr lang="en-US" sz="4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2331720"/>
          </a:xfrm>
          <a:prstGeom prst="roundRect">
            <a:avLst>
              <a:gd name="adj" fmla="val 3529"/>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runs E2E tests?</a:t>
            </a:r>
            <a:endParaRPr lang="en-US" sz="1900" dirty="0"/>
          </a:p>
        </p:txBody>
      </p:sp>
      <p:sp>
        <p:nvSpPr>
          <p:cNvPr id="8" name="Text 6"/>
          <p:cNvSpPr txBox="1"/>
          <p:nvPr/>
        </p:nvSpPr>
        <p:spPr>
          <a:xfrm>
            <a:off x="86868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Most hands go up.</a:t>
            </a:r>
            <a:endParaRPr lang="en-US" sz="1300" dirty="0"/>
          </a:p>
        </p:txBody>
      </p:sp>
      <p:sp>
        <p:nvSpPr>
          <p:cNvPr id="9" name="Shape 7"/>
          <p:cNvSpPr/>
          <p:nvPr/>
        </p:nvSpPr>
        <p:spPr>
          <a:xfrm>
            <a:off x="4343400" y="2011680"/>
            <a:ext cx="3429000" cy="2331720"/>
          </a:xfrm>
          <a:prstGeom prst="roundRect">
            <a:avLst>
              <a:gd name="adj" fmla="val 3529"/>
            </a:avLst>
          </a:prstGeom>
          <a:solidFill>
            <a:srgbClr val="FFFFFF"/>
          </a:solidFill>
          <a:ln w="12700">
            <a:solidFill>
              <a:srgbClr val="E2E6ED"/>
            </a:solidFill>
            <a:prstDash val="solid"/>
          </a:ln>
        </p:spPr>
      </p:sp>
      <p:sp>
        <p:nvSpPr>
          <p:cNvPr id="10" name="Shape 8"/>
          <p:cNvSpPr/>
          <p:nvPr/>
        </p:nvSpPr>
        <p:spPr>
          <a:xfrm>
            <a:off x="4572000" y="2240280"/>
            <a:ext cx="566928" cy="566928"/>
          </a:xfrm>
          <a:prstGeom prst="ellipse">
            <a:avLst/>
          </a:prstGeom>
          <a:solidFill>
            <a:srgbClr val="DCF5E7"/>
          </a:solidFill>
          <a:ln w="12700">
            <a:solidFill>
              <a:srgbClr val="333333"/>
            </a:solidFill>
            <a:prstDash val="solid"/>
          </a:ln>
        </p:spPr>
      </p:sp>
      <p:sp>
        <p:nvSpPr>
          <p:cNvPr id="11" name="Text 9"/>
          <p:cNvSpPr txBox="1"/>
          <p:nvPr/>
        </p:nvSpPr>
        <p:spPr>
          <a:xfrm>
            <a:off x="457200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2</a:t>
            </a:r>
            <a:endParaRPr lang="en-US" sz="2000" dirty="0"/>
          </a:p>
        </p:txBody>
      </p:sp>
      <p:sp>
        <p:nvSpPr>
          <p:cNvPr id="12" name="Text 10"/>
          <p:cNvSpPr txBox="1"/>
          <p:nvPr/>
        </p:nvSpPr>
        <p:spPr>
          <a:xfrm>
            <a:off x="457200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Whose suite is green right now?</a:t>
            </a:r>
            <a:endParaRPr lang="en-US" sz="1900" dirty="0"/>
          </a:p>
        </p:txBody>
      </p:sp>
      <p:sp>
        <p:nvSpPr>
          <p:cNvPr id="13" name="Text 11"/>
          <p:cNvSpPr txBox="1"/>
          <p:nvPr/>
        </p:nvSpPr>
        <p:spPr>
          <a:xfrm>
            <a:off x="457200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Fewer hands. Some laughter.</a:t>
            </a:r>
            <a:endParaRPr lang="en-US" sz="1300" dirty="0"/>
          </a:p>
        </p:txBody>
      </p:sp>
      <p:sp>
        <p:nvSpPr>
          <p:cNvPr id="14" name="Shape 12"/>
          <p:cNvSpPr/>
          <p:nvPr/>
        </p:nvSpPr>
        <p:spPr>
          <a:xfrm>
            <a:off x="8046720" y="2011680"/>
            <a:ext cx="3429000" cy="2331720"/>
          </a:xfrm>
          <a:prstGeom prst="roundRect">
            <a:avLst>
              <a:gd name="adj" fmla="val 3529"/>
            </a:avLst>
          </a:prstGeom>
          <a:solidFill>
            <a:srgbClr val="F2F4F7"/>
          </a:solidFill>
          <a:ln w="12700">
            <a:solidFill>
              <a:srgbClr val="DDE3EA"/>
            </a:solidFill>
            <a:prstDash val="dash"/>
          </a:ln>
        </p:spPr>
      </p:sp>
      <p:sp>
        <p:nvSpPr>
          <p:cNvPr id="15" name="Text 13"/>
          <p:cNvSpPr txBox="1"/>
          <p:nvPr/>
        </p:nvSpPr>
        <p:spPr>
          <a:xfrm>
            <a:off x="8046720" y="2011680"/>
            <a:ext cx="3429000" cy="233172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3</a:t>
            </a:r>
            <a:endParaRPr lang="en-US" sz="4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2331720"/>
          </a:xfrm>
          <a:prstGeom prst="roundRect">
            <a:avLst>
              <a:gd name="adj" fmla="val 3529"/>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runs E2E tests?</a:t>
            </a:r>
            <a:endParaRPr lang="en-US" sz="1900" dirty="0"/>
          </a:p>
        </p:txBody>
      </p:sp>
      <p:sp>
        <p:nvSpPr>
          <p:cNvPr id="8" name="Text 6"/>
          <p:cNvSpPr txBox="1"/>
          <p:nvPr/>
        </p:nvSpPr>
        <p:spPr>
          <a:xfrm>
            <a:off x="86868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Most hands go up.</a:t>
            </a:r>
            <a:endParaRPr lang="en-US" sz="1300" dirty="0"/>
          </a:p>
        </p:txBody>
      </p:sp>
      <p:sp>
        <p:nvSpPr>
          <p:cNvPr id="9" name="Shape 7"/>
          <p:cNvSpPr/>
          <p:nvPr/>
        </p:nvSpPr>
        <p:spPr>
          <a:xfrm>
            <a:off x="4343400" y="2011680"/>
            <a:ext cx="3429000" cy="2331720"/>
          </a:xfrm>
          <a:prstGeom prst="roundRect">
            <a:avLst>
              <a:gd name="adj" fmla="val 3529"/>
            </a:avLst>
          </a:prstGeom>
          <a:solidFill>
            <a:srgbClr val="FFFFFF"/>
          </a:solidFill>
          <a:ln w="12700">
            <a:solidFill>
              <a:srgbClr val="E2E6ED"/>
            </a:solidFill>
            <a:prstDash val="solid"/>
          </a:ln>
        </p:spPr>
      </p:sp>
      <p:sp>
        <p:nvSpPr>
          <p:cNvPr id="10" name="Shape 8"/>
          <p:cNvSpPr/>
          <p:nvPr/>
        </p:nvSpPr>
        <p:spPr>
          <a:xfrm>
            <a:off x="4572000" y="2240280"/>
            <a:ext cx="566928" cy="566928"/>
          </a:xfrm>
          <a:prstGeom prst="ellipse">
            <a:avLst/>
          </a:prstGeom>
          <a:solidFill>
            <a:srgbClr val="DCF5E7"/>
          </a:solidFill>
          <a:ln w="12700">
            <a:solidFill>
              <a:srgbClr val="333333"/>
            </a:solidFill>
            <a:prstDash val="solid"/>
          </a:ln>
        </p:spPr>
      </p:sp>
      <p:sp>
        <p:nvSpPr>
          <p:cNvPr id="11" name="Text 9"/>
          <p:cNvSpPr txBox="1"/>
          <p:nvPr/>
        </p:nvSpPr>
        <p:spPr>
          <a:xfrm>
            <a:off x="457200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2</a:t>
            </a:r>
            <a:endParaRPr lang="en-US" sz="2000" dirty="0"/>
          </a:p>
        </p:txBody>
      </p:sp>
      <p:sp>
        <p:nvSpPr>
          <p:cNvPr id="12" name="Text 10"/>
          <p:cNvSpPr txBox="1"/>
          <p:nvPr/>
        </p:nvSpPr>
        <p:spPr>
          <a:xfrm>
            <a:off x="457200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Whose suite is green right now?</a:t>
            </a:r>
            <a:endParaRPr lang="en-US" sz="1900" dirty="0"/>
          </a:p>
        </p:txBody>
      </p:sp>
      <p:sp>
        <p:nvSpPr>
          <p:cNvPr id="13" name="Text 11"/>
          <p:cNvSpPr txBox="1"/>
          <p:nvPr/>
        </p:nvSpPr>
        <p:spPr>
          <a:xfrm>
            <a:off x="457200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Fewer hands. Some laughter.</a:t>
            </a:r>
            <a:endParaRPr lang="en-US" sz="1300" dirty="0"/>
          </a:p>
        </p:txBody>
      </p:sp>
      <p:sp>
        <p:nvSpPr>
          <p:cNvPr id="14" name="Shape 12"/>
          <p:cNvSpPr/>
          <p:nvPr/>
        </p:nvSpPr>
        <p:spPr>
          <a:xfrm>
            <a:off x="8046720" y="2011680"/>
            <a:ext cx="3429000" cy="2331720"/>
          </a:xfrm>
          <a:prstGeom prst="roundRect">
            <a:avLst>
              <a:gd name="adj" fmla="val 3529"/>
            </a:avLst>
          </a:prstGeom>
          <a:solidFill>
            <a:srgbClr val="FFFFFF"/>
          </a:solidFill>
          <a:ln w="12700">
            <a:solidFill>
              <a:srgbClr val="E2E6ED"/>
            </a:solidFill>
            <a:prstDash val="solid"/>
          </a:ln>
        </p:spPr>
      </p:sp>
      <p:sp>
        <p:nvSpPr>
          <p:cNvPr id="15" name="Shape 13"/>
          <p:cNvSpPr/>
          <p:nvPr/>
        </p:nvSpPr>
        <p:spPr>
          <a:xfrm>
            <a:off x="8275320" y="2240280"/>
            <a:ext cx="566928" cy="566928"/>
          </a:xfrm>
          <a:prstGeom prst="ellipse">
            <a:avLst/>
          </a:prstGeom>
          <a:solidFill>
            <a:srgbClr val="FBE0E2"/>
          </a:solidFill>
          <a:ln w="12700">
            <a:solidFill>
              <a:srgbClr val="333333"/>
            </a:solidFill>
            <a:prstDash val="solid"/>
          </a:ln>
        </p:spPr>
      </p:sp>
      <p:sp>
        <p:nvSpPr>
          <p:cNvPr id="16" name="Text 14"/>
          <p:cNvSpPr txBox="1"/>
          <p:nvPr/>
        </p:nvSpPr>
        <p:spPr>
          <a:xfrm>
            <a:off x="8275320" y="2240280"/>
            <a:ext cx="566928" cy="566928"/>
          </a:xfrm>
          <a:prstGeom prst="rect">
            <a:avLst/>
          </a:prstGeom>
          <a:noFill/>
          <a:ln/>
        </p:spPr>
        <p:txBody>
          <a:bodyPr wrap="square" lIns="0" tIns="0" rIns="0" bIns="0" rtlCol="0" anchor="ctr"/>
          <a:lstStyle/>
          <a:p>
            <a:pPr algn="ctr" indent="0" marL="0">
              <a:buNone/>
            </a:pPr>
            <a:r>
              <a:rPr lang="en-US" sz="2000" b="1" dirty="0">
                <a:solidFill>
                  <a:srgbClr val="8D1B22"/>
                </a:solidFill>
                <a:latin typeface="Calibri" pitchFamily="34" charset="0"/>
                <a:ea typeface="Calibri" pitchFamily="34" charset="-122"/>
                <a:cs typeface="Calibri" pitchFamily="34" charset="-120"/>
              </a:rPr>
              <a:t>3</a:t>
            </a:r>
            <a:endParaRPr lang="en-US" sz="2000" dirty="0"/>
          </a:p>
        </p:txBody>
      </p:sp>
      <p:sp>
        <p:nvSpPr>
          <p:cNvPr id="17" name="Text 15"/>
          <p:cNvSpPr txBox="1"/>
          <p:nvPr/>
        </p:nvSpPr>
        <p:spPr>
          <a:xfrm>
            <a:off x="827532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blocks a PR on it?</a:t>
            </a:r>
            <a:endParaRPr lang="en-US" sz="1900" dirty="0"/>
          </a:p>
        </p:txBody>
      </p:sp>
      <p:sp>
        <p:nvSpPr>
          <p:cNvPr id="18" name="Text 16"/>
          <p:cNvSpPr txBox="1"/>
          <p:nvPr/>
        </p:nvSpPr>
        <p:spPr>
          <a:xfrm>
            <a:off x="827532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Almost none.</a:t>
            </a:r>
            <a:endParaRPr lang="en-US" sz="1300" dirty="0"/>
          </a:p>
        </p:txBody>
      </p:sp>
      <p:sp>
        <p:nvSpPr>
          <p:cNvPr id="19" name="Shape 17"/>
          <p:cNvSpPr/>
          <p:nvPr/>
        </p:nvSpPr>
        <p:spPr>
          <a:xfrm>
            <a:off x="640080" y="4800600"/>
            <a:ext cx="10881360" cy="1051560"/>
          </a:xfrm>
          <a:prstGeom prst="roundRect">
            <a:avLst>
              <a:gd name="adj" fmla="val 6087"/>
            </a:avLst>
          </a:prstGeom>
          <a:solidFill>
            <a:srgbClr val="FFF7E6"/>
          </a:solidFill>
          <a:ln w="12700">
            <a:solidFill>
              <a:srgbClr val="F5A524"/>
            </a:solidFill>
            <a:prstDash val="solid"/>
          </a:ln>
        </p:spPr>
      </p:sp>
      <p:sp>
        <p:nvSpPr>
          <p:cNvPr id="20" name="Text 18"/>
          <p:cNvSpPr txBox="1"/>
          <p:nvPr/>
        </p:nvSpPr>
        <p:spPr>
          <a:xfrm>
            <a:off x="914400" y="4983480"/>
            <a:ext cx="10332720" cy="731520"/>
          </a:xfrm>
          <a:prstGeom prst="rect">
            <a:avLst/>
          </a:prstGeom>
          <a:noFill/>
          <a:ln/>
        </p:spPr>
        <p:txBody>
          <a:bodyPr wrap="square" lIns="0" tIns="0" rIns="0" bIns="0" rtlCol="0" anchor="ctr"/>
          <a:lstStyle/>
          <a:p>
            <a:pPr indent="0" marL="0">
              <a:buNone/>
            </a:pPr>
            <a:r>
              <a:rPr lang="en-US" sz="1500" dirty="0">
                <a:solidFill>
                  <a:srgbClr val="5B4308"/>
                </a:solidFill>
                <a:latin typeface="Calibri" pitchFamily="34" charset="0"/>
                <a:ea typeface="Calibri" pitchFamily="34" charset="-122"/>
                <a:cs typeface="Calibri" pitchFamily="34" charset="-120"/>
              </a:rPr>
              <a:t>The distance between the first hand and the last one is this talk. Nobody blocks a merge on a suite that takes an hour and fails for reasons nobody trusts.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WHY NOW</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Change got cheap. Confidence did not.</a:t>
            </a:r>
            <a:endParaRPr lang="en-US" sz="3800" dirty="0"/>
          </a:p>
        </p:txBody>
      </p:sp>
      <p:sp>
        <p:nvSpPr>
          <p:cNvPr id="4" name="Shape 2"/>
          <p:cNvSpPr/>
          <p:nvPr/>
        </p:nvSpPr>
        <p:spPr>
          <a:xfrm>
            <a:off x="640080" y="1920240"/>
            <a:ext cx="5257800" cy="2103120"/>
          </a:xfrm>
          <a:prstGeom prst="roundRect">
            <a:avLst>
              <a:gd name="adj" fmla="val 3913"/>
            </a:avLst>
          </a:prstGeom>
          <a:solidFill>
            <a:srgbClr val="1B2029"/>
          </a:solidFill>
          <a:ln w="19050">
            <a:solidFill>
              <a:srgbClr val="4ADE80"/>
            </a:solidFill>
            <a:prstDash val="solid"/>
          </a:ln>
        </p:spPr>
      </p:sp>
      <p:sp>
        <p:nvSpPr>
          <p:cNvPr id="5" name="Text 3"/>
          <p:cNvSpPr txBox="1"/>
          <p:nvPr/>
        </p:nvSpPr>
        <p:spPr>
          <a:xfrm>
            <a:off x="914400" y="2148840"/>
            <a:ext cx="4709160" cy="41148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Writing the change</a:t>
            </a:r>
            <a:endParaRPr lang="en-US" sz="2000" dirty="0"/>
          </a:p>
        </p:txBody>
      </p:sp>
      <p:sp>
        <p:nvSpPr>
          <p:cNvPr id="6" name="Text 4"/>
          <p:cNvSpPr txBox="1"/>
          <p:nvPr/>
        </p:nvSpPr>
        <p:spPr>
          <a:xfrm>
            <a:off x="914400" y="2606040"/>
            <a:ext cx="4709160" cy="365760"/>
          </a:xfrm>
          <a:prstGeom prst="rect">
            <a:avLst/>
          </a:prstGeom>
          <a:noFill/>
          <a:ln/>
        </p:spPr>
        <p:txBody>
          <a:bodyPr wrap="square" lIns="0" tIns="0" rIns="0" bIns="0" rtlCol="0" anchor="ctr"/>
          <a:lstStyle/>
          <a:p>
            <a:pPr indent="0" marL="0">
              <a:buNone/>
            </a:pPr>
            <a:r>
              <a:rPr lang="en-US" sz="2200" b="1" spc="100" kern="0" dirty="0">
                <a:solidFill>
                  <a:srgbClr val="4ADE80"/>
                </a:solidFill>
                <a:latin typeface="Courier New" pitchFamily="34" charset="0"/>
                <a:ea typeface="Courier New" pitchFamily="34" charset="-122"/>
                <a:cs typeface="Courier New" pitchFamily="34" charset="-120"/>
              </a:rPr>
              <a:t>MINUTES</a:t>
            </a:r>
            <a:endParaRPr lang="en-US" sz="2200" dirty="0"/>
          </a:p>
        </p:txBody>
      </p:sp>
      <p:sp>
        <p:nvSpPr>
          <p:cNvPr id="7" name="Text 5"/>
          <p:cNvSpPr txBox="1"/>
          <p:nvPr/>
        </p:nvSpPr>
        <p:spPr>
          <a:xfrm>
            <a:off x="914400" y="3063240"/>
            <a:ext cx="4709160" cy="777240"/>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AI writes it, reviews it, refactors it. The cost collapsed this year.</a:t>
            </a:r>
            <a:endParaRPr lang="en-US" sz="1400" dirty="0"/>
          </a:p>
        </p:txBody>
      </p:sp>
      <p:sp>
        <p:nvSpPr>
          <p:cNvPr id="8" name="Shape 6"/>
          <p:cNvSpPr/>
          <p:nvPr/>
        </p:nvSpPr>
        <p:spPr>
          <a:xfrm>
            <a:off x="6263640" y="1920240"/>
            <a:ext cx="5257800" cy="2103120"/>
          </a:xfrm>
          <a:prstGeom prst="roundRect">
            <a:avLst>
              <a:gd name="adj" fmla="val 3913"/>
            </a:avLst>
          </a:prstGeom>
          <a:solidFill>
            <a:srgbClr val="1B2029"/>
          </a:solidFill>
          <a:ln w="19050">
            <a:solidFill>
              <a:srgbClr val="FB7185"/>
            </a:solidFill>
            <a:prstDash val="solid"/>
          </a:ln>
        </p:spPr>
      </p:sp>
      <p:sp>
        <p:nvSpPr>
          <p:cNvPr id="9" name="Text 7"/>
          <p:cNvSpPr txBox="1"/>
          <p:nvPr/>
        </p:nvSpPr>
        <p:spPr>
          <a:xfrm>
            <a:off x="6537960" y="2148840"/>
            <a:ext cx="4709160" cy="41148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Trusting the change</a:t>
            </a:r>
            <a:endParaRPr lang="en-US" sz="2000" dirty="0"/>
          </a:p>
        </p:txBody>
      </p:sp>
      <p:sp>
        <p:nvSpPr>
          <p:cNvPr id="10" name="Text 8"/>
          <p:cNvSpPr txBox="1"/>
          <p:nvPr/>
        </p:nvSpPr>
        <p:spPr>
          <a:xfrm>
            <a:off x="6537960" y="2606040"/>
            <a:ext cx="4709160" cy="365760"/>
          </a:xfrm>
          <a:prstGeom prst="rect">
            <a:avLst/>
          </a:prstGeom>
          <a:noFill/>
          <a:ln/>
        </p:spPr>
        <p:txBody>
          <a:bodyPr wrap="square" lIns="0" tIns="0" rIns="0" bIns="0" rtlCol="0" anchor="ctr"/>
          <a:lstStyle/>
          <a:p>
            <a:pPr indent="0" marL="0">
              <a:buNone/>
            </a:pPr>
            <a:r>
              <a:rPr lang="en-US" sz="2200" b="1" spc="100" kern="0" dirty="0">
                <a:solidFill>
                  <a:srgbClr val="FB7185"/>
                </a:solidFill>
                <a:latin typeface="Courier New" pitchFamily="34" charset="0"/>
                <a:ea typeface="Courier New" pitchFamily="34" charset="-122"/>
                <a:cs typeface="Courier New" pitchFamily="34" charset="-120"/>
              </a:rPr>
              <a:t>UNCHANGED</a:t>
            </a:r>
            <a:endParaRPr lang="en-US" sz="2200" dirty="0"/>
          </a:p>
        </p:txBody>
      </p:sp>
      <p:sp>
        <p:nvSpPr>
          <p:cNvPr id="11" name="Text 9"/>
          <p:cNvSpPr txBox="1"/>
          <p:nvPr/>
        </p:nvSpPr>
        <p:spPr>
          <a:xfrm>
            <a:off x="6537960" y="3063240"/>
            <a:ext cx="4709160" cy="777240"/>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Still the same slow suite, still the same nightly run, still the same shrug.</a:t>
            </a:r>
            <a:endParaRPr lang="en-US" sz="1400" dirty="0"/>
          </a:p>
        </p:txBody>
      </p:sp>
      <p:sp>
        <p:nvSpPr>
          <p:cNvPr id="12" name="Text 10"/>
          <p:cNvSpPr txBox="1"/>
          <p:nvPr/>
        </p:nvSpPr>
        <p:spPr>
          <a:xfrm>
            <a:off x="640080" y="4434840"/>
            <a:ext cx="10881360" cy="45720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A quality gate you can run in a minute is worth more than one you can trust in principle.</a:t>
            </a:r>
            <a:endParaRPr lang="en-US" sz="1900" dirty="0"/>
          </a:p>
        </p:txBody>
      </p:sp>
      <p:sp>
        <p:nvSpPr>
          <p:cNvPr id="13" name="Text 11"/>
          <p:cNvSpPr txBox="1"/>
          <p:nvPr/>
        </p:nvSpPr>
        <p:spPr>
          <a:xfrm>
            <a:off x="640080" y="4983480"/>
            <a:ext cx="10881360" cy="914400"/>
          </a:xfrm>
          <a:prstGeom prst="rect">
            <a:avLst/>
          </a:prstGeom>
          <a:noFill/>
          <a:ln/>
        </p:spPr>
        <p:txBody>
          <a:bodyPr wrap="square" lIns="0" tIns="0" rIns="0" bIns="0" rtlCol="0" anchor="ctr"/>
          <a:lstStyle/>
          <a:p>
            <a:pPr indent="0" marL="0">
              <a:buNone/>
            </a:pPr>
            <a:r>
              <a:rPr lang="en-US" sz="1500" dirty="0">
                <a:solidFill>
                  <a:srgbClr val="8A94A6"/>
                </a:solidFill>
                <a:latin typeface="Calibri" pitchFamily="34" charset="0"/>
                <a:ea typeface="Calibri" pitchFamily="34" charset="-122"/>
                <a:cs typeface="Calibri" pitchFamily="34" charset="-120"/>
              </a:rPr>
              <a:t>When a change costs an afternoon, a twenty-minute suite is a rounding error. When it costs four minutes, the suite is the bottleneck — and the thing standing between you and merging code you did not write line by line.</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01 · THE EXAMPLE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One repo, three apps, one graph</a:t>
            </a:r>
            <a:endParaRPr lang="en-US" sz="3800" dirty="0"/>
          </a:p>
        </p:txBody>
      </p:sp>
      <p:sp>
        <p:nvSpPr>
          <p:cNvPr id="4" name="Shape 2"/>
          <p:cNvSpPr/>
          <p:nvPr/>
        </p:nvSpPr>
        <p:spPr>
          <a:xfrm>
            <a:off x="1828800" y="2743200"/>
            <a:ext cx="1463040" cy="1051560"/>
          </a:xfrm>
          <a:prstGeom prst="line">
            <a:avLst/>
          </a:prstGeom>
          <a:noFill/>
          <a:ln w="19050">
            <a:solidFill>
              <a:srgbClr val="B8C0CC"/>
            </a:solidFill>
            <a:prstDash val="solid"/>
          </a:ln>
        </p:spPr>
      </p:sp>
      <p:sp>
        <p:nvSpPr>
          <p:cNvPr id="5" name="Shape 3"/>
          <p:cNvSpPr/>
          <p:nvPr/>
        </p:nvSpPr>
        <p:spPr>
          <a:xfrm flipH="1">
            <a:off x="3291840" y="2743200"/>
            <a:ext cx="1645920" cy="1051560"/>
          </a:xfrm>
          <a:prstGeom prst="line">
            <a:avLst/>
          </a:prstGeom>
          <a:noFill/>
          <a:ln w="19050">
            <a:solidFill>
              <a:srgbClr val="B8C0CC"/>
            </a:solidFill>
            <a:prstDash val="solid"/>
          </a:ln>
        </p:spPr>
      </p:sp>
      <p:sp>
        <p:nvSpPr>
          <p:cNvPr id="6" name="Shape 4"/>
          <p:cNvSpPr/>
          <p:nvPr/>
        </p:nvSpPr>
        <p:spPr>
          <a:xfrm>
            <a:off x="4937760" y="2743200"/>
            <a:ext cx="1554480" cy="1051560"/>
          </a:xfrm>
          <a:prstGeom prst="line">
            <a:avLst/>
          </a:prstGeom>
          <a:noFill/>
          <a:ln w="19050">
            <a:solidFill>
              <a:srgbClr val="B8C0CC"/>
            </a:solidFill>
            <a:prstDash val="solid"/>
          </a:ln>
        </p:spPr>
      </p:sp>
      <p:sp>
        <p:nvSpPr>
          <p:cNvPr id="7" name="Shape 5"/>
          <p:cNvSpPr/>
          <p:nvPr/>
        </p:nvSpPr>
        <p:spPr>
          <a:xfrm flipH="1">
            <a:off x="6492240" y="2743200"/>
            <a:ext cx="1554480" cy="1051560"/>
          </a:xfrm>
          <a:prstGeom prst="line">
            <a:avLst/>
          </a:prstGeom>
          <a:noFill/>
          <a:ln w="19050">
            <a:solidFill>
              <a:srgbClr val="B8C0CC"/>
            </a:solidFill>
            <a:prstDash val="solid"/>
          </a:ln>
        </p:spPr>
      </p:sp>
      <p:sp>
        <p:nvSpPr>
          <p:cNvPr id="8" name="Shape 6"/>
          <p:cNvSpPr/>
          <p:nvPr/>
        </p:nvSpPr>
        <p:spPr>
          <a:xfrm>
            <a:off x="685800" y="2057400"/>
            <a:ext cx="2286000" cy="685800"/>
          </a:xfrm>
          <a:prstGeom prst="roundRect">
            <a:avLst>
              <a:gd name="adj" fmla="val 10667"/>
            </a:avLst>
          </a:prstGeom>
          <a:solidFill>
            <a:srgbClr val="10131A"/>
          </a:solidFill>
          <a:ln w="12700">
            <a:solidFill>
              <a:srgbClr val="10131A"/>
            </a:solidFill>
            <a:prstDash val="solid"/>
          </a:ln>
        </p:spPr>
      </p:sp>
      <p:sp>
        <p:nvSpPr>
          <p:cNvPr id="9" name="Text 7"/>
          <p:cNvSpPr txBox="1"/>
          <p:nvPr/>
        </p:nvSpPr>
        <p:spPr>
          <a:xfrm>
            <a:off x="685800" y="2057400"/>
            <a:ext cx="228600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shop</a:t>
            </a:r>
            <a:endParaRPr lang="en-US" sz="1700" dirty="0"/>
          </a:p>
        </p:txBody>
      </p:sp>
      <p:sp>
        <p:nvSpPr>
          <p:cNvPr id="10" name="Text 8"/>
          <p:cNvSpPr txBox="1"/>
          <p:nvPr/>
        </p:nvSpPr>
        <p:spPr>
          <a:xfrm>
            <a:off x="685800" y="1755648"/>
            <a:ext cx="2286000" cy="27432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1" name="Shape 9"/>
          <p:cNvSpPr/>
          <p:nvPr/>
        </p:nvSpPr>
        <p:spPr>
          <a:xfrm>
            <a:off x="3794760" y="2057400"/>
            <a:ext cx="2286000" cy="685800"/>
          </a:xfrm>
          <a:prstGeom prst="roundRect">
            <a:avLst>
              <a:gd name="adj" fmla="val 10667"/>
            </a:avLst>
          </a:prstGeom>
          <a:solidFill>
            <a:srgbClr val="10131A"/>
          </a:solidFill>
          <a:ln w="12700">
            <a:solidFill>
              <a:srgbClr val="10131A"/>
            </a:solidFill>
            <a:prstDash val="solid"/>
          </a:ln>
        </p:spPr>
      </p:sp>
      <p:sp>
        <p:nvSpPr>
          <p:cNvPr id="12" name="Text 10"/>
          <p:cNvSpPr txBox="1"/>
          <p:nvPr/>
        </p:nvSpPr>
        <p:spPr>
          <a:xfrm>
            <a:off x="3794760" y="2057400"/>
            <a:ext cx="228600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admin</a:t>
            </a:r>
            <a:endParaRPr lang="en-US" sz="1700" dirty="0"/>
          </a:p>
        </p:txBody>
      </p:sp>
      <p:sp>
        <p:nvSpPr>
          <p:cNvPr id="13" name="Text 11"/>
          <p:cNvSpPr txBox="1"/>
          <p:nvPr/>
        </p:nvSpPr>
        <p:spPr>
          <a:xfrm>
            <a:off x="3794760" y="1755648"/>
            <a:ext cx="2286000" cy="27432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4" name="Shape 12"/>
          <p:cNvSpPr/>
          <p:nvPr/>
        </p:nvSpPr>
        <p:spPr>
          <a:xfrm>
            <a:off x="6903720" y="2057400"/>
            <a:ext cx="2286000" cy="685800"/>
          </a:xfrm>
          <a:prstGeom prst="roundRect">
            <a:avLst>
              <a:gd name="adj" fmla="val 10667"/>
            </a:avLst>
          </a:prstGeom>
          <a:solidFill>
            <a:srgbClr val="10131A"/>
          </a:solidFill>
          <a:ln w="12700">
            <a:solidFill>
              <a:srgbClr val="10131A"/>
            </a:solidFill>
            <a:prstDash val="solid"/>
          </a:ln>
        </p:spPr>
      </p:sp>
      <p:sp>
        <p:nvSpPr>
          <p:cNvPr id="15" name="Text 13"/>
          <p:cNvSpPr txBox="1"/>
          <p:nvPr/>
        </p:nvSpPr>
        <p:spPr>
          <a:xfrm>
            <a:off x="6903720" y="2057400"/>
            <a:ext cx="228600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docs</a:t>
            </a:r>
            <a:endParaRPr lang="en-US" sz="1700" dirty="0"/>
          </a:p>
        </p:txBody>
      </p:sp>
      <p:sp>
        <p:nvSpPr>
          <p:cNvPr id="16" name="Text 14"/>
          <p:cNvSpPr txBox="1"/>
          <p:nvPr/>
        </p:nvSpPr>
        <p:spPr>
          <a:xfrm>
            <a:off x="6903720" y="1755648"/>
            <a:ext cx="2286000" cy="27432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7" name="Shape 15"/>
          <p:cNvSpPr/>
          <p:nvPr/>
        </p:nvSpPr>
        <p:spPr>
          <a:xfrm>
            <a:off x="2148840" y="3794760"/>
            <a:ext cx="2286000" cy="640080"/>
          </a:xfrm>
          <a:prstGeom prst="roundRect">
            <a:avLst>
              <a:gd name="adj" fmla="val 11429"/>
            </a:avLst>
          </a:prstGeom>
          <a:solidFill>
            <a:srgbClr val="FFFFFF"/>
          </a:solidFill>
          <a:ln w="19050">
            <a:solidFill>
              <a:srgbClr val="0B7A44"/>
            </a:solidFill>
            <a:prstDash val="solid"/>
          </a:ln>
        </p:spPr>
      </p:sp>
      <p:sp>
        <p:nvSpPr>
          <p:cNvPr id="18" name="Text 16"/>
          <p:cNvSpPr txBox="1"/>
          <p:nvPr/>
        </p:nvSpPr>
        <p:spPr>
          <a:xfrm>
            <a:off x="2148840" y="3794760"/>
            <a:ext cx="2286000" cy="640080"/>
          </a:xfrm>
          <a:prstGeom prst="rect">
            <a:avLst/>
          </a:prstGeom>
          <a:noFill/>
          <a:ln/>
        </p:spPr>
        <p:txBody>
          <a:bodyPr wrap="square" lIns="0" tIns="0" rIns="0" bIns="0" rtlCol="0" anchor="ctr"/>
          <a:lstStyle/>
          <a:p>
            <a:pPr algn="ctr" indent="0" marL="0">
              <a:buNone/>
            </a:pPr>
            <a:r>
              <a:rPr lang="en-US" sz="1500" dirty="0">
                <a:solidFill>
                  <a:srgbClr val="0B7A44"/>
                </a:solidFill>
                <a:latin typeface="Courier New" pitchFamily="34" charset="0"/>
                <a:ea typeface="Courier New" pitchFamily="34" charset="-122"/>
                <a:cs typeface="Courier New" pitchFamily="34" charset="-120"/>
              </a:rPr>
              <a:t>formatting</a:t>
            </a:r>
            <a:endParaRPr lang="en-US" sz="1500" dirty="0"/>
          </a:p>
        </p:txBody>
      </p:sp>
      <p:sp>
        <p:nvSpPr>
          <p:cNvPr id="19" name="Shape 17"/>
          <p:cNvSpPr/>
          <p:nvPr/>
        </p:nvSpPr>
        <p:spPr>
          <a:xfrm>
            <a:off x="5349240" y="3794760"/>
            <a:ext cx="2286000" cy="640080"/>
          </a:xfrm>
          <a:prstGeom prst="roundRect">
            <a:avLst>
              <a:gd name="adj" fmla="val 11429"/>
            </a:avLst>
          </a:prstGeom>
          <a:solidFill>
            <a:srgbClr val="FFFFFF"/>
          </a:solidFill>
          <a:ln w="19050">
            <a:solidFill>
              <a:srgbClr val="0B7A44"/>
            </a:solidFill>
            <a:prstDash val="solid"/>
          </a:ln>
        </p:spPr>
      </p:sp>
      <p:sp>
        <p:nvSpPr>
          <p:cNvPr id="20" name="Text 18"/>
          <p:cNvSpPr txBox="1"/>
          <p:nvPr/>
        </p:nvSpPr>
        <p:spPr>
          <a:xfrm>
            <a:off x="5349240" y="3794760"/>
            <a:ext cx="2286000" cy="640080"/>
          </a:xfrm>
          <a:prstGeom prst="rect">
            <a:avLst/>
          </a:prstGeom>
          <a:noFill/>
          <a:ln/>
        </p:spPr>
        <p:txBody>
          <a:bodyPr wrap="square" lIns="0" tIns="0" rIns="0" bIns="0" rtlCol="0" anchor="ctr"/>
          <a:lstStyle/>
          <a:p>
            <a:pPr algn="ctr" indent="0" marL="0">
              <a:buNone/>
            </a:pPr>
            <a:r>
              <a:rPr lang="en-US" sz="1500" dirty="0">
                <a:solidFill>
                  <a:srgbClr val="0B7A44"/>
                </a:solidFill>
                <a:latin typeface="Courier New" pitchFamily="34" charset="0"/>
                <a:ea typeface="Courier New" pitchFamily="34" charset="-122"/>
                <a:cs typeface="Courier New" pitchFamily="34" charset="-120"/>
              </a:rPr>
              <a:t>ui</a:t>
            </a:r>
            <a:endParaRPr lang="en-US" sz="1500" dirty="0"/>
          </a:p>
        </p:txBody>
      </p:sp>
      <p:sp>
        <p:nvSpPr>
          <p:cNvPr id="21" name="Text 19"/>
          <p:cNvSpPr txBox="1"/>
          <p:nvPr/>
        </p:nvSpPr>
        <p:spPr>
          <a:xfrm>
            <a:off x="685800" y="3931920"/>
            <a:ext cx="1280160" cy="365760"/>
          </a:xfrm>
          <a:prstGeom prst="rect">
            <a:avLst/>
          </a:prstGeom>
          <a:noFill/>
          <a:ln/>
        </p:spPr>
        <p:txBody>
          <a:bodyPr wrap="square" lIns="0" tIns="0" rIns="0" bIns="0" rtlCol="0" anchor="ctr"/>
          <a:lstStyle/>
          <a:p>
            <a:pPr algn="r" indent="0" marL="0">
              <a:buNone/>
            </a:pPr>
            <a:r>
              <a:rPr lang="en-US" sz="1200" i="1" dirty="0">
                <a:solidFill>
                  <a:srgbClr val="8A94A6"/>
                </a:solidFill>
                <a:latin typeface="Calibri" pitchFamily="34" charset="0"/>
                <a:ea typeface="Calibri" pitchFamily="34" charset="-122"/>
                <a:cs typeface="Calibri" pitchFamily="34" charset="-120"/>
              </a:rPr>
              <a:t>shared libs</a:t>
            </a:r>
            <a:endParaRPr lang="en-US" sz="1200" dirty="0"/>
          </a:p>
        </p:txBody>
      </p:sp>
      <p:sp>
        <p:nvSpPr>
          <p:cNvPr id="22" name="Shape 20"/>
          <p:cNvSpPr/>
          <p:nvPr/>
        </p:nvSpPr>
        <p:spPr>
          <a:xfrm>
            <a:off x="9418320" y="1783080"/>
            <a:ext cx="2103120" cy="2743200"/>
          </a:xfrm>
          <a:prstGeom prst="roundRect">
            <a:avLst>
              <a:gd name="adj" fmla="val 3478"/>
            </a:avLst>
          </a:prstGeom>
          <a:solidFill>
            <a:srgbClr val="FFFFFF"/>
          </a:solidFill>
          <a:ln w="12700">
            <a:solidFill>
              <a:srgbClr val="E2E6ED"/>
            </a:solidFill>
            <a:prstDash val="solid"/>
          </a:ln>
        </p:spPr>
      </p:sp>
      <p:sp>
        <p:nvSpPr>
          <p:cNvPr id="23" name="Text 21"/>
          <p:cNvSpPr txBox="1"/>
          <p:nvPr/>
        </p:nvSpPr>
        <p:spPr>
          <a:xfrm>
            <a:off x="9646920" y="1965960"/>
            <a:ext cx="1691640" cy="320040"/>
          </a:xfrm>
          <a:prstGeom prst="rect">
            <a:avLst/>
          </a:prstGeom>
          <a:noFill/>
          <a:ln/>
        </p:spPr>
        <p:txBody>
          <a:bodyPr wrap="square" lIns="0" tIns="0" rIns="0" bIns="0" rtlCol="0" anchor="ctr"/>
          <a:lstStyle/>
          <a:p>
            <a:pPr indent="0" marL="0">
              <a:buNone/>
            </a:pPr>
            <a:r>
              <a:rPr lang="en-US" sz="1500" b="1" dirty="0">
                <a:solidFill>
                  <a:srgbClr val="10131A"/>
                </a:solidFill>
                <a:latin typeface="Calibri" pitchFamily="34" charset="0"/>
                <a:ea typeface="Calibri" pitchFamily="34" charset="-122"/>
                <a:cs typeface="Calibri" pitchFamily="34" charset="-120"/>
              </a:rPr>
              <a:t>What Nx is</a:t>
            </a:r>
            <a:endParaRPr lang="en-US" sz="1500" dirty="0"/>
          </a:p>
        </p:txBody>
      </p:sp>
      <p:sp>
        <p:nvSpPr>
          <p:cNvPr id="24" name="Text 22"/>
          <p:cNvSpPr txBox="1"/>
          <p:nvPr/>
        </p:nvSpPr>
        <p:spPr>
          <a:xfrm>
            <a:off x="9646920" y="2331720"/>
            <a:ext cx="1691640" cy="2103120"/>
          </a:xfrm>
          <a:prstGeom prst="rect">
            <a:avLst/>
          </a:prstGeom>
          <a:noFill/>
          <a:ln/>
        </p:spPr>
        <p:txBody>
          <a:bodyPr wrap="square" lIns="0" tIns="0" rIns="0" bIns="0" rtlCol="0" anchor="t"/>
          <a:lstStyle/>
          <a:p>
            <a:pPr indent="0" marL="0">
              <a:spcAft>
                <a:spcPts val="800"/>
              </a:spcAft>
              <a:buNone/>
            </a:pPr>
            <a:r>
              <a:rPr lang="en-US" sz="1200" dirty="0">
                <a:solidFill>
                  <a:srgbClr val="5C6675"/>
                </a:solidFill>
                <a:latin typeface="Calibri" pitchFamily="34" charset="0"/>
                <a:ea typeface="Calibri" pitchFamily="34" charset="-122"/>
                <a:cs typeface="Calibri" pitchFamily="34" charset="-120"/>
              </a:rPr>
              <a:t>A task graph over your repo.</a:t>
            </a:r>
            <a:endParaRPr lang="en-US" sz="1200" dirty="0"/>
          </a:p>
          <a:p>
            <a:pPr indent="0" marL="0">
              <a:spcAft>
                <a:spcPts val="800"/>
              </a:spcAft>
              <a:buNone/>
            </a:pPr>
            <a:r>
              <a:rPr lang="en-US" sz="1200" dirty="0">
                <a:solidFill>
                  <a:srgbClr val="5C6675"/>
                </a:solidFill>
                <a:latin typeface="Calibri" pitchFamily="34" charset="0"/>
                <a:ea typeface="Calibri" pitchFamily="34" charset="-122"/>
                <a:cs typeface="Calibri" pitchFamily="34" charset="-120"/>
              </a:rPr>
              <a:t>It knows what depends on what, runs tasks in the right order, and caches the results.</a:t>
            </a:r>
            <a:endParaRPr lang="en-US" sz="1200" dirty="0"/>
          </a:p>
          <a:p>
            <a:pPr indent="0" marL="0">
              <a:buNone/>
            </a:pPr>
            <a:r>
              <a:rPr lang="en-US" sz="1200" dirty="0">
                <a:solidFill>
                  <a:srgbClr val="5C6675"/>
                </a:solidFill>
                <a:latin typeface="Calibri" pitchFamily="34" charset="0"/>
                <a:ea typeface="Calibri" pitchFamily="34" charset="-122"/>
                <a:cs typeface="Calibri" pitchFamily="34" charset="-120"/>
              </a:rPr>
              <a:t>It is not a test runner. Cypress still runs the tests.</a:t>
            </a:r>
            <a:endParaRPr lang="en-US" sz="1200" dirty="0"/>
          </a:p>
        </p:txBody>
      </p:sp>
      <p:sp>
        <p:nvSpPr>
          <p:cNvPr id="25" name="Shape 23"/>
          <p:cNvSpPr/>
          <p:nvPr/>
        </p:nvSpPr>
        <p:spPr>
          <a:xfrm>
            <a:off x="640080" y="4846320"/>
            <a:ext cx="3429000" cy="1234440"/>
          </a:xfrm>
          <a:prstGeom prst="roundRect">
            <a:avLst>
              <a:gd name="adj" fmla="val 6667"/>
            </a:avLst>
          </a:prstGeom>
          <a:solidFill>
            <a:srgbClr val="FFFFFF"/>
          </a:solidFill>
          <a:ln w="12700">
            <a:solidFill>
              <a:srgbClr val="E2E6ED"/>
            </a:solidFill>
            <a:prstDash val="solid"/>
          </a:ln>
        </p:spPr>
      </p:sp>
      <p:sp>
        <p:nvSpPr>
          <p:cNvPr id="26" name="Text 24"/>
          <p:cNvSpPr txBox="1"/>
          <p:nvPr/>
        </p:nvSpPr>
        <p:spPr>
          <a:xfrm>
            <a:off x="868680" y="5010912"/>
            <a:ext cx="2971800" cy="603504"/>
          </a:xfrm>
          <a:prstGeom prst="rect">
            <a:avLst/>
          </a:prstGeom>
          <a:noFill/>
          <a:ln/>
        </p:spPr>
        <p:txBody>
          <a:bodyPr wrap="square" lIns="0" tIns="0" rIns="0" bIns="0" rtlCol="0" anchor="ctr"/>
          <a:lstStyle/>
          <a:p>
            <a:pPr indent="0" marL="0">
              <a:buNone/>
            </a:pPr>
            <a:r>
              <a:rPr lang="en-US" sz="3200" b="1" dirty="0">
                <a:solidFill>
                  <a:srgbClr val="0B7A44"/>
                </a:solidFill>
                <a:latin typeface="Cambria" pitchFamily="34" charset="0"/>
                <a:ea typeface="Cambria" pitchFamily="34" charset="-122"/>
                <a:cs typeface="Cambria" pitchFamily="34" charset="-120"/>
              </a:rPr>
              <a:t>30</a:t>
            </a:r>
            <a:endParaRPr lang="en-US" sz="3200" dirty="0"/>
          </a:p>
        </p:txBody>
      </p:sp>
      <p:sp>
        <p:nvSpPr>
          <p:cNvPr id="27" name="Text 25"/>
          <p:cNvSpPr txBox="1"/>
          <p:nvPr/>
        </p:nvSpPr>
        <p:spPr>
          <a:xfrm>
            <a:off x="868680" y="5614416"/>
            <a:ext cx="2971800" cy="32004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spec files</a:t>
            </a:r>
            <a:endParaRPr lang="en-US" sz="1400" dirty="0"/>
          </a:p>
        </p:txBody>
      </p:sp>
      <p:sp>
        <p:nvSpPr>
          <p:cNvPr id="28" name="Shape 26"/>
          <p:cNvSpPr/>
          <p:nvPr/>
        </p:nvSpPr>
        <p:spPr>
          <a:xfrm>
            <a:off x="4343400" y="4846320"/>
            <a:ext cx="3429000" cy="1234440"/>
          </a:xfrm>
          <a:prstGeom prst="roundRect">
            <a:avLst>
              <a:gd name="adj" fmla="val 6667"/>
            </a:avLst>
          </a:prstGeom>
          <a:solidFill>
            <a:srgbClr val="FFFFFF"/>
          </a:solidFill>
          <a:ln w="12700">
            <a:solidFill>
              <a:srgbClr val="E2E6ED"/>
            </a:solidFill>
            <a:prstDash val="solid"/>
          </a:ln>
        </p:spPr>
      </p:sp>
      <p:sp>
        <p:nvSpPr>
          <p:cNvPr id="29" name="Text 27"/>
          <p:cNvSpPr txBox="1"/>
          <p:nvPr/>
        </p:nvSpPr>
        <p:spPr>
          <a:xfrm>
            <a:off x="4572000" y="5010912"/>
            <a:ext cx="2971800" cy="603504"/>
          </a:xfrm>
          <a:prstGeom prst="rect">
            <a:avLst/>
          </a:prstGeom>
          <a:noFill/>
          <a:ln/>
        </p:spPr>
        <p:txBody>
          <a:bodyPr wrap="square" lIns="0" tIns="0" rIns="0" bIns="0" rtlCol="0" anchor="ctr"/>
          <a:lstStyle/>
          <a:p>
            <a:pPr indent="0" marL="0">
              <a:buNone/>
            </a:pPr>
            <a:r>
              <a:rPr lang="en-US" sz="3200" b="1" dirty="0">
                <a:solidFill>
                  <a:srgbClr val="10131A"/>
                </a:solidFill>
                <a:latin typeface="Cambria" pitchFamily="34" charset="0"/>
                <a:ea typeface="Cambria" pitchFamily="34" charset="-122"/>
                <a:cs typeface="Cambria" pitchFamily="34" charset="-120"/>
              </a:rPr>
              <a:t>202</a:t>
            </a:r>
            <a:endParaRPr lang="en-US" sz="3200" dirty="0"/>
          </a:p>
        </p:txBody>
      </p:sp>
      <p:sp>
        <p:nvSpPr>
          <p:cNvPr id="30" name="Text 28"/>
          <p:cNvSpPr txBox="1"/>
          <p:nvPr/>
        </p:nvSpPr>
        <p:spPr>
          <a:xfrm>
            <a:off x="4572000" y="5614416"/>
            <a:ext cx="2971800" cy="32004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tests</a:t>
            </a:r>
            <a:endParaRPr lang="en-US" sz="1400" dirty="0"/>
          </a:p>
        </p:txBody>
      </p:sp>
      <p:sp>
        <p:nvSpPr>
          <p:cNvPr id="31" name="Shape 29"/>
          <p:cNvSpPr/>
          <p:nvPr/>
        </p:nvSpPr>
        <p:spPr>
          <a:xfrm>
            <a:off x="8046720" y="4846320"/>
            <a:ext cx="3429000" cy="1234440"/>
          </a:xfrm>
          <a:prstGeom prst="roundRect">
            <a:avLst>
              <a:gd name="adj" fmla="val 6667"/>
            </a:avLst>
          </a:prstGeom>
          <a:solidFill>
            <a:srgbClr val="FFFFFF"/>
          </a:solidFill>
          <a:ln w="12700">
            <a:solidFill>
              <a:srgbClr val="E2E6ED"/>
            </a:solidFill>
            <a:prstDash val="solid"/>
          </a:ln>
        </p:spPr>
      </p:sp>
      <p:sp>
        <p:nvSpPr>
          <p:cNvPr id="32" name="Text 30"/>
          <p:cNvSpPr txBox="1"/>
          <p:nvPr/>
        </p:nvSpPr>
        <p:spPr>
          <a:xfrm>
            <a:off x="8275320" y="5010912"/>
            <a:ext cx="2971800" cy="603504"/>
          </a:xfrm>
          <a:prstGeom prst="rect">
            <a:avLst/>
          </a:prstGeom>
          <a:noFill/>
          <a:ln/>
        </p:spPr>
        <p:txBody>
          <a:bodyPr wrap="square" lIns="0" tIns="0" rIns="0" bIns="0" rtlCol="0" anchor="ctr"/>
          <a:lstStyle/>
          <a:p>
            <a:pPr indent="0" marL="0">
              <a:buNone/>
            </a:pPr>
            <a:r>
              <a:rPr lang="en-US" sz="3200" b="1" dirty="0">
                <a:solidFill>
                  <a:srgbClr val="B45309"/>
                </a:solidFill>
                <a:latin typeface="Cambria" pitchFamily="34" charset="0"/>
                <a:ea typeface="Cambria" pitchFamily="34" charset="-122"/>
                <a:cs typeface="Cambria" pitchFamily="34" charset="-120"/>
              </a:rPr>
              <a:t>1</a:t>
            </a:r>
            <a:endParaRPr lang="en-US" sz="3200" dirty="0"/>
          </a:p>
        </p:txBody>
      </p:sp>
      <p:sp>
        <p:nvSpPr>
          <p:cNvPr id="33" name="Text 31"/>
          <p:cNvSpPr txBox="1"/>
          <p:nvPr/>
        </p:nvSpPr>
        <p:spPr>
          <a:xfrm>
            <a:off x="8275320" y="5614416"/>
            <a:ext cx="2971800" cy="32004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task, before we start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THE BASELINE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So how fast is the feedback?</a:t>
            </a:r>
            <a:endParaRPr lang="en-US" sz="3800" dirty="0"/>
          </a:p>
        </p:txBody>
      </p:sp>
      <p:sp>
        <p:nvSpPr>
          <p:cNvPr id="4" name="Shape 2"/>
          <p:cNvSpPr/>
          <p:nvPr/>
        </p:nvSpPr>
        <p:spPr>
          <a:xfrm>
            <a:off x="640080" y="1783080"/>
            <a:ext cx="6675120" cy="2633472"/>
          </a:xfrm>
          <a:prstGeom prst="roundRect">
            <a:avLst>
              <a:gd name="adj" fmla="val 2083"/>
            </a:avLst>
          </a:prstGeom>
          <a:solidFill>
            <a:srgbClr val="0A0D13"/>
          </a:solidFill>
          <a:ln w="12700">
            <a:solidFill>
              <a:srgbClr val="2C3340"/>
            </a:solidFill>
            <a:prstDash val="solid"/>
          </a:ln>
        </p:spPr>
      </p:sp>
      <p:sp>
        <p:nvSpPr>
          <p:cNvPr id="5" name="Text 3"/>
          <p:cNvSpPr txBox="1"/>
          <p:nvPr/>
        </p:nvSpPr>
        <p:spPr>
          <a:xfrm>
            <a:off x="868680" y="1984248"/>
            <a:ext cx="6217920" cy="2231136"/>
          </a:xfrm>
          <a:prstGeom prst="rect">
            <a:avLst/>
          </a:prstGeom>
          <a:noFill/>
          <a:ln/>
        </p:spPr>
        <p:txBody>
          <a:bodyPr wrap="square" lIns="0" tIns="0" rIns="0" bIns="0" rtlCol="0" anchor="t"/>
          <a:lstStyle/>
          <a:p>
            <a:pPr indent="0" marL="0">
              <a:lnSpc>
                <a:spcPct val="125000"/>
              </a:lnSpc>
              <a:buNone/>
            </a:pPr>
            <a:r>
              <a:rPr lang="en-US" sz="1400" dirty="0">
                <a:solidFill>
                  <a:srgbClr val="FFFFFF"/>
                </a:solidFill>
                <a:latin typeface="Courier New" pitchFamily="34" charset="0"/>
                <a:ea typeface="Courier New" pitchFamily="34" charset="-122"/>
                <a:cs typeface="Courier New" pitchFamily="34" charset="-120"/>
              </a:rPr>
              <a:t>$ nx run-many -t e2e --parallel=1</a:t>
            </a:r>
            <a:endParaRPr lang="en-US" sz="1400" dirty="0"/>
          </a:p>
          <a:p>
            <a:pPr indent="0" marL="0">
              <a:lnSpc>
                <a:spcPct val="125000"/>
              </a:lnSpc>
              <a:buNone/>
            </a:pP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shop-e2e    10 specs ....... 1m 33s</a:t>
            </a: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admin-e2e   10 specs ....... 1m 20s</a:t>
            </a: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docs-e2e    10 specs ....... 1m 27s</a:t>
            </a:r>
            <a:endParaRPr lang="en-US" sz="1400" dirty="0"/>
          </a:p>
          <a:p>
            <a:pPr indent="0" marL="0">
              <a:lnSpc>
                <a:spcPct val="125000"/>
              </a:lnSpc>
              <a:buNone/>
            </a:pPr>
            <a:r>
              <a:rPr lang="en-US" sz="1400" dirty="0">
                <a:solidFill>
                  <a:srgbClr val="2C3340"/>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b="1" dirty="0">
                <a:solidFill>
                  <a:srgbClr val="F5A524"/>
                </a:solidFill>
                <a:latin typeface="Courier New" pitchFamily="34" charset="0"/>
                <a:ea typeface="Courier New" pitchFamily="34" charset="-122"/>
                <a:cs typeface="Courier New" pitchFamily="34" charset="-120"/>
              </a:rPr>
              <a:t>  Run duration:              4m 20s</a:t>
            </a:r>
            <a:endParaRPr lang="en-US" sz="1400" dirty="0"/>
          </a:p>
        </p:txBody>
      </p:sp>
      <p:sp>
        <p:nvSpPr>
          <p:cNvPr id="6" name="Shape 4"/>
          <p:cNvSpPr/>
          <p:nvPr/>
        </p:nvSpPr>
        <p:spPr>
          <a:xfrm>
            <a:off x="7680960" y="1783080"/>
            <a:ext cx="3840480" cy="2651760"/>
          </a:xfrm>
          <a:prstGeom prst="roundRect">
            <a:avLst>
              <a:gd name="adj" fmla="val 3103"/>
            </a:avLst>
          </a:prstGeom>
          <a:solidFill>
            <a:srgbClr val="1B2029"/>
          </a:solidFill>
          <a:ln w="19050">
            <a:solidFill>
              <a:srgbClr val="F5A524"/>
            </a:solidFill>
            <a:prstDash val="solid"/>
          </a:ln>
        </p:spPr>
      </p:sp>
      <p:sp>
        <p:nvSpPr>
          <p:cNvPr id="7" name="Text 5"/>
          <p:cNvSpPr txBox="1"/>
          <p:nvPr/>
        </p:nvSpPr>
        <p:spPr>
          <a:xfrm>
            <a:off x="7909560" y="2148840"/>
            <a:ext cx="3383280" cy="822960"/>
          </a:xfrm>
          <a:prstGeom prst="rect">
            <a:avLst/>
          </a:prstGeom>
          <a:noFill/>
          <a:ln/>
        </p:spPr>
        <p:txBody>
          <a:bodyPr wrap="square" lIns="0" tIns="0" rIns="0" bIns="0" rtlCol="0" anchor="ctr"/>
          <a:lstStyle/>
          <a:p>
            <a:pPr indent="0" marL="0">
              <a:buNone/>
            </a:pPr>
            <a:r>
              <a:rPr lang="en-US" sz="4800" b="1" dirty="0">
                <a:solidFill>
                  <a:srgbClr val="F5A524"/>
                </a:solidFill>
                <a:latin typeface="Cambria" pitchFamily="34" charset="0"/>
                <a:ea typeface="Cambria" pitchFamily="34" charset="-122"/>
                <a:cs typeface="Cambria" pitchFamily="34" charset="-120"/>
              </a:rPr>
              <a:t>4m 20s</a:t>
            </a:r>
            <a:endParaRPr lang="en-US" sz="4800" dirty="0"/>
          </a:p>
        </p:txBody>
      </p:sp>
      <p:sp>
        <p:nvSpPr>
          <p:cNvPr id="8" name="Text 6"/>
          <p:cNvSpPr txBox="1"/>
          <p:nvPr/>
        </p:nvSpPr>
        <p:spPr>
          <a:xfrm>
            <a:off x="7909560" y="2971800"/>
            <a:ext cx="3383280" cy="640080"/>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for one opinion on whether your change is safe</a:t>
            </a:r>
            <a:endParaRPr lang="en-US" sz="1400" dirty="0"/>
          </a:p>
        </p:txBody>
      </p:sp>
      <p:sp>
        <p:nvSpPr>
          <p:cNvPr id="9" name="Text 7"/>
          <p:cNvSpPr txBox="1"/>
          <p:nvPr/>
        </p:nvSpPr>
        <p:spPr>
          <a:xfrm>
            <a:off x="7909560" y="3657600"/>
            <a:ext cx="3383280" cy="54864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Three apps. One process each. Nothing overlaps.</a:t>
            </a:r>
            <a:endParaRPr lang="en-US" sz="1200" dirty="0"/>
          </a:p>
        </p:txBody>
      </p:sp>
      <p:sp>
        <p:nvSpPr>
          <p:cNvPr id="10" name="Text 8"/>
          <p:cNvSpPr txBox="1"/>
          <p:nvPr/>
        </p:nvSpPr>
        <p:spPr>
          <a:xfrm>
            <a:off x="640080" y="48920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And this is the small version. Fifteen apps and 1,500 tests is the project this came from — the shape is the same, the number is not.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01 · THE WISH LIST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Imagine you could run only…</a:t>
            </a:r>
            <a:endParaRPr lang="en-US" sz="3800" dirty="0"/>
          </a:p>
        </p:txBody>
      </p:sp>
      <p:sp>
        <p:nvSpPr>
          <p:cNvPr id="4" name="Shape 2"/>
          <p:cNvSpPr/>
          <p:nvPr/>
        </p:nvSpPr>
        <p:spPr>
          <a:xfrm>
            <a:off x="640080" y="2011680"/>
            <a:ext cx="5257800" cy="1691640"/>
          </a:xfrm>
          <a:prstGeom prst="roundRect">
            <a:avLst>
              <a:gd name="adj" fmla="val 4865"/>
            </a:avLst>
          </a:prstGeom>
          <a:solidFill>
            <a:srgbClr val="FFFFFF"/>
          </a:solidFill>
          <a:ln w="12700">
            <a:solidFill>
              <a:srgbClr val="E2E6ED"/>
            </a:solidFill>
            <a:prstDash val="solid"/>
          </a:ln>
        </p:spPr>
      </p:sp>
      <p:sp>
        <p:nvSpPr>
          <p:cNvPr id="5" name="Shape 3"/>
          <p:cNvSpPr/>
          <p:nvPr/>
        </p:nvSpPr>
        <p:spPr>
          <a:xfrm>
            <a:off x="640080" y="2212848"/>
            <a:ext cx="45720" cy="1280160"/>
          </a:xfrm>
          <a:prstGeom prst="rect">
            <a:avLst/>
          </a:prstGeom>
          <a:solidFill>
            <a:srgbClr val="0B7A44"/>
          </a:solidFill>
          <a:ln w="12700">
            <a:solidFill>
              <a:srgbClr val="333333"/>
            </a:solidFill>
            <a:prstDash val="solid"/>
          </a:ln>
        </p:spPr>
      </p:sp>
      <p:sp>
        <p:nvSpPr>
          <p:cNvPr id="6" name="Text 4"/>
          <p:cNvSpPr txBox="1"/>
          <p:nvPr/>
        </p:nvSpPr>
        <p:spPr>
          <a:xfrm>
            <a:off x="960120" y="228600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…what the change touched</a:t>
            </a:r>
            <a:endParaRPr lang="en-US" sz="2000" dirty="0"/>
          </a:p>
        </p:txBody>
      </p:sp>
      <p:sp>
        <p:nvSpPr>
          <p:cNvPr id="7" name="Text 5"/>
          <p:cNvSpPr txBox="1"/>
          <p:nvPr/>
        </p:nvSpPr>
        <p:spPr>
          <a:xfrm>
            <a:off x="960120" y="278892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Not the whole suite. The apps the diff can actually break.</a:t>
            </a:r>
            <a:endParaRPr lang="en-US" sz="1400" dirty="0"/>
          </a:p>
        </p:txBody>
      </p:sp>
      <p:sp>
        <p:nvSpPr>
          <p:cNvPr id="8" name="Shape 6"/>
          <p:cNvSpPr/>
          <p:nvPr/>
        </p:nvSpPr>
        <p:spPr>
          <a:xfrm>
            <a:off x="6263640" y="2011680"/>
            <a:ext cx="5257800" cy="1691640"/>
          </a:xfrm>
          <a:prstGeom prst="roundRect">
            <a:avLst>
              <a:gd name="adj" fmla="val 4865"/>
            </a:avLst>
          </a:prstGeom>
          <a:solidFill>
            <a:srgbClr val="FFFFFF"/>
          </a:solidFill>
          <a:ln w="12700">
            <a:solidFill>
              <a:srgbClr val="E2E6ED"/>
            </a:solidFill>
            <a:prstDash val="solid"/>
          </a:ln>
        </p:spPr>
      </p:sp>
      <p:sp>
        <p:nvSpPr>
          <p:cNvPr id="9" name="Shape 7"/>
          <p:cNvSpPr/>
          <p:nvPr/>
        </p:nvSpPr>
        <p:spPr>
          <a:xfrm>
            <a:off x="6263640" y="2212848"/>
            <a:ext cx="45720" cy="1280160"/>
          </a:xfrm>
          <a:prstGeom prst="rect">
            <a:avLst/>
          </a:prstGeom>
          <a:solidFill>
            <a:srgbClr val="0B7A44"/>
          </a:solidFill>
          <a:ln w="12700">
            <a:solidFill>
              <a:srgbClr val="333333"/>
            </a:solidFill>
            <a:prstDash val="solid"/>
          </a:ln>
        </p:spPr>
      </p:sp>
      <p:sp>
        <p:nvSpPr>
          <p:cNvPr id="10" name="Text 8"/>
          <p:cNvSpPr txBox="1"/>
          <p:nvPr/>
        </p:nvSpPr>
        <p:spPr>
          <a:xfrm>
            <a:off x="6583680" y="228600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…several specs at once</a:t>
            </a:r>
            <a:endParaRPr lang="en-US" sz="2000" dirty="0"/>
          </a:p>
        </p:txBody>
      </p:sp>
      <p:sp>
        <p:nvSpPr>
          <p:cNvPr id="11" name="Text 9"/>
          <p:cNvSpPr txBox="1"/>
          <p:nvPr/>
        </p:nvSpPr>
        <p:spPr>
          <a:xfrm>
            <a:off x="6583680" y="278892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On the cores you already paid for.</a:t>
            </a:r>
            <a:endParaRPr lang="en-US" sz="1400" dirty="0"/>
          </a:p>
        </p:txBody>
      </p:sp>
      <p:sp>
        <p:nvSpPr>
          <p:cNvPr id="12" name="Shape 10"/>
          <p:cNvSpPr/>
          <p:nvPr/>
        </p:nvSpPr>
        <p:spPr>
          <a:xfrm>
            <a:off x="640080" y="3977640"/>
            <a:ext cx="5257800" cy="1691640"/>
          </a:xfrm>
          <a:prstGeom prst="roundRect">
            <a:avLst>
              <a:gd name="adj" fmla="val 4865"/>
            </a:avLst>
          </a:prstGeom>
          <a:solidFill>
            <a:srgbClr val="FFFFFF"/>
          </a:solidFill>
          <a:ln w="12700">
            <a:solidFill>
              <a:srgbClr val="E2E6ED"/>
            </a:solidFill>
            <a:prstDash val="solid"/>
          </a:ln>
        </p:spPr>
      </p:sp>
      <p:sp>
        <p:nvSpPr>
          <p:cNvPr id="13" name="Shape 11"/>
          <p:cNvSpPr/>
          <p:nvPr/>
        </p:nvSpPr>
        <p:spPr>
          <a:xfrm>
            <a:off x="640080" y="4178808"/>
            <a:ext cx="45720" cy="1280160"/>
          </a:xfrm>
          <a:prstGeom prst="rect">
            <a:avLst/>
          </a:prstGeom>
          <a:solidFill>
            <a:srgbClr val="0B7A44"/>
          </a:solidFill>
          <a:ln w="12700">
            <a:solidFill>
              <a:srgbClr val="333333"/>
            </a:solidFill>
            <a:prstDash val="solid"/>
          </a:ln>
        </p:spPr>
      </p:sp>
      <p:sp>
        <p:nvSpPr>
          <p:cNvPr id="14" name="Text 12"/>
          <p:cNvSpPr txBox="1"/>
          <p:nvPr/>
        </p:nvSpPr>
        <p:spPr>
          <a:xfrm>
            <a:off x="960120" y="425196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…the same way everywhere</a:t>
            </a:r>
            <a:endParaRPr lang="en-US" sz="2000" dirty="0"/>
          </a:p>
        </p:txBody>
      </p:sp>
      <p:sp>
        <p:nvSpPr>
          <p:cNvPr id="15" name="Text 13"/>
          <p:cNvSpPr txBox="1"/>
          <p:nvPr/>
        </p:nvSpPr>
        <p:spPr>
          <a:xfrm>
            <a:off x="960120" y="475488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One command, identical locally and on CI.</a:t>
            </a:r>
            <a:endParaRPr lang="en-US" sz="1400" dirty="0"/>
          </a:p>
        </p:txBody>
      </p:sp>
      <p:sp>
        <p:nvSpPr>
          <p:cNvPr id="16" name="Shape 14"/>
          <p:cNvSpPr/>
          <p:nvPr/>
        </p:nvSpPr>
        <p:spPr>
          <a:xfrm>
            <a:off x="6263640" y="3977640"/>
            <a:ext cx="5257800" cy="1691640"/>
          </a:xfrm>
          <a:prstGeom prst="roundRect">
            <a:avLst>
              <a:gd name="adj" fmla="val 4865"/>
            </a:avLst>
          </a:prstGeom>
          <a:solidFill>
            <a:srgbClr val="FFFFFF"/>
          </a:solidFill>
          <a:ln w="12700">
            <a:solidFill>
              <a:srgbClr val="E2E6ED"/>
            </a:solidFill>
            <a:prstDash val="solid"/>
          </a:ln>
        </p:spPr>
      </p:sp>
      <p:sp>
        <p:nvSpPr>
          <p:cNvPr id="17" name="Shape 15"/>
          <p:cNvSpPr/>
          <p:nvPr/>
        </p:nvSpPr>
        <p:spPr>
          <a:xfrm>
            <a:off x="6263640" y="4178808"/>
            <a:ext cx="45720" cy="1280160"/>
          </a:xfrm>
          <a:prstGeom prst="rect">
            <a:avLst/>
          </a:prstGeom>
          <a:solidFill>
            <a:srgbClr val="0B7A44"/>
          </a:solidFill>
          <a:ln w="12700">
            <a:solidFill>
              <a:srgbClr val="333333"/>
            </a:solidFill>
            <a:prstDash val="solid"/>
          </a:ln>
        </p:spPr>
      </p:sp>
      <p:sp>
        <p:nvSpPr>
          <p:cNvPr id="18" name="Text 16"/>
          <p:cNvSpPr txBox="1"/>
          <p:nvPr/>
        </p:nvSpPr>
        <p:spPr>
          <a:xfrm>
            <a:off x="6583680" y="425196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…only what failed last time</a:t>
            </a:r>
            <a:endParaRPr lang="en-US" sz="2000" dirty="0"/>
          </a:p>
        </p:txBody>
      </p:sp>
      <p:sp>
        <p:nvSpPr>
          <p:cNvPr id="19" name="Text 17"/>
          <p:cNvSpPr txBox="1"/>
          <p:nvPr/>
        </p:nvSpPr>
        <p:spPr>
          <a:xfrm>
            <a:off x="6583680" y="475488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A retry that skips the 28 specs that already passed.</a:t>
            </a:r>
            <a:endParaRPr lang="en-US" sz="1400" dirty="0"/>
          </a:p>
        </p:txBody>
      </p:sp>
      <p:sp>
        <p:nvSpPr>
          <p:cNvPr id="20" name="Text 18"/>
          <p:cNvSpPr txBox="1"/>
          <p:nvPr/>
        </p:nvSpPr>
        <p:spPr>
          <a:xfrm>
            <a:off x="640080" y="6035040"/>
            <a:ext cx="10881360" cy="457200"/>
          </a:xfrm>
          <a:prstGeom prst="rect">
            <a:avLst/>
          </a:prstGeom>
          <a:noFill/>
          <a:ln/>
        </p:spPr>
        <p:txBody>
          <a:bodyPr wrap="square" lIns="0" tIns="0" rIns="0" bIns="0" rtlCol="0" anchor="ctr"/>
          <a:lstStyle/>
          <a:p>
            <a:pPr algn="ctr" indent="0" marL="0">
              <a:buNone/>
            </a:pPr>
            <a:r>
              <a:rPr lang="en-US" sz="1700" b="1" dirty="0">
                <a:solidFill>
                  <a:srgbClr val="0B7A44"/>
                </a:solidFill>
                <a:latin typeface="Calibri" pitchFamily="34" charset="0"/>
                <a:ea typeface="Calibri" pitchFamily="34" charset="-122"/>
                <a:cs typeface="Calibri" pitchFamily="34" charset="-120"/>
              </a:rPr>
              <a:t>All four are configuration. None of them need a subscription.</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02 · THE ATOMIZER</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task becomes one task per file</a:t>
            </a:r>
            <a:endParaRPr lang="en-US" sz="3800" dirty="0"/>
          </a:p>
        </p:txBody>
      </p:sp>
      <p:sp>
        <p:nvSpPr>
          <p:cNvPr id="4" name="Text 2"/>
          <p:cNvSpPr txBox="1"/>
          <p:nvPr/>
        </p:nvSpPr>
        <p:spPr>
          <a:xfrm>
            <a:off x="640080" y="1874520"/>
            <a:ext cx="2377440" cy="274320"/>
          </a:xfrm>
          <a:prstGeom prst="rect">
            <a:avLst/>
          </a:prstGeom>
          <a:noFill/>
          <a:ln/>
        </p:spPr>
        <p:txBody>
          <a:bodyPr wrap="square" lIns="0" tIns="0" rIns="0" bIns="0" rtlCol="0" anchor="ctr"/>
          <a:lstStyle/>
          <a:p>
            <a:pPr indent="0" marL="0">
              <a:buNone/>
            </a:pPr>
            <a:r>
              <a:rPr lang="en-US" sz="1200" b="1" spc="200" kern="0" dirty="0">
                <a:solidFill>
                  <a:srgbClr val="F5A524"/>
                </a:solidFill>
                <a:latin typeface="Calibri" pitchFamily="34" charset="0"/>
                <a:ea typeface="Calibri" pitchFamily="34" charset="-122"/>
                <a:cs typeface="Calibri" pitchFamily="34" charset="-120"/>
              </a:rPr>
              <a:t>BEFORE</a:t>
            </a:r>
            <a:endParaRPr lang="en-US" sz="1200" dirty="0"/>
          </a:p>
        </p:txBody>
      </p:sp>
      <p:sp>
        <p:nvSpPr>
          <p:cNvPr id="5" name="Shape 3"/>
          <p:cNvSpPr/>
          <p:nvPr/>
        </p:nvSpPr>
        <p:spPr>
          <a:xfrm>
            <a:off x="640080" y="2240280"/>
            <a:ext cx="2377440" cy="2377440"/>
          </a:xfrm>
          <a:prstGeom prst="roundRect">
            <a:avLst>
              <a:gd name="adj" fmla="val 2692"/>
            </a:avLst>
          </a:prstGeom>
          <a:solidFill>
            <a:srgbClr val="1B2029"/>
          </a:solidFill>
          <a:ln w="19050">
            <a:solidFill>
              <a:srgbClr val="F5A524"/>
            </a:solidFill>
            <a:prstDash val="solid"/>
          </a:ln>
        </p:spPr>
      </p:sp>
      <p:sp>
        <p:nvSpPr>
          <p:cNvPr id="6" name="Text 4"/>
          <p:cNvSpPr txBox="1"/>
          <p:nvPr/>
        </p:nvSpPr>
        <p:spPr>
          <a:xfrm>
            <a:off x="640080" y="3063240"/>
            <a:ext cx="237744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e2e</a:t>
            </a:r>
            <a:endParaRPr lang="en-US" sz="2200" dirty="0"/>
          </a:p>
        </p:txBody>
      </p:sp>
      <p:sp>
        <p:nvSpPr>
          <p:cNvPr id="7" name="Text 5"/>
          <p:cNvSpPr txBox="1"/>
          <p:nvPr/>
        </p:nvSpPr>
        <p:spPr>
          <a:xfrm>
            <a:off x="640080" y="3520440"/>
            <a:ext cx="237744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56 tests, in a row</a:t>
            </a:r>
            <a:endParaRPr lang="en-US" sz="1200" dirty="0"/>
          </a:p>
        </p:txBody>
      </p:sp>
      <p:sp>
        <p:nvSpPr>
          <p:cNvPr id="8" name="Shape 6"/>
          <p:cNvSpPr/>
          <p:nvPr/>
        </p:nvSpPr>
        <p:spPr>
          <a:xfrm>
            <a:off x="3246120" y="3200400"/>
            <a:ext cx="777240" cy="411480"/>
          </a:xfrm>
          <a:prstGeom prst="rightArrow">
            <a:avLst/>
          </a:prstGeom>
          <a:solidFill>
            <a:srgbClr val="4ADE80"/>
          </a:solidFill>
          <a:ln w="12700">
            <a:solidFill>
              <a:srgbClr val="4ADE80"/>
            </a:solidFill>
            <a:prstDash val="solid"/>
          </a:ln>
        </p:spPr>
      </p:sp>
      <p:sp>
        <p:nvSpPr>
          <p:cNvPr id="9" name="Text 7"/>
          <p:cNvSpPr txBox="1"/>
          <p:nvPr/>
        </p:nvSpPr>
        <p:spPr>
          <a:xfrm>
            <a:off x="4251960" y="1874520"/>
            <a:ext cx="3291840" cy="274320"/>
          </a:xfrm>
          <a:prstGeom prst="rect">
            <a:avLst/>
          </a:prstGeom>
          <a:noFill/>
          <a:ln/>
        </p:spPr>
        <p:txBody>
          <a:bodyPr wrap="square" lIns="0" tIns="0" rIns="0" bIns="0" rtlCol="0" anchor="ctr"/>
          <a:lstStyle/>
          <a:p>
            <a:pPr indent="0" marL="0">
              <a:buNone/>
            </a:pPr>
            <a:r>
              <a:rPr lang="en-US" sz="1200" b="1" spc="200" kern="0" dirty="0">
                <a:solidFill>
                  <a:srgbClr val="4ADE80"/>
                </a:solidFill>
                <a:latin typeface="Calibri" pitchFamily="34" charset="0"/>
                <a:ea typeface="Calibri" pitchFamily="34" charset="-122"/>
                <a:cs typeface="Calibri" pitchFamily="34" charset="-120"/>
              </a:rPr>
              <a:t>AFTER</a:t>
            </a:r>
            <a:endParaRPr lang="en-US" sz="1200" dirty="0"/>
          </a:p>
        </p:txBody>
      </p:sp>
      <p:sp>
        <p:nvSpPr>
          <p:cNvPr id="10" name="Shape 8"/>
          <p:cNvSpPr/>
          <p:nvPr/>
        </p:nvSpPr>
        <p:spPr>
          <a:xfrm>
            <a:off x="4251960" y="2240280"/>
            <a:ext cx="3291840" cy="329184"/>
          </a:xfrm>
          <a:prstGeom prst="roundRect">
            <a:avLst>
              <a:gd name="adj" fmla="val 13889"/>
            </a:avLst>
          </a:prstGeom>
          <a:solidFill>
            <a:srgbClr val="1B2029"/>
          </a:solidFill>
          <a:ln w="12700">
            <a:solidFill>
              <a:srgbClr val="4ADE80"/>
            </a:solidFill>
            <a:prstDash val="solid"/>
          </a:ln>
        </p:spPr>
      </p:sp>
      <p:sp>
        <p:nvSpPr>
          <p:cNvPr id="11" name="Text 9"/>
          <p:cNvSpPr txBox="1"/>
          <p:nvPr/>
        </p:nvSpPr>
        <p:spPr>
          <a:xfrm>
            <a:off x="4389120" y="2240280"/>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catalog.cy.ts</a:t>
            </a:r>
            <a:endParaRPr lang="en-US" sz="1100" dirty="0"/>
          </a:p>
        </p:txBody>
      </p:sp>
      <p:sp>
        <p:nvSpPr>
          <p:cNvPr id="12" name="Shape 10"/>
          <p:cNvSpPr/>
          <p:nvPr/>
        </p:nvSpPr>
        <p:spPr>
          <a:xfrm>
            <a:off x="4251960" y="2642616"/>
            <a:ext cx="3291840" cy="329184"/>
          </a:xfrm>
          <a:prstGeom prst="roundRect">
            <a:avLst>
              <a:gd name="adj" fmla="val 13889"/>
            </a:avLst>
          </a:prstGeom>
          <a:solidFill>
            <a:srgbClr val="1B2029"/>
          </a:solidFill>
          <a:ln w="12700">
            <a:solidFill>
              <a:srgbClr val="4ADE80"/>
            </a:solidFill>
            <a:prstDash val="solid"/>
          </a:ln>
        </p:spPr>
      </p:sp>
      <p:sp>
        <p:nvSpPr>
          <p:cNvPr id="13" name="Text 11"/>
          <p:cNvSpPr txBox="1"/>
          <p:nvPr/>
        </p:nvSpPr>
        <p:spPr>
          <a:xfrm>
            <a:off x="4389120" y="2642616"/>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search.cy.ts</a:t>
            </a:r>
            <a:endParaRPr lang="en-US" sz="1100" dirty="0"/>
          </a:p>
        </p:txBody>
      </p:sp>
      <p:sp>
        <p:nvSpPr>
          <p:cNvPr id="14" name="Shape 12"/>
          <p:cNvSpPr/>
          <p:nvPr/>
        </p:nvSpPr>
        <p:spPr>
          <a:xfrm>
            <a:off x="4251960" y="3044952"/>
            <a:ext cx="3291840" cy="329184"/>
          </a:xfrm>
          <a:prstGeom prst="roundRect">
            <a:avLst>
              <a:gd name="adj" fmla="val 13889"/>
            </a:avLst>
          </a:prstGeom>
          <a:solidFill>
            <a:srgbClr val="1B2029"/>
          </a:solidFill>
          <a:ln w="12700">
            <a:solidFill>
              <a:srgbClr val="4ADE80"/>
            </a:solidFill>
            <a:prstDash val="solid"/>
          </a:ln>
        </p:spPr>
      </p:sp>
      <p:sp>
        <p:nvSpPr>
          <p:cNvPr id="15" name="Text 13"/>
          <p:cNvSpPr txBox="1"/>
          <p:nvPr/>
        </p:nvSpPr>
        <p:spPr>
          <a:xfrm>
            <a:off x="4389120" y="3044952"/>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cart-totals.cy.ts</a:t>
            </a:r>
            <a:endParaRPr lang="en-US" sz="1100" dirty="0"/>
          </a:p>
        </p:txBody>
      </p:sp>
      <p:sp>
        <p:nvSpPr>
          <p:cNvPr id="16" name="Shape 14"/>
          <p:cNvSpPr/>
          <p:nvPr/>
        </p:nvSpPr>
        <p:spPr>
          <a:xfrm>
            <a:off x="4251960" y="3447288"/>
            <a:ext cx="3291840" cy="329184"/>
          </a:xfrm>
          <a:prstGeom prst="roundRect">
            <a:avLst>
              <a:gd name="adj" fmla="val 13889"/>
            </a:avLst>
          </a:prstGeom>
          <a:solidFill>
            <a:srgbClr val="1B2029"/>
          </a:solidFill>
          <a:ln w="12700">
            <a:solidFill>
              <a:srgbClr val="4ADE80"/>
            </a:solidFill>
            <a:prstDash val="solid"/>
          </a:ln>
        </p:spPr>
      </p:sp>
      <p:sp>
        <p:nvSpPr>
          <p:cNvPr id="17" name="Text 15"/>
          <p:cNvSpPr txBox="1"/>
          <p:nvPr/>
        </p:nvSpPr>
        <p:spPr>
          <a:xfrm>
            <a:off x="4389120" y="3447288"/>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login.cy.ts</a:t>
            </a:r>
            <a:endParaRPr lang="en-US" sz="1100" dirty="0"/>
          </a:p>
        </p:txBody>
      </p:sp>
      <p:sp>
        <p:nvSpPr>
          <p:cNvPr id="18" name="Shape 16"/>
          <p:cNvSpPr/>
          <p:nvPr/>
        </p:nvSpPr>
        <p:spPr>
          <a:xfrm>
            <a:off x="4251960" y="3849624"/>
            <a:ext cx="3291840" cy="329184"/>
          </a:xfrm>
          <a:prstGeom prst="roundRect">
            <a:avLst>
              <a:gd name="adj" fmla="val 13889"/>
            </a:avLst>
          </a:prstGeom>
          <a:solidFill>
            <a:srgbClr val="1B2029"/>
          </a:solidFill>
          <a:ln w="12700">
            <a:solidFill>
              <a:srgbClr val="4ADE80"/>
            </a:solidFill>
            <a:prstDash val="solid"/>
          </a:ln>
        </p:spPr>
      </p:sp>
      <p:sp>
        <p:nvSpPr>
          <p:cNvPr id="19" name="Text 17"/>
          <p:cNvSpPr txBox="1"/>
          <p:nvPr/>
        </p:nvSpPr>
        <p:spPr>
          <a:xfrm>
            <a:off x="4389120" y="3849624"/>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checkout-*.cy.ts</a:t>
            </a:r>
            <a:endParaRPr lang="en-US" sz="1100" dirty="0"/>
          </a:p>
        </p:txBody>
      </p:sp>
      <p:sp>
        <p:nvSpPr>
          <p:cNvPr id="20" name="Shape 18"/>
          <p:cNvSpPr/>
          <p:nvPr/>
        </p:nvSpPr>
        <p:spPr>
          <a:xfrm>
            <a:off x="4251960" y="4251960"/>
            <a:ext cx="3291840" cy="329184"/>
          </a:xfrm>
          <a:prstGeom prst="roundRect">
            <a:avLst>
              <a:gd name="adj" fmla="val 13889"/>
            </a:avLst>
          </a:prstGeom>
          <a:solidFill>
            <a:srgbClr val="10131A"/>
          </a:solidFill>
          <a:ln w="12700">
            <a:solidFill>
              <a:srgbClr val="2C3340"/>
            </a:solidFill>
            <a:prstDash val="solid"/>
          </a:ln>
        </p:spPr>
      </p:sp>
      <p:sp>
        <p:nvSpPr>
          <p:cNvPr id="21" name="Text 19"/>
          <p:cNvSpPr txBox="1"/>
          <p:nvPr/>
        </p:nvSpPr>
        <p:spPr>
          <a:xfrm>
            <a:off x="4389120" y="4251960"/>
            <a:ext cx="3017520" cy="329184"/>
          </a:xfrm>
          <a:prstGeom prst="rect">
            <a:avLst/>
          </a:prstGeom>
          <a:noFill/>
          <a:ln/>
        </p:spPr>
        <p:txBody>
          <a:bodyPr wrap="square" lIns="0" tIns="0" rIns="0" bIns="0" rtlCol="0" anchor="ctr"/>
          <a:lstStyle/>
          <a:p>
            <a:pPr indent="0" marL="0">
              <a:buNone/>
            </a:pPr>
            <a:r>
              <a:rPr lang="en-US" sz="1100" dirty="0">
                <a:solidFill>
                  <a:srgbClr val="8A94A6"/>
                </a:solidFill>
                <a:latin typeface="Courier New" pitchFamily="34" charset="0"/>
                <a:ea typeface="Courier New" pitchFamily="34" charset="-122"/>
                <a:cs typeface="Courier New" pitchFamily="34" charset="-120"/>
              </a:rPr>
              <a:t>…10 in total</a:t>
            </a:r>
            <a:endParaRPr lang="en-US" sz="1100" dirty="0"/>
          </a:p>
        </p:txBody>
      </p:sp>
      <p:sp>
        <p:nvSpPr>
          <p:cNvPr id="22" name="Text 20"/>
          <p:cNvSpPr txBox="1"/>
          <p:nvPr/>
        </p:nvSpPr>
        <p:spPr>
          <a:xfrm>
            <a:off x="7955280" y="2240280"/>
            <a:ext cx="3566160" cy="3108960"/>
          </a:xfrm>
          <a:prstGeom prst="rect">
            <a:avLst/>
          </a:prstGeom>
          <a:noFill/>
          <a:ln/>
        </p:spPr>
        <p:txBody>
          <a:bodyPr wrap="square" lIns="0" tIns="0" rIns="0" bIns="0" rtlCol="0" anchor="t"/>
          <a:lstStyle/>
          <a:p>
            <a:pPr marL="342900" indent="-342900">
              <a:spcAft>
                <a:spcPts val="1000"/>
              </a:spcAft>
              <a:buSzPct val="100000"/>
              <a:buChar char="•"/>
            </a:pPr>
            <a:r>
              <a:rPr lang="en-US" sz="1500" b="1" dirty="0">
                <a:solidFill>
                  <a:srgbClr val="FFFFFF"/>
                </a:solidFill>
                <a:latin typeface="Calibri" pitchFamily="34" charset="0"/>
                <a:ea typeface="Calibri" pitchFamily="34" charset="-122"/>
                <a:cs typeface="Calibri" pitchFamily="34" charset="-120"/>
              </a:rPr>
              <a:t>Generated, not written by hand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Add a spec file, get a target</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runnable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cacheable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fails on its own</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02 · SETUP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Turning it on</a:t>
            </a:r>
            <a:endParaRPr lang="en-US" sz="3800" dirty="0"/>
          </a:p>
        </p:txBody>
      </p:sp>
      <p:sp>
        <p:nvSpPr>
          <p:cNvPr id="4" name="Text 2"/>
          <p:cNvSpPr txBox="1"/>
          <p:nvPr/>
        </p:nvSpPr>
        <p:spPr>
          <a:xfrm>
            <a:off x="640080" y="182880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1 · Add the plugin</a:t>
            </a:r>
            <a:endParaRPr lang="en-US" sz="1600" dirty="0"/>
          </a:p>
        </p:txBody>
      </p:sp>
      <p:sp>
        <p:nvSpPr>
          <p:cNvPr id="5" name="Shape 3"/>
          <p:cNvSpPr/>
          <p:nvPr/>
        </p:nvSpPr>
        <p:spPr>
          <a:xfrm>
            <a:off x="640080" y="2194560"/>
            <a:ext cx="5120640" cy="768096"/>
          </a:xfrm>
          <a:prstGeom prst="roundRect">
            <a:avLst>
              <a:gd name="adj" fmla="val 7143"/>
            </a:avLst>
          </a:prstGeom>
          <a:solidFill>
            <a:srgbClr val="10131A"/>
          </a:solidFill>
          <a:ln w="12700">
            <a:solidFill>
              <a:srgbClr val="10131A"/>
            </a:solidFill>
            <a:prstDash val="solid"/>
          </a:ln>
        </p:spPr>
      </p:sp>
      <p:sp>
        <p:nvSpPr>
          <p:cNvPr id="6" name="Text 4"/>
          <p:cNvSpPr txBox="1"/>
          <p:nvPr/>
        </p:nvSpPr>
        <p:spPr>
          <a:xfrm>
            <a:off x="868680" y="2395728"/>
            <a:ext cx="4663440" cy="365760"/>
          </a:xfrm>
          <a:prstGeom prst="rect">
            <a:avLst/>
          </a:prstGeom>
          <a:noFill/>
          <a:ln/>
        </p:spPr>
        <p:txBody>
          <a:bodyPr wrap="square" lIns="0" tIns="0" rIns="0" bIns="0" rtlCol="0" anchor="t"/>
          <a:lstStyle/>
          <a:p>
            <a:pPr indent="0" marL="0">
              <a:lnSpc>
                <a:spcPct val="125000"/>
              </a:lnSpc>
              <a:buNone/>
            </a:pPr>
            <a:r>
              <a:rPr lang="en-US" sz="1500" dirty="0">
                <a:solidFill>
                  <a:srgbClr val="3DDC84"/>
                </a:solidFill>
                <a:latin typeface="Courier New" pitchFamily="34" charset="0"/>
                <a:ea typeface="Courier New" pitchFamily="34" charset="-122"/>
                <a:cs typeface="Courier New" pitchFamily="34" charset="-120"/>
              </a:rPr>
              <a:t>nx add @nx/cypress</a:t>
            </a:r>
            <a:endParaRPr lang="en-US" sz="1500" dirty="0"/>
          </a:p>
        </p:txBody>
      </p:sp>
      <p:sp>
        <p:nvSpPr>
          <p:cNvPr id="7" name="Text 5"/>
          <p:cNvSpPr txBox="1"/>
          <p:nvPr/>
        </p:nvSpPr>
        <p:spPr>
          <a:xfrm>
            <a:off x="640080" y="301752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2 · It registers this in nx.json</a:t>
            </a:r>
            <a:endParaRPr lang="en-US" sz="1600" dirty="0"/>
          </a:p>
        </p:txBody>
      </p:sp>
      <p:sp>
        <p:nvSpPr>
          <p:cNvPr id="8" name="Shape 6"/>
          <p:cNvSpPr/>
          <p:nvPr/>
        </p:nvSpPr>
        <p:spPr>
          <a:xfrm>
            <a:off x="640080" y="3383280"/>
            <a:ext cx="5120640" cy="2633472"/>
          </a:xfrm>
          <a:prstGeom prst="roundRect">
            <a:avLst>
              <a:gd name="adj" fmla="val 2083"/>
            </a:avLst>
          </a:prstGeom>
          <a:solidFill>
            <a:srgbClr val="10131A"/>
          </a:solidFill>
          <a:ln w="12700">
            <a:solidFill>
              <a:srgbClr val="10131A"/>
            </a:solidFill>
            <a:prstDash val="solid"/>
          </a:ln>
        </p:spPr>
      </p:sp>
      <p:sp>
        <p:nvSpPr>
          <p:cNvPr id="9" name="Text 7"/>
          <p:cNvSpPr txBox="1"/>
          <p:nvPr/>
        </p:nvSpPr>
        <p:spPr>
          <a:xfrm>
            <a:off x="868680" y="3584448"/>
            <a:ext cx="4663440" cy="2231136"/>
          </a:xfrm>
          <a:prstGeom prst="rect">
            <a:avLst/>
          </a:prstGeom>
          <a:noFill/>
          <a:ln/>
        </p:spPr>
        <p:txBody>
          <a:bodyPr wrap="square" lIns="0" tIns="0" rIns="0" bIns="0" rtlCol="0" anchor="t"/>
          <a:lstStyle/>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  "plugin": "@nx/cypress/plugin",</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"options": {</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"targetName": "e2e",</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"ciTargetName": "e2e-ci"</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p:txBody>
      </p:sp>
      <p:sp>
        <p:nvSpPr>
          <p:cNvPr id="10" name="Text 8"/>
          <p:cNvSpPr txBox="1"/>
          <p:nvPr/>
        </p:nvSpPr>
        <p:spPr>
          <a:xfrm>
            <a:off x="6309360" y="1828800"/>
            <a:ext cx="521208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3 · Ask what you got</a:t>
            </a:r>
            <a:endParaRPr lang="en-US" sz="1600" dirty="0"/>
          </a:p>
        </p:txBody>
      </p:sp>
      <p:sp>
        <p:nvSpPr>
          <p:cNvPr id="11" name="Shape 9"/>
          <p:cNvSpPr/>
          <p:nvPr/>
        </p:nvSpPr>
        <p:spPr>
          <a:xfrm>
            <a:off x="6309360" y="2194560"/>
            <a:ext cx="5212080" cy="2944368"/>
          </a:xfrm>
          <a:prstGeom prst="roundRect">
            <a:avLst>
              <a:gd name="adj" fmla="val 1863"/>
            </a:avLst>
          </a:prstGeom>
          <a:solidFill>
            <a:srgbClr val="10131A"/>
          </a:solidFill>
          <a:ln w="12700">
            <a:solidFill>
              <a:srgbClr val="10131A"/>
            </a:solidFill>
            <a:prstDash val="solid"/>
          </a:ln>
        </p:spPr>
      </p:sp>
      <p:sp>
        <p:nvSpPr>
          <p:cNvPr id="12" name="Text 10"/>
          <p:cNvSpPr txBox="1"/>
          <p:nvPr/>
        </p:nvSpPr>
        <p:spPr>
          <a:xfrm>
            <a:off x="6537960" y="2395728"/>
            <a:ext cx="4754880" cy="2542032"/>
          </a:xfrm>
          <a:prstGeom prst="rect">
            <a:avLst/>
          </a:prstGeom>
          <a:noFill/>
          <a:ln/>
        </p:spPr>
        <p:txBody>
          <a:bodyPr wrap="square" lIns="0" tIns="0" rIns="0" bIns="0" rtlCol="0" anchor="t"/>
          <a:lstStyle/>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e2e</a:t>
            </a:r>
            <a:endParaRPr lang="en-US" sz="1300" dirty="0"/>
          </a:p>
          <a:p>
            <a:pPr indent="0" marL="0">
              <a:lnSpc>
                <a:spcPct val="125000"/>
              </a:lnSpc>
              <a:buNone/>
            </a:pPr>
            <a:r>
              <a:rPr lang="en-US" sz="1300" dirty="0">
                <a:solidFill>
                  <a:srgbClr val="F5A524"/>
                </a:solidFill>
                <a:latin typeface="Courier New" pitchFamily="34" charset="0"/>
                <a:ea typeface="Courier New" pitchFamily="34" charset="-122"/>
                <a:cs typeface="Courier New" pitchFamily="34" charset="-120"/>
              </a:rPr>
              <a:t>e2e-ci</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e2e-ci--src/e2e/catalog.cy.ts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e2e-ci--src/e2e/search.cy.ts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e2e-ci--src/e2e/login.cy.ts</a:t>
            </a: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a:t>
            </a:r>
            <a:endParaRPr lang="en-US" sz="1300" dirty="0"/>
          </a:p>
        </p:txBody>
      </p:sp>
      <p:sp>
        <p:nvSpPr>
          <p:cNvPr id="13" name="Text 11"/>
          <p:cNvSpPr txBox="1"/>
          <p:nvPr/>
        </p:nvSpPr>
        <p:spPr>
          <a:xfrm>
            <a:off x="6309360" y="5349240"/>
            <a:ext cx="5212080" cy="457200"/>
          </a:xfrm>
          <a:prstGeom prst="rect">
            <a:avLst/>
          </a:prstGeom>
          <a:noFill/>
          <a:ln/>
        </p:spPr>
        <p:txBody>
          <a:bodyPr wrap="square" lIns="0" tIns="0" rIns="0" bIns="0" rtlCol="0" anchor="ctr"/>
          <a:lstStyle/>
          <a:p>
            <a:pPr indent="0" marL="0">
              <a:buNone/>
            </a:pPr>
            <a:r>
              <a:rPr lang="en-US" sz="1300" i="1" dirty="0">
                <a:solidFill>
                  <a:srgbClr val="55607A"/>
                </a:solidFill>
                <a:latin typeface="Calibri" pitchFamily="34" charset="0"/>
                <a:ea typeface="Calibri" pitchFamily="34" charset="-122"/>
                <a:cs typeface="Calibri" pitchFamily="34" charset="-120"/>
              </a:rPr>
              <a:t>Note the real names: one target per file path — not spec1, spec2, spec3.</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03 · THE CATCH</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Then Nx 23 tells you no</a:t>
            </a:r>
            <a:endParaRPr lang="en-US" sz="3800" dirty="0"/>
          </a:p>
        </p:txBody>
      </p:sp>
      <p:sp>
        <p:nvSpPr>
          <p:cNvPr id="4" name="Shape 2"/>
          <p:cNvSpPr/>
          <p:nvPr/>
        </p:nvSpPr>
        <p:spPr>
          <a:xfrm>
            <a:off x="640080" y="1783080"/>
            <a:ext cx="10881360" cy="731520"/>
          </a:xfrm>
          <a:prstGeom prst="roundRect">
            <a:avLst>
              <a:gd name="adj" fmla="val 7500"/>
            </a:avLst>
          </a:prstGeom>
          <a:solidFill>
            <a:srgbClr val="0A0D13"/>
          </a:solidFill>
          <a:ln w="12700">
            <a:solidFill>
              <a:srgbClr val="2C3340"/>
            </a:solidFill>
            <a:prstDash val="solid"/>
          </a:ln>
        </p:spPr>
      </p:sp>
      <p:sp>
        <p:nvSpPr>
          <p:cNvPr id="5" name="Text 3"/>
          <p:cNvSpPr txBox="1"/>
          <p:nvPr/>
        </p:nvSpPr>
        <p:spPr>
          <a:xfrm>
            <a:off x="868680" y="1984248"/>
            <a:ext cx="10424160" cy="329184"/>
          </a:xfrm>
          <a:prstGeom prst="rect">
            <a:avLst/>
          </a:prstGeom>
          <a:noFill/>
          <a:ln/>
        </p:spPr>
        <p:txBody>
          <a:bodyPr wrap="square" lIns="0" tIns="0" rIns="0" bIns="0" rtlCol="0" anchor="t"/>
          <a:lstStyle/>
          <a:p>
            <a:pPr indent="0" marL="0">
              <a:lnSpc>
                <a:spcPct val="125000"/>
              </a:lnSpc>
              <a:buNone/>
            </a:pPr>
            <a:r>
              <a:rPr lang="en-US" sz="1700" dirty="0">
                <a:solidFill>
                  <a:srgbClr val="FFFFFF"/>
                </a:solidFill>
                <a:latin typeface="Courier New" pitchFamily="34" charset="0"/>
                <a:ea typeface="Courier New" pitchFamily="34" charset="-122"/>
                <a:cs typeface="Courier New" pitchFamily="34" charset="-120"/>
              </a:rPr>
              <a:t>nx run-many -t e2e-ci --parallel=5</a:t>
            </a:r>
            <a:endParaRPr lang="en-US" sz="1700" dirty="0"/>
          </a:p>
        </p:txBody>
      </p:sp>
      <p:sp>
        <p:nvSpPr>
          <p:cNvPr id="6" name="Shape 4"/>
          <p:cNvSpPr/>
          <p:nvPr/>
        </p:nvSpPr>
        <p:spPr>
          <a:xfrm>
            <a:off x="640080" y="2697480"/>
            <a:ext cx="10881360" cy="1234440"/>
          </a:xfrm>
          <a:prstGeom prst="roundRect">
            <a:avLst>
              <a:gd name="adj" fmla="val 5185"/>
            </a:avLst>
          </a:prstGeom>
          <a:solidFill>
            <a:srgbClr val="2A1116"/>
          </a:solidFill>
          <a:ln w="19050">
            <a:solidFill>
              <a:srgbClr val="FB7185"/>
            </a:solidFill>
            <a:prstDash val="solid"/>
          </a:ln>
        </p:spPr>
      </p:sp>
      <p:sp>
        <p:nvSpPr>
          <p:cNvPr id="7" name="Text 5"/>
          <p:cNvSpPr txBox="1"/>
          <p:nvPr/>
        </p:nvSpPr>
        <p:spPr>
          <a:xfrm>
            <a:off x="914400" y="2926080"/>
            <a:ext cx="10332720" cy="822960"/>
          </a:xfrm>
          <a:prstGeom prst="rect">
            <a:avLst/>
          </a:prstGeom>
          <a:noFill/>
          <a:ln/>
        </p:spPr>
        <p:txBody>
          <a:bodyPr wrap="square" lIns="0" tIns="0" rIns="0" bIns="0" rtlCol="0" anchor="ctr"/>
          <a:lstStyle/>
          <a:p>
            <a:pPr indent="0" marL="0">
              <a:lnSpc>
                <a:spcPct val="130000"/>
              </a:lnSpc>
              <a:buNone/>
            </a:pPr>
            <a:r>
              <a:rPr lang="en-US" sz="1400" b="1" dirty="0">
                <a:solidFill>
                  <a:srgbClr val="FB7185"/>
                </a:solidFill>
                <a:latin typeface="Courier New" pitchFamily="34" charset="0"/>
                <a:ea typeface="Courier New" pitchFamily="34" charset="-122"/>
                <a:cs typeface="Courier New" pitchFamily="34" charset="-120"/>
              </a:rPr>
              <a:t>NX   The shop-e2e:e2e-ci task should only be run with Nx Cloud.</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Please enable Nx Cloud or use the slower "e2e" task.</a:t>
            </a:r>
            <a:endParaRPr lang="en-US" sz="1400" dirty="0"/>
          </a:p>
        </p:txBody>
      </p:sp>
      <p:sp>
        <p:nvSpPr>
          <p:cNvPr id="8" name="Text 6"/>
          <p:cNvSpPr txBox="1"/>
          <p:nvPr/>
        </p:nvSpPr>
        <p:spPr>
          <a:xfrm>
            <a:off x="640080" y="4160520"/>
            <a:ext cx="10881360" cy="411480"/>
          </a:xfrm>
          <a:prstGeom prst="rect">
            <a:avLst/>
          </a:prstGeom>
          <a:noFill/>
          <a:ln/>
        </p:spPr>
        <p:txBody>
          <a:bodyPr wrap="square" lIns="0" tIns="0" rIns="0" bIns="0" rtlCol="0" anchor="ctr"/>
          <a:lstStyle/>
          <a:p>
            <a:pPr indent="0" marL="0">
              <a:buNone/>
            </a:pPr>
            <a:r>
              <a:rPr lang="en-US" sz="2400" b="1" dirty="0">
                <a:solidFill>
                  <a:srgbClr val="4ADE80"/>
                </a:solidFill>
                <a:latin typeface="Cambria" pitchFamily="34" charset="0"/>
                <a:ea typeface="Cambria" pitchFamily="34" charset="-122"/>
                <a:cs typeface="Cambria" pitchFamily="34" charset="-120"/>
              </a:rPr>
              <a:t>The gate is on the wrapper, not on the work.</a:t>
            </a:r>
            <a:endParaRPr lang="en-US" sz="2400" dirty="0"/>
          </a:p>
        </p:txBody>
      </p:sp>
      <p:sp>
        <p:nvSpPr>
          <p:cNvPr id="9" name="Text 7"/>
          <p:cNvSpPr txBox="1"/>
          <p:nvPr/>
        </p:nvSpPr>
        <p:spPr>
          <a:xfrm>
            <a:off x="640080" y="4663440"/>
            <a:ext cx="10881360" cy="15544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e2e-ci is a no-op coordinator that just depends on the ten real tasks</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The ten atomized targets are ordinary nx:run-commands tasks</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Run one directly and it works, cache and all</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04 · PARALLEL, NO CLOUD</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Ask for the list yourself</a:t>
            </a:r>
            <a:endParaRPr lang="en-US" sz="3800" dirty="0"/>
          </a:p>
        </p:txBody>
      </p:sp>
      <p:sp>
        <p:nvSpPr>
          <p:cNvPr id="4" name="Shape 2"/>
          <p:cNvSpPr/>
          <p:nvPr/>
        </p:nvSpPr>
        <p:spPr>
          <a:xfrm>
            <a:off x="640080" y="1783080"/>
            <a:ext cx="6675120" cy="2322576"/>
          </a:xfrm>
          <a:prstGeom prst="roundRect">
            <a:avLst>
              <a:gd name="adj" fmla="val 2362"/>
            </a:avLst>
          </a:prstGeom>
          <a:solidFill>
            <a:srgbClr val="0A0D13"/>
          </a:solidFill>
          <a:ln w="12700">
            <a:solidFill>
              <a:srgbClr val="2C3340"/>
            </a:solidFill>
            <a:prstDash val="solid"/>
          </a:ln>
        </p:spPr>
      </p:sp>
      <p:sp>
        <p:nvSpPr>
          <p:cNvPr id="5" name="Text 3"/>
          <p:cNvSpPr txBox="1"/>
          <p:nvPr/>
        </p:nvSpPr>
        <p:spPr>
          <a:xfrm>
            <a:off x="868680" y="1984248"/>
            <a:ext cx="6217920" cy="1920240"/>
          </a:xfrm>
          <a:prstGeom prst="rect">
            <a:avLst/>
          </a:prstGeom>
          <a:noFill/>
          <a:ln/>
        </p:spPr>
        <p:txBody>
          <a:bodyPr wrap="square" lIns="0" tIns="0" rIns="0" bIns="0" rtlCol="0" anchor="t"/>
          <a:lstStyle/>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 the wrapper is gated — the leaves are not</a:t>
            </a:r>
            <a:endParaRPr lang="en-US" sz="1300" dirty="0"/>
          </a:p>
          <a:p>
            <a:pPr indent="0" marL="0">
              <a:lnSpc>
                <a:spcPct val="125000"/>
              </a:lnSpc>
              <a:buNone/>
            </a:pPr>
            <a:r>
              <a:rPr lang="en-US" sz="1300" dirty="0">
                <a:solidFill>
                  <a:srgbClr val="FFFFFF"/>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r>
              <a:rPr lang="en-US" sz="1300" dirty="0">
                <a:solidFill>
                  <a:srgbClr val="60A5FA"/>
                </a:solidFill>
                <a:latin typeface="Courier New" pitchFamily="34" charset="0"/>
                <a:ea typeface="Courier New" pitchFamily="34" charset="-122"/>
                <a:cs typeface="Courier New" pitchFamily="34" charset="-120"/>
              </a:rPr>
              <a:t>  → e2e-ci--src/e2e/catalog.cy.ts</a:t>
            </a:r>
            <a:endParaRPr lang="en-US" sz="1300" dirty="0"/>
          </a:p>
          <a:p>
            <a:pPr indent="0" marL="0">
              <a:lnSpc>
                <a:spcPct val="125000"/>
              </a:lnSpc>
              <a:buNone/>
            </a:pPr>
            <a:r>
              <a:rPr lang="en-US" sz="1300" dirty="0">
                <a:solidFill>
                  <a:srgbClr val="60A5FA"/>
                </a:solidFill>
                <a:latin typeface="Courier New" pitchFamily="34" charset="0"/>
                <a:ea typeface="Courier New" pitchFamily="34" charset="-122"/>
                <a:cs typeface="Courier New" pitchFamily="34" charset="-120"/>
              </a:rPr>
              <a:t>  → e2e-ci--src/e2e/search.cy.ts   …</a:t>
            </a:r>
            <a:endParaRPr lang="en-US" sz="1300" dirty="0"/>
          </a:p>
          <a:p>
            <a:pPr indent="0" marL="0">
              <a:lnSpc>
                <a:spcPct val="125000"/>
              </a:lnSpc>
              <a:buNone/>
            </a:pPr>
            <a:endParaRPr lang="en-US" sz="1300" dirty="0"/>
          </a:p>
          <a:p>
            <a:pPr indent="0" marL="0">
              <a:lnSpc>
                <a:spcPct val="125000"/>
              </a:lnSpc>
              <a:buNone/>
            </a:pPr>
            <a:r>
              <a:rPr lang="en-US" sz="1300" b="1" dirty="0">
                <a:solidFill>
                  <a:srgbClr val="4ADE80"/>
                </a:solidFill>
                <a:latin typeface="Courier New" pitchFamily="34" charset="0"/>
                <a:ea typeface="Courier New" pitchFamily="34" charset="-122"/>
                <a:cs typeface="Courier New" pitchFamily="34" charset="-120"/>
              </a:rPr>
              <a:t>nx run-many --targets=&lt;that list&gt; --parallel=5</a:t>
            </a:r>
            <a:endParaRPr lang="en-US" sz="1300" dirty="0"/>
          </a:p>
        </p:txBody>
      </p:sp>
      <p:sp>
        <p:nvSpPr>
          <p:cNvPr id="6" name="Shape 4"/>
          <p:cNvSpPr/>
          <p:nvPr/>
        </p:nvSpPr>
        <p:spPr>
          <a:xfrm>
            <a:off x="7680960" y="1783080"/>
            <a:ext cx="3840480" cy="2286000"/>
          </a:xfrm>
          <a:prstGeom prst="roundRect">
            <a:avLst>
              <a:gd name="adj" fmla="val 3600"/>
            </a:avLst>
          </a:prstGeom>
          <a:solidFill>
            <a:srgbClr val="1B2029"/>
          </a:solidFill>
          <a:ln w="19050">
            <a:solidFill>
              <a:srgbClr val="4ADE80"/>
            </a:solidFill>
            <a:prstDash val="solid"/>
          </a:ln>
        </p:spPr>
      </p:sp>
      <p:sp>
        <p:nvSpPr>
          <p:cNvPr id="7" name="Text 5"/>
          <p:cNvSpPr txBox="1"/>
          <p:nvPr/>
        </p:nvSpPr>
        <p:spPr>
          <a:xfrm>
            <a:off x="7909560" y="1965960"/>
            <a:ext cx="3383280" cy="502920"/>
          </a:xfrm>
          <a:prstGeom prst="rect">
            <a:avLst/>
          </a:prstGeom>
          <a:noFill/>
          <a:ln/>
        </p:spPr>
        <p:txBody>
          <a:bodyPr wrap="square" lIns="0" tIns="0" rIns="0" bIns="0" rtlCol="0" anchor="ctr"/>
          <a:lstStyle/>
          <a:p>
            <a:pPr indent="0" marL="0">
              <a:buNone/>
            </a:pPr>
            <a:r>
              <a:rPr lang="en-US" sz="2400" b="1" dirty="0">
                <a:solidFill>
                  <a:srgbClr val="8A94A6"/>
                </a:solidFill>
                <a:latin typeface="Cambria" pitchFamily="34" charset="0"/>
                <a:ea typeface="Cambria" pitchFamily="34" charset="-122"/>
                <a:cs typeface="Cambria" pitchFamily="34" charset="-120"/>
              </a:rPr>
              <a:t>4m 20s</a:t>
            </a:r>
            <a:endParaRPr lang="en-US" sz="2400" dirty="0"/>
          </a:p>
        </p:txBody>
      </p:sp>
      <p:sp>
        <p:nvSpPr>
          <p:cNvPr id="8" name="Text 6"/>
          <p:cNvSpPr txBox="1"/>
          <p:nvPr/>
        </p:nvSpPr>
        <p:spPr>
          <a:xfrm>
            <a:off x="7909560" y="2395728"/>
            <a:ext cx="3383280" cy="274320"/>
          </a:xfrm>
          <a:prstGeom prst="rect">
            <a:avLst/>
          </a:prstGeom>
          <a:noFill/>
          <a:ln/>
        </p:spPr>
        <p:txBody>
          <a:bodyPr wrap="square" lIns="0" tIns="0" rIns="0" bIns="0" rtlCol="0" anchor="ctr"/>
          <a:lstStyle/>
          <a:p>
            <a:pPr indent="0" marL="0">
              <a:buNone/>
            </a:pPr>
            <a:r>
              <a:rPr lang="en-US" sz="1500" dirty="0">
                <a:solidFill>
                  <a:srgbClr val="8A94A6"/>
                </a:solidFill>
                <a:latin typeface="Calibri" pitchFamily="34" charset="0"/>
                <a:ea typeface="Calibri" pitchFamily="34" charset="-122"/>
                <a:cs typeface="Calibri" pitchFamily="34" charset="-120"/>
              </a:rPr>
              <a:t>↓</a:t>
            </a:r>
            <a:endParaRPr lang="en-US" sz="1500" dirty="0"/>
          </a:p>
        </p:txBody>
      </p:sp>
      <p:sp>
        <p:nvSpPr>
          <p:cNvPr id="9" name="Text 7"/>
          <p:cNvSpPr txBox="1"/>
          <p:nvPr/>
        </p:nvSpPr>
        <p:spPr>
          <a:xfrm>
            <a:off x="7909560" y="2670048"/>
            <a:ext cx="3383280" cy="731520"/>
          </a:xfrm>
          <a:prstGeom prst="rect">
            <a:avLst/>
          </a:prstGeom>
          <a:noFill/>
          <a:ln/>
        </p:spPr>
        <p:txBody>
          <a:bodyPr wrap="square" lIns="0" tIns="0" rIns="0" bIns="0" rtlCol="0" anchor="ctr"/>
          <a:lstStyle/>
          <a:p>
            <a:pPr indent="0" marL="0">
              <a:buNone/>
            </a:pPr>
            <a:r>
              <a:rPr lang="en-US" sz="4200" b="1" dirty="0">
                <a:solidFill>
                  <a:srgbClr val="4ADE80"/>
                </a:solidFill>
                <a:latin typeface="Cambria" pitchFamily="34" charset="0"/>
                <a:ea typeface="Cambria" pitchFamily="34" charset="-122"/>
                <a:cs typeface="Cambria" pitchFamily="34" charset="-120"/>
              </a:rPr>
              <a:t>2m 20s</a:t>
            </a:r>
            <a:endParaRPr lang="en-US" sz="4200" dirty="0"/>
          </a:p>
        </p:txBody>
      </p:sp>
      <p:sp>
        <p:nvSpPr>
          <p:cNvPr id="10" name="Text 8"/>
          <p:cNvSpPr txBox="1"/>
          <p:nvPr/>
        </p:nvSpPr>
        <p:spPr>
          <a:xfrm>
            <a:off x="7909560" y="3429000"/>
            <a:ext cx="3383280" cy="4572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same laptop, one flag</a:t>
            </a:r>
            <a:endParaRPr lang="en-US" sz="1300" dirty="0"/>
          </a:p>
        </p:txBody>
      </p:sp>
      <p:sp>
        <p:nvSpPr>
          <p:cNvPr id="11" name="Shape 9"/>
          <p:cNvSpPr/>
          <p:nvPr/>
        </p:nvSpPr>
        <p:spPr>
          <a:xfrm>
            <a:off x="640080" y="4526280"/>
            <a:ext cx="10881360" cy="1371600"/>
          </a:xfrm>
          <a:prstGeom prst="roundRect">
            <a:avLst>
              <a:gd name="adj" fmla="val 4667"/>
            </a:avLst>
          </a:prstGeom>
          <a:solidFill>
            <a:srgbClr val="2A1F0A"/>
          </a:solidFill>
          <a:ln w="12700">
            <a:solidFill>
              <a:srgbClr val="F5A524"/>
            </a:solidFill>
            <a:prstDash val="solid"/>
          </a:ln>
        </p:spPr>
      </p:sp>
      <p:sp>
        <p:nvSpPr>
          <p:cNvPr id="12" name="Text 10"/>
          <p:cNvSpPr txBox="1"/>
          <p:nvPr/>
        </p:nvSpPr>
        <p:spPr>
          <a:xfrm>
            <a:off x="914400" y="4681728"/>
            <a:ext cx="10332720" cy="320040"/>
          </a:xfrm>
          <a:prstGeom prst="rect">
            <a:avLst/>
          </a:prstGeom>
          <a:noFill/>
          <a:ln/>
        </p:spPr>
        <p:txBody>
          <a:bodyPr wrap="square" lIns="0" tIns="0" rIns="0" bIns="0" rtlCol="0" anchor="ctr"/>
          <a:lstStyle/>
          <a:p>
            <a:pPr indent="0" marL="0">
              <a:buNone/>
            </a:pPr>
            <a:r>
              <a:rPr lang="en-US" sz="1400" b="1" dirty="0">
                <a:solidFill>
                  <a:srgbClr val="F5A524"/>
                </a:solidFill>
                <a:latin typeface="Calibri" pitchFamily="34" charset="0"/>
                <a:ea typeface="Calibri" pitchFamily="34" charset="-122"/>
                <a:cs typeface="Calibri" pitchFamily="34" charset="-120"/>
              </a:rPr>
              <a:t>The part people skip</a:t>
            </a:r>
            <a:endParaRPr lang="en-US" sz="1400" dirty="0"/>
          </a:p>
        </p:txBody>
      </p:sp>
      <p:sp>
        <p:nvSpPr>
          <p:cNvPr id="13" name="Text 11"/>
          <p:cNvSpPr txBox="1"/>
          <p:nvPr/>
        </p:nvSpPr>
        <p:spPr>
          <a:xfrm>
            <a:off x="914400" y="5029200"/>
            <a:ext cx="10332720" cy="777240"/>
          </a:xfrm>
          <a:prstGeom prst="rect">
            <a:avLst/>
          </a:prstGeom>
          <a:noFill/>
          <a:ln/>
        </p:spPr>
        <p:txBody>
          <a:bodyPr wrap="square" lIns="0" tIns="0" rIns="0" bIns="0" rtlCol="0" anchor="ctr"/>
          <a:lstStyle/>
          <a:p>
            <a:pPr indent="0" marL="0">
              <a:buNone/>
            </a:pPr>
            <a:r>
              <a:rPr lang="en-US" sz="1400" dirty="0">
                <a:solidFill>
                  <a:srgbClr val="F3D9A4"/>
                </a:solidFill>
                <a:latin typeface="Calibri" pitchFamily="34" charset="0"/>
                <a:ea typeface="Calibri" pitchFamily="34" charset="-122"/>
                <a:cs typeface="Calibri" pitchFamily="34" charset="-120"/>
              </a:rPr>
              <a:t>Atomize and run them serially and you get 5m 40s — 31% SLOWER than not splitting at all, because every spec now boots its own Cypress. Splitting is not a speedup. It is the precondition for one.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06 · DISTRIBUTION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runner per app, not per shard</a:t>
            </a:r>
            <a:endParaRPr lang="en-US" sz="3800" dirty="0"/>
          </a:p>
        </p:txBody>
      </p:sp>
      <p:sp>
        <p:nvSpPr>
          <p:cNvPr id="4" name="Shape 2"/>
          <p:cNvSpPr/>
          <p:nvPr/>
        </p:nvSpPr>
        <p:spPr>
          <a:xfrm>
            <a:off x="640080" y="1783080"/>
            <a:ext cx="7223760" cy="2011680"/>
          </a:xfrm>
          <a:prstGeom prst="roundRect">
            <a:avLst>
              <a:gd name="adj" fmla="val 2727"/>
            </a:avLst>
          </a:prstGeom>
          <a:solidFill>
            <a:srgbClr val="0A0D13"/>
          </a:solidFill>
          <a:ln w="12700">
            <a:solidFill>
              <a:srgbClr val="2C3340"/>
            </a:solidFill>
            <a:prstDash val="solid"/>
          </a:ln>
        </p:spPr>
      </p:sp>
      <p:sp>
        <p:nvSpPr>
          <p:cNvPr id="5" name="Text 3"/>
          <p:cNvSpPr txBox="1"/>
          <p:nvPr/>
        </p:nvSpPr>
        <p:spPr>
          <a:xfrm>
            <a:off x="868680" y="1984248"/>
            <a:ext cx="6766560" cy="1609344"/>
          </a:xfrm>
          <a:prstGeom prst="rect">
            <a:avLst/>
          </a:prstGeom>
          <a:noFill/>
          <a:ln/>
        </p:spPr>
        <p:txBody>
          <a:bodyPr wrap="square" lIns="0" tIns="0" rIns="0" bIns="0" rtlCol="0" anchor="t"/>
          <a:lstStyle/>
          <a:p>
            <a:pPr indent="0" marL="0">
              <a:lnSpc>
                <a:spcPct val="125000"/>
              </a:lnSpc>
              <a:buNone/>
            </a:pPr>
            <a:r>
              <a:rPr lang="en-US" sz="1100" dirty="0">
                <a:solidFill>
                  <a:srgbClr val="7DD3FC"/>
                </a:solidFill>
                <a:latin typeface="Courier New" pitchFamily="34" charset="0"/>
                <a:ea typeface="Courier New" pitchFamily="34" charset="-122"/>
                <a:cs typeface="Courier New" pitchFamily="34" charset="-120"/>
              </a:rPr>
              <a:t>- id: list</a:t>
            </a:r>
            <a:endParaRPr lang="en-US" sz="1100" dirty="0"/>
          </a:p>
          <a:p>
            <a:pPr indent="0" marL="0">
              <a:lnSpc>
                <a:spcPct val="125000"/>
              </a:lnSpc>
              <a:buNone/>
            </a:pPr>
            <a:r>
              <a:rPr lang="en-US" sz="1100" dirty="0">
                <a:solidFill>
                  <a:srgbClr val="4ADE80"/>
                </a:solidFill>
                <a:latin typeface="Courier New" pitchFamily="34" charset="0"/>
                <a:ea typeface="Courier New" pitchFamily="34" charset="-122"/>
                <a:cs typeface="Courier New" pitchFamily="34" charset="-120"/>
              </a:rPr>
              <a:t>  run: echo "projects=$(node tools/e2e-targets.mjs --projects-json)"</a:t>
            </a:r>
            <a:endParaRPr lang="en-US" sz="1100" dirty="0"/>
          </a:p>
          <a:p>
            <a:pPr indent="0" marL="0">
              <a:lnSpc>
                <a:spcPct val="125000"/>
              </a:lnSpc>
              <a:buNone/>
            </a:pPr>
            <a:endParaRPr lang="en-US" sz="1100" dirty="0"/>
          </a:p>
          <a:p>
            <a:pPr indent="0" marL="0">
              <a:lnSpc>
                <a:spcPct val="125000"/>
              </a:lnSpc>
              <a:buNone/>
            </a:pPr>
            <a:r>
              <a:rPr lang="en-US" sz="1100" dirty="0">
                <a:solidFill>
                  <a:srgbClr val="7DD3FC"/>
                </a:solidFill>
                <a:latin typeface="Courier New" pitchFamily="34" charset="0"/>
                <a:ea typeface="Courier New" pitchFamily="34" charset="-122"/>
                <a:cs typeface="Courier New" pitchFamily="34" charset="-120"/>
              </a:rPr>
              <a:t>strategy:</a:t>
            </a:r>
            <a:endParaRPr lang="en-US" sz="1100" dirty="0"/>
          </a:p>
          <a:p>
            <a:pPr indent="0" marL="0">
              <a:lnSpc>
                <a:spcPct val="125000"/>
              </a:lnSpc>
              <a:buNone/>
            </a:pPr>
            <a:r>
              <a:rPr lang="en-US" sz="1100" dirty="0">
                <a:solidFill>
                  <a:srgbClr val="FFFFFF"/>
                </a:solidFill>
                <a:latin typeface="Courier New" pitchFamily="34" charset="0"/>
                <a:ea typeface="Courier New" pitchFamily="34" charset="-122"/>
                <a:cs typeface="Courier New" pitchFamily="34" charset="-120"/>
              </a:rPr>
              <a:t>  matrix: { project: "${{ fromJson(needs.discover.outputs.projects) }}" }</a:t>
            </a:r>
            <a:endParaRPr lang="en-US" sz="1100" dirty="0"/>
          </a:p>
        </p:txBody>
      </p:sp>
      <p:sp>
        <p:nvSpPr>
          <p:cNvPr id="6" name="Text 4"/>
          <p:cNvSpPr txBox="1"/>
          <p:nvPr/>
        </p:nvSpPr>
        <p:spPr>
          <a:xfrm>
            <a:off x="8046720" y="1783080"/>
            <a:ext cx="3291840" cy="2377440"/>
          </a:xfrm>
          <a:prstGeom prst="rect">
            <a:avLst/>
          </a:prstGeom>
          <a:noFill/>
          <a:ln/>
        </p:spPr>
        <p:txBody>
          <a:bodyPr wrap="square" lIns="0" tIns="0" rIns="0" bIns="0" rtlCol="0" anchor="t"/>
          <a:lstStyle/>
          <a:p>
            <a:pPr marL="342900" indent="-342900">
              <a:spcAft>
                <a:spcPts val="1000"/>
              </a:spcAft>
              <a:buSzPct val="100000"/>
              <a:buChar char="•"/>
            </a:pPr>
            <a:r>
              <a:rPr lang="en-US" sz="1200" dirty="0">
                <a:solidFill>
                  <a:srgbClr val="C3CAD6"/>
                </a:solidFill>
                <a:latin typeface="Calibri" pitchFamily="34" charset="0"/>
                <a:ea typeface="Calibri" pitchFamily="34" charset="-122"/>
                <a:cs typeface="Calibri" pitchFamily="34" charset="-120"/>
              </a:rPr>
              <a:t>The matrix comes from the graph — a 4th app adds a runner by itself</a:t>
            </a:r>
            <a:endParaRPr lang="en-US" sz="1200" dirty="0"/>
          </a:p>
          <a:p>
            <a:pPr marL="342900" indent="-342900">
              <a:spcAft>
                <a:spcPts val="1000"/>
              </a:spcAft>
              <a:buSzPct val="100000"/>
              <a:buChar char="•"/>
            </a:pPr>
            <a:r>
              <a:rPr lang="en-US" sz="1200" dirty="0">
                <a:solidFill>
                  <a:srgbClr val="C3CAD6"/>
                </a:solidFill>
                <a:latin typeface="Calibri" pitchFamily="34" charset="0"/>
                <a:ea typeface="Calibri" pitchFamily="34" charset="-122"/>
                <a:cs typeface="Calibri" pitchFamily="34" charset="-120"/>
              </a:rPr>
              <a:t>One preview server per runner, nothing to balance</a:t>
            </a:r>
            <a:endParaRPr lang="en-US" sz="1200" dirty="0"/>
          </a:p>
          <a:p>
            <a:pPr marL="342900" indent="-342900">
              <a:spcAft>
                <a:spcPts val="1000"/>
              </a:spcAft>
              <a:buSzPct val="100000"/>
              <a:buChar char="•"/>
            </a:pPr>
            <a:r>
              <a:rPr lang="en-US" sz="1200" dirty="0">
                <a:solidFill>
                  <a:srgbClr val="F5A524"/>
                </a:solidFill>
                <a:latin typeface="Calibri" pitchFamily="34" charset="0"/>
                <a:ea typeface="Calibri" pitchFamily="34" charset="-122"/>
                <a:cs typeface="Calibri" pitchFamily="34" charset="-120"/>
              </a:rPr>
              <a:t>Costs ~40s up front: discovery needs npm ci before anything starts</a:t>
            </a:r>
            <a:endParaRPr lang="en-US" sz="1200" dirty="0"/>
          </a:p>
          <a:p>
            <a:pPr marL="342900" indent="-342900">
              <a:spcAft>
                <a:spcPts val="1000"/>
              </a:spcAft>
              <a:buSzPct val="100000"/>
              <a:buChar char="•"/>
            </a:pPr>
            <a:r>
              <a:rPr lang="en-US" sz="1200" b="1" dirty="0">
                <a:solidFill>
                  <a:srgbClr val="4ADE80"/>
                </a:solidFill>
                <a:latin typeface="Calibri" pitchFamily="34" charset="0"/>
                <a:ea typeface="Calibri" pitchFamily="34" charset="-122"/>
                <a:cs typeface="Calibri" pitchFamily="34" charset="-120"/>
              </a:rPr>
              <a:t>Measured: 3m 44s on one machine → 1m 53s across three</a:t>
            </a:r>
            <a:endParaRPr lang="en-US" sz="1200" dirty="0"/>
          </a:p>
        </p:txBody>
      </p:sp>
      <p:sp>
        <p:nvSpPr>
          <p:cNvPr id="7" name="Text 5"/>
          <p:cNvSpPr txBox="1"/>
          <p:nvPr/>
        </p:nvSpPr>
        <p:spPr>
          <a:xfrm>
            <a:off x="640080" y="3977640"/>
            <a:ext cx="10881360" cy="365760"/>
          </a:xfrm>
          <a:prstGeom prst="rect">
            <a:avLst/>
          </a:prstGeom>
          <a:noFill/>
          <a:ln/>
        </p:spPr>
        <p:txBody>
          <a:bodyPr wrap="square" lIns="0" tIns="0" rIns="0" bIns="0" rtlCol="0" anchor="ctr"/>
          <a:lstStyle/>
          <a:p>
            <a:pPr indent="0" marL="0">
              <a:buNone/>
            </a:pPr>
            <a:r>
              <a:rPr lang="en-US" sz="1600" b="1" dirty="0">
                <a:solidFill>
                  <a:srgbClr val="F5A524"/>
                </a:solidFill>
                <a:latin typeface="Calibri" pitchFamily="34" charset="0"/>
                <a:ea typeface="Calibri" pitchFamily="34" charset="-122"/>
                <a:cs typeface="Calibri" pitchFamily="34" charset="-120"/>
              </a:rPr>
              <a:t>Why not shard by index?</a:t>
            </a:r>
            <a:endParaRPr lang="en-US" sz="1600" dirty="0"/>
          </a:p>
        </p:txBody>
      </p:sp>
      <p:sp>
        <p:nvSpPr>
          <p:cNvPr id="8" name="Shape 6"/>
          <p:cNvSpPr/>
          <p:nvPr/>
        </p:nvSpPr>
        <p:spPr>
          <a:xfrm>
            <a:off x="640080" y="4434840"/>
            <a:ext cx="3429000" cy="1417320"/>
          </a:xfrm>
          <a:prstGeom prst="roundRect">
            <a:avLst>
              <a:gd name="adj" fmla="val 4516"/>
            </a:avLst>
          </a:prstGeom>
          <a:solidFill>
            <a:srgbClr val="1B2029"/>
          </a:solidFill>
          <a:ln w="12700">
            <a:solidFill>
              <a:srgbClr val="2C3340"/>
            </a:solidFill>
            <a:prstDash val="solid"/>
          </a:ln>
        </p:spPr>
      </p:sp>
      <p:sp>
        <p:nvSpPr>
          <p:cNvPr id="9" name="Text 7"/>
          <p:cNvSpPr txBox="1"/>
          <p:nvPr/>
        </p:nvSpPr>
        <p:spPr>
          <a:xfrm>
            <a:off x="84124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Three servers, not one</a:t>
            </a:r>
            <a:endParaRPr lang="en-US" sz="1400" dirty="0"/>
          </a:p>
        </p:txBody>
      </p:sp>
      <p:sp>
        <p:nvSpPr>
          <p:cNvPr id="10" name="Text 8"/>
          <p:cNvSpPr txBox="1"/>
          <p:nvPr/>
        </p:nvSpPr>
        <p:spPr>
          <a:xfrm>
            <a:off x="84124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A shard spanning apps makes Nx build and boot every app on that runner.</a:t>
            </a:r>
            <a:endParaRPr lang="en-US" sz="1200" dirty="0"/>
          </a:p>
        </p:txBody>
      </p:sp>
      <p:sp>
        <p:nvSpPr>
          <p:cNvPr id="11" name="Shape 9"/>
          <p:cNvSpPr/>
          <p:nvPr/>
        </p:nvSpPr>
        <p:spPr>
          <a:xfrm>
            <a:off x="4343400" y="4434840"/>
            <a:ext cx="3429000" cy="1417320"/>
          </a:xfrm>
          <a:prstGeom prst="roundRect">
            <a:avLst>
              <a:gd name="adj" fmla="val 4516"/>
            </a:avLst>
          </a:prstGeom>
          <a:solidFill>
            <a:srgbClr val="1B2029"/>
          </a:solidFill>
          <a:ln w="12700">
            <a:solidFill>
              <a:srgbClr val="2C3340"/>
            </a:solidFill>
            <a:prstDash val="solid"/>
          </a:ln>
        </p:spPr>
      </p:sp>
      <p:sp>
        <p:nvSpPr>
          <p:cNvPr id="12" name="Text 10"/>
          <p:cNvSpPr txBox="1"/>
          <p:nvPr/>
        </p:nvSpPr>
        <p:spPr>
          <a:xfrm>
            <a:off x="454456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Nothing to rebalance</a:t>
            </a:r>
            <a:endParaRPr lang="en-US" sz="1400" dirty="0"/>
          </a:p>
        </p:txBody>
      </p:sp>
      <p:sp>
        <p:nvSpPr>
          <p:cNvPr id="13" name="Text 11"/>
          <p:cNvSpPr txBox="1"/>
          <p:nvPr/>
        </p:nvSpPr>
        <p:spPr>
          <a:xfrm>
            <a:off x="454456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Similar-sized apps are already even. Slicing them evenly again buys nothing.</a:t>
            </a:r>
            <a:endParaRPr lang="en-US" sz="1200" dirty="0"/>
          </a:p>
        </p:txBody>
      </p:sp>
      <p:sp>
        <p:nvSpPr>
          <p:cNvPr id="14" name="Shape 12"/>
          <p:cNvSpPr/>
          <p:nvPr/>
        </p:nvSpPr>
        <p:spPr>
          <a:xfrm>
            <a:off x="8046720" y="4434840"/>
            <a:ext cx="3429000" cy="1417320"/>
          </a:xfrm>
          <a:prstGeom prst="roundRect">
            <a:avLst>
              <a:gd name="adj" fmla="val 4516"/>
            </a:avLst>
          </a:prstGeom>
          <a:solidFill>
            <a:srgbClr val="1B2029"/>
          </a:solidFill>
          <a:ln w="12700">
            <a:solidFill>
              <a:srgbClr val="2C3340"/>
            </a:solidFill>
            <a:prstDash val="solid"/>
          </a:ln>
        </p:spPr>
      </p:sp>
      <p:sp>
        <p:nvSpPr>
          <p:cNvPr id="15" name="Text 13"/>
          <p:cNvSpPr txBox="1"/>
          <p:nvPr/>
        </p:nvSpPr>
        <p:spPr>
          <a:xfrm>
            <a:off x="824788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run-many is a cross product</a:t>
            </a:r>
            <a:endParaRPr lang="en-US" sz="1400" dirty="0"/>
          </a:p>
        </p:txBody>
      </p:sp>
      <p:sp>
        <p:nvSpPr>
          <p:cNvPr id="16" name="Text 14"/>
          <p:cNvSpPr txBox="1"/>
          <p:nvPr/>
        </p:nvSpPr>
        <p:spPr>
          <a:xfrm>
            <a:off x="824788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shop and admin both have login.cy.ts. A cross-app shard runs the wrong one.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05 · THE CACHE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Run it again. Nothing runs.</a:t>
            </a:r>
            <a:endParaRPr lang="en-US" sz="3800" dirty="0"/>
          </a:p>
        </p:txBody>
      </p:sp>
      <p:sp>
        <p:nvSpPr>
          <p:cNvPr id="4" name="Shape 2"/>
          <p:cNvSpPr/>
          <p:nvPr/>
        </p:nvSpPr>
        <p:spPr>
          <a:xfrm>
            <a:off x="640080" y="1783080"/>
            <a:ext cx="10881360" cy="1700784"/>
          </a:xfrm>
          <a:prstGeom prst="roundRect">
            <a:avLst>
              <a:gd name="adj" fmla="val 3226"/>
            </a:avLst>
          </a:prstGeom>
          <a:solidFill>
            <a:srgbClr val="0A0D13"/>
          </a:solidFill>
          <a:ln w="12700">
            <a:solidFill>
              <a:srgbClr val="2C3340"/>
            </a:solidFill>
            <a:prstDash val="solid"/>
          </a:ln>
        </p:spPr>
      </p:sp>
      <p:sp>
        <p:nvSpPr>
          <p:cNvPr id="5" name="Text 3"/>
          <p:cNvSpPr txBox="1"/>
          <p:nvPr/>
        </p:nvSpPr>
        <p:spPr>
          <a:xfrm>
            <a:off x="868680" y="1984248"/>
            <a:ext cx="10424160" cy="1298448"/>
          </a:xfrm>
          <a:prstGeom prst="rect">
            <a:avLst/>
          </a:prstGeom>
          <a:noFill/>
          <a:ln/>
        </p:spPr>
        <p:txBody>
          <a:bodyPr wrap="square" lIns="0" tIns="0" rIns="0" bIns="0" rtlCol="0" anchor="t"/>
          <a:lstStyle/>
          <a:p>
            <a:pPr indent="0" marL="0">
              <a:lnSpc>
                <a:spcPct val="125000"/>
              </a:lnSpc>
              <a:buNone/>
            </a:pPr>
            <a:r>
              <a:rPr lang="en-US" sz="1600" dirty="0">
                <a:solidFill>
                  <a:srgbClr val="8A94A6"/>
                </a:solidFill>
                <a:latin typeface="Courier New" pitchFamily="34" charset="0"/>
                <a:ea typeface="Courier New" pitchFamily="34" charset="-122"/>
                <a:cs typeface="Courier New" pitchFamily="34" charset="-120"/>
              </a:rPr>
              <a:t>node tools/shard-e2e.mjs --parallel=5    # again, unchanged</a:t>
            </a:r>
            <a:endParaRPr lang="en-US" sz="1600" dirty="0"/>
          </a:p>
          <a:p>
            <a:pPr indent="0" marL="0">
              <a:lnSpc>
                <a:spcPct val="125000"/>
              </a:lnSpc>
              <a:buNone/>
            </a:pP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Run duration:  160ms</a:t>
            </a: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Cache:         11/12 hit (92%)</a:t>
            </a:r>
            <a:endParaRPr lang="en-US" sz="1600" dirty="0"/>
          </a:p>
        </p:txBody>
      </p:sp>
      <p:sp>
        <p:nvSpPr>
          <p:cNvPr id="6" name="Text 4"/>
          <p:cNvSpPr txBox="1"/>
          <p:nvPr/>
        </p:nvSpPr>
        <p:spPr>
          <a:xfrm>
            <a:off x="640080" y="3703320"/>
            <a:ext cx="5120640" cy="822960"/>
          </a:xfrm>
          <a:prstGeom prst="rect">
            <a:avLst/>
          </a:prstGeom>
          <a:noFill/>
          <a:ln/>
        </p:spPr>
        <p:txBody>
          <a:bodyPr wrap="square" lIns="0" tIns="0" rIns="0" bIns="0" rtlCol="0" anchor="ctr"/>
          <a:lstStyle/>
          <a:p>
            <a:pPr indent="0" marL="0">
              <a:buNone/>
            </a:pPr>
            <a:r>
              <a:rPr lang="en-US" sz="4400" b="1" dirty="0">
                <a:solidFill>
                  <a:srgbClr val="4ADE80"/>
                </a:solidFill>
                <a:latin typeface="Cambria" pitchFamily="34" charset="0"/>
                <a:ea typeface="Cambria" pitchFamily="34" charset="-122"/>
                <a:cs typeface="Cambria" pitchFamily="34" charset="-120"/>
              </a:rPr>
              <a:t>40s → 0.16s</a:t>
            </a:r>
            <a:endParaRPr lang="en-US" sz="4400" dirty="0"/>
          </a:p>
        </p:txBody>
      </p:sp>
      <p:sp>
        <p:nvSpPr>
          <p:cNvPr id="7" name="Text 5"/>
          <p:cNvSpPr txBox="1"/>
          <p:nvPr/>
        </p:nvSpPr>
        <p:spPr>
          <a:xfrm>
            <a:off x="5943600" y="3794760"/>
            <a:ext cx="557784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Nx hashed each task: the spec file, the app source it depends on, the Cypress version</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Same hash, so the stored result is replayed instead of recomputed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This is per-machine and on disk in .nx/cache — no account, no network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05 · THE PAYOFF</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retry only runs what failed</a:t>
            </a:r>
            <a:endParaRPr lang="en-US" sz="3800" dirty="0"/>
          </a:p>
        </p:txBody>
      </p:sp>
      <p:sp>
        <p:nvSpPr>
          <p:cNvPr id="4" name="Text 2"/>
          <p:cNvSpPr txBox="1"/>
          <p:nvPr/>
        </p:nvSpPr>
        <p:spPr>
          <a:xfrm>
            <a:off x="640080" y="1691640"/>
            <a:ext cx="10881360" cy="411480"/>
          </a:xfrm>
          <a:prstGeom prst="rect">
            <a:avLst/>
          </a:prstGeom>
          <a:noFill/>
          <a:ln/>
        </p:spPr>
        <p:txBody>
          <a:bodyPr wrap="square" lIns="0" tIns="0" rIns="0" bIns="0" rtlCol="0" anchor="ctr"/>
          <a:lstStyle/>
          <a:p>
            <a:pPr indent="0" marL="0">
              <a:buNone/>
            </a:pPr>
            <a:r>
              <a:rPr lang="en-US" sz="2400" b="1" dirty="0">
                <a:solidFill>
                  <a:srgbClr val="FB7185"/>
                </a:solidFill>
                <a:latin typeface="Cambria" pitchFamily="34" charset="0"/>
                <a:ea typeface="Cambria" pitchFamily="34" charset="-122"/>
                <a:cs typeface="Cambria" pitchFamily="34" charset="-120"/>
              </a:rPr>
              <a:t>Nx never caches a failed task.</a:t>
            </a:r>
            <a:endParaRPr lang="en-US" sz="2400" dirty="0"/>
          </a:p>
        </p:txBody>
      </p:sp>
      <p:sp>
        <p:nvSpPr>
          <p:cNvPr id="5" name="Shape 3"/>
          <p:cNvSpPr/>
          <p:nvPr/>
        </p:nvSpPr>
        <p:spPr>
          <a:xfrm>
            <a:off x="640080" y="2240280"/>
            <a:ext cx="2057400" cy="621792"/>
          </a:xfrm>
          <a:prstGeom prst="roundRect">
            <a:avLst>
              <a:gd name="adj" fmla="val 8824"/>
            </a:avLst>
          </a:prstGeom>
          <a:solidFill>
            <a:srgbClr val="10251A"/>
          </a:solidFill>
          <a:ln w="15240">
            <a:solidFill>
              <a:srgbClr val="4ADE80"/>
            </a:solidFill>
            <a:prstDash val="solid"/>
          </a:ln>
        </p:spPr>
      </p:sp>
      <p:sp>
        <p:nvSpPr>
          <p:cNvPr id="6" name="Text 4"/>
          <p:cNvSpPr txBox="1"/>
          <p:nvPr/>
        </p:nvSpPr>
        <p:spPr>
          <a:xfrm>
            <a:off x="777240"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7" name="Text 5"/>
          <p:cNvSpPr txBox="1"/>
          <p:nvPr/>
        </p:nvSpPr>
        <p:spPr>
          <a:xfrm>
            <a:off x="777240"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catalog</a:t>
            </a:r>
            <a:endParaRPr lang="en-US" sz="1000" dirty="0"/>
          </a:p>
        </p:txBody>
      </p:sp>
      <p:sp>
        <p:nvSpPr>
          <p:cNvPr id="8" name="Shape 6"/>
          <p:cNvSpPr/>
          <p:nvPr/>
        </p:nvSpPr>
        <p:spPr>
          <a:xfrm>
            <a:off x="2852928" y="2240280"/>
            <a:ext cx="2057400" cy="621792"/>
          </a:xfrm>
          <a:prstGeom prst="roundRect">
            <a:avLst>
              <a:gd name="adj" fmla="val 8824"/>
            </a:avLst>
          </a:prstGeom>
          <a:solidFill>
            <a:srgbClr val="10251A"/>
          </a:solidFill>
          <a:ln w="15240">
            <a:solidFill>
              <a:srgbClr val="4ADE80"/>
            </a:solidFill>
            <a:prstDash val="solid"/>
          </a:ln>
        </p:spPr>
      </p:sp>
      <p:sp>
        <p:nvSpPr>
          <p:cNvPr id="9" name="Text 7"/>
          <p:cNvSpPr txBox="1"/>
          <p:nvPr/>
        </p:nvSpPr>
        <p:spPr>
          <a:xfrm>
            <a:off x="2990088"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0" name="Text 8"/>
          <p:cNvSpPr txBox="1"/>
          <p:nvPr/>
        </p:nvSpPr>
        <p:spPr>
          <a:xfrm>
            <a:off x="2990088"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search</a:t>
            </a:r>
            <a:endParaRPr lang="en-US" sz="1000" dirty="0"/>
          </a:p>
        </p:txBody>
      </p:sp>
      <p:sp>
        <p:nvSpPr>
          <p:cNvPr id="11" name="Shape 9"/>
          <p:cNvSpPr/>
          <p:nvPr/>
        </p:nvSpPr>
        <p:spPr>
          <a:xfrm>
            <a:off x="5065776" y="2240280"/>
            <a:ext cx="2057400" cy="621792"/>
          </a:xfrm>
          <a:prstGeom prst="roundRect">
            <a:avLst>
              <a:gd name="adj" fmla="val 8824"/>
            </a:avLst>
          </a:prstGeom>
          <a:solidFill>
            <a:srgbClr val="10251A"/>
          </a:solidFill>
          <a:ln w="15240">
            <a:solidFill>
              <a:srgbClr val="4ADE80"/>
            </a:solidFill>
            <a:prstDash val="solid"/>
          </a:ln>
        </p:spPr>
      </p:sp>
      <p:sp>
        <p:nvSpPr>
          <p:cNvPr id="12" name="Text 10"/>
          <p:cNvSpPr txBox="1"/>
          <p:nvPr/>
        </p:nvSpPr>
        <p:spPr>
          <a:xfrm>
            <a:off x="5202936"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3" name="Text 11"/>
          <p:cNvSpPr txBox="1"/>
          <p:nvPr/>
        </p:nvSpPr>
        <p:spPr>
          <a:xfrm>
            <a:off x="5202936"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filters</a:t>
            </a:r>
            <a:endParaRPr lang="en-US" sz="1000" dirty="0"/>
          </a:p>
        </p:txBody>
      </p:sp>
      <p:sp>
        <p:nvSpPr>
          <p:cNvPr id="14" name="Shape 12"/>
          <p:cNvSpPr/>
          <p:nvPr/>
        </p:nvSpPr>
        <p:spPr>
          <a:xfrm>
            <a:off x="7278624" y="2240280"/>
            <a:ext cx="2057400" cy="621792"/>
          </a:xfrm>
          <a:prstGeom prst="roundRect">
            <a:avLst>
              <a:gd name="adj" fmla="val 8824"/>
            </a:avLst>
          </a:prstGeom>
          <a:solidFill>
            <a:srgbClr val="10251A"/>
          </a:solidFill>
          <a:ln w="15240">
            <a:solidFill>
              <a:srgbClr val="4ADE80"/>
            </a:solidFill>
            <a:prstDash val="solid"/>
          </a:ln>
        </p:spPr>
      </p:sp>
      <p:sp>
        <p:nvSpPr>
          <p:cNvPr id="15" name="Text 13"/>
          <p:cNvSpPr txBox="1"/>
          <p:nvPr/>
        </p:nvSpPr>
        <p:spPr>
          <a:xfrm>
            <a:off x="7415784"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6" name="Text 14"/>
          <p:cNvSpPr txBox="1"/>
          <p:nvPr/>
        </p:nvSpPr>
        <p:spPr>
          <a:xfrm>
            <a:off x="7415784"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product-detail</a:t>
            </a:r>
            <a:endParaRPr lang="en-US" sz="1000" dirty="0"/>
          </a:p>
        </p:txBody>
      </p:sp>
      <p:sp>
        <p:nvSpPr>
          <p:cNvPr id="17" name="Shape 15"/>
          <p:cNvSpPr/>
          <p:nvPr/>
        </p:nvSpPr>
        <p:spPr>
          <a:xfrm>
            <a:off x="9491472" y="2240280"/>
            <a:ext cx="2057400" cy="621792"/>
          </a:xfrm>
          <a:prstGeom prst="roundRect">
            <a:avLst>
              <a:gd name="adj" fmla="val 8824"/>
            </a:avLst>
          </a:prstGeom>
          <a:solidFill>
            <a:srgbClr val="10251A"/>
          </a:solidFill>
          <a:ln w="15240">
            <a:solidFill>
              <a:srgbClr val="4ADE80"/>
            </a:solidFill>
            <a:prstDash val="solid"/>
          </a:ln>
        </p:spPr>
      </p:sp>
      <p:sp>
        <p:nvSpPr>
          <p:cNvPr id="18" name="Text 16"/>
          <p:cNvSpPr txBox="1"/>
          <p:nvPr/>
        </p:nvSpPr>
        <p:spPr>
          <a:xfrm>
            <a:off x="9628632"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9" name="Text 17"/>
          <p:cNvSpPr txBox="1"/>
          <p:nvPr/>
        </p:nvSpPr>
        <p:spPr>
          <a:xfrm>
            <a:off x="9628632"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cart-add</a:t>
            </a:r>
            <a:endParaRPr lang="en-US" sz="1000" dirty="0"/>
          </a:p>
        </p:txBody>
      </p:sp>
      <p:sp>
        <p:nvSpPr>
          <p:cNvPr id="20" name="Shape 18"/>
          <p:cNvSpPr/>
          <p:nvPr/>
        </p:nvSpPr>
        <p:spPr>
          <a:xfrm>
            <a:off x="640080" y="3017520"/>
            <a:ext cx="2057400" cy="621792"/>
          </a:xfrm>
          <a:prstGeom prst="roundRect">
            <a:avLst>
              <a:gd name="adj" fmla="val 8824"/>
            </a:avLst>
          </a:prstGeom>
          <a:solidFill>
            <a:srgbClr val="2A1116"/>
          </a:solidFill>
          <a:ln w="15240">
            <a:solidFill>
              <a:srgbClr val="FB7185"/>
            </a:solidFill>
            <a:prstDash val="solid"/>
          </a:ln>
        </p:spPr>
      </p:sp>
      <p:sp>
        <p:nvSpPr>
          <p:cNvPr id="21" name="Text 19"/>
          <p:cNvSpPr txBox="1"/>
          <p:nvPr/>
        </p:nvSpPr>
        <p:spPr>
          <a:xfrm>
            <a:off x="777240"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22" name="Text 20"/>
          <p:cNvSpPr txBox="1"/>
          <p:nvPr/>
        </p:nvSpPr>
        <p:spPr>
          <a:xfrm>
            <a:off x="777240"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cart-totals</a:t>
            </a:r>
            <a:endParaRPr lang="en-US" sz="1000" dirty="0"/>
          </a:p>
        </p:txBody>
      </p:sp>
      <p:sp>
        <p:nvSpPr>
          <p:cNvPr id="23" name="Shape 21"/>
          <p:cNvSpPr/>
          <p:nvPr/>
        </p:nvSpPr>
        <p:spPr>
          <a:xfrm>
            <a:off x="2852928" y="3017520"/>
            <a:ext cx="2057400" cy="621792"/>
          </a:xfrm>
          <a:prstGeom prst="roundRect">
            <a:avLst>
              <a:gd name="adj" fmla="val 8824"/>
            </a:avLst>
          </a:prstGeom>
          <a:solidFill>
            <a:srgbClr val="10251A"/>
          </a:solidFill>
          <a:ln w="15240">
            <a:solidFill>
              <a:srgbClr val="4ADE80"/>
            </a:solidFill>
            <a:prstDash val="solid"/>
          </a:ln>
        </p:spPr>
      </p:sp>
      <p:sp>
        <p:nvSpPr>
          <p:cNvPr id="24" name="Text 22"/>
          <p:cNvSpPr txBox="1"/>
          <p:nvPr/>
        </p:nvSpPr>
        <p:spPr>
          <a:xfrm>
            <a:off x="2990088"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5" name="Text 23"/>
          <p:cNvSpPr txBox="1"/>
          <p:nvPr/>
        </p:nvSpPr>
        <p:spPr>
          <a:xfrm>
            <a:off x="2990088"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login</a:t>
            </a:r>
            <a:endParaRPr lang="en-US" sz="1000" dirty="0"/>
          </a:p>
        </p:txBody>
      </p:sp>
      <p:sp>
        <p:nvSpPr>
          <p:cNvPr id="26" name="Shape 24"/>
          <p:cNvSpPr/>
          <p:nvPr/>
        </p:nvSpPr>
        <p:spPr>
          <a:xfrm>
            <a:off x="5065776" y="3017520"/>
            <a:ext cx="2057400" cy="621792"/>
          </a:xfrm>
          <a:prstGeom prst="roundRect">
            <a:avLst>
              <a:gd name="adj" fmla="val 8824"/>
            </a:avLst>
          </a:prstGeom>
          <a:solidFill>
            <a:srgbClr val="10251A"/>
          </a:solidFill>
          <a:ln w="15240">
            <a:solidFill>
              <a:srgbClr val="4ADE80"/>
            </a:solidFill>
            <a:prstDash val="solid"/>
          </a:ln>
        </p:spPr>
      </p:sp>
      <p:sp>
        <p:nvSpPr>
          <p:cNvPr id="27" name="Text 25"/>
          <p:cNvSpPr txBox="1"/>
          <p:nvPr/>
        </p:nvSpPr>
        <p:spPr>
          <a:xfrm>
            <a:off x="5202936"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8" name="Text 26"/>
          <p:cNvSpPr txBox="1"/>
          <p:nvPr/>
        </p:nvSpPr>
        <p:spPr>
          <a:xfrm>
            <a:off x="5202936"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checkout-validation</a:t>
            </a:r>
            <a:endParaRPr lang="en-US" sz="1000" dirty="0"/>
          </a:p>
        </p:txBody>
      </p:sp>
      <p:sp>
        <p:nvSpPr>
          <p:cNvPr id="29" name="Shape 27"/>
          <p:cNvSpPr/>
          <p:nvPr/>
        </p:nvSpPr>
        <p:spPr>
          <a:xfrm>
            <a:off x="7278624" y="3017520"/>
            <a:ext cx="2057400" cy="621792"/>
          </a:xfrm>
          <a:prstGeom prst="roundRect">
            <a:avLst>
              <a:gd name="adj" fmla="val 8824"/>
            </a:avLst>
          </a:prstGeom>
          <a:solidFill>
            <a:srgbClr val="2A1116"/>
          </a:solidFill>
          <a:ln w="15240">
            <a:solidFill>
              <a:srgbClr val="FB7185"/>
            </a:solidFill>
            <a:prstDash val="solid"/>
          </a:ln>
        </p:spPr>
      </p:sp>
      <p:sp>
        <p:nvSpPr>
          <p:cNvPr id="30" name="Text 28"/>
          <p:cNvSpPr txBox="1"/>
          <p:nvPr/>
        </p:nvSpPr>
        <p:spPr>
          <a:xfrm>
            <a:off x="7415784"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31" name="Text 29"/>
          <p:cNvSpPr txBox="1"/>
          <p:nvPr/>
        </p:nvSpPr>
        <p:spPr>
          <a:xfrm>
            <a:off x="7415784"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checkout-happy-path</a:t>
            </a:r>
            <a:endParaRPr lang="en-US" sz="1000" dirty="0"/>
          </a:p>
        </p:txBody>
      </p:sp>
      <p:sp>
        <p:nvSpPr>
          <p:cNvPr id="32" name="Shape 30"/>
          <p:cNvSpPr/>
          <p:nvPr/>
        </p:nvSpPr>
        <p:spPr>
          <a:xfrm>
            <a:off x="9491472" y="3017520"/>
            <a:ext cx="2057400" cy="621792"/>
          </a:xfrm>
          <a:prstGeom prst="roundRect">
            <a:avLst>
              <a:gd name="adj" fmla="val 8824"/>
            </a:avLst>
          </a:prstGeom>
          <a:solidFill>
            <a:srgbClr val="10251A"/>
          </a:solidFill>
          <a:ln w="15240">
            <a:solidFill>
              <a:srgbClr val="4ADE80"/>
            </a:solidFill>
            <a:prstDash val="solid"/>
          </a:ln>
        </p:spPr>
      </p:sp>
      <p:sp>
        <p:nvSpPr>
          <p:cNvPr id="33" name="Text 31"/>
          <p:cNvSpPr txBox="1"/>
          <p:nvPr/>
        </p:nvSpPr>
        <p:spPr>
          <a:xfrm>
            <a:off x="9628632"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34" name="Text 32"/>
          <p:cNvSpPr txBox="1"/>
          <p:nvPr/>
        </p:nvSpPr>
        <p:spPr>
          <a:xfrm>
            <a:off x="9628632"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orders</a:t>
            </a:r>
            <a:endParaRPr lang="en-US" sz="1000" dirty="0"/>
          </a:p>
        </p:txBody>
      </p:sp>
      <p:sp>
        <p:nvSpPr>
          <p:cNvPr id="35" name="Text 33"/>
          <p:cNvSpPr txBox="1"/>
          <p:nvPr/>
        </p:nvSpPr>
        <p:spPr>
          <a:xfrm>
            <a:off x="640080" y="39776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No test-name bookkeeping. No --only-failures flag. No plugin. A cache that stores successes gives you failure-only retries for free — locally and on CI.</a:t>
            </a:r>
            <a:endParaRPr lang="en-US" sz="1500" dirty="0"/>
          </a:p>
        </p:txBody>
      </p:sp>
      <p:sp>
        <p:nvSpPr>
          <p:cNvPr id="36" name="Shape 34"/>
          <p:cNvSpPr/>
          <p:nvPr/>
        </p:nvSpPr>
        <p:spPr>
          <a:xfrm>
            <a:off x="640080" y="4709160"/>
            <a:ext cx="3429000" cy="1463040"/>
          </a:xfrm>
          <a:prstGeom prst="roundRect">
            <a:avLst>
              <a:gd name="adj" fmla="val 4375"/>
            </a:avLst>
          </a:prstGeom>
          <a:solidFill>
            <a:srgbClr val="1B2029"/>
          </a:solidFill>
          <a:ln w="12700">
            <a:solidFill>
              <a:srgbClr val="2C3340"/>
            </a:solidFill>
            <a:prstDash val="solid"/>
          </a:ln>
        </p:spPr>
      </p:sp>
      <p:sp>
        <p:nvSpPr>
          <p:cNvPr id="37" name="Text 35"/>
          <p:cNvSpPr txBox="1"/>
          <p:nvPr/>
        </p:nvSpPr>
        <p:spPr>
          <a:xfrm>
            <a:off x="841248" y="4892040"/>
            <a:ext cx="3026664" cy="685800"/>
          </a:xfrm>
          <a:prstGeom prst="rect">
            <a:avLst/>
          </a:prstGeom>
          <a:noFill/>
          <a:ln/>
        </p:spPr>
        <p:txBody>
          <a:bodyPr wrap="square" lIns="0" tIns="0" rIns="0" bIns="0" rtlCol="0" anchor="ctr"/>
          <a:lstStyle/>
          <a:p>
            <a:pPr indent="0" marL="0">
              <a:buNone/>
            </a:pPr>
            <a:r>
              <a:rPr lang="en-US" sz="4000" b="1" dirty="0">
                <a:solidFill>
                  <a:srgbClr val="F5A524"/>
                </a:solidFill>
                <a:latin typeface="Cambria" pitchFamily="34" charset="0"/>
                <a:ea typeface="Cambria" pitchFamily="34" charset="-122"/>
                <a:cs typeface="Cambria" pitchFamily="34" charset="-120"/>
              </a:rPr>
              <a:t>37s</a:t>
            </a:r>
            <a:endParaRPr lang="en-US" sz="4000" dirty="0"/>
          </a:p>
        </p:txBody>
      </p:sp>
      <p:sp>
        <p:nvSpPr>
          <p:cNvPr id="38" name="Text 36"/>
          <p:cNvSpPr txBox="1"/>
          <p:nvPr/>
        </p:nvSpPr>
        <p:spPr>
          <a:xfrm>
            <a:off x="84124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First run, 2 specs fail</a:t>
            </a:r>
            <a:endParaRPr lang="en-US" sz="1300" dirty="0"/>
          </a:p>
        </p:txBody>
      </p:sp>
      <p:sp>
        <p:nvSpPr>
          <p:cNvPr id="39" name="Shape 37"/>
          <p:cNvSpPr/>
          <p:nvPr/>
        </p:nvSpPr>
        <p:spPr>
          <a:xfrm>
            <a:off x="4343400" y="4709160"/>
            <a:ext cx="3429000" cy="1463040"/>
          </a:xfrm>
          <a:prstGeom prst="roundRect">
            <a:avLst>
              <a:gd name="adj" fmla="val 4375"/>
            </a:avLst>
          </a:prstGeom>
          <a:solidFill>
            <a:srgbClr val="1B2029"/>
          </a:solidFill>
          <a:ln w="12700">
            <a:solidFill>
              <a:srgbClr val="2C3340"/>
            </a:solidFill>
            <a:prstDash val="solid"/>
          </a:ln>
        </p:spPr>
      </p:sp>
      <p:sp>
        <p:nvSpPr>
          <p:cNvPr id="40" name="Text 38"/>
          <p:cNvSpPr txBox="1"/>
          <p:nvPr/>
        </p:nvSpPr>
        <p:spPr>
          <a:xfrm>
            <a:off x="4544568" y="4892040"/>
            <a:ext cx="3026664" cy="685800"/>
          </a:xfrm>
          <a:prstGeom prst="rect">
            <a:avLst/>
          </a:prstGeom>
          <a:noFill/>
          <a:ln/>
        </p:spPr>
        <p:txBody>
          <a:bodyPr wrap="square" lIns="0" tIns="0" rIns="0" bIns="0" rtlCol="0" anchor="ctr"/>
          <a:lstStyle/>
          <a:p>
            <a:pPr indent="0" marL="0">
              <a:buNone/>
            </a:pPr>
            <a:r>
              <a:rPr lang="en-US" sz="4000" b="1" dirty="0">
                <a:solidFill>
                  <a:srgbClr val="4ADE80"/>
                </a:solidFill>
                <a:latin typeface="Cambria" pitchFamily="34" charset="0"/>
                <a:ea typeface="Cambria" pitchFamily="34" charset="-122"/>
                <a:cs typeface="Cambria" pitchFamily="34" charset="-120"/>
              </a:rPr>
              <a:t>28s</a:t>
            </a:r>
            <a:endParaRPr lang="en-US" sz="4000" dirty="0"/>
          </a:p>
        </p:txBody>
      </p:sp>
      <p:sp>
        <p:nvSpPr>
          <p:cNvPr id="41" name="Text 39"/>
          <p:cNvSpPr txBox="1"/>
          <p:nvPr/>
        </p:nvSpPr>
        <p:spPr>
          <a:xfrm>
            <a:off x="454456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Retry: 9 of 10 replayed</a:t>
            </a:r>
            <a:endParaRPr lang="en-US" sz="1300" dirty="0"/>
          </a:p>
        </p:txBody>
      </p:sp>
      <p:sp>
        <p:nvSpPr>
          <p:cNvPr id="42" name="Shape 40"/>
          <p:cNvSpPr/>
          <p:nvPr/>
        </p:nvSpPr>
        <p:spPr>
          <a:xfrm>
            <a:off x="8046720" y="4709160"/>
            <a:ext cx="3429000" cy="1463040"/>
          </a:xfrm>
          <a:prstGeom prst="roundRect">
            <a:avLst>
              <a:gd name="adj" fmla="val 4375"/>
            </a:avLst>
          </a:prstGeom>
          <a:solidFill>
            <a:srgbClr val="1B2029"/>
          </a:solidFill>
          <a:ln w="12700">
            <a:solidFill>
              <a:srgbClr val="2C3340"/>
            </a:solidFill>
            <a:prstDash val="solid"/>
          </a:ln>
        </p:spPr>
      </p:sp>
      <p:sp>
        <p:nvSpPr>
          <p:cNvPr id="43" name="Text 41"/>
          <p:cNvSpPr txBox="1"/>
          <p:nvPr/>
        </p:nvSpPr>
        <p:spPr>
          <a:xfrm>
            <a:off x="8247888" y="4892040"/>
            <a:ext cx="3026664" cy="685800"/>
          </a:xfrm>
          <a:prstGeom prst="rect">
            <a:avLst/>
          </a:prstGeom>
          <a:noFill/>
          <a:ln/>
        </p:spPr>
        <p:txBody>
          <a:bodyPr wrap="square" lIns="0" tIns="0" rIns="0" bIns="0" rtlCol="0" anchor="ctr"/>
          <a:lstStyle/>
          <a:p>
            <a:pPr indent="0" marL="0">
              <a:buNone/>
            </a:pPr>
            <a:r>
              <a:rPr lang="en-US" sz="4000" b="1" dirty="0">
                <a:solidFill>
                  <a:srgbClr val="FB7185"/>
                </a:solidFill>
                <a:latin typeface="Cambria" pitchFamily="34" charset="0"/>
                <a:ea typeface="Cambria" pitchFamily="34" charset="-122"/>
                <a:cs typeface="Cambria" pitchFamily="34" charset="-120"/>
              </a:rPr>
              <a:t>2</a:t>
            </a:r>
            <a:endParaRPr lang="en-US" sz="4000" dirty="0"/>
          </a:p>
        </p:txBody>
      </p:sp>
      <p:sp>
        <p:nvSpPr>
          <p:cNvPr id="44" name="Text 42"/>
          <p:cNvSpPr txBox="1"/>
          <p:nvPr/>
        </p:nvSpPr>
        <p:spPr>
          <a:xfrm>
            <a:off x="824788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Specs that actually ran</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05 · THE BIT THAT SURPRISES PEOPLE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The cache is content-addressed</a:t>
            </a:r>
            <a:endParaRPr lang="en-US" sz="3800" dirty="0"/>
          </a:p>
        </p:txBody>
      </p:sp>
      <p:sp>
        <p:nvSpPr>
          <p:cNvPr id="4" name="Shape 2"/>
          <p:cNvSpPr/>
          <p:nvPr/>
        </p:nvSpPr>
        <p:spPr>
          <a:xfrm>
            <a:off x="640080" y="2011680"/>
            <a:ext cx="3429000" cy="2148840"/>
          </a:xfrm>
          <a:prstGeom prst="roundRect">
            <a:avLst>
              <a:gd name="adj" fmla="val 2979"/>
            </a:avLst>
          </a:prstGeom>
          <a:solidFill>
            <a:srgbClr val="FFFFFF"/>
          </a:solidFill>
          <a:ln w="12700">
            <a:solidFill>
              <a:srgbClr val="DFE4EC"/>
            </a:solidFill>
            <a:prstDash val="solid"/>
          </a:ln>
        </p:spPr>
      </p:sp>
      <p:sp>
        <p:nvSpPr>
          <p:cNvPr id="5" name="Text 3"/>
          <p:cNvSpPr txBox="1"/>
          <p:nvPr/>
        </p:nvSpPr>
        <p:spPr>
          <a:xfrm>
            <a:off x="86868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1</a:t>
            </a:r>
            <a:endParaRPr lang="en-US" sz="1800" dirty="0"/>
          </a:p>
        </p:txBody>
      </p:sp>
      <p:sp>
        <p:nvSpPr>
          <p:cNvPr id="6" name="Text 4"/>
          <p:cNvSpPr txBox="1"/>
          <p:nvPr/>
        </p:nvSpPr>
        <p:spPr>
          <a:xfrm>
            <a:off x="86868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Green suite</a:t>
            </a:r>
            <a:endParaRPr lang="en-US" sz="1700" dirty="0"/>
          </a:p>
        </p:txBody>
      </p:sp>
      <p:sp>
        <p:nvSpPr>
          <p:cNvPr id="7" name="Text 5"/>
          <p:cNvSpPr txBox="1"/>
          <p:nvPr/>
        </p:nvSpPr>
        <p:spPr>
          <a:xfrm>
            <a:off x="86868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a:t>
            </a:r>
            <a:endParaRPr lang="en-US" sz="1300" dirty="0"/>
          </a:p>
        </p:txBody>
      </p:sp>
      <p:sp>
        <p:nvSpPr>
          <p:cNvPr id="8" name="Text 6"/>
          <p:cNvSpPr txBox="1"/>
          <p:nvPr/>
        </p:nvSpPr>
        <p:spPr>
          <a:xfrm>
            <a:off x="86868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cached</a:t>
            </a:r>
            <a:endParaRPr lang="en-US" sz="1300" dirty="0"/>
          </a:p>
        </p:txBody>
      </p:sp>
      <p:sp>
        <p:nvSpPr>
          <p:cNvPr id="9" name="Shape 7"/>
          <p:cNvSpPr/>
          <p:nvPr/>
        </p:nvSpPr>
        <p:spPr>
          <a:xfrm>
            <a:off x="4343400" y="2011680"/>
            <a:ext cx="3429000" cy="2148840"/>
          </a:xfrm>
          <a:prstGeom prst="roundRect">
            <a:avLst>
              <a:gd name="adj" fmla="val 2979"/>
            </a:avLst>
          </a:prstGeom>
          <a:solidFill>
            <a:srgbClr val="FFFFFF"/>
          </a:solidFill>
          <a:ln w="12700">
            <a:solidFill>
              <a:srgbClr val="DFE4EC"/>
            </a:solidFill>
            <a:prstDash val="solid"/>
          </a:ln>
        </p:spPr>
      </p:sp>
      <p:sp>
        <p:nvSpPr>
          <p:cNvPr id="10" name="Text 8"/>
          <p:cNvSpPr txBox="1"/>
          <p:nvPr/>
        </p:nvSpPr>
        <p:spPr>
          <a:xfrm>
            <a:off x="4572000" y="2194560"/>
            <a:ext cx="457200" cy="365760"/>
          </a:xfrm>
          <a:prstGeom prst="rect">
            <a:avLst/>
          </a:prstGeom>
          <a:noFill/>
          <a:ln/>
        </p:spPr>
        <p:txBody>
          <a:bodyPr wrap="square" lIns="0" tIns="0" rIns="0" bIns="0" rtlCol="0" anchor="ctr"/>
          <a:lstStyle/>
          <a:p>
            <a:pPr indent="0" marL="0">
              <a:buNone/>
            </a:pPr>
            <a:r>
              <a:rPr lang="en-US" sz="1800" b="1" dirty="0">
                <a:solidFill>
                  <a:srgbClr val="FB7185"/>
                </a:solidFill>
                <a:latin typeface="Courier New" pitchFamily="34" charset="0"/>
                <a:ea typeface="Courier New" pitchFamily="34" charset="-122"/>
                <a:cs typeface="Courier New" pitchFamily="34" charset="-120"/>
              </a:rPr>
              <a:t>2</a:t>
            </a:r>
            <a:endParaRPr lang="en-US" sz="1800" dirty="0"/>
          </a:p>
        </p:txBody>
      </p:sp>
      <p:sp>
        <p:nvSpPr>
          <p:cNvPr id="11" name="Text 9"/>
          <p:cNvSpPr txBox="1"/>
          <p:nvPr/>
        </p:nvSpPr>
        <p:spPr>
          <a:xfrm>
            <a:off x="457200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Seed the bug</a:t>
            </a:r>
            <a:endParaRPr lang="en-US" sz="1700" dirty="0"/>
          </a:p>
        </p:txBody>
      </p:sp>
      <p:sp>
        <p:nvSpPr>
          <p:cNvPr id="12" name="Text 10"/>
          <p:cNvSpPr txBox="1"/>
          <p:nvPr/>
        </p:nvSpPr>
        <p:spPr>
          <a:xfrm>
            <a:off x="457200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B</a:t>
            </a:r>
            <a:endParaRPr lang="en-US" sz="1300" dirty="0"/>
          </a:p>
        </p:txBody>
      </p:sp>
      <p:sp>
        <p:nvSpPr>
          <p:cNvPr id="13" name="Text 11"/>
          <p:cNvSpPr txBox="1"/>
          <p:nvPr/>
        </p:nvSpPr>
        <p:spPr>
          <a:xfrm>
            <a:off x="4572000" y="3401568"/>
            <a:ext cx="2971800" cy="548640"/>
          </a:xfrm>
          <a:prstGeom prst="rect">
            <a:avLst/>
          </a:prstGeom>
          <a:noFill/>
          <a:ln/>
        </p:spPr>
        <p:txBody>
          <a:bodyPr wrap="square" lIns="0" tIns="0" rIns="0" bIns="0" rtlCol="0" anchor="ctr"/>
          <a:lstStyle/>
          <a:p>
            <a:pPr indent="0" marL="0">
              <a:buNone/>
            </a:pPr>
            <a:r>
              <a:rPr lang="en-US" sz="1300" b="1" dirty="0">
                <a:solidFill>
                  <a:srgbClr val="FB7185"/>
                </a:solidFill>
                <a:latin typeface="Calibri" pitchFamily="34" charset="0"/>
                <a:ea typeface="Calibri" pitchFamily="34" charset="-122"/>
                <a:cs typeface="Calibri" pitchFamily="34" charset="-120"/>
              </a:rPr>
              <a:t>2 fail, 8 cached at B</a:t>
            </a:r>
            <a:endParaRPr lang="en-US" sz="1300" dirty="0"/>
          </a:p>
        </p:txBody>
      </p:sp>
      <p:sp>
        <p:nvSpPr>
          <p:cNvPr id="14" name="Shape 12"/>
          <p:cNvSpPr/>
          <p:nvPr/>
        </p:nvSpPr>
        <p:spPr>
          <a:xfrm>
            <a:off x="8046720" y="2011680"/>
            <a:ext cx="3429000" cy="2148840"/>
          </a:xfrm>
          <a:prstGeom prst="roundRect">
            <a:avLst>
              <a:gd name="adj" fmla="val 2979"/>
            </a:avLst>
          </a:prstGeom>
          <a:solidFill>
            <a:srgbClr val="FFFFFF"/>
          </a:solidFill>
          <a:ln w="12700">
            <a:solidFill>
              <a:srgbClr val="DFE4EC"/>
            </a:solidFill>
            <a:prstDash val="solid"/>
          </a:ln>
        </p:spPr>
      </p:sp>
      <p:sp>
        <p:nvSpPr>
          <p:cNvPr id="15" name="Text 13"/>
          <p:cNvSpPr txBox="1"/>
          <p:nvPr/>
        </p:nvSpPr>
        <p:spPr>
          <a:xfrm>
            <a:off x="827532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3</a:t>
            </a:r>
            <a:endParaRPr lang="en-US" sz="1800" dirty="0"/>
          </a:p>
        </p:txBody>
      </p:sp>
      <p:sp>
        <p:nvSpPr>
          <p:cNvPr id="16" name="Text 14"/>
          <p:cNvSpPr txBox="1"/>
          <p:nvPr/>
        </p:nvSpPr>
        <p:spPr>
          <a:xfrm>
            <a:off x="827532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Revert the bug</a:t>
            </a:r>
            <a:endParaRPr lang="en-US" sz="1700" dirty="0"/>
          </a:p>
        </p:txBody>
      </p:sp>
      <p:sp>
        <p:nvSpPr>
          <p:cNvPr id="17" name="Text 15"/>
          <p:cNvSpPr txBox="1"/>
          <p:nvPr/>
        </p:nvSpPr>
        <p:spPr>
          <a:xfrm>
            <a:off x="827532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 again</a:t>
            </a:r>
            <a:endParaRPr lang="en-US" sz="1300" dirty="0"/>
          </a:p>
        </p:txBody>
      </p:sp>
      <p:sp>
        <p:nvSpPr>
          <p:cNvPr id="18" name="Text 16"/>
          <p:cNvSpPr txBox="1"/>
          <p:nvPr/>
        </p:nvSpPr>
        <p:spPr>
          <a:xfrm>
            <a:off x="827532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all 10 replay — 226ms</a:t>
            </a:r>
            <a:endParaRPr lang="en-US" sz="1300" dirty="0"/>
          </a:p>
        </p:txBody>
      </p:sp>
      <p:sp>
        <p:nvSpPr>
          <p:cNvPr id="19" name="Text 17"/>
          <p:cNvSpPr txBox="1"/>
          <p:nvPr/>
        </p:nvSpPr>
        <p:spPr>
          <a:xfrm>
            <a:off x="640080" y="4434840"/>
            <a:ext cx="10881360" cy="548640"/>
          </a:xfrm>
          <a:prstGeom prst="rect">
            <a:avLst/>
          </a:prstGeom>
          <a:noFill/>
          <a:ln/>
        </p:spPr>
        <p:txBody>
          <a:bodyPr wrap="square" lIns="0" tIns="0" rIns="0" bIns="0" rtlCol="0" anchor="ctr"/>
          <a:lstStyle/>
          <a:p>
            <a:pPr indent="0" marL="0">
              <a:buNone/>
            </a:pPr>
            <a:r>
              <a:rPr lang="en-US" sz="1500" dirty="0">
                <a:solidFill>
                  <a:srgbClr val="55607A"/>
                </a:solidFill>
                <a:latin typeface="Calibri" pitchFamily="34" charset="0"/>
                <a:ea typeface="Calibri" pitchFamily="34" charset="-122"/>
                <a:cs typeface="Calibri" pitchFamily="34" charset="-120"/>
              </a:rPr>
              <a:t>Undoing a change gives you your old results back. Nothing re-runs, because Nx already knows the answer for that exact input.</a:t>
            </a:r>
            <a:endParaRPr lang="en-US" sz="1500" dirty="0"/>
          </a:p>
        </p:txBody>
      </p:sp>
      <p:sp>
        <p:nvSpPr>
          <p:cNvPr id="20" name="Shape 18"/>
          <p:cNvSpPr/>
          <p:nvPr/>
        </p:nvSpPr>
        <p:spPr>
          <a:xfrm>
            <a:off x="640080" y="5074920"/>
            <a:ext cx="10881360" cy="914400"/>
          </a:xfrm>
          <a:prstGeom prst="roundRect">
            <a:avLst>
              <a:gd name="adj" fmla="val 7000"/>
            </a:avLst>
          </a:prstGeom>
          <a:solidFill>
            <a:srgbClr val="F0F5FF"/>
          </a:solidFill>
          <a:ln w="12700">
            <a:solidFill>
              <a:srgbClr val="9CC0F5"/>
            </a:solidFill>
            <a:prstDash val="solid"/>
          </a:ln>
        </p:spPr>
      </p:sp>
      <p:sp>
        <p:nvSpPr>
          <p:cNvPr id="21" name="Text 19"/>
          <p:cNvSpPr txBox="1"/>
          <p:nvPr/>
        </p:nvSpPr>
        <p:spPr>
          <a:xfrm>
            <a:off x="914400" y="5257800"/>
            <a:ext cx="10332720" cy="594360"/>
          </a:xfrm>
          <a:prstGeom prst="rect">
            <a:avLst/>
          </a:prstGeom>
          <a:noFill/>
          <a:ln/>
        </p:spPr>
        <p:txBody>
          <a:bodyPr wrap="square" lIns="0" tIns="0" rIns="0" bIns="0" rtlCol="0" anchor="ctr"/>
          <a:lstStyle/>
          <a:p>
            <a:pPr indent="0" marL="0">
              <a:buNone/>
            </a:pPr>
            <a:r>
              <a:rPr lang="en-US" sz="1400" dirty="0">
                <a:solidFill>
                  <a:srgbClr val="1D3F73"/>
                </a:solidFill>
                <a:latin typeface="Calibri" pitchFamily="34" charset="0"/>
                <a:ea typeface="Calibri" pitchFamily="34" charset="-122"/>
                <a:cs typeface="Calibri" pitchFamily="34" charset="-120"/>
              </a:rPr>
              <a:t>The flip side: touch libs/ui and both admin and docs invalidate — correctly. But the key is built from inputs, not from the commit, so a change outside the graph costs nothing.</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THE NUMBERS</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Climb only as far as you need</a:t>
            </a:r>
            <a:endParaRPr lang="en-US" sz="3800" dirty="0"/>
          </a:p>
        </p:txBody>
      </p:sp>
      <p:sp>
        <p:nvSpPr>
          <p:cNvPr id="4" name="Text 2"/>
          <p:cNvSpPr txBox="1"/>
          <p:nvPr/>
        </p:nvSpPr>
        <p:spPr>
          <a:xfrm>
            <a:off x="640080" y="1920240"/>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1</a:t>
            </a:r>
            <a:endParaRPr lang="en-US" sz="1500" dirty="0"/>
          </a:p>
        </p:txBody>
      </p:sp>
      <p:sp>
        <p:nvSpPr>
          <p:cNvPr id="5" name="Text 3"/>
          <p:cNvSpPr txBox="1"/>
          <p:nvPr/>
        </p:nvSpPr>
        <p:spPr>
          <a:xfrm>
            <a:off x="1051560" y="1920240"/>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Un-atomized, one process per app</a:t>
            </a:r>
            <a:endParaRPr lang="en-US" sz="1300" dirty="0"/>
          </a:p>
        </p:txBody>
      </p:sp>
      <p:sp>
        <p:nvSpPr>
          <p:cNvPr id="6" name="Shape 4"/>
          <p:cNvSpPr/>
          <p:nvPr/>
        </p:nvSpPr>
        <p:spPr>
          <a:xfrm>
            <a:off x="4754880" y="1984248"/>
            <a:ext cx="4796589" cy="292608"/>
          </a:xfrm>
          <a:prstGeom prst="roundRect">
            <a:avLst>
              <a:gd name="adj" fmla="val 12500"/>
            </a:avLst>
          </a:prstGeom>
          <a:solidFill>
            <a:srgbClr val="F5A524"/>
          </a:solidFill>
          <a:ln w="12700">
            <a:solidFill>
              <a:srgbClr val="F5A524"/>
            </a:solidFill>
            <a:prstDash val="solid"/>
          </a:ln>
        </p:spPr>
      </p:sp>
      <p:sp>
        <p:nvSpPr>
          <p:cNvPr id="7" name="Text 5"/>
          <p:cNvSpPr txBox="1"/>
          <p:nvPr/>
        </p:nvSpPr>
        <p:spPr>
          <a:xfrm>
            <a:off x="9642909" y="1920240"/>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4m 20s</a:t>
            </a:r>
            <a:endParaRPr lang="en-US" sz="1400" dirty="0"/>
          </a:p>
        </p:txBody>
      </p:sp>
      <p:sp>
        <p:nvSpPr>
          <p:cNvPr id="8" name="Text 6"/>
          <p:cNvSpPr txBox="1"/>
          <p:nvPr/>
        </p:nvSpPr>
        <p:spPr>
          <a:xfrm>
            <a:off x="640080" y="2670048"/>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2</a:t>
            </a:r>
            <a:endParaRPr lang="en-US" sz="1500" dirty="0"/>
          </a:p>
        </p:txBody>
      </p:sp>
      <p:sp>
        <p:nvSpPr>
          <p:cNvPr id="9" name="Text 7"/>
          <p:cNvSpPr txBox="1"/>
          <p:nvPr/>
        </p:nvSpPr>
        <p:spPr>
          <a:xfrm>
            <a:off x="1051560" y="2670048"/>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Atomized, but still serial</a:t>
            </a:r>
            <a:endParaRPr lang="en-US" sz="1300" dirty="0"/>
          </a:p>
        </p:txBody>
      </p:sp>
      <p:sp>
        <p:nvSpPr>
          <p:cNvPr id="10" name="Shape 8"/>
          <p:cNvSpPr/>
          <p:nvPr/>
        </p:nvSpPr>
        <p:spPr>
          <a:xfrm>
            <a:off x="4754880" y="2734056"/>
            <a:ext cx="6309360" cy="292608"/>
          </a:xfrm>
          <a:prstGeom prst="roundRect">
            <a:avLst>
              <a:gd name="adj" fmla="val 12500"/>
            </a:avLst>
          </a:prstGeom>
          <a:solidFill>
            <a:srgbClr val="C2410C"/>
          </a:solidFill>
          <a:ln w="12700">
            <a:solidFill>
              <a:srgbClr val="C2410C"/>
            </a:solidFill>
            <a:prstDash val="solid"/>
          </a:ln>
        </p:spPr>
      </p:sp>
      <p:sp>
        <p:nvSpPr>
          <p:cNvPr id="11" name="Text 9"/>
          <p:cNvSpPr txBox="1"/>
          <p:nvPr/>
        </p:nvSpPr>
        <p:spPr>
          <a:xfrm>
            <a:off x="11155680" y="2670048"/>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5m 42s</a:t>
            </a:r>
            <a:endParaRPr lang="en-US" sz="1400" dirty="0"/>
          </a:p>
        </p:txBody>
      </p:sp>
      <p:sp>
        <p:nvSpPr>
          <p:cNvPr id="12" name="Text 10"/>
          <p:cNvSpPr txBox="1"/>
          <p:nvPr/>
        </p:nvSpPr>
        <p:spPr>
          <a:xfrm>
            <a:off x="640080" y="3419856"/>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3</a:t>
            </a:r>
            <a:endParaRPr lang="en-US" sz="1500" dirty="0"/>
          </a:p>
        </p:txBody>
      </p:sp>
      <p:sp>
        <p:nvSpPr>
          <p:cNvPr id="13" name="Text 11"/>
          <p:cNvSpPr txBox="1"/>
          <p:nvPr/>
        </p:nvSpPr>
        <p:spPr>
          <a:xfrm>
            <a:off x="1051560" y="3419856"/>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Atomized, 5 at a time, one machine</a:t>
            </a:r>
            <a:endParaRPr lang="en-US" sz="1300" dirty="0"/>
          </a:p>
        </p:txBody>
      </p:sp>
      <p:sp>
        <p:nvSpPr>
          <p:cNvPr id="14" name="Shape 12"/>
          <p:cNvSpPr/>
          <p:nvPr/>
        </p:nvSpPr>
        <p:spPr>
          <a:xfrm>
            <a:off x="4754880" y="3483864"/>
            <a:ext cx="2804160" cy="292608"/>
          </a:xfrm>
          <a:prstGeom prst="roundRect">
            <a:avLst>
              <a:gd name="adj" fmla="val 12500"/>
            </a:avLst>
          </a:prstGeom>
          <a:solidFill>
            <a:srgbClr val="0B7A44"/>
          </a:solidFill>
          <a:ln w="12700">
            <a:solidFill>
              <a:srgbClr val="0B7A44"/>
            </a:solidFill>
            <a:prstDash val="solid"/>
          </a:ln>
        </p:spPr>
      </p:sp>
      <p:sp>
        <p:nvSpPr>
          <p:cNvPr id="15" name="Text 13"/>
          <p:cNvSpPr txBox="1"/>
          <p:nvPr/>
        </p:nvSpPr>
        <p:spPr>
          <a:xfrm>
            <a:off x="7650480" y="3419856"/>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2m 32s</a:t>
            </a:r>
            <a:endParaRPr lang="en-US" sz="1400" dirty="0"/>
          </a:p>
        </p:txBody>
      </p:sp>
      <p:sp>
        <p:nvSpPr>
          <p:cNvPr id="16" name="Text 14"/>
          <p:cNvSpPr txBox="1"/>
          <p:nvPr/>
        </p:nvSpPr>
        <p:spPr>
          <a:xfrm>
            <a:off x="640080" y="4169664"/>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4</a:t>
            </a:r>
            <a:endParaRPr lang="en-US" sz="1500" dirty="0"/>
          </a:p>
        </p:txBody>
      </p:sp>
      <p:sp>
        <p:nvSpPr>
          <p:cNvPr id="17" name="Text 15"/>
          <p:cNvSpPr txBox="1"/>
          <p:nvPr/>
        </p:nvSpPr>
        <p:spPr>
          <a:xfrm>
            <a:off x="1051560" y="4169664"/>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One runner per app, 5 at a time each</a:t>
            </a:r>
            <a:endParaRPr lang="en-US" sz="1300" dirty="0"/>
          </a:p>
        </p:txBody>
      </p:sp>
      <p:sp>
        <p:nvSpPr>
          <p:cNvPr id="18" name="Shape 16"/>
          <p:cNvSpPr/>
          <p:nvPr/>
        </p:nvSpPr>
        <p:spPr>
          <a:xfrm>
            <a:off x="4754880" y="4233672"/>
            <a:ext cx="1014663" cy="292608"/>
          </a:xfrm>
          <a:prstGeom prst="roundRect">
            <a:avLst>
              <a:gd name="adj" fmla="val 12500"/>
            </a:avLst>
          </a:prstGeom>
          <a:solidFill>
            <a:srgbClr val="0B7A44"/>
          </a:solidFill>
          <a:ln w="12700">
            <a:solidFill>
              <a:srgbClr val="0B7A44"/>
            </a:solidFill>
            <a:prstDash val="solid"/>
          </a:ln>
        </p:spPr>
      </p:sp>
      <p:sp>
        <p:nvSpPr>
          <p:cNvPr id="19" name="Text 17"/>
          <p:cNvSpPr txBox="1"/>
          <p:nvPr/>
        </p:nvSpPr>
        <p:spPr>
          <a:xfrm>
            <a:off x="5860983" y="4169664"/>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55s</a:t>
            </a:r>
            <a:endParaRPr lang="en-US" sz="1400" dirty="0"/>
          </a:p>
        </p:txBody>
      </p:sp>
      <p:sp>
        <p:nvSpPr>
          <p:cNvPr id="20" name="Text 18"/>
          <p:cNvSpPr txBox="1"/>
          <p:nvPr/>
        </p:nvSpPr>
        <p:spPr>
          <a:xfrm>
            <a:off x="640080" y="4919472"/>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a:t>
            </a:r>
            <a:endParaRPr lang="en-US" sz="1500" dirty="0"/>
          </a:p>
        </p:txBody>
      </p:sp>
      <p:sp>
        <p:nvSpPr>
          <p:cNvPr id="21" name="Text 19"/>
          <p:cNvSpPr txBox="1"/>
          <p:nvPr/>
        </p:nvSpPr>
        <p:spPr>
          <a:xfrm>
            <a:off x="1051560" y="4919472"/>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Re-run, nothing changed</a:t>
            </a:r>
            <a:endParaRPr lang="en-US" sz="1300" dirty="0"/>
          </a:p>
        </p:txBody>
      </p:sp>
      <p:sp>
        <p:nvSpPr>
          <p:cNvPr id="22" name="Shape 20"/>
          <p:cNvSpPr/>
          <p:nvPr/>
        </p:nvSpPr>
        <p:spPr>
          <a:xfrm>
            <a:off x="4754880" y="4983480"/>
            <a:ext cx="92242" cy="292608"/>
          </a:xfrm>
          <a:prstGeom prst="roundRect">
            <a:avLst>
              <a:gd name="adj" fmla="val 39652"/>
            </a:avLst>
          </a:prstGeom>
          <a:solidFill>
            <a:srgbClr val="15803D"/>
          </a:solidFill>
          <a:ln w="12700">
            <a:solidFill>
              <a:srgbClr val="15803D"/>
            </a:solidFill>
            <a:prstDash val="solid"/>
          </a:ln>
        </p:spPr>
      </p:sp>
      <p:sp>
        <p:nvSpPr>
          <p:cNvPr id="23" name="Text 21"/>
          <p:cNvSpPr txBox="1"/>
          <p:nvPr/>
        </p:nvSpPr>
        <p:spPr>
          <a:xfrm>
            <a:off x="4938562" y="4919472"/>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5s</a:t>
            </a:r>
            <a:endParaRPr lang="en-US" sz="1400" dirty="0"/>
          </a:p>
        </p:txBody>
      </p:sp>
      <p:sp>
        <p:nvSpPr>
          <p:cNvPr id="24" name="Shape 22"/>
          <p:cNvSpPr/>
          <p:nvPr/>
        </p:nvSpPr>
        <p:spPr>
          <a:xfrm>
            <a:off x="640080" y="5760720"/>
            <a:ext cx="10881360" cy="685800"/>
          </a:xfrm>
          <a:prstGeom prst="roundRect">
            <a:avLst>
              <a:gd name="adj" fmla="val 9333"/>
            </a:avLst>
          </a:prstGeom>
          <a:solidFill>
            <a:srgbClr val="FFF7E6"/>
          </a:solidFill>
          <a:ln w="12700">
            <a:solidFill>
              <a:srgbClr val="F5A524"/>
            </a:solidFill>
            <a:prstDash val="solid"/>
          </a:ln>
        </p:spPr>
      </p:sp>
      <p:sp>
        <p:nvSpPr>
          <p:cNvPr id="25" name="Text 23"/>
          <p:cNvSpPr txBox="1"/>
          <p:nvPr/>
        </p:nvSpPr>
        <p:spPr>
          <a:xfrm>
            <a:off x="914400" y="5916168"/>
            <a:ext cx="10332720" cy="411480"/>
          </a:xfrm>
          <a:prstGeom prst="rect">
            <a:avLst/>
          </a:prstGeom>
          <a:noFill/>
          <a:ln/>
        </p:spPr>
        <p:txBody>
          <a:bodyPr wrap="square" lIns="0" tIns="0" rIns="0" bIns="0" rtlCol="0" anchor="ctr"/>
          <a:lstStyle/>
          <a:p>
            <a:pPr indent="0" marL="0">
              <a:buNone/>
            </a:pPr>
            <a:r>
              <a:rPr lang="en-US" sz="1400" dirty="0">
                <a:solidFill>
                  <a:srgbClr val="5B4308"/>
                </a:solidFill>
                <a:latin typeface="Calibri" pitchFamily="34" charset="0"/>
                <a:ea typeface="Calibri" pitchFamily="34" charset="-122"/>
                <a:cs typeface="Calibri" pitchFamily="34" charset="-120"/>
              </a:rPr>
              <a:t>Rung 2 is still the honest one: at 30 specs, atomizing without parallelism is 31% slower than not atomizing at all.</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THE GRAPH EARNS ITS KEEP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Let the graph pick the work</a:t>
            </a:r>
            <a:endParaRPr lang="en-US" sz="3800" dirty="0"/>
          </a:p>
        </p:txBody>
      </p:sp>
      <p:sp>
        <p:nvSpPr>
          <p:cNvPr id="4" name="Text 2"/>
          <p:cNvSpPr txBox="1"/>
          <p:nvPr/>
        </p:nvSpPr>
        <p:spPr>
          <a:xfrm>
            <a:off x="640080" y="1965960"/>
            <a:ext cx="3291840" cy="274320"/>
          </a:xfrm>
          <a:prstGeom prst="rect">
            <a:avLst/>
          </a:prstGeom>
          <a:noFill/>
          <a:ln/>
        </p:spPr>
        <p:txBody>
          <a:bodyPr wrap="square" lIns="0" tIns="0" rIns="0" bIns="0" rtlCol="0" anchor="ctr"/>
          <a:lstStyle/>
          <a:p>
            <a:pPr indent="0" marL="0">
              <a:buNone/>
            </a:pPr>
            <a:r>
              <a:rPr lang="en-US" sz="1200" b="1" spc="150" kern="0" dirty="0">
                <a:solidFill>
                  <a:srgbClr val="8A94A6"/>
                </a:solidFill>
                <a:latin typeface="Calibri" pitchFamily="34" charset="0"/>
                <a:ea typeface="Calibri" pitchFamily="34" charset="-122"/>
                <a:cs typeface="Calibri" pitchFamily="34" charset="-120"/>
              </a:rPr>
              <a:t>You touch</a:t>
            </a:r>
            <a:endParaRPr lang="en-US" sz="1200" dirty="0"/>
          </a:p>
        </p:txBody>
      </p:sp>
      <p:sp>
        <p:nvSpPr>
          <p:cNvPr id="5" name="Text 3"/>
          <p:cNvSpPr txBox="1"/>
          <p:nvPr/>
        </p:nvSpPr>
        <p:spPr>
          <a:xfrm>
            <a:off x="4480560" y="1965960"/>
            <a:ext cx="3291840" cy="274320"/>
          </a:xfrm>
          <a:prstGeom prst="rect">
            <a:avLst/>
          </a:prstGeom>
          <a:noFill/>
          <a:ln/>
        </p:spPr>
        <p:txBody>
          <a:bodyPr wrap="square" lIns="0" tIns="0" rIns="0" bIns="0" rtlCol="0" anchor="ctr"/>
          <a:lstStyle/>
          <a:p>
            <a:pPr indent="0" marL="0">
              <a:buNone/>
            </a:pPr>
            <a:r>
              <a:rPr lang="en-US" sz="1200" b="1" spc="150" kern="0" dirty="0">
                <a:solidFill>
                  <a:srgbClr val="8A94A6"/>
                </a:solidFill>
                <a:latin typeface="Calibri" pitchFamily="34" charset="0"/>
                <a:ea typeface="Calibri" pitchFamily="34" charset="-122"/>
                <a:cs typeface="Calibri" pitchFamily="34" charset="-120"/>
              </a:rPr>
              <a:t>Nx runs</a:t>
            </a:r>
            <a:endParaRPr lang="en-US" sz="1200" dirty="0"/>
          </a:p>
        </p:txBody>
      </p:sp>
      <p:sp>
        <p:nvSpPr>
          <p:cNvPr id="6" name="Text 4"/>
          <p:cNvSpPr txBox="1"/>
          <p:nvPr/>
        </p:nvSpPr>
        <p:spPr>
          <a:xfrm>
            <a:off x="640080" y="2377440"/>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libs/formatting</a:t>
            </a:r>
            <a:endParaRPr lang="en-US" sz="1500" dirty="0"/>
          </a:p>
        </p:txBody>
      </p:sp>
      <p:sp>
        <p:nvSpPr>
          <p:cNvPr id="7" name="Text 5"/>
          <p:cNvSpPr txBox="1"/>
          <p:nvPr/>
        </p:nvSpPr>
        <p:spPr>
          <a:xfrm>
            <a:off x="4480560" y="2377440"/>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shop + admin</a:t>
            </a:r>
            <a:endParaRPr lang="en-US" sz="1500" dirty="0"/>
          </a:p>
        </p:txBody>
      </p:sp>
      <p:sp>
        <p:nvSpPr>
          <p:cNvPr id="8" name="Shape 6"/>
          <p:cNvSpPr/>
          <p:nvPr/>
        </p:nvSpPr>
        <p:spPr>
          <a:xfrm>
            <a:off x="8503920" y="2414016"/>
            <a:ext cx="1737360" cy="347472"/>
          </a:xfrm>
          <a:prstGeom prst="roundRect">
            <a:avLst>
              <a:gd name="adj" fmla="val 50000"/>
            </a:avLst>
          </a:prstGeom>
          <a:solidFill>
            <a:srgbClr val="FDF0D5"/>
          </a:solidFill>
          <a:ln w="12700">
            <a:solidFill>
              <a:srgbClr val="333333"/>
            </a:solidFill>
            <a:prstDash val="solid"/>
          </a:ln>
        </p:spPr>
      </p:sp>
      <p:sp>
        <p:nvSpPr>
          <p:cNvPr id="9" name="Text 7"/>
          <p:cNvSpPr txBox="1"/>
          <p:nvPr/>
        </p:nvSpPr>
        <p:spPr>
          <a:xfrm>
            <a:off x="8503920" y="2414016"/>
            <a:ext cx="1737360" cy="347472"/>
          </a:xfrm>
          <a:prstGeom prst="rect">
            <a:avLst/>
          </a:prstGeom>
          <a:noFill/>
          <a:ln/>
        </p:spPr>
        <p:txBody>
          <a:bodyPr wrap="square" lIns="0" tIns="0" rIns="0" bIns="0" rtlCol="0" anchor="ctr"/>
          <a:lstStyle/>
          <a:p>
            <a:pPr algn="ctr" indent="0" marL="0">
              <a:buNone/>
            </a:pPr>
            <a:r>
              <a:rPr lang="en-US" sz="1200" b="1" dirty="0">
                <a:solidFill>
                  <a:srgbClr val="7A5200"/>
                </a:solidFill>
                <a:latin typeface="Calibri" pitchFamily="34" charset="0"/>
                <a:ea typeface="Calibri" pitchFamily="34" charset="-122"/>
                <a:cs typeface="Calibri" pitchFamily="34" charset="-120"/>
              </a:rPr>
              <a:t>20 targets</a:t>
            </a:r>
            <a:endParaRPr lang="en-US" sz="1200" dirty="0"/>
          </a:p>
        </p:txBody>
      </p:sp>
      <p:sp>
        <p:nvSpPr>
          <p:cNvPr id="10" name="Text 8"/>
          <p:cNvSpPr txBox="1"/>
          <p:nvPr/>
        </p:nvSpPr>
        <p:spPr>
          <a:xfrm>
            <a:off x="640080" y="3090672"/>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libs/ui</a:t>
            </a:r>
            <a:endParaRPr lang="en-US" sz="1500" dirty="0"/>
          </a:p>
        </p:txBody>
      </p:sp>
      <p:sp>
        <p:nvSpPr>
          <p:cNvPr id="11" name="Text 9"/>
          <p:cNvSpPr txBox="1"/>
          <p:nvPr/>
        </p:nvSpPr>
        <p:spPr>
          <a:xfrm>
            <a:off x="4480560" y="3090672"/>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admin + docs</a:t>
            </a:r>
            <a:endParaRPr lang="en-US" sz="1500" dirty="0"/>
          </a:p>
        </p:txBody>
      </p:sp>
      <p:sp>
        <p:nvSpPr>
          <p:cNvPr id="12" name="Shape 10"/>
          <p:cNvSpPr/>
          <p:nvPr/>
        </p:nvSpPr>
        <p:spPr>
          <a:xfrm>
            <a:off x="8503920" y="3127248"/>
            <a:ext cx="1737360" cy="347472"/>
          </a:xfrm>
          <a:prstGeom prst="roundRect">
            <a:avLst>
              <a:gd name="adj" fmla="val 50000"/>
            </a:avLst>
          </a:prstGeom>
          <a:solidFill>
            <a:srgbClr val="FDF0D5"/>
          </a:solidFill>
          <a:ln w="12700">
            <a:solidFill>
              <a:srgbClr val="333333"/>
            </a:solidFill>
            <a:prstDash val="solid"/>
          </a:ln>
        </p:spPr>
      </p:sp>
      <p:sp>
        <p:nvSpPr>
          <p:cNvPr id="13" name="Text 11"/>
          <p:cNvSpPr txBox="1"/>
          <p:nvPr/>
        </p:nvSpPr>
        <p:spPr>
          <a:xfrm>
            <a:off x="8503920" y="3127248"/>
            <a:ext cx="1737360" cy="347472"/>
          </a:xfrm>
          <a:prstGeom prst="rect">
            <a:avLst/>
          </a:prstGeom>
          <a:noFill/>
          <a:ln/>
        </p:spPr>
        <p:txBody>
          <a:bodyPr wrap="square" lIns="0" tIns="0" rIns="0" bIns="0" rtlCol="0" anchor="ctr"/>
          <a:lstStyle/>
          <a:p>
            <a:pPr algn="ctr" indent="0" marL="0">
              <a:buNone/>
            </a:pPr>
            <a:r>
              <a:rPr lang="en-US" sz="1200" b="1" dirty="0">
                <a:solidFill>
                  <a:srgbClr val="7A5200"/>
                </a:solidFill>
                <a:latin typeface="Calibri" pitchFamily="34" charset="0"/>
                <a:ea typeface="Calibri" pitchFamily="34" charset="-122"/>
                <a:cs typeface="Calibri" pitchFamily="34" charset="-120"/>
              </a:rPr>
              <a:t>20 targets</a:t>
            </a:r>
            <a:endParaRPr lang="en-US" sz="1200" dirty="0"/>
          </a:p>
        </p:txBody>
      </p:sp>
      <p:sp>
        <p:nvSpPr>
          <p:cNvPr id="14" name="Text 12"/>
          <p:cNvSpPr txBox="1"/>
          <p:nvPr/>
        </p:nvSpPr>
        <p:spPr>
          <a:xfrm>
            <a:off x="640080" y="3803904"/>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apps/docs/**</a:t>
            </a:r>
            <a:endParaRPr lang="en-US" sz="1500" dirty="0"/>
          </a:p>
        </p:txBody>
      </p:sp>
      <p:sp>
        <p:nvSpPr>
          <p:cNvPr id="15" name="Text 13"/>
          <p:cNvSpPr txBox="1"/>
          <p:nvPr/>
        </p:nvSpPr>
        <p:spPr>
          <a:xfrm>
            <a:off x="4480560" y="3803904"/>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docs</a:t>
            </a:r>
            <a:endParaRPr lang="en-US" sz="1500" dirty="0"/>
          </a:p>
        </p:txBody>
      </p:sp>
      <p:sp>
        <p:nvSpPr>
          <p:cNvPr id="16" name="Shape 14"/>
          <p:cNvSpPr/>
          <p:nvPr/>
        </p:nvSpPr>
        <p:spPr>
          <a:xfrm>
            <a:off x="8503920" y="3840480"/>
            <a:ext cx="1737360" cy="347472"/>
          </a:xfrm>
          <a:prstGeom prst="roundRect">
            <a:avLst>
              <a:gd name="adj" fmla="val 50000"/>
            </a:avLst>
          </a:prstGeom>
          <a:solidFill>
            <a:srgbClr val="DCF5E7"/>
          </a:solidFill>
          <a:ln w="12700">
            <a:solidFill>
              <a:srgbClr val="333333"/>
            </a:solidFill>
            <a:prstDash val="solid"/>
          </a:ln>
        </p:spPr>
      </p:sp>
      <p:sp>
        <p:nvSpPr>
          <p:cNvPr id="17" name="Text 15"/>
          <p:cNvSpPr txBox="1"/>
          <p:nvPr/>
        </p:nvSpPr>
        <p:spPr>
          <a:xfrm>
            <a:off x="8503920" y="3840480"/>
            <a:ext cx="1737360" cy="347472"/>
          </a:xfrm>
          <a:prstGeom prst="rect">
            <a:avLst/>
          </a:prstGeom>
          <a:noFill/>
          <a:ln/>
        </p:spPr>
        <p:txBody>
          <a:bodyPr wrap="square" lIns="0" tIns="0" rIns="0" bIns="0" rtlCol="0" anchor="ctr"/>
          <a:lstStyle/>
          <a:p>
            <a:pPr algn="ctr" indent="0" marL="0">
              <a:buNone/>
            </a:pPr>
            <a:r>
              <a:rPr lang="en-US" sz="1200" b="1" dirty="0">
                <a:solidFill>
                  <a:srgbClr val="14603C"/>
                </a:solidFill>
                <a:latin typeface="Calibri" pitchFamily="34" charset="0"/>
                <a:ea typeface="Calibri" pitchFamily="34" charset="-122"/>
                <a:cs typeface="Calibri" pitchFamily="34" charset="-120"/>
              </a:rPr>
              <a:t>10 targets</a:t>
            </a:r>
            <a:endParaRPr lang="en-US" sz="1200" dirty="0"/>
          </a:p>
        </p:txBody>
      </p:sp>
      <p:sp>
        <p:nvSpPr>
          <p:cNvPr id="18" name="Text 16"/>
          <p:cNvSpPr txBox="1"/>
          <p:nvPr/>
        </p:nvSpPr>
        <p:spPr>
          <a:xfrm>
            <a:off x="640080" y="4517136"/>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a README typo</a:t>
            </a:r>
            <a:endParaRPr lang="en-US" sz="1500" dirty="0"/>
          </a:p>
        </p:txBody>
      </p:sp>
      <p:sp>
        <p:nvSpPr>
          <p:cNvPr id="19" name="Text 17"/>
          <p:cNvSpPr txBox="1"/>
          <p:nvPr/>
        </p:nvSpPr>
        <p:spPr>
          <a:xfrm>
            <a:off x="4480560" y="4517136"/>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nothing at all</a:t>
            </a:r>
            <a:endParaRPr lang="en-US" sz="1500" dirty="0"/>
          </a:p>
        </p:txBody>
      </p:sp>
      <p:sp>
        <p:nvSpPr>
          <p:cNvPr id="20" name="Shape 18"/>
          <p:cNvSpPr/>
          <p:nvPr/>
        </p:nvSpPr>
        <p:spPr>
          <a:xfrm>
            <a:off x="8503920" y="4553712"/>
            <a:ext cx="1737360" cy="347472"/>
          </a:xfrm>
          <a:prstGeom prst="roundRect">
            <a:avLst>
              <a:gd name="adj" fmla="val 50000"/>
            </a:avLst>
          </a:prstGeom>
          <a:solidFill>
            <a:srgbClr val="DCF5E7"/>
          </a:solidFill>
          <a:ln w="12700">
            <a:solidFill>
              <a:srgbClr val="333333"/>
            </a:solidFill>
            <a:prstDash val="solid"/>
          </a:ln>
        </p:spPr>
      </p:sp>
      <p:sp>
        <p:nvSpPr>
          <p:cNvPr id="21" name="Text 19"/>
          <p:cNvSpPr txBox="1"/>
          <p:nvPr/>
        </p:nvSpPr>
        <p:spPr>
          <a:xfrm>
            <a:off x="8503920" y="4553712"/>
            <a:ext cx="1737360" cy="347472"/>
          </a:xfrm>
          <a:prstGeom prst="rect">
            <a:avLst/>
          </a:prstGeom>
          <a:noFill/>
          <a:ln/>
        </p:spPr>
        <p:txBody>
          <a:bodyPr wrap="square" lIns="0" tIns="0" rIns="0" bIns="0" rtlCol="0" anchor="ctr"/>
          <a:lstStyle/>
          <a:p>
            <a:pPr algn="ctr" indent="0" marL="0">
              <a:buNone/>
            </a:pPr>
            <a:r>
              <a:rPr lang="en-US" sz="1200" b="1" dirty="0">
                <a:solidFill>
                  <a:srgbClr val="14603C"/>
                </a:solidFill>
                <a:latin typeface="Calibri" pitchFamily="34" charset="0"/>
                <a:ea typeface="Calibri" pitchFamily="34" charset="-122"/>
                <a:cs typeface="Calibri" pitchFamily="34" charset="-120"/>
              </a:rPr>
              <a:t>0 targets</a:t>
            </a:r>
            <a:endParaRPr lang="en-US" sz="1200" dirty="0"/>
          </a:p>
        </p:txBody>
      </p:sp>
      <p:sp>
        <p:nvSpPr>
          <p:cNvPr id="22" name="Text 20"/>
          <p:cNvSpPr txBox="1"/>
          <p:nvPr/>
        </p:nvSpPr>
        <p:spPr>
          <a:xfrm>
            <a:off x="640080" y="5532120"/>
            <a:ext cx="10881360" cy="457200"/>
          </a:xfrm>
          <a:prstGeom prst="rect">
            <a:avLst/>
          </a:prstGeom>
          <a:noFill/>
          <a:ln/>
        </p:spPr>
        <p:txBody>
          <a:bodyPr wrap="square" lIns="0" tIns="0" rIns="0" bIns="0" rtlCol="0" anchor="ctr"/>
          <a:lstStyle/>
          <a:p>
            <a:pPr indent="0" marL="0">
              <a:buNone/>
            </a:pPr>
            <a:r>
              <a:rPr lang="en-US" sz="1500" i="1" dirty="0">
                <a:solidFill>
                  <a:srgbClr val="5C6675"/>
                </a:solidFill>
                <a:latin typeface="Calibri" pitchFamily="34" charset="0"/>
                <a:ea typeface="Calibri" pitchFamily="34" charset="-122"/>
                <a:cs typeface="Calibri" pitchFamily="34" charset="-120"/>
              </a:rPr>
              <a:t>This is the argument for keeping e2e in the monorepo: the graph already knows which apps a shared component can break.</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FROM A REAL PROJECT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Fifteen apps, and what changed</a:t>
            </a:r>
            <a:endParaRPr lang="en-US" sz="3800" dirty="0"/>
          </a:p>
        </p:txBody>
      </p:sp>
      <p:sp>
        <p:nvSpPr>
          <p:cNvPr id="4" name="Shape 2"/>
          <p:cNvSpPr/>
          <p:nvPr/>
        </p:nvSpPr>
        <p:spPr>
          <a:xfrm>
            <a:off x="640080" y="1920240"/>
            <a:ext cx="3429000" cy="1691640"/>
          </a:xfrm>
          <a:prstGeom prst="roundRect">
            <a:avLst>
              <a:gd name="adj" fmla="val 4865"/>
            </a:avLst>
          </a:prstGeom>
          <a:solidFill>
            <a:srgbClr val="FFFFFF"/>
          </a:solidFill>
          <a:ln w="12700">
            <a:solidFill>
              <a:srgbClr val="E2E6ED"/>
            </a:solidFill>
            <a:prstDash val="solid"/>
          </a:ln>
        </p:spPr>
      </p:sp>
      <p:sp>
        <p:nvSpPr>
          <p:cNvPr id="5" name="Text 3"/>
          <p:cNvSpPr txBox="1"/>
          <p:nvPr/>
        </p:nvSpPr>
        <p:spPr>
          <a:xfrm>
            <a:off x="868680" y="2103120"/>
            <a:ext cx="2971800" cy="658368"/>
          </a:xfrm>
          <a:prstGeom prst="rect">
            <a:avLst/>
          </a:prstGeom>
          <a:noFill/>
          <a:ln/>
        </p:spPr>
        <p:txBody>
          <a:bodyPr wrap="square" lIns="0" tIns="0" rIns="0" bIns="0" rtlCol="0" anchor="ctr"/>
          <a:lstStyle/>
          <a:p>
            <a:pPr indent="0" marL="0">
              <a:buNone/>
            </a:pPr>
            <a:r>
              <a:rPr lang="en-US" sz="3400" b="1" dirty="0">
                <a:solidFill>
                  <a:srgbClr val="10131A"/>
                </a:solidFill>
                <a:latin typeface="Cambria" pitchFamily="34" charset="0"/>
                <a:ea typeface="Cambria" pitchFamily="34" charset="-122"/>
                <a:cs typeface="Cambria" pitchFamily="34" charset="-120"/>
              </a:rPr>
              <a:t>15</a:t>
            </a:r>
            <a:endParaRPr lang="en-US" sz="3400" dirty="0"/>
          </a:p>
        </p:txBody>
      </p:sp>
      <p:sp>
        <p:nvSpPr>
          <p:cNvPr id="6" name="Text 4"/>
          <p:cNvSpPr txBox="1"/>
          <p:nvPr/>
        </p:nvSpPr>
        <p:spPr>
          <a:xfrm>
            <a:off x="86868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applications</a:t>
            </a:r>
            <a:endParaRPr lang="en-US" sz="1500" dirty="0"/>
          </a:p>
        </p:txBody>
      </p:sp>
      <p:sp>
        <p:nvSpPr>
          <p:cNvPr id="7" name="Text 5"/>
          <p:cNvSpPr txBox="1"/>
          <p:nvPr/>
        </p:nvSpPr>
        <p:spPr>
          <a:xfrm>
            <a:off x="86868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every E2E suite reviewed</a:t>
            </a:r>
            <a:endParaRPr lang="en-US" sz="1200" dirty="0"/>
          </a:p>
        </p:txBody>
      </p:sp>
      <p:sp>
        <p:nvSpPr>
          <p:cNvPr id="8" name="Shape 6"/>
          <p:cNvSpPr/>
          <p:nvPr/>
        </p:nvSpPr>
        <p:spPr>
          <a:xfrm>
            <a:off x="4343400" y="1920240"/>
            <a:ext cx="3429000" cy="1691640"/>
          </a:xfrm>
          <a:prstGeom prst="roundRect">
            <a:avLst>
              <a:gd name="adj" fmla="val 4865"/>
            </a:avLst>
          </a:prstGeom>
          <a:solidFill>
            <a:srgbClr val="FFFFFF"/>
          </a:solidFill>
          <a:ln w="12700">
            <a:solidFill>
              <a:srgbClr val="E2E6ED"/>
            </a:solidFill>
            <a:prstDash val="solid"/>
          </a:ln>
        </p:spPr>
      </p:sp>
      <p:sp>
        <p:nvSpPr>
          <p:cNvPr id="9" name="Text 7"/>
          <p:cNvSpPr txBox="1"/>
          <p:nvPr/>
        </p:nvSpPr>
        <p:spPr>
          <a:xfrm>
            <a:off x="4572000" y="2103120"/>
            <a:ext cx="2971800" cy="658368"/>
          </a:xfrm>
          <a:prstGeom prst="rect">
            <a:avLst/>
          </a:prstGeom>
          <a:noFill/>
          <a:ln/>
        </p:spPr>
        <p:txBody>
          <a:bodyPr wrap="square" lIns="0" tIns="0" rIns="0" bIns="0" rtlCol="0" anchor="ctr"/>
          <a:lstStyle/>
          <a:p>
            <a:pPr indent="0" marL="0">
              <a:buNone/>
            </a:pPr>
            <a:r>
              <a:rPr lang="en-US" sz="3400" b="1" dirty="0">
                <a:solidFill>
                  <a:srgbClr val="0B7A44"/>
                </a:solidFill>
                <a:latin typeface="Cambria" pitchFamily="34" charset="0"/>
                <a:ea typeface="Cambria" pitchFamily="34" charset="-122"/>
                <a:cs typeface="Cambria" pitchFamily="34" charset="-120"/>
              </a:rPr>
              <a:t>1K → 1.5K</a:t>
            </a:r>
            <a:endParaRPr lang="en-US" sz="3400" dirty="0"/>
          </a:p>
        </p:txBody>
      </p:sp>
      <p:sp>
        <p:nvSpPr>
          <p:cNvPr id="10" name="Text 8"/>
          <p:cNvSpPr txBox="1"/>
          <p:nvPr/>
        </p:nvSpPr>
        <p:spPr>
          <a:xfrm>
            <a:off x="457200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tests</a:t>
            </a:r>
            <a:endParaRPr lang="en-US" sz="1500" dirty="0"/>
          </a:p>
        </p:txBody>
      </p:sp>
      <p:sp>
        <p:nvSpPr>
          <p:cNvPr id="11" name="Text 9"/>
          <p:cNvSpPr txBox="1"/>
          <p:nvPr/>
        </p:nvSpPr>
        <p:spPr>
          <a:xfrm>
            <a:off x="457200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deleted a lot, added more</a:t>
            </a:r>
            <a:endParaRPr lang="en-US" sz="1200" dirty="0"/>
          </a:p>
        </p:txBody>
      </p:sp>
      <p:sp>
        <p:nvSpPr>
          <p:cNvPr id="12" name="Shape 10"/>
          <p:cNvSpPr/>
          <p:nvPr/>
        </p:nvSpPr>
        <p:spPr>
          <a:xfrm>
            <a:off x="8046720" y="1920240"/>
            <a:ext cx="3429000" cy="1691640"/>
          </a:xfrm>
          <a:prstGeom prst="roundRect">
            <a:avLst>
              <a:gd name="adj" fmla="val 4865"/>
            </a:avLst>
          </a:prstGeom>
          <a:solidFill>
            <a:srgbClr val="FFFFFF"/>
          </a:solidFill>
          <a:ln w="12700">
            <a:solidFill>
              <a:srgbClr val="E2E6ED"/>
            </a:solidFill>
            <a:prstDash val="solid"/>
          </a:ln>
        </p:spPr>
      </p:sp>
      <p:sp>
        <p:nvSpPr>
          <p:cNvPr id="13" name="Text 11"/>
          <p:cNvSpPr txBox="1"/>
          <p:nvPr/>
        </p:nvSpPr>
        <p:spPr>
          <a:xfrm>
            <a:off x="8275320" y="2103120"/>
            <a:ext cx="2971800" cy="658368"/>
          </a:xfrm>
          <a:prstGeom prst="rect">
            <a:avLst/>
          </a:prstGeom>
          <a:noFill/>
          <a:ln/>
        </p:spPr>
        <p:txBody>
          <a:bodyPr wrap="square" lIns="0" tIns="0" rIns="0" bIns="0" rtlCol="0" anchor="ctr"/>
          <a:lstStyle/>
          <a:p>
            <a:pPr indent="0" marL="0">
              <a:buNone/>
            </a:pPr>
            <a:r>
              <a:rPr lang="en-US" sz="3400" b="1" dirty="0">
                <a:solidFill>
                  <a:srgbClr val="0B7A44"/>
                </a:solidFill>
                <a:latin typeface="Cambria" pitchFamily="34" charset="0"/>
                <a:ea typeface="Cambria" pitchFamily="34" charset="-122"/>
                <a:cs typeface="Cambria" pitchFamily="34" charset="-120"/>
              </a:rPr>
              <a:t>85%</a:t>
            </a:r>
            <a:endParaRPr lang="en-US" sz="3400" dirty="0"/>
          </a:p>
        </p:txBody>
      </p:sp>
      <p:sp>
        <p:nvSpPr>
          <p:cNvPr id="14" name="Text 12"/>
          <p:cNvSpPr txBox="1"/>
          <p:nvPr/>
        </p:nvSpPr>
        <p:spPr>
          <a:xfrm>
            <a:off x="827532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code coverage</a:t>
            </a:r>
            <a:endParaRPr lang="en-US" sz="1500" dirty="0"/>
          </a:p>
        </p:txBody>
      </p:sp>
      <p:sp>
        <p:nvSpPr>
          <p:cNvPr id="15" name="Text 13"/>
          <p:cNvSpPr txBox="1"/>
          <p:nvPr/>
        </p:nvSpPr>
        <p:spPr>
          <a:xfrm>
            <a:off x="827532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and stable, not "mostly"</a:t>
            </a:r>
            <a:endParaRPr lang="en-US" sz="1200" dirty="0"/>
          </a:p>
        </p:txBody>
      </p:sp>
      <p:sp>
        <p:nvSpPr>
          <p:cNvPr id="16" name="Text 14"/>
          <p:cNvSpPr txBox="1"/>
          <p:nvPr/>
        </p:nvSpPr>
        <p:spPr>
          <a:xfrm>
            <a:off x="640080" y="3886200"/>
            <a:ext cx="4572000" cy="320040"/>
          </a:xfrm>
          <a:prstGeom prst="rect">
            <a:avLst/>
          </a:prstGeom>
          <a:noFill/>
          <a:ln/>
        </p:spPr>
        <p:txBody>
          <a:bodyPr wrap="square" lIns="0" tIns="0" rIns="0" bIns="0" rtlCol="0" anchor="ctr"/>
          <a:lstStyle/>
          <a:p>
            <a:pPr indent="0" marL="0">
              <a:buNone/>
            </a:pPr>
            <a:r>
              <a:rPr lang="en-US" sz="1500" b="1" dirty="0">
                <a:solidFill>
                  <a:srgbClr val="10131A"/>
                </a:solidFill>
                <a:latin typeface="Calibri" pitchFamily="34" charset="0"/>
                <a:ea typeface="Calibri" pitchFamily="34" charset="-122"/>
                <a:cs typeface="Calibri" pitchFamily="34" charset="-120"/>
              </a:rPr>
              <a:t>CI build time</a:t>
            </a:r>
            <a:endParaRPr lang="en-US" sz="1500" dirty="0"/>
          </a:p>
        </p:txBody>
      </p:sp>
      <p:sp>
        <p:nvSpPr>
          <p:cNvPr id="17" name="Text 15"/>
          <p:cNvSpPr txBox="1"/>
          <p:nvPr/>
        </p:nvSpPr>
        <p:spPr>
          <a:xfrm>
            <a:off x="640080" y="4297680"/>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Before — whole repo</a:t>
            </a:r>
            <a:endParaRPr lang="en-US" sz="1300" dirty="0"/>
          </a:p>
        </p:txBody>
      </p:sp>
      <p:sp>
        <p:nvSpPr>
          <p:cNvPr id="18" name="Shape 16"/>
          <p:cNvSpPr/>
          <p:nvPr/>
        </p:nvSpPr>
        <p:spPr>
          <a:xfrm>
            <a:off x="3749040" y="4370832"/>
            <a:ext cx="3840480" cy="256032"/>
          </a:xfrm>
          <a:prstGeom prst="roundRect">
            <a:avLst>
              <a:gd name="adj" fmla="val 14286"/>
            </a:avLst>
          </a:prstGeom>
          <a:solidFill>
            <a:srgbClr val="F5A524"/>
          </a:solidFill>
          <a:ln w="12700">
            <a:solidFill>
              <a:srgbClr val="333333"/>
            </a:solidFill>
            <a:prstDash val="solid"/>
          </a:ln>
        </p:spPr>
      </p:sp>
      <p:sp>
        <p:nvSpPr>
          <p:cNvPr id="19" name="Text 17"/>
          <p:cNvSpPr txBox="1"/>
          <p:nvPr/>
        </p:nvSpPr>
        <p:spPr>
          <a:xfrm>
            <a:off x="7680960" y="4297680"/>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48m</a:t>
            </a:r>
            <a:endParaRPr lang="en-US" sz="1300" dirty="0"/>
          </a:p>
        </p:txBody>
      </p:sp>
      <p:sp>
        <p:nvSpPr>
          <p:cNvPr id="20" name="Text 18"/>
          <p:cNvSpPr txBox="1"/>
          <p:nvPr/>
        </p:nvSpPr>
        <p:spPr>
          <a:xfrm>
            <a:off x="640080" y="4864608"/>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After — whole repo</a:t>
            </a:r>
            <a:endParaRPr lang="en-US" sz="1300" dirty="0"/>
          </a:p>
        </p:txBody>
      </p:sp>
      <p:sp>
        <p:nvSpPr>
          <p:cNvPr id="21" name="Shape 19"/>
          <p:cNvSpPr/>
          <p:nvPr/>
        </p:nvSpPr>
        <p:spPr>
          <a:xfrm>
            <a:off x="3749040" y="4937760"/>
            <a:ext cx="2000250" cy="256032"/>
          </a:xfrm>
          <a:prstGeom prst="roundRect">
            <a:avLst>
              <a:gd name="adj" fmla="val 14286"/>
            </a:avLst>
          </a:prstGeom>
          <a:solidFill>
            <a:srgbClr val="0B7A44"/>
          </a:solidFill>
          <a:ln w="12700">
            <a:solidFill>
              <a:srgbClr val="333333"/>
            </a:solidFill>
            <a:prstDash val="solid"/>
          </a:ln>
        </p:spPr>
      </p:sp>
      <p:sp>
        <p:nvSpPr>
          <p:cNvPr id="22" name="Text 20"/>
          <p:cNvSpPr txBox="1"/>
          <p:nvPr/>
        </p:nvSpPr>
        <p:spPr>
          <a:xfrm>
            <a:off x="5840730" y="4864608"/>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25m</a:t>
            </a:r>
            <a:endParaRPr lang="en-US" sz="1300" dirty="0"/>
          </a:p>
        </p:txBody>
      </p:sp>
      <p:sp>
        <p:nvSpPr>
          <p:cNvPr id="23" name="Text 21"/>
          <p:cNvSpPr txBox="1"/>
          <p:nvPr/>
        </p:nvSpPr>
        <p:spPr>
          <a:xfrm>
            <a:off x="640080" y="5431536"/>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After — one app changed</a:t>
            </a:r>
            <a:endParaRPr lang="en-US" sz="1300" dirty="0"/>
          </a:p>
        </p:txBody>
      </p:sp>
      <p:sp>
        <p:nvSpPr>
          <p:cNvPr id="24" name="Shape 22"/>
          <p:cNvSpPr/>
          <p:nvPr/>
        </p:nvSpPr>
        <p:spPr>
          <a:xfrm>
            <a:off x="3749040" y="5504688"/>
            <a:ext cx="800100" cy="256032"/>
          </a:xfrm>
          <a:prstGeom prst="roundRect">
            <a:avLst>
              <a:gd name="adj" fmla="val 14286"/>
            </a:avLst>
          </a:prstGeom>
          <a:solidFill>
            <a:srgbClr val="15803D"/>
          </a:solidFill>
          <a:ln w="12700">
            <a:solidFill>
              <a:srgbClr val="333333"/>
            </a:solidFill>
            <a:prstDash val="solid"/>
          </a:ln>
        </p:spPr>
      </p:sp>
      <p:sp>
        <p:nvSpPr>
          <p:cNvPr id="25" name="Text 23"/>
          <p:cNvSpPr txBox="1"/>
          <p:nvPr/>
        </p:nvSpPr>
        <p:spPr>
          <a:xfrm>
            <a:off x="4640580" y="5431536"/>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10m</a:t>
            </a:r>
            <a:endParaRPr lang="en-US" sz="1300" dirty="0"/>
          </a:p>
        </p:txBody>
      </p:sp>
      <p:sp>
        <p:nvSpPr>
          <p:cNvPr id="26" name="Shape 24"/>
          <p:cNvSpPr/>
          <p:nvPr/>
        </p:nvSpPr>
        <p:spPr>
          <a:xfrm>
            <a:off x="8778240" y="4206240"/>
            <a:ext cx="2743200" cy="1691640"/>
          </a:xfrm>
          <a:prstGeom prst="roundRect">
            <a:avLst>
              <a:gd name="adj" fmla="val 4865"/>
            </a:avLst>
          </a:prstGeom>
          <a:solidFill>
            <a:srgbClr val="DCF5E7"/>
          </a:solidFill>
          <a:ln w="12700">
            <a:solidFill>
              <a:srgbClr val="0B7A44"/>
            </a:solidFill>
            <a:prstDash val="solid"/>
          </a:ln>
        </p:spPr>
      </p:sp>
      <p:sp>
        <p:nvSpPr>
          <p:cNvPr id="27" name="Text 25"/>
          <p:cNvSpPr txBox="1"/>
          <p:nvPr/>
        </p:nvSpPr>
        <p:spPr>
          <a:xfrm>
            <a:off x="9006840" y="4434840"/>
            <a:ext cx="2286000" cy="640080"/>
          </a:xfrm>
          <a:prstGeom prst="rect">
            <a:avLst/>
          </a:prstGeom>
          <a:noFill/>
          <a:ln/>
        </p:spPr>
        <p:txBody>
          <a:bodyPr wrap="square" lIns="0" tIns="0" rIns="0" bIns="0" rtlCol="0" anchor="ctr"/>
          <a:lstStyle/>
          <a:p>
            <a:pPr indent="0" marL="0">
              <a:buNone/>
            </a:pPr>
            <a:r>
              <a:rPr lang="en-US" sz="1700" b="1" dirty="0">
                <a:solidFill>
                  <a:srgbClr val="14603C"/>
                </a:solidFill>
                <a:latin typeface="Calibri" pitchFamily="34" charset="0"/>
                <a:ea typeface="Calibri" pitchFamily="34" charset="-122"/>
                <a:cs typeface="Calibri" pitchFamily="34" charset="-120"/>
              </a:rPr>
              <a:t>Half the Actions bill</a:t>
            </a:r>
            <a:endParaRPr lang="en-US" sz="1700" dirty="0"/>
          </a:p>
        </p:txBody>
      </p:sp>
      <p:sp>
        <p:nvSpPr>
          <p:cNvPr id="28" name="Text 26"/>
          <p:cNvSpPr txBox="1"/>
          <p:nvPr/>
        </p:nvSpPr>
        <p:spPr>
          <a:xfrm>
            <a:off x="9006840" y="5074920"/>
            <a:ext cx="2286000" cy="685800"/>
          </a:xfrm>
          <a:prstGeom prst="rect">
            <a:avLst/>
          </a:prstGeom>
          <a:noFill/>
          <a:ln/>
        </p:spPr>
        <p:txBody>
          <a:bodyPr wrap="square" lIns="0" tIns="0" rIns="0" bIns="0" rtlCol="0" anchor="ctr"/>
          <a:lstStyle/>
          <a:p>
            <a:pPr indent="0" marL="0">
              <a:buNone/>
            </a:pPr>
            <a:r>
              <a:rPr lang="en-US" sz="1300" dirty="0">
                <a:solidFill>
                  <a:srgbClr val="14603C"/>
                </a:solidFill>
                <a:latin typeface="Calibri" pitchFamily="34" charset="0"/>
                <a:ea typeface="Calibri" pitchFamily="34" charset="-122"/>
                <a:cs typeface="Calibri" pitchFamily="34" charset="-120"/>
              </a:rPr>
              <a:t>Minutes are billed. Cache hits are not.</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YOUR TURN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Same problem? Steal this.</a:t>
            </a:r>
            <a:endParaRPr lang="en-US" sz="3800" dirty="0"/>
          </a:p>
        </p:txBody>
      </p:sp>
      <p:sp>
        <p:nvSpPr>
          <p:cNvPr id="4" name="Text 2"/>
          <p:cNvSpPr txBox="1"/>
          <p:nvPr/>
        </p:nvSpPr>
        <p:spPr>
          <a:xfrm>
            <a:off x="640080" y="1874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01</a:t>
            </a:r>
            <a:endParaRPr lang="en-US" sz="2200" dirty="0"/>
          </a:p>
        </p:txBody>
      </p:sp>
      <p:sp>
        <p:nvSpPr>
          <p:cNvPr id="5" name="Text 3"/>
          <p:cNvSpPr txBox="1"/>
          <p:nvPr/>
        </p:nvSpPr>
        <p:spPr>
          <a:xfrm>
            <a:off x="1508760" y="1874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Clone the repo</a:t>
            </a:r>
            <a:endParaRPr lang="en-US" sz="2000" dirty="0"/>
          </a:p>
        </p:txBody>
      </p:sp>
      <p:sp>
        <p:nvSpPr>
          <p:cNvPr id="6" name="Text 4"/>
          <p:cNvSpPr txBox="1"/>
          <p:nvPr/>
        </p:nvSpPr>
        <p:spPr>
          <a:xfrm>
            <a:off x="1508760" y="2286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Everything in this talk, measured and reproducible.</a:t>
            </a:r>
            <a:endParaRPr lang="en-US" sz="1400" dirty="0"/>
          </a:p>
        </p:txBody>
      </p:sp>
      <p:sp>
        <p:nvSpPr>
          <p:cNvPr id="7" name="Text 5"/>
          <p:cNvSpPr txBox="1"/>
          <p:nvPr/>
        </p:nvSpPr>
        <p:spPr>
          <a:xfrm>
            <a:off x="640080" y="3017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02</a:t>
            </a:r>
            <a:endParaRPr lang="en-US" sz="2200" dirty="0"/>
          </a:p>
        </p:txBody>
      </p:sp>
      <p:sp>
        <p:nvSpPr>
          <p:cNvPr id="8" name="Text 6"/>
          <p:cNvSpPr txBox="1"/>
          <p:nvPr/>
        </p:nvSpPr>
        <p:spPr>
          <a:xfrm>
            <a:off x="1508760" y="3017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Point your agent at it</a:t>
            </a:r>
            <a:endParaRPr lang="en-US" sz="2000" dirty="0"/>
          </a:p>
        </p:txBody>
      </p:sp>
      <p:sp>
        <p:nvSpPr>
          <p:cNvPr id="9" name="Text 7"/>
          <p:cNvSpPr txBox="1"/>
          <p:nvPr/>
        </p:nvSpPr>
        <p:spPr>
          <a:xfrm>
            <a:off x="1508760" y="3429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"Apply this Nx atomizer + cache setup to my repo."</a:t>
            </a:r>
            <a:endParaRPr lang="en-US" sz="1400" dirty="0"/>
          </a:p>
        </p:txBody>
      </p:sp>
      <p:sp>
        <p:nvSpPr>
          <p:cNvPr id="10" name="Text 8"/>
          <p:cNvSpPr txBox="1"/>
          <p:nvPr/>
        </p:nvSpPr>
        <p:spPr>
          <a:xfrm>
            <a:off x="640080" y="4160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03</a:t>
            </a:r>
            <a:endParaRPr lang="en-US" sz="2200" dirty="0"/>
          </a:p>
        </p:txBody>
      </p:sp>
      <p:sp>
        <p:nvSpPr>
          <p:cNvPr id="11" name="Text 9"/>
          <p:cNvSpPr txBox="1"/>
          <p:nvPr/>
        </p:nvSpPr>
        <p:spPr>
          <a:xfrm>
            <a:off x="1508760" y="4160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Measure before you believe it</a:t>
            </a:r>
            <a:endParaRPr lang="en-US" sz="2000" dirty="0"/>
          </a:p>
        </p:txBody>
      </p:sp>
      <p:sp>
        <p:nvSpPr>
          <p:cNvPr id="12" name="Text 10"/>
          <p:cNvSpPr txBox="1"/>
          <p:nvPr/>
        </p:nvSpPr>
        <p:spPr>
          <a:xfrm>
            <a:off x="1508760" y="4572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npm run e2e:benchmark, on your machine, on your suite.</a:t>
            </a:r>
            <a:endParaRPr lang="en-US" sz="1400" dirty="0"/>
          </a:p>
        </p:txBody>
      </p:sp>
      <p:sp>
        <p:nvSpPr>
          <p:cNvPr id="13" name="Shape 11"/>
          <p:cNvSpPr/>
          <p:nvPr/>
        </p:nvSpPr>
        <p:spPr>
          <a:xfrm>
            <a:off x="640080" y="5394960"/>
            <a:ext cx="7680960" cy="685800"/>
          </a:xfrm>
          <a:prstGeom prst="roundRect">
            <a:avLst>
              <a:gd name="adj" fmla="val 9333"/>
            </a:avLst>
          </a:prstGeom>
          <a:solidFill>
            <a:srgbClr val="0A0D13"/>
          </a:solidFill>
          <a:ln w="12700">
            <a:solidFill>
              <a:srgbClr val="2C3340"/>
            </a:solidFill>
            <a:prstDash val="solid"/>
          </a:ln>
        </p:spPr>
      </p:sp>
      <p:sp>
        <p:nvSpPr>
          <p:cNvPr id="14" name="Text 12"/>
          <p:cNvSpPr txBox="1"/>
          <p:nvPr/>
        </p:nvSpPr>
        <p:spPr>
          <a:xfrm>
            <a:off x="914400" y="5394960"/>
            <a:ext cx="7132320" cy="685800"/>
          </a:xfrm>
          <a:prstGeom prst="rect">
            <a:avLst/>
          </a:prstGeom>
          <a:noFill/>
          <a:ln/>
        </p:spPr>
        <p:txBody>
          <a:bodyPr wrap="square" lIns="0" tIns="0" rIns="0" bIns="0" rtlCol="0" anchor="ctr"/>
          <a:lstStyle/>
          <a:p>
            <a:pPr indent="0" marL="0">
              <a:buNone/>
            </a:pPr>
            <a:r>
              <a:rPr lang="en-US" sz="1400" dirty="0">
                <a:solidFill>
                  <a:srgbClr val="4ADE80"/>
                </a:solidFill>
                <a:latin typeface="Courier New" pitchFamily="34" charset="0"/>
                <a:ea typeface="Courier New" pitchFamily="34" charset="-122"/>
                <a:cs typeface="Courier New" pitchFamily="34" charset="-120"/>
              </a:rPr>
              <a:t>github.com/radzivil/nx-scaling-e2e-tests-with-atomizer</a:t>
            </a:r>
            <a:endParaRPr lang="en-US" sz="1400" dirty="0"/>
          </a:p>
        </p:txBody>
      </p:sp>
      <p:sp>
        <p:nvSpPr>
          <p:cNvPr id="15" name="Shape 13"/>
          <p:cNvSpPr/>
          <p:nvPr/>
        </p:nvSpPr>
        <p:spPr>
          <a:xfrm>
            <a:off x="8778240" y="1874520"/>
            <a:ext cx="2651760" cy="2651760"/>
          </a:xfrm>
          <a:prstGeom prst="roundRect">
            <a:avLst>
              <a:gd name="adj" fmla="val 2069"/>
            </a:avLst>
          </a:prstGeom>
          <a:solidFill>
            <a:srgbClr val="FFFFFF"/>
          </a:solidFill>
          <a:ln w="12700">
            <a:solidFill>
              <a:srgbClr val="333333"/>
            </a:solidFill>
            <a:prstDash val="solid"/>
          </a:ln>
        </p:spPr>
      </p:sp>
      <p:pic>
        <p:nvPicPr>
          <p:cNvPr id="16" name="Image 0" descr="/Users/vra/IdeaProjects/nx-scaling-e2e-tests-with-atomizer/talk/assets/qr-repo.png">    </p:cNvPr>
          <p:cNvPicPr>
            <a:picLocks noChangeAspect="1"/>
          </p:cNvPicPr>
          <p:nvPr/>
        </p:nvPicPr>
        <p:blipFill>
          <a:blip r:embed="rId1"/>
          <a:stretch>
            <a:fillRect/>
          </a:stretch>
        </p:blipFill>
        <p:spPr>
          <a:xfrm>
            <a:off x="8897112" y="1993392"/>
            <a:ext cx="2414016" cy="2414016"/>
          </a:xfrm>
          <a:prstGeom prst="rect">
            <a:avLst/>
          </a:prstGeom>
        </p:spPr>
      </p:pic>
      <p:sp>
        <p:nvSpPr>
          <p:cNvPr id="17" name="Text 14"/>
          <p:cNvSpPr txBox="1"/>
          <p:nvPr/>
        </p:nvSpPr>
        <p:spPr>
          <a:xfrm>
            <a:off x="8778240" y="4654296"/>
            <a:ext cx="265176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Clone the demo repo</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QUESTIONS</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Q&amp;A</a:t>
            </a:r>
            <a:endParaRPr lang="en-US" sz="3800" dirty="0"/>
          </a:p>
        </p:txBody>
      </p:sp>
      <p:sp>
        <p:nvSpPr>
          <p:cNvPr id="4" name="Text 2"/>
          <p:cNvSpPr txBox="1"/>
          <p:nvPr/>
        </p:nvSpPr>
        <p:spPr>
          <a:xfrm>
            <a:off x="640080" y="2011680"/>
            <a:ext cx="6949440" cy="36576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Things I am happy to go deeper on:</a:t>
            </a:r>
            <a:endParaRPr lang="en-US" sz="1500" dirty="0"/>
          </a:p>
        </p:txBody>
      </p:sp>
      <p:sp>
        <p:nvSpPr>
          <p:cNvPr id="5" name="Text 3"/>
          <p:cNvSpPr txBox="1"/>
          <p:nvPr/>
        </p:nvSpPr>
        <p:spPr>
          <a:xfrm>
            <a:off x="640080" y="2468880"/>
            <a:ext cx="6949440" cy="27432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Why the Nx Cloud gate exists, and whether to just pay for it</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Making this work with Playwright instead of Cypress</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Flaky tests — what the cache does and does not fix</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Sharding a single app that dominates the critical path</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What it took to review 1,000 tests without stopping delivery</a:t>
            </a:r>
            <a:endParaRPr lang="en-US" sz="1500" dirty="0"/>
          </a:p>
        </p:txBody>
      </p:sp>
      <p:sp>
        <p:nvSpPr>
          <p:cNvPr id="6" name="Shape 4"/>
          <p:cNvSpPr/>
          <p:nvPr/>
        </p:nvSpPr>
        <p:spPr>
          <a:xfrm>
            <a:off x="8778240" y="2011680"/>
            <a:ext cx="2468880" cy="2468880"/>
          </a:xfrm>
          <a:prstGeom prst="roundRect">
            <a:avLst>
              <a:gd name="adj" fmla="val 2222"/>
            </a:avLst>
          </a:prstGeom>
          <a:solidFill>
            <a:srgbClr val="FFFFFF"/>
          </a:solidFill>
          <a:ln w="12700">
            <a:solidFill>
              <a:srgbClr val="333333"/>
            </a:solidFill>
            <a:prstDash val="solid"/>
          </a:ln>
        </p:spPr>
      </p:sp>
      <p:pic>
        <p:nvPicPr>
          <p:cNvPr id="7" name="Image 0" descr="/Users/vra/IdeaProjects/nx-scaling-e2e-tests-with-atomizer/talk/assets/qr-repo.png">    </p:cNvPr>
          <p:cNvPicPr>
            <a:picLocks noChangeAspect="1"/>
          </p:cNvPicPr>
          <p:nvPr/>
        </p:nvPicPr>
        <p:blipFill>
          <a:blip r:embed="rId1"/>
          <a:stretch>
            <a:fillRect/>
          </a:stretch>
        </p:blipFill>
        <p:spPr>
          <a:xfrm>
            <a:off x="8897112" y="2130552"/>
            <a:ext cx="2231136" cy="2231136"/>
          </a:xfrm>
          <a:prstGeom prst="rect">
            <a:avLst/>
          </a:prstGeom>
        </p:spPr>
      </p:pic>
      <p:sp>
        <p:nvSpPr>
          <p:cNvPr id="8" name="Text 5"/>
          <p:cNvSpPr txBox="1"/>
          <p:nvPr/>
        </p:nvSpPr>
        <p:spPr>
          <a:xfrm>
            <a:off x="8778240" y="4608576"/>
            <a:ext cx="246888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The repo</a:t>
            </a:r>
            <a:endParaRPr lang="en-US" sz="1200" dirty="0"/>
          </a:p>
        </p:txBody>
      </p:sp>
      <p:sp>
        <p:nvSpPr>
          <p:cNvPr id="9" name="Text 6"/>
          <p:cNvSpPr txBox="1"/>
          <p:nvPr/>
        </p:nvSpPr>
        <p:spPr>
          <a:xfrm>
            <a:off x="640080" y="5669280"/>
            <a:ext cx="10881360" cy="365760"/>
          </a:xfrm>
          <a:prstGeom prst="rect">
            <a:avLst/>
          </a:prstGeom>
          <a:noFill/>
          <a:ln/>
        </p:spPr>
        <p:txBody>
          <a:bodyPr wrap="square" lIns="0" tIns="0" rIns="0" bIns="0" rtlCol="0" anchor="ctr"/>
          <a:lstStyle/>
          <a:p>
            <a:pPr indent="0" marL="0">
              <a:buNone/>
            </a:pPr>
            <a:r>
              <a:rPr lang="en-US" sz="1300" dirty="0">
                <a:solidFill>
                  <a:srgbClr val="8A94A6"/>
                </a:solidFill>
                <a:latin typeface="Courier New" pitchFamily="34" charset="0"/>
                <a:ea typeface="Courier New" pitchFamily="34" charset="-122"/>
                <a:cs typeface="Courier New" pitchFamily="34" charset="-120"/>
              </a:rPr>
              <a:t>github.com/radzivil/nx-scaling-e2e-tests-with-atomizer</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THANK YOU</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How was it?</a:t>
            </a:r>
            <a:endParaRPr lang="en-US" sz="3800" dirty="0"/>
          </a:p>
        </p:txBody>
      </p:sp>
      <p:sp>
        <p:nvSpPr>
          <p:cNvPr id="4" name="Text 2"/>
          <p:cNvSpPr txBox="1"/>
          <p:nvPr/>
        </p:nvSpPr>
        <p:spPr>
          <a:xfrm>
            <a:off x="640080" y="1965960"/>
            <a:ext cx="6766560" cy="457200"/>
          </a:xfrm>
          <a:prstGeom prst="rect">
            <a:avLst/>
          </a:prstGeom>
          <a:noFill/>
          <a:ln/>
        </p:spPr>
        <p:txBody>
          <a:bodyPr wrap="square" lIns="0" tIns="0" rIns="0" bIns="0" rtlCol="0" anchor="ctr"/>
          <a:lstStyle/>
          <a:p>
            <a:pPr indent="0" marL="0">
              <a:buNone/>
            </a:pPr>
            <a:r>
              <a:rPr lang="en-US" sz="1900" dirty="0">
                <a:solidFill>
                  <a:srgbClr val="10131A"/>
                </a:solidFill>
                <a:latin typeface="Calibri" pitchFamily="34" charset="0"/>
                <a:ea typeface="Calibri" pitchFamily="34" charset="-122"/>
                <a:cs typeface="Calibri" pitchFamily="34" charset="-120"/>
              </a:rPr>
              <a:t>Two minutes of feedback makes the next one better.</a:t>
            </a:r>
            <a:endParaRPr lang="en-US" sz="1900" dirty="0"/>
          </a:p>
        </p:txBody>
      </p:sp>
      <p:sp>
        <p:nvSpPr>
          <p:cNvPr id="5" name="Text 3"/>
          <p:cNvSpPr txBox="1"/>
          <p:nvPr/>
        </p:nvSpPr>
        <p:spPr>
          <a:xfrm>
            <a:off x="640080" y="2697480"/>
            <a:ext cx="6766560" cy="320040"/>
          </a:xfrm>
          <a:prstGeom prst="rect">
            <a:avLst/>
          </a:prstGeom>
          <a:noFill/>
          <a:ln/>
        </p:spPr>
        <p:txBody>
          <a:bodyPr wrap="square" lIns="0" tIns="0" rIns="0" bIns="0" rtlCol="0" anchor="ctr"/>
          <a:lstStyle/>
          <a:p>
            <a:pPr indent="0" marL="0">
              <a:buNone/>
            </a:pPr>
            <a:r>
              <a:rPr lang="en-US" sz="1400" b="1" spc="100" kern="0" dirty="0">
                <a:solidFill>
                  <a:srgbClr val="8A94A6"/>
                </a:solidFill>
                <a:latin typeface="Calibri" pitchFamily="34" charset="0"/>
                <a:ea typeface="Calibri" pitchFamily="34" charset="-122"/>
                <a:cs typeface="Calibri" pitchFamily="34" charset="-120"/>
              </a:rPr>
              <a:t>What to take back</a:t>
            </a:r>
            <a:endParaRPr lang="en-US" sz="1400" dirty="0"/>
          </a:p>
        </p:txBody>
      </p:sp>
      <p:sp>
        <p:nvSpPr>
          <p:cNvPr id="6" name="Text 4"/>
          <p:cNvSpPr txBox="1"/>
          <p:nvPr/>
        </p:nvSpPr>
        <p:spPr>
          <a:xfrm>
            <a:off x="640080" y="3108960"/>
            <a:ext cx="6766560" cy="237744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Splitting is generated, not maintained</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Splitting alone is not a speedup — concurrency is</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The cache is the retry story: failures are never cached</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Distribute by app before you distribute by index</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None of it needs Nx Cloud</a:t>
            </a:r>
            <a:endParaRPr lang="en-US" sz="1400" dirty="0"/>
          </a:p>
        </p:txBody>
      </p:sp>
      <p:sp>
        <p:nvSpPr>
          <p:cNvPr id="7" name="Shape 5"/>
          <p:cNvSpPr/>
          <p:nvPr/>
        </p:nvSpPr>
        <p:spPr>
          <a:xfrm>
            <a:off x="8321040" y="1920240"/>
            <a:ext cx="2926080" cy="2926080"/>
          </a:xfrm>
          <a:prstGeom prst="roundRect">
            <a:avLst>
              <a:gd name="adj" fmla="val 1875"/>
            </a:avLst>
          </a:prstGeom>
          <a:solidFill>
            <a:srgbClr val="FFFFFF"/>
          </a:solidFill>
          <a:ln w="12700">
            <a:solidFill>
              <a:srgbClr val="333333"/>
            </a:solidFill>
            <a:prstDash val="solid"/>
          </a:ln>
        </p:spPr>
      </p:sp>
      <p:pic>
        <p:nvPicPr>
          <p:cNvPr id="8" name="Image 0" descr="/Users/vra/IdeaProjects/nx-scaling-e2e-tests-with-atomizer/talk/assets/qr-feedback.png">    </p:cNvPr>
          <p:cNvPicPr>
            <a:picLocks noChangeAspect="1"/>
          </p:cNvPicPr>
          <p:nvPr/>
        </p:nvPicPr>
        <p:blipFill>
          <a:blip r:embed="rId1"/>
          <a:stretch>
            <a:fillRect/>
          </a:stretch>
        </p:blipFill>
        <p:spPr>
          <a:xfrm>
            <a:off x="8439912" y="2039112"/>
            <a:ext cx="2688336" cy="2688336"/>
          </a:xfrm>
          <a:prstGeom prst="rect">
            <a:avLst/>
          </a:prstGeom>
        </p:spPr>
      </p:pic>
      <p:sp>
        <p:nvSpPr>
          <p:cNvPr id="9" name="Text 6"/>
          <p:cNvSpPr txBox="1"/>
          <p:nvPr/>
        </p:nvSpPr>
        <p:spPr>
          <a:xfrm>
            <a:off x="8321040" y="4974336"/>
            <a:ext cx="2926080" cy="320040"/>
          </a:xfrm>
          <a:prstGeom prst="rect">
            <a:avLst/>
          </a:prstGeom>
          <a:noFill/>
          <a:ln/>
        </p:spPr>
        <p:txBody>
          <a:bodyPr wrap="square" lIns="0" tIns="0" rIns="0" bIns="0" rtlCol="0" anchor="ctr"/>
          <a:lstStyle/>
          <a:p>
            <a:pPr algn="ctr" indent="0" marL="0">
              <a:buNone/>
            </a:pPr>
            <a:r>
              <a:rPr lang="en-US" sz="1200" dirty="0">
                <a:solidFill>
                  <a:srgbClr val="5C6675"/>
                </a:solidFill>
                <a:latin typeface="Calibri" pitchFamily="34" charset="0"/>
                <a:ea typeface="Calibri" pitchFamily="34" charset="-122"/>
                <a:cs typeface="Calibri" pitchFamily="34" charset="-120"/>
              </a:rPr>
              <a:t>Session feedback</a:t>
            </a:r>
            <a:endParaRPr lang="en-US" sz="1200" dirty="0"/>
          </a:p>
        </p:txBody>
      </p:sp>
      <p:sp>
        <p:nvSpPr>
          <p:cNvPr id="10" name="Text 7"/>
          <p:cNvSpPr txBox="1"/>
          <p:nvPr/>
        </p:nvSpPr>
        <p:spPr>
          <a:xfrm>
            <a:off x="640080" y="5806440"/>
            <a:ext cx="10881360" cy="36576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Vladimir Radzivil · linkedin.com/in/vladimirradzivil</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2743200"/>
            <a:ext cx="1088136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3" name="Text 1"/>
          <p:cNvSpPr txBox="1"/>
          <p:nvPr/>
        </p:nvSpPr>
        <p:spPr>
          <a:xfrm>
            <a:off x="640080" y="3566160"/>
            <a:ext cx="10881360" cy="457200"/>
          </a:xfrm>
          <a:prstGeom prst="rect">
            <a:avLst/>
          </a:prstGeom>
          <a:noFill/>
          <a:ln/>
        </p:spPr>
        <p:txBody>
          <a:bodyPr wrap="square" lIns="0" tIns="0" rIns="0" bIns="0" rtlCol="0" anchor="ctr"/>
          <a:lstStyle/>
          <a:p>
            <a:pPr indent="0" marL="0">
              <a:buNone/>
            </a:pPr>
            <a:r>
              <a:rPr lang="en-US" sz="1700" dirty="0">
                <a:solidFill>
                  <a:srgbClr val="8A94A6"/>
                </a:solidFill>
                <a:latin typeface="Calibri" pitchFamily="34" charset="0"/>
                <a:ea typeface="Calibri" pitchFamily="34" charset="-122"/>
                <a:cs typeface="Calibri" pitchFamily="34" charset="-120"/>
              </a:rPr>
              <a:t>Kept back for questions.</a:t>
            </a:r>
            <a:endParaRPr lang="en-US" sz="1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BEFORE YOU TRY THIS AT WORK</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Six things that will bite you</a:t>
            </a:r>
            <a:endParaRPr lang="en-US" sz="3800" dirty="0"/>
          </a:p>
        </p:txBody>
      </p:sp>
      <p:sp>
        <p:nvSpPr>
          <p:cNvPr id="4" name="Shape 2"/>
          <p:cNvSpPr/>
          <p:nvPr/>
        </p:nvSpPr>
        <p:spPr>
          <a:xfrm>
            <a:off x="640080" y="1929384"/>
            <a:ext cx="365760" cy="365760"/>
          </a:xfrm>
          <a:prstGeom prst="ellipse">
            <a:avLst/>
          </a:prstGeom>
          <a:solidFill>
            <a:srgbClr val="B45309"/>
          </a:solidFill>
          <a:ln/>
        </p:spPr>
      </p:sp>
      <p:sp>
        <p:nvSpPr>
          <p:cNvPr id="5" name="Text 3"/>
          <p:cNvSpPr txBox="1"/>
          <p:nvPr/>
        </p:nvSpPr>
        <p:spPr>
          <a:xfrm>
            <a:off x="640080" y="192938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88720" y="187452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Per-task startup tax</a:t>
            </a:r>
            <a:endParaRPr lang="en-US" sz="1600" dirty="0"/>
          </a:p>
        </p:txBody>
      </p:sp>
      <p:sp>
        <p:nvSpPr>
          <p:cNvPr id="7" name="Text 5"/>
          <p:cNvSpPr txBox="1"/>
          <p:nvPr/>
        </p:nvSpPr>
        <p:spPr>
          <a:xfrm>
            <a:off x="5303520" y="187452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atomized target boots Cypress. Parallelism has to beat it.</a:t>
            </a:r>
            <a:endParaRPr lang="en-US" sz="1400" dirty="0"/>
          </a:p>
        </p:txBody>
      </p:sp>
      <p:sp>
        <p:nvSpPr>
          <p:cNvPr id="8" name="Shape 6"/>
          <p:cNvSpPr/>
          <p:nvPr/>
        </p:nvSpPr>
        <p:spPr>
          <a:xfrm>
            <a:off x="640080" y="2706624"/>
            <a:ext cx="365760" cy="365760"/>
          </a:xfrm>
          <a:prstGeom prst="ellipse">
            <a:avLst/>
          </a:prstGeom>
          <a:solidFill>
            <a:srgbClr val="B45309"/>
          </a:solidFill>
          <a:ln/>
        </p:spPr>
      </p:sp>
      <p:sp>
        <p:nvSpPr>
          <p:cNvPr id="9" name="Text 7"/>
          <p:cNvSpPr txBox="1"/>
          <p:nvPr/>
        </p:nvSpPr>
        <p:spPr>
          <a:xfrm>
            <a:off x="640080" y="27066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188720" y="265176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e2e-ci is gated on Nx 23</a:t>
            </a:r>
            <a:endParaRPr lang="en-US" sz="1600" dirty="0"/>
          </a:p>
        </p:txBody>
      </p:sp>
      <p:sp>
        <p:nvSpPr>
          <p:cNvPr id="11" name="Text 9"/>
          <p:cNvSpPr txBox="1"/>
          <p:nvPr/>
        </p:nvSpPr>
        <p:spPr>
          <a:xfrm>
            <a:off x="5303520" y="265176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The wrapper needs Nx Cloud. The leaf targets do not.</a:t>
            </a:r>
            <a:endParaRPr lang="en-US" sz="1400" dirty="0"/>
          </a:p>
        </p:txBody>
      </p:sp>
      <p:sp>
        <p:nvSpPr>
          <p:cNvPr id="12" name="Shape 10"/>
          <p:cNvSpPr/>
          <p:nvPr/>
        </p:nvSpPr>
        <p:spPr>
          <a:xfrm>
            <a:off x="640080" y="3483864"/>
            <a:ext cx="365760" cy="365760"/>
          </a:xfrm>
          <a:prstGeom prst="ellipse">
            <a:avLst/>
          </a:prstGeom>
          <a:solidFill>
            <a:srgbClr val="B45309"/>
          </a:solidFill>
          <a:ln/>
        </p:spPr>
      </p:sp>
      <p:sp>
        <p:nvSpPr>
          <p:cNvPr id="13" name="Text 11"/>
          <p:cNvSpPr txBox="1"/>
          <p:nvPr/>
        </p:nvSpPr>
        <p:spPr>
          <a:xfrm>
            <a:off x="640080" y="348386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88720" y="342900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The cache is not in .nx/cache</a:t>
            </a:r>
            <a:endParaRPr lang="en-US" sz="1600" dirty="0"/>
          </a:p>
        </p:txBody>
      </p:sp>
      <p:sp>
        <p:nvSpPr>
          <p:cNvPr id="15" name="Text 13"/>
          <p:cNvSpPr txBox="1"/>
          <p:nvPr/>
        </p:nvSpPr>
        <p:spPr>
          <a:xfrm>
            <a:off x="5303520" y="342900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Nx 23 puts it in ~/.nx/&lt;hash&gt;/cache. Every CI recipe online caches the wrong path.</a:t>
            </a:r>
            <a:endParaRPr lang="en-US" sz="1400" dirty="0"/>
          </a:p>
        </p:txBody>
      </p:sp>
      <p:sp>
        <p:nvSpPr>
          <p:cNvPr id="16" name="Shape 14"/>
          <p:cNvSpPr/>
          <p:nvPr/>
        </p:nvSpPr>
        <p:spPr>
          <a:xfrm>
            <a:off x="640080" y="4261104"/>
            <a:ext cx="365760" cy="365760"/>
          </a:xfrm>
          <a:prstGeom prst="ellipse">
            <a:avLst/>
          </a:prstGeom>
          <a:solidFill>
            <a:srgbClr val="B45309"/>
          </a:solidFill>
          <a:ln/>
        </p:spPr>
      </p:sp>
      <p:sp>
        <p:nvSpPr>
          <p:cNvPr id="17" name="Text 15"/>
          <p:cNvSpPr txBox="1"/>
          <p:nvPr/>
        </p:nvSpPr>
        <p:spPr>
          <a:xfrm>
            <a:off x="640080" y="426110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188720" y="420624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Parallel Cypress fights over :99</a:t>
            </a:r>
            <a:endParaRPr lang="en-US" sz="1600" dirty="0"/>
          </a:p>
        </p:txBody>
      </p:sp>
      <p:sp>
        <p:nvSpPr>
          <p:cNvPr id="19" name="Text 17"/>
          <p:cNvSpPr txBox="1"/>
          <p:nvPr/>
        </p:nvSpPr>
        <p:spPr>
          <a:xfrm>
            <a:off x="5303520" y="420624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process spawns its own Xvfb. Start one and export DISPLAY.</a:t>
            </a:r>
            <a:endParaRPr lang="en-US" sz="1400" dirty="0"/>
          </a:p>
        </p:txBody>
      </p:sp>
      <p:sp>
        <p:nvSpPr>
          <p:cNvPr id="20" name="Shape 18"/>
          <p:cNvSpPr/>
          <p:nvPr/>
        </p:nvSpPr>
        <p:spPr>
          <a:xfrm>
            <a:off x="640080" y="5038344"/>
            <a:ext cx="365760" cy="365760"/>
          </a:xfrm>
          <a:prstGeom prst="ellipse">
            <a:avLst/>
          </a:prstGeom>
          <a:solidFill>
            <a:srgbClr val="B45309"/>
          </a:solidFill>
          <a:ln/>
        </p:spPr>
      </p:sp>
      <p:sp>
        <p:nvSpPr>
          <p:cNvPr id="21" name="Text 19"/>
          <p:cNvSpPr txBox="1"/>
          <p:nvPr/>
        </p:nvSpPr>
        <p:spPr>
          <a:xfrm>
            <a:off x="640080" y="503834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1188720" y="498348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Cache the Cypress binary</a:t>
            </a:r>
            <a:endParaRPr lang="en-US" sz="1600" dirty="0"/>
          </a:p>
        </p:txBody>
      </p:sp>
      <p:sp>
        <p:nvSpPr>
          <p:cNvPr id="23" name="Text 21"/>
          <p:cNvSpPr txBox="1"/>
          <p:nvPr/>
        </p:nvSpPr>
        <p:spPr>
          <a:xfrm>
            <a:off x="5303520" y="498348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Otherwise every CI shard re-downloads ~200 MB.</a:t>
            </a:r>
            <a:endParaRPr lang="en-US" sz="1400" dirty="0"/>
          </a:p>
        </p:txBody>
      </p:sp>
      <p:sp>
        <p:nvSpPr>
          <p:cNvPr id="24" name="Shape 22"/>
          <p:cNvSpPr/>
          <p:nvPr/>
        </p:nvSpPr>
        <p:spPr>
          <a:xfrm>
            <a:off x="640080" y="5815584"/>
            <a:ext cx="365760" cy="365760"/>
          </a:xfrm>
          <a:prstGeom prst="ellipse">
            <a:avLst/>
          </a:prstGeom>
          <a:solidFill>
            <a:srgbClr val="B45309"/>
          </a:solidFill>
          <a:ln/>
        </p:spPr>
      </p:sp>
      <p:sp>
        <p:nvSpPr>
          <p:cNvPr id="25" name="Text 23"/>
          <p:cNvSpPr txBox="1"/>
          <p:nvPr/>
        </p:nvSpPr>
        <p:spPr>
          <a:xfrm>
            <a:off x="640080" y="581558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4"/>
          <p:cNvSpPr txBox="1"/>
          <p:nvPr/>
        </p:nvSpPr>
        <p:spPr>
          <a:xfrm>
            <a:off x="1188720" y="576072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App changes invalidate everything</a:t>
            </a:r>
            <a:endParaRPr lang="en-US" sz="1600" dirty="0"/>
          </a:p>
        </p:txBody>
      </p:sp>
      <p:sp>
        <p:nvSpPr>
          <p:cNvPr id="27" name="Text 25"/>
          <p:cNvSpPr txBox="1"/>
          <p:nvPr/>
        </p:nvSpPr>
        <p:spPr>
          <a:xfrm>
            <a:off x="5303520" y="576072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Correct, but it limits when failure-only retries help.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Scaling E2E Tests the Smart Way with Nx</dc:title>
  <dc:subject>PptxGenJS Presentation</dc:subject>
  <dc:creator>Vladimir Radzivil</dc:creator>
  <cp:lastModifiedBy>Vladimir Radzivil</cp:lastModifiedBy>
  <cp:revision>1</cp:revision>
  <dcterms:created xsi:type="dcterms:W3CDTF">2026-09-08T01:06:04Z</dcterms:created>
  <dcterms:modified xsi:type="dcterms:W3CDTF">2026-09-08T01:06:04Z</dcterms:modified>
</cp:coreProperties>
</file>