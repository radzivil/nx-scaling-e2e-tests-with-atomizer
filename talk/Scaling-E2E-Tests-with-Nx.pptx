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in this talk is measured on the repo linked below, and every command runs with no Nx Cloud account. Promise the audience three numbers: ~1m33s, ~40s, and 0.15s. Re-measure on your own machine the morning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03 and 05 are the new material versus the last time I gave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`npx nx e2e shop-e2e` before the talk so the number on screen is one they just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60 seconds. The hashing bullet is the one that pays off in section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Forty seconds is short enough to actually watch the specs stream past. Timings vary run to run — say "about forty seconds", not a precise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overhead buys credibility for the cache claims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argument is that the free tier of this idea is unclaimed, not that the paid product is pointless. The 1m32s to 38s figure is from this repo's own Actions runs, same commit run twice; the e2e step itself drops to 31ms and what remains is checkout plus npm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number four. Most teams pay the slow-suite tax without ever having tried the free half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clone command up for the whole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920240"/>
            <a:ext cx="96012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Scaling E2E Tests</a:t>
            </a:r>
            <a:endParaRPr lang="en-US" sz="5400" dirty="0"/>
          </a:p>
        </p:txBody>
      </p:sp>
      <p:sp>
        <p:nvSpPr>
          <p:cNvPr id="3" name="Text 1"/>
          <p:cNvSpPr txBox="1"/>
          <p:nvPr/>
        </p:nvSpPr>
        <p:spPr>
          <a:xfrm>
            <a:off x="640080" y="2743200"/>
            <a:ext cx="9601200" cy="868680"/>
          </a:xfrm>
          <a:prstGeom prst="rect">
            <a:avLst/>
          </a:prstGeom>
          <a:noFill/>
          <a:ln/>
        </p:spPr>
        <p:txBody>
          <a:bodyPr wrap="square" lIns="0" tIns="0" rIns="0" bIns="0" rtlCol="0" anchor="ctr"/>
          <a:lstStyle/>
          <a:p>
            <a:pPr indent="0" marL="0">
              <a:buNone/>
            </a:pPr>
            <a:r>
              <a:rPr lang="en-US" sz="5400" b="1" dirty="0">
                <a:solidFill>
                  <a:srgbClr val="4ADE80"/>
                </a:solidFill>
                <a:latin typeface="Cambria" pitchFamily="34" charset="0"/>
                <a:ea typeface="Cambria" pitchFamily="34" charset="-122"/>
                <a:cs typeface="Cambria" pitchFamily="34" charset="-120"/>
              </a:rPr>
              <a:t>the Smart Way with Nx</a:t>
            </a:r>
            <a:endParaRPr lang="en-US" sz="5400" dirty="0"/>
          </a:p>
        </p:txBody>
      </p:sp>
      <p:sp>
        <p:nvSpPr>
          <p:cNvPr id="4" name="Text 2"/>
          <p:cNvSpPr txBox="1"/>
          <p:nvPr/>
        </p:nvSpPr>
        <p:spPr>
          <a:xfrm>
            <a:off x="640080" y="3749040"/>
            <a:ext cx="9601200" cy="411480"/>
          </a:xfrm>
          <a:prstGeom prst="rect">
            <a:avLst/>
          </a:prstGeom>
          <a:noFill/>
          <a:ln/>
        </p:spPr>
        <p:txBody>
          <a:bodyPr wrap="square" lIns="0" tIns="0" rIns="0" bIns="0" rtlCol="0" anchor="ctr"/>
          <a:lstStyle/>
          <a:p>
            <a:pPr indent="0" marL="0">
              <a:buNone/>
            </a:pPr>
            <a:r>
              <a:rPr lang="en-US" sz="18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800" dirty="0"/>
          </a:p>
        </p:txBody>
      </p:sp>
      <p:sp>
        <p:nvSpPr>
          <p:cNvPr id="5" name="Text 3"/>
          <p:cNvSpPr txBox="1"/>
          <p:nvPr/>
        </p:nvSpPr>
        <p:spPr>
          <a:xfrm>
            <a:off x="640080" y="512064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Vladimir Radzivil</a:t>
            </a:r>
            <a:endParaRPr lang="en-US" sz="1500" dirty="0"/>
          </a:p>
        </p:txBody>
      </p:sp>
      <p:sp>
        <p:nvSpPr>
          <p:cNvPr id="6" name="Text 4"/>
          <p:cNvSpPr txBox="1"/>
          <p:nvPr/>
        </p:nvSpPr>
        <p:spPr>
          <a:xfrm>
            <a:off x="640080" y="5468112"/>
            <a:ext cx="7315200" cy="320040"/>
          </a:xfrm>
          <a:prstGeom prst="rect">
            <a:avLst/>
          </a:prstGeom>
          <a:noFill/>
          <a:ln/>
        </p:spPr>
        <p:txBody>
          <a:bodyPr wrap="square" lIns="0" tIns="0" rIns="0" bIns="0" rtlCol="0" anchor="ctr"/>
          <a:lstStyle/>
          <a:p>
            <a:pPr indent="0" marL="0">
              <a:buNone/>
            </a:pPr>
            <a:r>
              <a:rPr lang="en-US" sz="1200" dirty="0">
                <a:solidFill>
                  <a:srgbClr val="8A94A6"/>
                </a:solidFill>
                <a:latin typeface="Courier New" pitchFamily="34" charset="0"/>
                <a:ea typeface="Courier New" pitchFamily="34" charset="-122"/>
                <a:cs typeface="Courier New" pitchFamily="34" charset="-120"/>
              </a:rPr>
              <a:t>Live demo: github.com/radzivil/nx-scaling-e2e-tests-with-atomizer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Two small scripts get the split back</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Distribution</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A GitHub matrix instead of a subscription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suite is slow, so nobody runs it</a:t>
            </a:r>
            <a:endParaRPr lang="en-US" sz="3800" dirty="0"/>
          </a:p>
        </p:txBody>
      </p:sp>
      <p:sp>
        <p:nvSpPr>
          <p:cNvPr id="4" name="Text 2"/>
          <p:cNvSpPr txBox="1"/>
          <p:nvPr/>
        </p:nvSpPr>
        <p:spPr>
          <a:xfrm>
            <a:off x="640080" y="1920240"/>
            <a:ext cx="548640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One task, one process, every spec in sequence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Ten to thirty minutes on a real suite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it moves to a nightly job</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a failure is found the morning after it was written</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the author has already moved on</a:t>
            </a:r>
            <a:endParaRPr lang="en-US" sz="1700" dirty="0"/>
          </a:p>
        </p:txBody>
      </p:sp>
      <p:sp>
        <p:nvSpPr>
          <p:cNvPr id="5" name="Shape 3"/>
          <p:cNvSpPr/>
          <p:nvPr/>
        </p:nvSpPr>
        <p:spPr>
          <a:xfrm>
            <a:off x="6583680" y="1828800"/>
            <a:ext cx="4937760" cy="2651760"/>
          </a:xfrm>
          <a:prstGeom prst="roundRect">
            <a:avLst>
              <a:gd name="adj" fmla="val 2759"/>
            </a:avLst>
          </a:prstGeom>
          <a:solidFill>
            <a:srgbClr val="1B2029"/>
          </a:solidFill>
          <a:ln w="12700">
            <a:solidFill>
              <a:srgbClr val="2C3340"/>
            </a:solidFill>
            <a:prstDash val="solid"/>
          </a:ln>
        </p:spPr>
      </p:sp>
      <p:sp>
        <p:nvSpPr>
          <p:cNvPr id="6" name="Text 4"/>
          <p:cNvSpPr txBox="1"/>
          <p:nvPr/>
        </p:nvSpPr>
        <p:spPr>
          <a:xfrm>
            <a:off x="6812280" y="2011680"/>
            <a:ext cx="4480560" cy="27432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This repo, before any of it</a:t>
            </a:r>
            <a:endParaRPr lang="en-US" sz="1300" dirty="0"/>
          </a:p>
        </p:txBody>
      </p:sp>
      <p:sp>
        <p:nvSpPr>
          <p:cNvPr id="7" name="Text 5"/>
          <p:cNvSpPr txBox="1"/>
          <p:nvPr/>
        </p:nvSpPr>
        <p:spPr>
          <a:xfrm>
            <a:off x="6812280" y="2331720"/>
            <a:ext cx="4480560" cy="822960"/>
          </a:xfrm>
          <a:prstGeom prst="rect">
            <a:avLst/>
          </a:prstGeom>
          <a:noFill/>
          <a:ln/>
        </p:spPr>
        <p:txBody>
          <a:bodyPr wrap="square" lIns="0" tIns="0" rIns="0" bIns="0" rtlCol="0" anchor="ctr"/>
          <a:lstStyle/>
          <a:p>
            <a:pPr indent="0" marL="0">
              <a:buNone/>
            </a:pPr>
            <a:r>
              <a:rPr lang="en-US" sz="5200" b="1" dirty="0">
                <a:solidFill>
                  <a:srgbClr val="F5A524"/>
                </a:solidFill>
                <a:latin typeface="Cambria" pitchFamily="34" charset="0"/>
                <a:ea typeface="Cambria" pitchFamily="34" charset="-122"/>
                <a:cs typeface="Cambria" pitchFamily="34" charset="-120"/>
              </a:rPr>
              <a:t>1m 33s</a:t>
            </a:r>
            <a:endParaRPr lang="en-US" sz="5200" dirty="0"/>
          </a:p>
        </p:txBody>
      </p:sp>
      <p:sp>
        <p:nvSpPr>
          <p:cNvPr id="8" name="Text 6"/>
          <p:cNvSpPr txBox="1"/>
          <p:nvPr/>
        </p:nvSpPr>
        <p:spPr>
          <a:xfrm>
            <a:off x="6812280" y="3200400"/>
            <a:ext cx="448056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10 spec files · 56 tests · one Cypress process</a:t>
            </a:r>
            <a:endParaRPr lang="en-US" sz="1300" dirty="0"/>
          </a:p>
        </p:txBody>
      </p:sp>
      <p:sp>
        <p:nvSpPr>
          <p:cNvPr id="9" name="Text 7"/>
          <p:cNvSpPr txBox="1"/>
          <p:nvPr/>
        </p:nvSpPr>
        <p:spPr>
          <a:xfrm>
            <a:off x="6812280" y="3611880"/>
            <a:ext cx="4480560" cy="6400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Scale that to 200 specs and you have the nightly job.</a:t>
            </a:r>
            <a:endParaRPr lang="en-US" sz="1300" dirty="0"/>
          </a:p>
        </p:txBody>
      </p:sp>
      <p:sp>
        <p:nvSpPr>
          <p:cNvPr id="10" name="Text 8"/>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Speed of feedback is speed of delivery.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CONTEXT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Nx is a task graph, not a test runner</a:t>
            </a:r>
            <a:endParaRPr lang="en-US" sz="3800" dirty="0"/>
          </a:p>
        </p:txBody>
      </p:sp>
      <p:sp>
        <p:nvSpPr>
          <p:cNvPr id="4" name="Shape 2"/>
          <p:cNvSpPr/>
          <p:nvPr/>
        </p:nvSpPr>
        <p:spPr>
          <a:xfrm>
            <a:off x="640080" y="1965960"/>
            <a:ext cx="3429000" cy="2011680"/>
          </a:xfrm>
          <a:prstGeom prst="roundRect">
            <a:avLst>
              <a:gd name="adj" fmla="val 3182"/>
            </a:avLst>
          </a:prstGeom>
          <a:solidFill>
            <a:srgbClr val="FFFFFF"/>
          </a:solidFill>
          <a:ln w="12700">
            <a:solidFill>
              <a:srgbClr val="DFE4EC"/>
            </a:solidFill>
            <a:prstDash val="solid"/>
          </a:ln>
        </p:spPr>
      </p:sp>
      <p:sp>
        <p:nvSpPr>
          <p:cNvPr id="5" name="Shape 3"/>
          <p:cNvSpPr/>
          <p:nvPr/>
        </p:nvSpPr>
        <p:spPr>
          <a:xfrm>
            <a:off x="868680" y="2194560"/>
            <a:ext cx="384048" cy="384048"/>
          </a:xfrm>
          <a:prstGeom prst="ellipse">
            <a:avLst/>
          </a:prstGeom>
          <a:solidFill>
            <a:srgbClr val="0B7A44"/>
          </a:solidFill>
          <a:ln/>
        </p:spPr>
      </p:sp>
      <p:sp>
        <p:nvSpPr>
          <p:cNvPr id="6" name="Text 4"/>
          <p:cNvSpPr txBox="1"/>
          <p:nvPr/>
        </p:nvSpPr>
        <p:spPr>
          <a:xfrm>
            <a:off x="8686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Knows your graph</a:t>
            </a:r>
            <a:endParaRPr lang="en-US" sz="1600" dirty="0"/>
          </a:p>
        </p:txBody>
      </p:sp>
      <p:sp>
        <p:nvSpPr>
          <p:cNvPr id="8" name="Text 6"/>
          <p:cNvSpPr txBox="1"/>
          <p:nvPr/>
        </p:nvSpPr>
        <p:spPr>
          <a:xfrm>
            <a:off x="86868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Which projects exist, what depends on what, which files feed which task.</a:t>
            </a:r>
            <a:endParaRPr lang="en-US" sz="1300" dirty="0"/>
          </a:p>
        </p:txBody>
      </p:sp>
      <p:sp>
        <p:nvSpPr>
          <p:cNvPr id="9" name="Shape 7"/>
          <p:cNvSpPr/>
          <p:nvPr/>
        </p:nvSpPr>
        <p:spPr>
          <a:xfrm>
            <a:off x="4343400" y="1965960"/>
            <a:ext cx="3429000" cy="2011680"/>
          </a:xfrm>
          <a:prstGeom prst="roundRect">
            <a:avLst>
              <a:gd name="adj" fmla="val 3182"/>
            </a:avLst>
          </a:prstGeom>
          <a:solidFill>
            <a:srgbClr val="FFFFFF"/>
          </a:solidFill>
          <a:ln w="12700">
            <a:solidFill>
              <a:srgbClr val="DFE4EC"/>
            </a:solidFill>
            <a:prstDash val="solid"/>
          </a:ln>
        </p:spPr>
      </p:sp>
      <p:sp>
        <p:nvSpPr>
          <p:cNvPr id="10" name="Shape 8"/>
          <p:cNvSpPr/>
          <p:nvPr/>
        </p:nvSpPr>
        <p:spPr>
          <a:xfrm>
            <a:off x="4572000" y="2194560"/>
            <a:ext cx="384048" cy="384048"/>
          </a:xfrm>
          <a:prstGeom prst="ellipse">
            <a:avLst/>
          </a:prstGeom>
          <a:solidFill>
            <a:srgbClr val="0B7A44"/>
          </a:solidFill>
          <a:ln/>
        </p:spPr>
      </p:sp>
      <p:sp>
        <p:nvSpPr>
          <p:cNvPr id="11" name="Text 9"/>
          <p:cNvSpPr txBox="1"/>
          <p:nvPr/>
        </p:nvSpPr>
        <p:spPr>
          <a:xfrm>
            <a:off x="4572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07492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Schedules tasks</a:t>
            </a:r>
            <a:endParaRPr lang="en-US" sz="1600" dirty="0"/>
          </a:p>
        </p:txBody>
      </p:sp>
      <p:sp>
        <p:nvSpPr>
          <p:cNvPr id="13" name="Text 11"/>
          <p:cNvSpPr txBox="1"/>
          <p:nvPr/>
        </p:nvSpPr>
        <p:spPr>
          <a:xfrm>
            <a:off x="457200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Runs independent tasks concurrently and orders the dependent ones.</a:t>
            </a:r>
            <a:endParaRPr lang="en-US" sz="1300" dirty="0"/>
          </a:p>
        </p:txBody>
      </p:sp>
      <p:sp>
        <p:nvSpPr>
          <p:cNvPr id="14" name="Shape 12"/>
          <p:cNvSpPr/>
          <p:nvPr/>
        </p:nvSpPr>
        <p:spPr>
          <a:xfrm>
            <a:off x="8046720" y="1965960"/>
            <a:ext cx="3429000" cy="2011680"/>
          </a:xfrm>
          <a:prstGeom prst="roundRect">
            <a:avLst>
              <a:gd name="adj" fmla="val 3182"/>
            </a:avLst>
          </a:prstGeom>
          <a:solidFill>
            <a:srgbClr val="FFFFFF"/>
          </a:solidFill>
          <a:ln w="12700">
            <a:solidFill>
              <a:srgbClr val="DFE4EC"/>
            </a:solidFill>
            <a:prstDash val="solid"/>
          </a:ln>
        </p:spPr>
      </p:sp>
      <p:sp>
        <p:nvSpPr>
          <p:cNvPr id="15" name="Shape 13"/>
          <p:cNvSpPr/>
          <p:nvPr/>
        </p:nvSpPr>
        <p:spPr>
          <a:xfrm>
            <a:off x="8275320" y="2194560"/>
            <a:ext cx="384048" cy="384048"/>
          </a:xfrm>
          <a:prstGeom prst="ellipse">
            <a:avLst/>
          </a:prstGeom>
          <a:solidFill>
            <a:srgbClr val="0B7A44"/>
          </a:solidFill>
          <a:ln/>
        </p:spPr>
      </p:sp>
      <p:sp>
        <p:nvSpPr>
          <p:cNvPr id="16" name="Text 14"/>
          <p:cNvSpPr txBox="1"/>
          <p:nvPr/>
        </p:nvSpPr>
        <p:spPr>
          <a:xfrm>
            <a:off x="82753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77824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Hashes every task</a:t>
            </a:r>
            <a:endParaRPr lang="en-US" sz="1600" dirty="0"/>
          </a:p>
        </p:txBody>
      </p:sp>
      <p:sp>
        <p:nvSpPr>
          <p:cNvPr id="18" name="Text 16"/>
          <p:cNvSpPr txBox="1"/>
          <p:nvPr/>
        </p:nvSpPr>
        <p:spPr>
          <a:xfrm>
            <a:off x="827532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Inputs in, hash out. Same hash means the answer is already known.</a:t>
            </a:r>
            <a:endParaRPr lang="en-US" sz="1300" dirty="0"/>
          </a:p>
        </p:txBody>
      </p:sp>
      <p:sp>
        <p:nvSpPr>
          <p:cNvPr id="19" name="Shape 17"/>
          <p:cNvSpPr/>
          <p:nvPr/>
        </p:nvSpPr>
        <p:spPr>
          <a:xfrm>
            <a:off x="640080" y="4343400"/>
            <a:ext cx="10881360" cy="777240"/>
          </a:xfrm>
          <a:prstGeom prst="roundRect">
            <a:avLst>
              <a:gd name="adj" fmla="val 7059"/>
            </a:avLst>
          </a:prstGeom>
          <a:solidFill>
            <a:srgbClr val="10131A"/>
          </a:solidFill>
          <a:ln w="12700">
            <a:solidFill>
              <a:srgbClr val="10131A"/>
            </a:solidFill>
            <a:prstDash val="solid"/>
          </a:ln>
        </p:spPr>
      </p:sp>
      <p:sp>
        <p:nvSpPr>
          <p:cNvPr id="20" name="Text 18"/>
          <p:cNvSpPr txBox="1"/>
          <p:nvPr/>
        </p:nvSpPr>
        <p:spPr>
          <a:xfrm>
            <a:off x="868680" y="4544568"/>
            <a:ext cx="10424160" cy="374904"/>
          </a:xfrm>
          <a:prstGeom prst="rect">
            <a:avLst/>
          </a:prstGeom>
          <a:noFill/>
          <a:ln/>
        </p:spPr>
        <p:txBody>
          <a:bodyPr wrap="square" lIns="0" tIns="0" rIns="0" bIns="0" rtlCol="0" anchor="t"/>
          <a:lstStyle/>
          <a:p>
            <a:pPr indent="0" marL="0">
              <a:lnSpc>
                <a:spcPct val="125000"/>
              </a:lnSpc>
              <a:buNone/>
            </a:pPr>
            <a:r>
              <a:rPr lang="en-US" sz="1700" dirty="0">
                <a:solidFill>
                  <a:srgbClr val="3DDC84"/>
                </a:solidFill>
                <a:latin typeface="Courier New" pitchFamily="34" charset="0"/>
                <a:ea typeface="Courier New" pitchFamily="34" charset="-122"/>
                <a:cs typeface="Courier New" pitchFamily="34" charset="-120"/>
              </a:rPr>
              <a:t>nx run-many -t test --parallel=5</a:t>
            </a:r>
            <a:endParaRPr lang="en-US" sz="17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400" i="1" dirty="0">
                <a:solidFill>
                  <a:srgbClr val="55607A"/>
                </a:solidFill>
                <a:latin typeface="Calibri" pitchFamily="34" charset="0"/>
                <a:ea typeface="Calibri" pitchFamily="34" charset="-122"/>
                <a:cs typeface="Calibri" pitchFamily="34" charset="-120"/>
              </a:rPr>
              <a:t>That much most teams already have. The interesting part is what Nx can generate for you.</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108813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10424160" cy="1609344"/>
          </a:xfrm>
          <a:prstGeom prst="rect">
            <a:avLst/>
          </a:prstGeom>
          <a:noFill/>
          <a:ln/>
        </p:spPr>
        <p:txBody>
          <a:bodyPr wrap="square" lIns="0" tIns="0" rIns="0" bIns="0" rtlCol="0" anchor="t"/>
          <a:lstStyle/>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the gate does not apply to the leaf tasks</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nx run "shop-e2e:e2e-ci--src/e2e/catalog.cy.ts"   ✓</a:t>
            </a:r>
            <a:endParaRPr lang="en-US" sz="1500" dirty="0"/>
          </a:p>
          <a:p>
            <a:pPr indent="0" marL="0">
              <a:lnSpc>
                <a:spcPct val="125000"/>
              </a:lnSpc>
              <a:buNone/>
            </a:pPr>
            <a:endParaRPr lang="en-US" sz="1500" dirty="0"/>
          </a:p>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so discover them, then hand them to run-many</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Shape 4"/>
          <p:cNvSpPr/>
          <p:nvPr/>
        </p:nvSpPr>
        <p:spPr>
          <a:xfrm>
            <a:off x="640080" y="3886200"/>
            <a:ext cx="3429000" cy="1463040"/>
          </a:xfrm>
          <a:prstGeom prst="roundRect">
            <a:avLst>
              <a:gd name="adj" fmla="val 4375"/>
            </a:avLst>
          </a:prstGeom>
          <a:solidFill>
            <a:srgbClr val="1B2029"/>
          </a:solidFill>
          <a:ln w="12700">
            <a:solidFill>
              <a:srgbClr val="2C3340"/>
            </a:solidFill>
            <a:prstDash val="solid"/>
          </a:ln>
        </p:spPr>
      </p:sp>
      <p:sp>
        <p:nvSpPr>
          <p:cNvPr id="7" name="Text 5"/>
          <p:cNvSpPr txBox="1"/>
          <p:nvPr/>
        </p:nvSpPr>
        <p:spPr>
          <a:xfrm>
            <a:off x="841248" y="406908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1m 33s</a:t>
            </a:r>
            <a:endParaRPr lang="en-US" sz="4000" dirty="0"/>
          </a:p>
        </p:txBody>
      </p:sp>
      <p:sp>
        <p:nvSpPr>
          <p:cNvPr id="8" name="Text 6"/>
          <p:cNvSpPr txBox="1"/>
          <p:nvPr/>
        </p:nvSpPr>
        <p:spPr>
          <a:xfrm>
            <a:off x="84124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One task, all specs</a:t>
            </a:r>
            <a:endParaRPr lang="en-US" sz="1300" dirty="0"/>
          </a:p>
        </p:txBody>
      </p:sp>
      <p:sp>
        <p:nvSpPr>
          <p:cNvPr id="9" name="Shape 7"/>
          <p:cNvSpPr/>
          <p:nvPr/>
        </p:nvSpPr>
        <p:spPr>
          <a:xfrm>
            <a:off x="4343400" y="3886200"/>
            <a:ext cx="3429000" cy="1463040"/>
          </a:xfrm>
          <a:prstGeom prst="roundRect">
            <a:avLst>
              <a:gd name="adj" fmla="val 4375"/>
            </a:avLst>
          </a:prstGeom>
          <a:solidFill>
            <a:srgbClr val="1B2029"/>
          </a:solidFill>
          <a:ln w="12700">
            <a:solidFill>
              <a:srgbClr val="2C3340"/>
            </a:solidFill>
            <a:prstDash val="solid"/>
          </a:ln>
        </p:spPr>
      </p:sp>
      <p:sp>
        <p:nvSpPr>
          <p:cNvPr id="10" name="Text 8"/>
          <p:cNvSpPr txBox="1"/>
          <p:nvPr/>
        </p:nvSpPr>
        <p:spPr>
          <a:xfrm>
            <a:off x="4544568" y="406908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40s</a:t>
            </a:r>
            <a:endParaRPr lang="en-US" sz="4000" dirty="0"/>
          </a:p>
        </p:txBody>
      </p:sp>
      <p:sp>
        <p:nvSpPr>
          <p:cNvPr id="11" name="Text 9"/>
          <p:cNvSpPr txBox="1"/>
          <p:nvPr/>
        </p:nvSpPr>
        <p:spPr>
          <a:xfrm>
            <a:off x="454456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5 at a time</a:t>
            </a:r>
            <a:endParaRPr lang="en-US" sz="1300" dirty="0"/>
          </a:p>
        </p:txBody>
      </p:sp>
      <p:sp>
        <p:nvSpPr>
          <p:cNvPr id="12" name="Shape 10"/>
          <p:cNvSpPr/>
          <p:nvPr/>
        </p:nvSpPr>
        <p:spPr>
          <a:xfrm>
            <a:off x="8046720" y="3886200"/>
            <a:ext cx="3429000" cy="1463040"/>
          </a:xfrm>
          <a:prstGeom prst="roundRect">
            <a:avLst>
              <a:gd name="adj" fmla="val 4375"/>
            </a:avLst>
          </a:prstGeom>
          <a:solidFill>
            <a:srgbClr val="1B2029"/>
          </a:solidFill>
          <a:ln w="12700">
            <a:solidFill>
              <a:srgbClr val="2C3340"/>
            </a:solidFill>
            <a:prstDash val="solid"/>
          </a:ln>
        </p:spPr>
      </p:sp>
      <p:sp>
        <p:nvSpPr>
          <p:cNvPr id="13" name="Text 11"/>
          <p:cNvSpPr txBox="1"/>
          <p:nvPr/>
        </p:nvSpPr>
        <p:spPr>
          <a:xfrm>
            <a:off x="8247888" y="406908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2.3×</a:t>
            </a:r>
            <a:endParaRPr lang="en-US" sz="4000" dirty="0"/>
          </a:p>
        </p:txBody>
      </p:sp>
      <p:sp>
        <p:nvSpPr>
          <p:cNvPr id="14" name="Text 12"/>
          <p:cNvSpPr txBox="1"/>
          <p:nvPr/>
        </p:nvSpPr>
        <p:spPr>
          <a:xfrm>
            <a:off x="824788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 one laptop, no cloud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04 · THE PART PEOPLE SKIP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Splitting alone makes it slower</a:t>
            </a:r>
            <a:endParaRPr lang="en-US" sz="3800" dirty="0"/>
          </a:p>
        </p:txBody>
      </p:sp>
      <p:sp>
        <p:nvSpPr>
          <p:cNvPr id="4" name="Text 2"/>
          <p:cNvSpPr txBox="1"/>
          <p:nvPr/>
        </p:nvSpPr>
        <p:spPr>
          <a:xfrm>
            <a:off x="640080" y="21031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One task, all specs</a:t>
            </a:r>
            <a:endParaRPr lang="en-US" sz="1400" dirty="0"/>
          </a:p>
        </p:txBody>
      </p:sp>
      <p:sp>
        <p:nvSpPr>
          <p:cNvPr id="5" name="Shape 3"/>
          <p:cNvSpPr/>
          <p:nvPr/>
        </p:nvSpPr>
        <p:spPr>
          <a:xfrm>
            <a:off x="3840480" y="2157984"/>
            <a:ext cx="5619982" cy="310896"/>
          </a:xfrm>
          <a:prstGeom prst="roundRect">
            <a:avLst>
              <a:gd name="adj" fmla="val 11765"/>
            </a:avLst>
          </a:prstGeom>
          <a:solidFill>
            <a:srgbClr val="F5A524"/>
          </a:solidFill>
          <a:ln w="12700">
            <a:solidFill>
              <a:srgbClr val="F5A524"/>
            </a:solidFill>
            <a:prstDash val="solid"/>
          </a:ln>
        </p:spPr>
      </p:sp>
      <p:sp>
        <p:nvSpPr>
          <p:cNvPr id="6" name="Text 4"/>
          <p:cNvSpPr txBox="1"/>
          <p:nvPr/>
        </p:nvSpPr>
        <p:spPr>
          <a:xfrm>
            <a:off x="9551902" y="21031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33s</a:t>
            </a:r>
            <a:endParaRPr lang="en-US" sz="1400" dirty="0"/>
          </a:p>
        </p:txBody>
      </p:sp>
      <p:sp>
        <p:nvSpPr>
          <p:cNvPr id="7" name="Text 5"/>
          <p:cNvSpPr txBox="1"/>
          <p:nvPr/>
        </p:nvSpPr>
        <p:spPr>
          <a:xfrm>
            <a:off x="640080" y="30175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one at a time</a:t>
            </a:r>
            <a:endParaRPr lang="en-US" sz="1400" dirty="0"/>
          </a:p>
        </p:txBody>
      </p:sp>
      <p:sp>
        <p:nvSpPr>
          <p:cNvPr id="8" name="Shape 6"/>
          <p:cNvSpPr/>
          <p:nvPr/>
        </p:nvSpPr>
        <p:spPr>
          <a:xfrm>
            <a:off x="3840480" y="3072384"/>
            <a:ext cx="6949440" cy="310896"/>
          </a:xfrm>
          <a:prstGeom prst="roundRect">
            <a:avLst>
              <a:gd name="adj" fmla="val 11765"/>
            </a:avLst>
          </a:prstGeom>
          <a:solidFill>
            <a:srgbClr val="FB7185"/>
          </a:solidFill>
          <a:ln w="12700">
            <a:solidFill>
              <a:srgbClr val="FB7185"/>
            </a:solidFill>
            <a:prstDash val="solid"/>
          </a:ln>
        </p:spPr>
      </p:sp>
      <p:sp>
        <p:nvSpPr>
          <p:cNvPr id="9" name="Text 7"/>
          <p:cNvSpPr txBox="1"/>
          <p:nvPr/>
        </p:nvSpPr>
        <p:spPr>
          <a:xfrm>
            <a:off x="10881360" y="30175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55s</a:t>
            </a:r>
            <a:endParaRPr lang="en-US" sz="1400" dirty="0"/>
          </a:p>
        </p:txBody>
      </p:sp>
      <p:sp>
        <p:nvSpPr>
          <p:cNvPr id="10" name="Text 8"/>
          <p:cNvSpPr txBox="1"/>
          <p:nvPr/>
        </p:nvSpPr>
        <p:spPr>
          <a:xfrm>
            <a:off x="640080" y="39319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five at a time</a:t>
            </a:r>
            <a:endParaRPr lang="en-US" sz="1400" dirty="0"/>
          </a:p>
        </p:txBody>
      </p:sp>
      <p:sp>
        <p:nvSpPr>
          <p:cNvPr id="11" name="Shape 9"/>
          <p:cNvSpPr/>
          <p:nvPr/>
        </p:nvSpPr>
        <p:spPr>
          <a:xfrm>
            <a:off x="3840480" y="3986784"/>
            <a:ext cx="2417197" cy="310896"/>
          </a:xfrm>
          <a:prstGeom prst="roundRect">
            <a:avLst>
              <a:gd name="adj" fmla="val 11765"/>
            </a:avLst>
          </a:prstGeom>
          <a:solidFill>
            <a:srgbClr val="0B7A44"/>
          </a:solidFill>
          <a:ln w="12700">
            <a:solidFill>
              <a:srgbClr val="0B7A44"/>
            </a:solidFill>
            <a:prstDash val="solid"/>
          </a:ln>
        </p:spPr>
      </p:sp>
      <p:sp>
        <p:nvSpPr>
          <p:cNvPr id="12" name="Text 10"/>
          <p:cNvSpPr txBox="1"/>
          <p:nvPr/>
        </p:nvSpPr>
        <p:spPr>
          <a:xfrm>
            <a:off x="6349117" y="39319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40s</a:t>
            </a:r>
            <a:endParaRPr lang="en-US" sz="1400" dirty="0"/>
          </a:p>
        </p:txBody>
      </p:sp>
      <p:sp>
        <p:nvSpPr>
          <p:cNvPr id="13" name="Shape 11"/>
          <p:cNvSpPr/>
          <p:nvPr/>
        </p:nvSpPr>
        <p:spPr>
          <a:xfrm>
            <a:off x="640080" y="4983480"/>
            <a:ext cx="10881360" cy="1051560"/>
          </a:xfrm>
          <a:prstGeom prst="roundRect">
            <a:avLst>
              <a:gd name="adj" fmla="val 6087"/>
            </a:avLst>
          </a:prstGeom>
          <a:solidFill>
            <a:srgbClr val="FFF7E6"/>
          </a:solidFill>
          <a:ln w="12700">
            <a:solidFill>
              <a:srgbClr val="F5A524"/>
            </a:solidFill>
            <a:prstDash val="solid"/>
          </a:ln>
        </p:spPr>
      </p:sp>
      <p:sp>
        <p:nvSpPr>
          <p:cNvPr id="14" name="Text 12"/>
          <p:cNvSpPr txBox="1"/>
          <p:nvPr/>
        </p:nvSpPr>
        <p:spPr>
          <a:xfrm>
            <a:off x="914400" y="5138928"/>
            <a:ext cx="10332720" cy="77724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Every atomized target boots its own Cypress. Ten specs through the atomizer, run serially, cost 22 seconds more than not splitting at all. Atomization is not a speedup — it is what makes a speedup possible.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a shared component and all ten specs invalidate — correctly. Failure-only retries work between retries of the same commit, not across a code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matrix instead of a subscription</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200" dirty="0">
                <a:solidFill>
                  <a:srgbClr val="7DD3FC"/>
                </a:solidFill>
                <a:latin typeface="Courier New" pitchFamily="34" charset="0"/>
                <a:ea typeface="Courier New" pitchFamily="34" charset="-122"/>
                <a:cs typeface="Courier New" pitchFamily="34" charset="-120"/>
              </a:rPr>
              <a:t>strategy:</a:t>
            </a:r>
            <a:endParaRPr lang="en-US" sz="1200" dirty="0"/>
          </a:p>
          <a:p>
            <a:pPr indent="0" marL="0">
              <a:lnSpc>
                <a:spcPct val="125000"/>
              </a:lnSpc>
              <a:buNone/>
            </a:pPr>
            <a:r>
              <a:rPr lang="en-US" sz="1200" dirty="0">
                <a:solidFill>
                  <a:srgbClr val="FFFFFF"/>
                </a:solidFill>
                <a:latin typeface="Courier New" pitchFamily="34" charset="0"/>
                <a:ea typeface="Courier New" pitchFamily="34" charset="-122"/>
                <a:cs typeface="Courier New" pitchFamily="34" charset="-120"/>
              </a:rPr>
              <a:t>  matrix: { shard: [1, 2, 3] }</a:t>
            </a:r>
            <a:endParaRPr lang="en-US" sz="1200" dirty="0"/>
          </a:p>
          <a:p>
            <a:pPr indent="0" marL="0">
              <a:lnSpc>
                <a:spcPct val="125000"/>
              </a:lnSpc>
              <a:buNone/>
            </a:pPr>
            <a:r>
              <a:rPr lang="en-US" sz="1200" dirty="0">
                <a:solidFill>
                  <a:srgbClr val="7DD3FC"/>
                </a:solidFill>
                <a:latin typeface="Courier New" pitchFamily="34" charset="0"/>
                <a:ea typeface="Courier New" pitchFamily="34" charset="-122"/>
                <a:cs typeface="Courier New" pitchFamily="34" charset="-120"/>
              </a:rPr>
              <a:t>steps:</a:t>
            </a:r>
            <a:endParaRPr lang="en-US" sz="1200" dirty="0"/>
          </a:p>
          <a:p>
            <a:pPr indent="0" marL="0">
              <a:lnSpc>
                <a:spcPct val="125000"/>
              </a:lnSpc>
              <a:buNone/>
            </a:pPr>
            <a:r>
              <a:rPr lang="en-US" sz="1200" dirty="0">
                <a:solidFill>
                  <a:srgbClr val="8A94A6"/>
                </a:solidFill>
                <a:latin typeface="Courier New" pitchFamily="34" charset="0"/>
                <a:ea typeface="Courier New" pitchFamily="34" charset="-122"/>
                <a:cs typeface="Courier New" pitchFamily="34" charset="-120"/>
              </a:rPr>
              <a:t>  - uses: actions/cache@v4          # path: .nx  (all of it)</a:t>
            </a:r>
            <a:endParaRPr lang="en-US" sz="1200" dirty="0"/>
          </a:p>
          <a:p>
            <a:pPr indent="0" marL="0">
              <a:lnSpc>
                <a:spcPct val="125000"/>
              </a:lnSpc>
              <a:buNone/>
            </a:pPr>
            <a:r>
              <a:rPr lang="en-US" sz="1200" dirty="0">
                <a:solidFill>
                  <a:srgbClr val="4ADE80"/>
                </a:solidFill>
                <a:latin typeface="Courier New" pitchFamily="34" charset="0"/>
                <a:ea typeface="Courier New" pitchFamily="34" charset="-122"/>
                <a:cs typeface="Courier New" pitchFamily="34" charset="-120"/>
              </a:rPr>
              <a:t>  - run: node tools/shard-e2e.mjs --shard=${{ matrix.shard }}/3</a:t>
            </a:r>
            <a:endParaRPr lang="en-US" sz="1200" dirty="0"/>
          </a:p>
        </p:txBody>
      </p:sp>
      <p:sp>
        <p:nvSpPr>
          <p:cNvPr id="6" name="Text 4"/>
          <p:cNvSpPr txBox="1"/>
          <p:nvPr/>
        </p:nvSpPr>
        <p:spPr>
          <a:xfrm>
            <a:off x="8046720" y="1783080"/>
            <a:ext cx="3474720" cy="219456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Discovery is the same; only the slice differs</a:t>
            </a:r>
            <a:endParaRPr lang="en-US" sz="1300" dirty="0"/>
          </a:p>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Round-robin, not contiguous blocks — adjacent specs cost alike</a:t>
            </a:r>
            <a:endParaRPr lang="en-US" sz="1300" dirty="0"/>
          </a:p>
          <a:p>
            <a:pPr marL="342900" indent="-342900">
              <a:spcAft>
                <a:spcPts val="1000"/>
              </a:spcAft>
              <a:buSzPct val="100000"/>
              <a:buChar char="•"/>
            </a:pPr>
            <a:r>
              <a:rPr lang="en-US" sz="1300" dirty="0">
                <a:solidFill>
                  <a:srgbClr val="C3CAD6"/>
                </a:solidFill>
                <a:latin typeface="Calibri" pitchFamily="34" charset="0"/>
                <a:ea typeface="Calibri" pitchFamily="34" charset="-122"/>
                <a:cs typeface="Calibri" pitchFamily="34" charset="-120"/>
              </a:rPr>
              <a:t>Cache all of .nx per shard, so a re-run of a red job is cheap</a:t>
            </a:r>
            <a:endParaRPr lang="en-US" sz="1300" dirty="0"/>
          </a:p>
          <a:p>
            <a:pPr marL="342900" indent="-342900">
              <a:spcAft>
                <a:spcPts val="1000"/>
              </a:spcAft>
              <a:buSzPct val="100000"/>
              <a:buChar char="•"/>
            </a:pPr>
            <a:r>
              <a:rPr lang="en-US" sz="1300" b="1" dirty="0">
                <a:solidFill>
                  <a:srgbClr val="4ADE80"/>
                </a:solidFill>
                <a:latin typeface="Calibri" pitchFamily="34" charset="0"/>
                <a:ea typeface="Calibri" pitchFamily="34" charset="-122"/>
                <a:cs typeface="Calibri" pitchFamily="34" charset="-120"/>
              </a:rPr>
              <a:t>Measured here: 1m 32s cold → 38s with the cache restored</a:t>
            </a:r>
            <a:endParaRPr lang="en-US" sz="1300" dirty="0"/>
          </a:p>
        </p:txBody>
      </p:sp>
      <p:sp>
        <p:nvSpPr>
          <p:cNvPr id="7" name="Text 5"/>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Nx Cloud still buys you</a:t>
            </a:r>
            <a:endParaRPr lang="en-US" sz="1600" dirty="0"/>
          </a:p>
        </p:txBody>
      </p:sp>
      <p:sp>
        <p:nvSpPr>
          <p:cNvPr id="8" name="Shape 6"/>
          <p:cNvSpPr/>
          <p:nvPr/>
        </p:nvSpPr>
        <p:spPr>
          <a:xfrm>
            <a:off x="640080" y="4389120"/>
            <a:ext cx="3429000" cy="1371600"/>
          </a:xfrm>
          <a:prstGeom prst="roundRect">
            <a:avLst>
              <a:gd name="adj" fmla="val 4667"/>
            </a:avLst>
          </a:prstGeom>
          <a:solidFill>
            <a:srgbClr val="1B2029"/>
          </a:solidFill>
          <a:ln w="12700">
            <a:solidFill>
              <a:srgbClr val="2C3340"/>
            </a:solidFill>
            <a:prstDash val="solid"/>
          </a:ln>
        </p:spPr>
      </p:sp>
      <p:sp>
        <p:nvSpPr>
          <p:cNvPr id="9" name="Text 7"/>
          <p:cNvSpPr txBox="1"/>
          <p:nvPr/>
        </p:nvSpPr>
        <p:spPr>
          <a:xfrm>
            <a:off x="84124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Dynamic distribution</a:t>
            </a:r>
            <a:endParaRPr lang="en-US" sz="1400" dirty="0"/>
          </a:p>
        </p:txBody>
      </p:sp>
      <p:sp>
        <p:nvSpPr>
          <p:cNvPr id="10" name="Text 8"/>
          <p:cNvSpPr txBox="1"/>
          <p:nvPr/>
        </p:nvSpPr>
        <p:spPr>
          <a:xfrm>
            <a:off x="84124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Splits by measured duration, not by count, and rebalances itself.</a:t>
            </a:r>
            <a:endParaRPr lang="en-US" sz="1200" dirty="0"/>
          </a:p>
        </p:txBody>
      </p:sp>
      <p:sp>
        <p:nvSpPr>
          <p:cNvPr id="11" name="Shape 9"/>
          <p:cNvSpPr/>
          <p:nvPr/>
        </p:nvSpPr>
        <p:spPr>
          <a:xfrm>
            <a:off x="4343400" y="4389120"/>
            <a:ext cx="3429000" cy="1371600"/>
          </a:xfrm>
          <a:prstGeom prst="roundRect">
            <a:avLst>
              <a:gd name="adj" fmla="val 4667"/>
            </a:avLst>
          </a:prstGeom>
          <a:solidFill>
            <a:srgbClr val="1B2029"/>
          </a:solidFill>
          <a:ln w="12700">
            <a:solidFill>
              <a:srgbClr val="2C3340"/>
            </a:solidFill>
            <a:prstDash val="solid"/>
          </a:ln>
        </p:spPr>
      </p:sp>
      <p:sp>
        <p:nvSpPr>
          <p:cNvPr id="12" name="Text 10"/>
          <p:cNvSpPr txBox="1"/>
          <p:nvPr/>
        </p:nvSpPr>
        <p:spPr>
          <a:xfrm>
            <a:off x="454456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shared remote cache</a:t>
            </a:r>
            <a:endParaRPr lang="en-US" sz="1400" dirty="0"/>
          </a:p>
        </p:txBody>
      </p:sp>
      <p:sp>
        <p:nvSpPr>
          <p:cNvPr id="13" name="Text 11"/>
          <p:cNvSpPr txBox="1"/>
          <p:nvPr/>
        </p:nvSpPr>
        <p:spPr>
          <a:xfrm>
            <a:off x="454456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Your hit helps your teammates and CI. Here the cache is per-machine.</a:t>
            </a:r>
            <a:endParaRPr lang="en-US" sz="1200" dirty="0"/>
          </a:p>
        </p:txBody>
      </p:sp>
      <p:sp>
        <p:nvSpPr>
          <p:cNvPr id="14" name="Shape 12"/>
          <p:cNvSpPr/>
          <p:nvPr/>
        </p:nvSpPr>
        <p:spPr>
          <a:xfrm>
            <a:off x="8046720" y="4389120"/>
            <a:ext cx="3429000" cy="1371600"/>
          </a:xfrm>
          <a:prstGeom prst="roundRect">
            <a:avLst>
              <a:gd name="adj" fmla="val 4667"/>
            </a:avLst>
          </a:prstGeom>
          <a:solidFill>
            <a:srgbClr val="1B2029"/>
          </a:solidFill>
          <a:ln w="12700">
            <a:solidFill>
              <a:srgbClr val="2C3340"/>
            </a:solidFill>
            <a:prstDash val="solid"/>
          </a:ln>
        </p:spPr>
      </p:sp>
      <p:sp>
        <p:nvSpPr>
          <p:cNvPr id="15" name="Text 13"/>
          <p:cNvSpPr txBox="1"/>
          <p:nvPr/>
        </p:nvSpPr>
        <p:spPr>
          <a:xfrm>
            <a:off x="824788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Flaky detection</a:t>
            </a:r>
            <a:endParaRPr lang="en-US" sz="1400" dirty="0"/>
          </a:p>
        </p:txBody>
      </p:sp>
      <p:sp>
        <p:nvSpPr>
          <p:cNvPr id="16" name="Text 14"/>
          <p:cNvSpPr txBox="1"/>
          <p:nvPr/>
        </p:nvSpPr>
        <p:spPr>
          <a:xfrm>
            <a:off x="8247888" y="4901184"/>
            <a:ext cx="3017520" cy="77724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Across the org, with automatic re-runs.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Four things to take back</a:t>
            </a:r>
            <a:endParaRPr lang="en-US" sz="3800" dirty="0"/>
          </a:p>
        </p:txBody>
      </p:sp>
      <p:sp>
        <p:nvSpPr>
          <p:cNvPr id="4" name="Text 2"/>
          <p:cNvSpPr txBox="1"/>
          <p:nvPr/>
        </p:nvSpPr>
        <p:spPr>
          <a:xfrm>
            <a:off x="640080" y="182880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2880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is generated, not maintained</a:t>
            </a:r>
            <a:endParaRPr lang="en-US" sz="1900" dirty="0"/>
          </a:p>
        </p:txBody>
      </p:sp>
      <p:sp>
        <p:nvSpPr>
          <p:cNvPr id="6" name="Text 4"/>
          <p:cNvSpPr txBox="1"/>
          <p:nvPr/>
        </p:nvSpPr>
        <p:spPr>
          <a:xfrm>
            <a:off x="1508760" y="223113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target per spec file, from one plugin entry in nx.json.</a:t>
            </a:r>
            <a:endParaRPr lang="en-US" sz="1400" dirty="0"/>
          </a:p>
        </p:txBody>
      </p:sp>
      <p:sp>
        <p:nvSpPr>
          <p:cNvPr id="7" name="Text 5"/>
          <p:cNvSpPr txBox="1"/>
          <p:nvPr/>
        </p:nvSpPr>
        <p:spPr>
          <a:xfrm>
            <a:off x="640080" y="288036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288036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alone is not a speedup</a:t>
            </a:r>
            <a:endParaRPr lang="en-US" sz="1900" dirty="0"/>
          </a:p>
        </p:txBody>
      </p:sp>
      <p:sp>
        <p:nvSpPr>
          <p:cNvPr id="9" name="Text 7"/>
          <p:cNvSpPr txBox="1"/>
          <p:nvPr/>
        </p:nvSpPr>
        <p:spPr>
          <a:xfrm>
            <a:off x="1508760" y="328269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It is the precondition for one. Concurrency has to beat the startup tax.</a:t>
            </a:r>
            <a:endParaRPr lang="en-US" sz="1400" dirty="0"/>
          </a:p>
        </p:txBody>
      </p:sp>
      <p:sp>
        <p:nvSpPr>
          <p:cNvPr id="10" name="Text 8"/>
          <p:cNvSpPr txBox="1"/>
          <p:nvPr/>
        </p:nvSpPr>
        <p:spPr>
          <a:xfrm>
            <a:off x="640080" y="39319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393192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cache is the retry story</a:t>
            </a:r>
            <a:endParaRPr lang="en-US" sz="1900" dirty="0"/>
          </a:p>
        </p:txBody>
      </p:sp>
      <p:sp>
        <p:nvSpPr>
          <p:cNvPr id="12" name="Text 10"/>
          <p:cNvSpPr txBox="1"/>
          <p:nvPr/>
        </p:nvSpPr>
        <p:spPr>
          <a:xfrm>
            <a:off x="1508760" y="433425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Failed tasks are never cached, so a retry runs only the failures.</a:t>
            </a:r>
            <a:endParaRPr lang="en-US" sz="1400" dirty="0"/>
          </a:p>
        </p:txBody>
      </p:sp>
      <p:sp>
        <p:nvSpPr>
          <p:cNvPr id="13" name="Text 11"/>
          <p:cNvSpPr txBox="1"/>
          <p:nvPr/>
        </p:nvSpPr>
        <p:spPr>
          <a:xfrm>
            <a:off x="640080" y="498348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04</a:t>
            </a:r>
            <a:endParaRPr lang="en-US" sz="2200" dirty="0"/>
          </a:p>
        </p:txBody>
      </p:sp>
      <p:sp>
        <p:nvSpPr>
          <p:cNvPr id="14" name="Text 12"/>
          <p:cNvSpPr txBox="1"/>
          <p:nvPr/>
        </p:nvSpPr>
        <p:spPr>
          <a:xfrm>
            <a:off x="1508760" y="498348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None of this needs Nx Cloud</a:t>
            </a:r>
            <a:endParaRPr lang="en-US" sz="1900" dirty="0"/>
          </a:p>
        </p:txBody>
      </p:sp>
      <p:sp>
        <p:nvSpPr>
          <p:cNvPr id="15" name="Text 13"/>
          <p:cNvSpPr txBox="1"/>
          <p:nvPr/>
        </p:nvSpPr>
        <p:spPr>
          <a:xfrm>
            <a:off x="1508760" y="538581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The gate is on one convenience target. Discovery plus run-many gets around it.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3" name="Text 1"/>
          <p:cNvSpPr txBox="1"/>
          <p:nvPr/>
        </p:nvSpPr>
        <p:spPr>
          <a:xfrm>
            <a:off x="640080" y="3383280"/>
            <a:ext cx="10881360" cy="36576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Clone it and run the demo yourself:</a:t>
            </a:r>
            <a:endParaRPr lang="en-US" sz="1700" dirty="0"/>
          </a:p>
        </p:txBody>
      </p:sp>
      <p:sp>
        <p:nvSpPr>
          <p:cNvPr id="4" name="Shape 2"/>
          <p:cNvSpPr/>
          <p:nvPr/>
        </p:nvSpPr>
        <p:spPr>
          <a:xfrm>
            <a:off x="640080" y="3886200"/>
            <a:ext cx="8229600" cy="1389888"/>
          </a:xfrm>
          <a:prstGeom prst="roundRect">
            <a:avLst>
              <a:gd name="adj" fmla="val 3947"/>
            </a:avLst>
          </a:prstGeom>
          <a:solidFill>
            <a:srgbClr val="0A0D13"/>
          </a:solidFill>
          <a:ln w="12700">
            <a:solidFill>
              <a:srgbClr val="2C3340"/>
            </a:solidFill>
            <a:prstDash val="solid"/>
          </a:ln>
        </p:spPr>
      </p:sp>
      <p:sp>
        <p:nvSpPr>
          <p:cNvPr id="5" name="Text 3"/>
          <p:cNvSpPr txBox="1"/>
          <p:nvPr/>
        </p:nvSpPr>
        <p:spPr>
          <a:xfrm>
            <a:off x="868680" y="4087368"/>
            <a:ext cx="7772400" cy="987552"/>
          </a:xfrm>
          <a:prstGeom prst="rect">
            <a:avLst/>
          </a:prstGeom>
          <a:noFill/>
          <a:ln/>
        </p:spPr>
        <p:txBody>
          <a:bodyPr wrap="square" lIns="0" tIns="0" rIns="0" bIns="0" rtlCol="0" anchor="t"/>
          <a:lstStyle/>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git clone github.com/radzivil/nx-scaling-e2e-tests-with-atomizer</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npm ci &amp;&amp; npx cypress install</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Text 4"/>
          <p:cNvSpPr txBox="1"/>
          <p:nvPr/>
        </p:nvSpPr>
        <p:spPr>
          <a:xfrm>
            <a:off x="640080" y="5760720"/>
            <a:ext cx="5486400" cy="320040"/>
          </a:xfrm>
          <a:prstGeom prst="rect">
            <a:avLst/>
          </a:prstGeom>
          <a:noFill/>
          <a:ln/>
        </p:spPr>
        <p:txBody>
          <a:bodyPr wrap="square" lIns="0" tIns="0" rIns="0" bIns="0" rtlCol="0" anchor="ctr"/>
          <a:lstStyle/>
          <a:p>
            <a:pPr indent="0" marL="0">
              <a:buNone/>
            </a:pPr>
            <a:r>
              <a:rPr lang="en-US" sz="1500" b="1" dirty="0">
                <a:solidFill>
                  <a:srgbClr val="8A94A6"/>
                </a:solidFill>
                <a:latin typeface="Calibri" pitchFamily="34" charset="0"/>
                <a:ea typeface="Calibri" pitchFamily="34" charset="-122"/>
                <a:cs typeface="Calibri" pitchFamily="34" charset="-120"/>
              </a:rPr>
              <a:t>Vladimir Radzivil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2026-09-07T03:07:06Z</dcterms:created>
  <dcterms:modified xsi:type="dcterms:W3CDTF">2026-09-07T03:07:06Z</dcterms:modified>
</cp:coreProperties>
</file>