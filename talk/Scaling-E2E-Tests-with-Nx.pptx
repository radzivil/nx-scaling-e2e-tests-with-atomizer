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everything in this talk is measured on the repo linked below, and every command runs with no Nx Cloud account. Promise the audience three numbers: ~1m33s, ~40s, and 0.15s. Re-measure on your own machine the morning of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03 and 05 are the new material versus the last time I gave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`npx nx e2e shop-e2e` before the talk so the number on screen is one they just watched.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 60 seconds. The hashing bullet is the one that pays off in section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"generated". Nobody maintains this list — that is the difference from hand-rolled spec sharding.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Piping through `npm run e2e:targets` gives a cleaner list if the JSON is too wide for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did not exist last time. Nx 23 added the guard. Show the error live, then immediately run one atomized target directly to prove the split itself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live. Forty seconds is short enough to actually watch the specs stream past. Timings vary run to run — say "about forty seconds", not a precise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upfront about the overhead buys credibility for the cache claims coming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up-arrow and enter. The whole point is that it returns before you finish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37→28: the two seeded failures are the two slowest specs and each still boots Cypress. The saving scales with how many specs pass — on 200 specs with 3 failures it is enormous.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the "everything re-runs" version instead, run nx reset before this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oversell. The argument is that the free tier of this idea is unclaimed, not that the paid product is pointless.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leave up during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number four. Most teams pay the slow-suite tax without ever having tried the free half of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clone command up for the whole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1920240"/>
            <a:ext cx="9601200" cy="8686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Scaling E2E Tests</a:t>
            </a:r>
            <a:endParaRPr lang="en-US" sz="5400" dirty="0"/>
          </a:p>
        </p:txBody>
      </p:sp>
      <p:sp>
        <p:nvSpPr>
          <p:cNvPr id="3" name="Text 1"/>
          <p:cNvSpPr txBox="1"/>
          <p:nvPr/>
        </p:nvSpPr>
        <p:spPr>
          <a:xfrm>
            <a:off x="640080" y="2743200"/>
            <a:ext cx="9601200" cy="868680"/>
          </a:xfrm>
          <a:prstGeom prst="rect">
            <a:avLst/>
          </a:prstGeom>
          <a:noFill/>
          <a:ln/>
        </p:spPr>
        <p:txBody>
          <a:bodyPr wrap="square" lIns="0" tIns="0" rIns="0" bIns="0" rtlCol="0" anchor="ctr"/>
          <a:lstStyle/>
          <a:p>
            <a:pPr indent="0" marL="0">
              <a:buNone/>
            </a:pPr>
            <a:r>
              <a:rPr lang="en-US" sz="5400" b="1" dirty="0">
                <a:solidFill>
                  <a:srgbClr val="4ADE80"/>
                </a:solidFill>
                <a:latin typeface="Cambria" pitchFamily="34" charset="0"/>
                <a:ea typeface="Cambria" pitchFamily="34" charset="-122"/>
                <a:cs typeface="Cambria" pitchFamily="34" charset="-120"/>
              </a:rPr>
              <a:t>the Smart Way with Nx</a:t>
            </a:r>
            <a:endParaRPr lang="en-US" sz="5400" dirty="0"/>
          </a:p>
        </p:txBody>
      </p:sp>
      <p:sp>
        <p:nvSpPr>
          <p:cNvPr id="4" name="Text 2"/>
          <p:cNvSpPr txBox="1"/>
          <p:nvPr/>
        </p:nvSpPr>
        <p:spPr>
          <a:xfrm>
            <a:off x="640080" y="3749040"/>
            <a:ext cx="9601200" cy="411480"/>
          </a:xfrm>
          <a:prstGeom prst="rect">
            <a:avLst/>
          </a:prstGeom>
          <a:noFill/>
          <a:ln/>
        </p:spPr>
        <p:txBody>
          <a:bodyPr wrap="square" lIns="0" tIns="0" rIns="0" bIns="0" rtlCol="0" anchor="ctr"/>
          <a:lstStyle/>
          <a:p>
            <a:pPr indent="0" marL="0">
              <a:buNone/>
            </a:pPr>
            <a:r>
              <a:rPr lang="en-US" sz="1800" dirty="0">
                <a:solidFill>
                  <a:srgbClr val="C3CAD6"/>
                </a:solidFill>
                <a:latin typeface="Calibri" pitchFamily="34" charset="0"/>
                <a:ea typeface="Calibri" pitchFamily="34" charset="-122"/>
                <a:cs typeface="Calibri" pitchFamily="34" charset="-120"/>
              </a:rPr>
              <a:t>Atomizing, parallelising and caching a Cypress suite — without Nx Cloud</a:t>
            </a:r>
            <a:endParaRPr lang="en-US" sz="1800" dirty="0"/>
          </a:p>
        </p:txBody>
      </p:sp>
      <p:sp>
        <p:nvSpPr>
          <p:cNvPr id="5" name="Text 3"/>
          <p:cNvSpPr txBox="1"/>
          <p:nvPr/>
        </p:nvSpPr>
        <p:spPr>
          <a:xfrm>
            <a:off x="640080" y="5120640"/>
            <a:ext cx="5486400"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Vladimir Radzivil</a:t>
            </a:r>
            <a:endParaRPr lang="en-US" sz="1500" dirty="0"/>
          </a:p>
        </p:txBody>
      </p:sp>
      <p:sp>
        <p:nvSpPr>
          <p:cNvPr id="6" name="Text 4"/>
          <p:cNvSpPr txBox="1"/>
          <p:nvPr/>
        </p:nvSpPr>
        <p:spPr>
          <a:xfrm>
            <a:off x="640080" y="5468112"/>
            <a:ext cx="7315200" cy="320040"/>
          </a:xfrm>
          <a:prstGeom prst="rect">
            <a:avLst/>
          </a:prstGeom>
          <a:noFill/>
          <a:ln/>
        </p:spPr>
        <p:txBody>
          <a:bodyPr wrap="square" lIns="0" tIns="0" rIns="0" bIns="0" rtlCol="0" anchor="ctr"/>
          <a:lstStyle/>
          <a:p>
            <a:pPr indent="0" marL="0">
              <a:buNone/>
            </a:pPr>
            <a:r>
              <a:rPr lang="en-US" sz="1200" dirty="0">
                <a:solidFill>
                  <a:srgbClr val="8A94A6"/>
                </a:solidFill>
                <a:latin typeface="Courier New" pitchFamily="34" charset="0"/>
                <a:ea typeface="Courier New" pitchFamily="34" charset="-122"/>
                <a:cs typeface="Courier New" pitchFamily="34" charset="-120"/>
              </a:rPr>
              <a:t>Live demo: github.com/radzivil/nx-scaling-e2e-tests-with-atomizer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this goes</a:t>
            </a:r>
            <a:endParaRPr lang="en-US" sz="3800" dirty="0"/>
          </a:p>
        </p:txBody>
      </p:sp>
      <p:sp>
        <p:nvSpPr>
          <p:cNvPr id="4" name="Text 2"/>
          <p:cNvSpPr txBox="1"/>
          <p:nvPr/>
        </p:nvSpPr>
        <p:spPr>
          <a:xfrm>
            <a:off x="64008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01</a:t>
            </a:r>
            <a:endParaRPr lang="en-US" sz="2000" dirty="0"/>
          </a:p>
        </p:txBody>
      </p:sp>
      <p:sp>
        <p:nvSpPr>
          <p:cNvPr id="5" name="Text 3"/>
          <p:cNvSpPr txBox="1"/>
          <p:nvPr/>
        </p:nvSpPr>
        <p:spPr>
          <a:xfrm>
            <a:off x="132588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problem</a:t>
            </a:r>
            <a:endParaRPr lang="en-US" sz="1800" dirty="0"/>
          </a:p>
        </p:txBody>
      </p:sp>
      <p:sp>
        <p:nvSpPr>
          <p:cNvPr id="6" name="Text 4"/>
          <p:cNvSpPr txBox="1"/>
          <p:nvPr/>
        </p:nvSpPr>
        <p:spPr>
          <a:xfrm>
            <a:off x="132588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E2E is the slowest signal you have</a:t>
            </a:r>
            <a:endParaRPr lang="en-US" sz="1300" dirty="0"/>
          </a:p>
        </p:txBody>
      </p:sp>
      <p:sp>
        <p:nvSpPr>
          <p:cNvPr id="7" name="Text 5"/>
          <p:cNvSpPr txBox="1"/>
          <p:nvPr/>
        </p:nvSpPr>
        <p:spPr>
          <a:xfrm>
            <a:off x="626364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02</a:t>
            </a:r>
            <a:endParaRPr lang="en-US" sz="2000" dirty="0"/>
          </a:p>
        </p:txBody>
      </p:sp>
      <p:sp>
        <p:nvSpPr>
          <p:cNvPr id="8" name="Text 6"/>
          <p:cNvSpPr txBox="1"/>
          <p:nvPr/>
        </p:nvSpPr>
        <p:spPr>
          <a:xfrm>
            <a:off x="694944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atomizer</a:t>
            </a:r>
            <a:endParaRPr lang="en-US" sz="1800" dirty="0"/>
          </a:p>
        </p:txBody>
      </p:sp>
      <p:sp>
        <p:nvSpPr>
          <p:cNvPr id="9" name="Text 7"/>
          <p:cNvSpPr txBox="1"/>
          <p:nvPr/>
        </p:nvSpPr>
        <p:spPr>
          <a:xfrm>
            <a:off x="694944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One target per spec file, generated for you</a:t>
            </a:r>
            <a:endParaRPr lang="en-US" sz="1300" dirty="0"/>
          </a:p>
        </p:txBody>
      </p:sp>
      <p:sp>
        <p:nvSpPr>
          <p:cNvPr id="10" name="Text 8"/>
          <p:cNvSpPr txBox="1"/>
          <p:nvPr/>
        </p:nvSpPr>
        <p:spPr>
          <a:xfrm>
            <a:off x="64008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03</a:t>
            </a:r>
            <a:endParaRPr lang="en-US" sz="2000" dirty="0"/>
          </a:p>
        </p:txBody>
      </p:sp>
      <p:sp>
        <p:nvSpPr>
          <p:cNvPr id="11" name="Text 9"/>
          <p:cNvSpPr txBox="1"/>
          <p:nvPr/>
        </p:nvSpPr>
        <p:spPr>
          <a:xfrm>
            <a:off x="132588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catch</a:t>
            </a:r>
            <a:endParaRPr lang="en-US" sz="1800" dirty="0"/>
          </a:p>
        </p:txBody>
      </p:sp>
      <p:sp>
        <p:nvSpPr>
          <p:cNvPr id="12" name="Text 10"/>
          <p:cNvSpPr txBox="1"/>
          <p:nvPr/>
        </p:nvSpPr>
        <p:spPr>
          <a:xfrm>
            <a:off x="132588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Nx 23 gates the wrapper task behind Nx Cloud</a:t>
            </a:r>
            <a:endParaRPr lang="en-US" sz="1300" dirty="0"/>
          </a:p>
        </p:txBody>
      </p:sp>
      <p:sp>
        <p:nvSpPr>
          <p:cNvPr id="13" name="Text 11"/>
          <p:cNvSpPr txBox="1"/>
          <p:nvPr/>
        </p:nvSpPr>
        <p:spPr>
          <a:xfrm>
            <a:off x="626364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04</a:t>
            </a:r>
            <a:endParaRPr lang="en-US" sz="2000" dirty="0"/>
          </a:p>
        </p:txBody>
      </p:sp>
      <p:sp>
        <p:nvSpPr>
          <p:cNvPr id="14" name="Text 12"/>
          <p:cNvSpPr txBox="1"/>
          <p:nvPr/>
        </p:nvSpPr>
        <p:spPr>
          <a:xfrm>
            <a:off x="694944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Parallel, no cloud</a:t>
            </a:r>
            <a:endParaRPr lang="en-US" sz="1800" dirty="0"/>
          </a:p>
        </p:txBody>
      </p:sp>
      <p:sp>
        <p:nvSpPr>
          <p:cNvPr id="15" name="Text 13"/>
          <p:cNvSpPr txBox="1"/>
          <p:nvPr/>
        </p:nvSpPr>
        <p:spPr>
          <a:xfrm>
            <a:off x="694944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Two small scripts get the split back</a:t>
            </a:r>
            <a:endParaRPr lang="en-US" sz="1300" dirty="0"/>
          </a:p>
        </p:txBody>
      </p:sp>
      <p:sp>
        <p:nvSpPr>
          <p:cNvPr id="16" name="Text 14"/>
          <p:cNvSpPr txBox="1"/>
          <p:nvPr/>
        </p:nvSpPr>
        <p:spPr>
          <a:xfrm>
            <a:off x="64008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05</a:t>
            </a:r>
            <a:endParaRPr lang="en-US" sz="2000" dirty="0"/>
          </a:p>
        </p:txBody>
      </p:sp>
      <p:sp>
        <p:nvSpPr>
          <p:cNvPr id="17" name="Text 15"/>
          <p:cNvSpPr txBox="1"/>
          <p:nvPr/>
        </p:nvSpPr>
        <p:spPr>
          <a:xfrm>
            <a:off x="132588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cache</a:t>
            </a:r>
            <a:endParaRPr lang="en-US" sz="1800" dirty="0"/>
          </a:p>
        </p:txBody>
      </p:sp>
      <p:sp>
        <p:nvSpPr>
          <p:cNvPr id="18" name="Text 16"/>
          <p:cNvSpPr txBox="1"/>
          <p:nvPr/>
        </p:nvSpPr>
        <p:spPr>
          <a:xfrm>
            <a:off x="132588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Why a re-run only executes the failures</a:t>
            </a:r>
            <a:endParaRPr lang="en-US" sz="1300" dirty="0"/>
          </a:p>
        </p:txBody>
      </p:sp>
      <p:sp>
        <p:nvSpPr>
          <p:cNvPr id="19" name="Text 17"/>
          <p:cNvSpPr txBox="1"/>
          <p:nvPr/>
        </p:nvSpPr>
        <p:spPr>
          <a:xfrm>
            <a:off x="626364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06</a:t>
            </a:r>
            <a:endParaRPr lang="en-US" sz="2000" dirty="0"/>
          </a:p>
        </p:txBody>
      </p:sp>
      <p:sp>
        <p:nvSpPr>
          <p:cNvPr id="20" name="Text 18"/>
          <p:cNvSpPr txBox="1"/>
          <p:nvPr/>
        </p:nvSpPr>
        <p:spPr>
          <a:xfrm>
            <a:off x="694944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Distribution</a:t>
            </a:r>
            <a:endParaRPr lang="en-US" sz="1800" dirty="0"/>
          </a:p>
        </p:txBody>
      </p:sp>
      <p:sp>
        <p:nvSpPr>
          <p:cNvPr id="21" name="Text 19"/>
          <p:cNvSpPr txBox="1"/>
          <p:nvPr/>
        </p:nvSpPr>
        <p:spPr>
          <a:xfrm>
            <a:off x="694944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A GitHub matrix instead of a subscription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suite is slow, so nobody runs it</a:t>
            </a:r>
            <a:endParaRPr lang="en-US" sz="3800" dirty="0"/>
          </a:p>
        </p:txBody>
      </p:sp>
      <p:sp>
        <p:nvSpPr>
          <p:cNvPr id="4" name="Text 2"/>
          <p:cNvSpPr txBox="1"/>
          <p:nvPr/>
        </p:nvSpPr>
        <p:spPr>
          <a:xfrm>
            <a:off x="640080" y="1920240"/>
            <a:ext cx="5486400" cy="31089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rgbClr val="C3CAD6"/>
                </a:solidFill>
                <a:latin typeface="Calibri" pitchFamily="34" charset="0"/>
                <a:ea typeface="Calibri" pitchFamily="34" charset="-122"/>
                <a:cs typeface="Calibri" pitchFamily="34" charset="-120"/>
              </a:rPr>
              <a:t>One task, one process, every spec in sequence</a:t>
            </a:r>
            <a:endParaRPr lang="en-US" sz="1700" dirty="0"/>
          </a:p>
          <a:p>
            <a:pPr marL="342900" indent="-342900">
              <a:spcAft>
                <a:spcPts val="1000"/>
              </a:spcAft>
              <a:buSzPct val="100000"/>
              <a:buChar char="•"/>
            </a:pPr>
            <a:r>
              <a:rPr lang="en-US" sz="1700" dirty="0">
                <a:solidFill>
                  <a:srgbClr val="C3CAD6"/>
                </a:solidFill>
                <a:latin typeface="Calibri" pitchFamily="34" charset="0"/>
                <a:ea typeface="Calibri" pitchFamily="34" charset="-122"/>
                <a:cs typeface="Calibri" pitchFamily="34" charset="-120"/>
              </a:rPr>
              <a:t>Ten to thirty minutes on a real suite</a:t>
            </a:r>
            <a:endParaRPr lang="en-US" sz="1700" dirty="0"/>
          </a:p>
          <a:p>
            <a:pPr marL="342900" indent="-342900">
              <a:spcAft>
                <a:spcPts val="1000"/>
              </a:spcAft>
              <a:buSzPct val="100000"/>
              <a:buChar char="•"/>
            </a:pPr>
            <a:r>
              <a:rPr lang="en-US" sz="1700" dirty="0">
                <a:solidFill>
                  <a:srgbClr val="C3CAD6"/>
                </a:solidFill>
                <a:latin typeface="Calibri" pitchFamily="34" charset="0"/>
                <a:ea typeface="Calibri" pitchFamily="34" charset="-122"/>
                <a:cs typeface="Calibri" pitchFamily="34" charset="-120"/>
              </a:rPr>
              <a:t>So it moves to a nightly job</a:t>
            </a:r>
            <a:endParaRPr lang="en-US" sz="1700" dirty="0"/>
          </a:p>
          <a:p>
            <a:pPr marL="342900" indent="-342900">
              <a:spcAft>
                <a:spcPts val="1000"/>
              </a:spcAft>
              <a:buSzPct val="100000"/>
              <a:buChar char="•"/>
            </a:pPr>
            <a:r>
              <a:rPr lang="en-US" sz="1700" dirty="0">
                <a:solidFill>
                  <a:srgbClr val="C3CAD6"/>
                </a:solidFill>
                <a:latin typeface="Calibri" pitchFamily="34" charset="0"/>
                <a:ea typeface="Calibri" pitchFamily="34" charset="-122"/>
                <a:cs typeface="Calibri" pitchFamily="34" charset="-120"/>
              </a:rPr>
              <a:t>So a failure is found the morning after it was written</a:t>
            </a:r>
            <a:endParaRPr lang="en-US" sz="1700" dirty="0"/>
          </a:p>
          <a:p>
            <a:pPr marL="342900" indent="-342900">
              <a:spcAft>
                <a:spcPts val="1000"/>
              </a:spcAft>
              <a:buSzPct val="100000"/>
              <a:buChar char="•"/>
            </a:pPr>
            <a:r>
              <a:rPr lang="en-US" sz="1700" dirty="0">
                <a:solidFill>
                  <a:srgbClr val="C3CAD6"/>
                </a:solidFill>
                <a:latin typeface="Calibri" pitchFamily="34" charset="0"/>
                <a:ea typeface="Calibri" pitchFamily="34" charset="-122"/>
                <a:cs typeface="Calibri" pitchFamily="34" charset="-120"/>
              </a:rPr>
              <a:t>So the author has already moved on</a:t>
            </a:r>
            <a:endParaRPr lang="en-US" sz="1700" dirty="0"/>
          </a:p>
        </p:txBody>
      </p:sp>
      <p:sp>
        <p:nvSpPr>
          <p:cNvPr id="5" name="Shape 3"/>
          <p:cNvSpPr/>
          <p:nvPr/>
        </p:nvSpPr>
        <p:spPr>
          <a:xfrm>
            <a:off x="6583680" y="1828800"/>
            <a:ext cx="4937760" cy="2651760"/>
          </a:xfrm>
          <a:prstGeom prst="roundRect">
            <a:avLst>
              <a:gd name="adj" fmla="val 2759"/>
            </a:avLst>
          </a:prstGeom>
          <a:solidFill>
            <a:srgbClr val="1B2029"/>
          </a:solidFill>
          <a:ln w="12700">
            <a:solidFill>
              <a:srgbClr val="2C3340"/>
            </a:solidFill>
            <a:prstDash val="solid"/>
          </a:ln>
        </p:spPr>
      </p:sp>
      <p:sp>
        <p:nvSpPr>
          <p:cNvPr id="6" name="Text 4"/>
          <p:cNvSpPr txBox="1"/>
          <p:nvPr/>
        </p:nvSpPr>
        <p:spPr>
          <a:xfrm>
            <a:off x="6812280" y="2011680"/>
            <a:ext cx="4480560" cy="27432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This repo, before any of it</a:t>
            </a:r>
            <a:endParaRPr lang="en-US" sz="1300" dirty="0"/>
          </a:p>
        </p:txBody>
      </p:sp>
      <p:sp>
        <p:nvSpPr>
          <p:cNvPr id="7" name="Text 5"/>
          <p:cNvSpPr txBox="1"/>
          <p:nvPr/>
        </p:nvSpPr>
        <p:spPr>
          <a:xfrm>
            <a:off x="6812280" y="2331720"/>
            <a:ext cx="4480560" cy="822960"/>
          </a:xfrm>
          <a:prstGeom prst="rect">
            <a:avLst/>
          </a:prstGeom>
          <a:noFill/>
          <a:ln/>
        </p:spPr>
        <p:txBody>
          <a:bodyPr wrap="square" lIns="0" tIns="0" rIns="0" bIns="0" rtlCol="0" anchor="ctr"/>
          <a:lstStyle/>
          <a:p>
            <a:pPr indent="0" marL="0">
              <a:buNone/>
            </a:pPr>
            <a:r>
              <a:rPr lang="en-US" sz="5200" b="1" dirty="0">
                <a:solidFill>
                  <a:srgbClr val="F5A524"/>
                </a:solidFill>
                <a:latin typeface="Cambria" pitchFamily="34" charset="0"/>
                <a:ea typeface="Cambria" pitchFamily="34" charset="-122"/>
                <a:cs typeface="Cambria" pitchFamily="34" charset="-120"/>
              </a:rPr>
              <a:t>1m 33s</a:t>
            </a:r>
            <a:endParaRPr lang="en-US" sz="5200" dirty="0"/>
          </a:p>
        </p:txBody>
      </p:sp>
      <p:sp>
        <p:nvSpPr>
          <p:cNvPr id="8" name="Text 6"/>
          <p:cNvSpPr txBox="1"/>
          <p:nvPr/>
        </p:nvSpPr>
        <p:spPr>
          <a:xfrm>
            <a:off x="6812280" y="3200400"/>
            <a:ext cx="4480560" cy="27432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10 spec files · 56 tests · one Cypress process</a:t>
            </a:r>
            <a:endParaRPr lang="en-US" sz="1300" dirty="0"/>
          </a:p>
        </p:txBody>
      </p:sp>
      <p:sp>
        <p:nvSpPr>
          <p:cNvPr id="9" name="Text 7"/>
          <p:cNvSpPr txBox="1"/>
          <p:nvPr/>
        </p:nvSpPr>
        <p:spPr>
          <a:xfrm>
            <a:off x="6812280" y="3611880"/>
            <a:ext cx="4480560" cy="6400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Scale that to 200 specs and you have the nightly job.</a:t>
            </a:r>
            <a:endParaRPr lang="en-US" sz="1300" dirty="0"/>
          </a:p>
        </p:txBody>
      </p:sp>
      <p:sp>
        <p:nvSpPr>
          <p:cNvPr id="10" name="Text 8"/>
          <p:cNvSpPr txBox="1"/>
          <p:nvPr/>
        </p:nvSpPr>
        <p:spPr>
          <a:xfrm>
            <a:off x="640080" y="5029200"/>
            <a:ext cx="10881360" cy="457200"/>
          </a:xfrm>
          <a:prstGeom prst="rect">
            <a:avLst/>
          </a:prstGeom>
          <a:noFill/>
          <a:ln/>
        </p:spPr>
        <p:txBody>
          <a:bodyPr wrap="square" lIns="0" tIns="0" rIns="0" bIns="0" rtlCol="0" anchor="ctr"/>
          <a:lstStyle/>
          <a:p>
            <a:pPr indent="0" marL="0">
              <a:buNone/>
            </a:pPr>
            <a:r>
              <a:rPr lang="en-US" sz="2200" i="1" dirty="0">
                <a:solidFill>
                  <a:srgbClr val="FFFFFF"/>
                </a:solidFill>
                <a:latin typeface="Cambria" pitchFamily="34" charset="0"/>
                <a:ea typeface="Cambria" pitchFamily="34" charset="-122"/>
                <a:cs typeface="Cambria" pitchFamily="34" charset="-120"/>
              </a:rPr>
              <a:t>Speed of feedback is speed of delivery.</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CONTEXT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Nx is a task graph, not a test runner</a:t>
            </a:r>
            <a:endParaRPr lang="en-US" sz="3800" dirty="0"/>
          </a:p>
        </p:txBody>
      </p:sp>
      <p:sp>
        <p:nvSpPr>
          <p:cNvPr id="4" name="Shape 2"/>
          <p:cNvSpPr/>
          <p:nvPr/>
        </p:nvSpPr>
        <p:spPr>
          <a:xfrm>
            <a:off x="640080" y="1965960"/>
            <a:ext cx="3429000" cy="2011680"/>
          </a:xfrm>
          <a:prstGeom prst="roundRect">
            <a:avLst>
              <a:gd name="adj" fmla="val 3182"/>
            </a:avLst>
          </a:prstGeom>
          <a:solidFill>
            <a:srgbClr val="FFFFFF"/>
          </a:solidFill>
          <a:ln w="12700">
            <a:solidFill>
              <a:srgbClr val="DFE4EC"/>
            </a:solidFill>
            <a:prstDash val="solid"/>
          </a:ln>
        </p:spPr>
      </p:sp>
      <p:sp>
        <p:nvSpPr>
          <p:cNvPr id="5" name="Shape 3"/>
          <p:cNvSpPr/>
          <p:nvPr/>
        </p:nvSpPr>
        <p:spPr>
          <a:xfrm>
            <a:off x="868680" y="2194560"/>
            <a:ext cx="384048" cy="384048"/>
          </a:xfrm>
          <a:prstGeom prst="ellipse">
            <a:avLst/>
          </a:prstGeom>
          <a:solidFill>
            <a:srgbClr val="0B7A44"/>
          </a:solidFill>
          <a:ln/>
        </p:spPr>
      </p:sp>
      <p:sp>
        <p:nvSpPr>
          <p:cNvPr id="6" name="Text 4"/>
          <p:cNvSpPr txBox="1"/>
          <p:nvPr/>
        </p:nvSpPr>
        <p:spPr>
          <a:xfrm>
            <a:off x="86868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371600" y="2212848"/>
            <a:ext cx="251460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Knows your graph</a:t>
            </a:r>
            <a:endParaRPr lang="en-US" sz="1600" dirty="0"/>
          </a:p>
        </p:txBody>
      </p:sp>
      <p:sp>
        <p:nvSpPr>
          <p:cNvPr id="8" name="Text 6"/>
          <p:cNvSpPr txBox="1"/>
          <p:nvPr/>
        </p:nvSpPr>
        <p:spPr>
          <a:xfrm>
            <a:off x="868680" y="2743200"/>
            <a:ext cx="2971800" cy="1005840"/>
          </a:xfrm>
          <a:prstGeom prst="rect">
            <a:avLst/>
          </a:prstGeom>
          <a:noFill/>
          <a:ln/>
        </p:spPr>
        <p:txBody>
          <a:bodyPr wrap="square" lIns="0" tIns="0" rIns="0" bIns="0" rtlCol="0" anchor="ctr"/>
          <a:lstStyle/>
          <a:p>
            <a:pPr indent="0" marL="0">
              <a:buNone/>
            </a:pPr>
            <a:r>
              <a:rPr lang="en-US" sz="1300" dirty="0">
                <a:solidFill>
                  <a:srgbClr val="55607A"/>
                </a:solidFill>
                <a:latin typeface="Calibri" pitchFamily="34" charset="0"/>
                <a:ea typeface="Calibri" pitchFamily="34" charset="-122"/>
                <a:cs typeface="Calibri" pitchFamily="34" charset="-120"/>
              </a:rPr>
              <a:t>Which projects exist, what depends on what, which files feed which task.</a:t>
            </a:r>
            <a:endParaRPr lang="en-US" sz="1300" dirty="0"/>
          </a:p>
        </p:txBody>
      </p:sp>
      <p:sp>
        <p:nvSpPr>
          <p:cNvPr id="9" name="Shape 7"/>
          <p:cNvSpPr/>
          <p:nvPr/>
        </p:nvSpPr>
        <p:spPr>
          <a:xfrm>
            <a:off x="4343400" y="1965960"/>
            <a:ext cx="3429000" cy="2011680"/>
          </a:xfrm>
          <a:prstGeom prst="roundRect">
            <a:avLst>
              <a:gd name="adj" fmla="val 3182"/>
            </a:avLst>
          </a:prstGeom>
          <a:solidFill>
            <a:srgbClr val="FFFFFF"/>
          </a:solidFill>
          <a:ln w="12700">
            <a:solidFill>
              <a:srgbClr val="DFE4EC"/>
            </a:solidFill>
            <a:prstDash val="solid"/>
          </a:ln>
        </p:spPr>
      </p:sp>
      <p:sp>
        <p:nvSpPr>
          <p:cNvPr id="10" name="Shape 8"/>
          <p:cNvSpPr/>
          <p:nvPr/>
        </p:nvSpPr>
        <p:spPr>
          <a:xfrm>
            <a:off x="4572000" y="2194560"/>
            <a:ext cx="384048" cy="384048"/>
          </a:xfrm>
          <a:prstGeom prst="ellipse">
            <a:avLst/>
          </a:prstGeom>
          <a:solidFill>
            <a:srgbClr val="0B7A44"/>
          </a:solidFill>
          <a:ln/>
        </p:spPr>
      </p:sp>
      <p:sp>
        <p:nvSpPr>
          <p:cNvPr id="11" name="Text 9"/>
          <p:cNvSpPr txBox="1"/>
          <p:nvPr/>
        </p:nvSpPr>
        <p:spPr>
          <a:xfrm>
            <a:off x="457200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5074920" y="2212848"/>
            <a:ext cx="251460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Schedules tasks</a:t>
            </a:r>
            <a:endParaRPr lang="en-US" sz="1600" dirty="0"/>
          </a:p>
        </p:txBody>
      </p:sp>
      <p:sp>
        <p:nvSpPr>
          <p:cNvPr id="13" name="Text 11"/>
          <p:cNvSpPr txBox="1"/>
          <p:nvPr/>
        </p:nvSpPr>
        <p:spPr>
          <a:xfrm>
            <a:off x="4572000" y="2743200"/>
            <a:ext cx="2971800" cy="1005840"/>
          </a:xfrm>
          <a:prstGeom prst="rect">
            <a:avLst/>
          </a:prstGeom>
          <a:noFill/>
          <a:ln/>
        </p:spPr>
        <p:txBody>
          <a:bodyPr wrap="square" lIns="0" tIns="0" rIns="0" bIns="0" rtlCol="0" anchor="ctr"/>
          <a:lstStyle/>
          <a:p>
            <a:pPr indent="0" marL="0">
              <a:buNone/>
            </a:pPr>
            <a:r>
              <a:rPr lang="en-US" sz="1300" dirty="0">
                <a:solidFill>
                  <a:srgbClr val="55607A"/>
                </a:solidFill>
                <a:latin typeface="Calibri" pitchFamily="34" charset="0"/>
                <a:ea typeface="Calibri" pitchFamily="34" charset="-122"/>
                <a:cs typeface="Calibri" pitchFamily="34" charset="-120"/>
              </a:rPr>
              <a:t>Runs independent tasks concurrently and orders the dependent ones.</a:t>
            </a:r>
            <a:endParaRPr lang="en-US" sz="1300" dirty="0"/>
          </a:p>
        </p:txBody>
      </p:sp>
      <p:sp>
        <p:nvSpPr>
          <p:cNvPr id="14" name="Shape 12"/>
          <p:cNvSpPr/>
          <p:nvPr/>
        </p:nvSpPr>
        <p:spPr>
          <a:xfrm>
            <a:off x="8046720" y="1965960"/>
            <a:ext cx="3429000" cy="2011680"/>
          </a:xfrm>
          <a:prstGeom prst="roundRect">
            <a:avLst>
              <a:gd name="adj" fmla="val 3182"/>
            </a:avLst>
          </a:prstGeom>
          <a:solidFill>
            <a:srgbClr val="FFFFFF"/>
          </a:solidFill>
          <a:ln w="12700">
            <a:solidFill>
              <a:srgbClr val="DFE4EC"/>
            </a:solidFill>
            <a:prstDash val="solid"/>
          </a:ln>
        </p:spPr>
      </p:sp>
      <p:sp>
        <p:nvSpPr>
          <p:cNvPr id="15" name="Shape 13"/>
          <p:cNvSpPr/>
          <p:nvPr/>
        </p:nvSpPr>
        <p:spPr>
          <a:xfrm>
            <a:off x="8275320" y="2194560"/>
            <a:ext cx="384048" cy="384048"/>
          </a:xfrm>
          <a:prstGeom prst="ellipse">
            <a:avLst/>
          </a:prstGeom>
          <a:solidFill>
            <a:srgbClr val="0B7A44"/>
          </a:solidFill>
          <a:ln/>
        </p:spPr>
      </p:sp>
      <p:sp>
        <p:nvSpPr>
          <p:cNvPr id="16" name="Text 14"/>
          <p:cNvSpPr txBox="1"/>
          <p:nvPr/>
        </p:nvSpPr>
        <p:spPr>
          <a:xfrm>
            <a:off x="827532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txBox="1"/>
          <p:nvPr/>
        </p:nvSpPr>
        <p:spPr>
          <a:xfrm>
            <a:off x="8778240" y="2212848"/>
            <a:ext cx="251460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Hashes every task</a:t>
            </a:r>
            <a:endParaRPr lang="en-US" sz="1600" dirty="0"/>
          </a:p>
        </p:txBody>
      </p:sp>
      <p:sp>
        <p:nvSpPr>
          <p:cNvPr id="18" name="Text 16"/>
          <p:cNvSpPr txBox="1"/>
          <p:nvPr/>
        </p:nvSpPr>
        <p:spPr>
          <a:xfrm>
            <a:off x="8275320" y="2743200"/>
            <a:ext cx="2971800" cy="1005840"/>
          </a:xfrm>
          <a:prstGeom prst="rect">
            <a:avLst/>
          </a:prstGeom>
          <a:noFill/>
          <a:ln/>
        </p:spPr>
        <p:txBody>
          <a:bodyPr wrap="square" lIns="0" tIns="0" rIns="0" bIns="0" rtlCol="0" anchor="ctr"/>
          <a:lstStyle/>
          <a:p>
            <a:pPr indent="0" marL="0">
              <a:buNone/>
            </a:pPr>
            <a:r>
              <a:rPr lang="en-US" sz="1300" dirty="0">
                <a:solidFill>
                  <a:srgbClr val="55607A"/>
                </a:solidFill>
                <a:latin typeface="Calibri" pitchFamily="34" charset="0"/>
                <a:ea typeface="Calibri" pitchFamily="34" charset="-122"/>
                <a:cs typeface="Calibri" pitchFamily="34" charset="-120"/>
              </a:rPr>
              <a:t>Inputs in, hash out. Same hash means the answer is already known.</a:t>
            </a:r>
            <a:endParaRPr lang="en-US" sz="1300" dirty="0"/>
          </a:p>
        </p:txBody>
      </p:sp>
      <p:sp>
        <p:nvSpPr>
          <p:cNvPr id="19" name="Shape 17"/>
          <p:cNvSpPr/>
          <p:nvPr/>
        </p:nvSpPr>
        <p:spPr>
          <a:xfrm>
            <a:off x="640080" y="4343400"/>
            <a:ext cx="10881360" cy="777240"/>
          </a:xfrm>
          <a:prstGeom prst="roundRect">
            <a:avLst>
              <a:gd name="adj" fmla="val 7059"/>
            </a:avLst>
          </a:prstGeom>
          <a:solidFill>
            <a:srgbClr val="10131A"/>
          </a:solidFill>
          <a:ln w="12700">
            <a:solidFill>
              <a:srgbClr val="10131A"/>
            </a:solidFill>
            <a:prstDash val="solid"/>
          </a:ln>
        </p:spPr>
      </p:sp>
      <p:sp>
        <p:nvSpPr>
          <p:cNvPr id="20" name="Text 18"/>
          <p:cNvSpPr txBox="1"/>
          <p:nvPr/>
        </p:nvSpPr>
        <p:spPr>
          <a:xfrm>
            <a:off x="868680" y="4544568"/>
            <a:ext cx="10424160" cy="374904"/>
          </a:xfrm>
          <a:prstGeom prst="rect">
            <a:avLst/>
          </a:prstGeom>
          <a:noFill/>
          <a:ln/>
        </p:spPr>
        <p:txBody>
          <a:bodyPr wrap="square" lIns="0" tIns="0" rIns="0" bIns="0" rtlCol="0" anchor="t"/>
          <a:lstStyle/>
          <a:p>
            <a:pPr indent="0" marL="0">
              <a:lnSpc>
                <a:spcPct val="125000"/>
              </a:lnSpc>
              <a:buNone/>
            </a:pPr>
            <a:r>
              <a:rPr lang="en-US" sz="1700" dirty="0">
                <a:solidFill>
                  <a:srgbClr val="3DDC84"/>
                </a:solidFill>
                <a:latin typeface="Courier New" pitchFamily="34" charset="0"/>
                <a:ea typeface="Courier New" pitchFamily="34" charset="-122"/>
                <a:cs typeface="Courier New" pitchFamily="34" charset="-120"/>
              </a:rPr>
              <a:t>nx run-many -t test --parallel=5</a:t>
            </a:r>
            <a:endParaRPr lang="en-US" sz="1700" dirty="0"/>
          </a:p>
        </p:txBody>
      </p:sp>
      <p:sp>
        <p:nvSpPr>
          <p:cNvPr id="21" name="Text 19"/>
          <p:cNvSpPr txBox="1"/>
          <p:nvPr/>
        </p:nvSpPr>
        <p:spPr>
          <a:xfrm>
            <a:off x="640080" y="5257800"/>
            <a:ext cx="10881360" cy="365760"/>
          </a:xfrm>
          <a:prstGeom prst="rect">
            <a:avLst/>
          </a:prstGeom>
          <a:noFill/>
          <a:ln/>
        </p:spPr>
        <p:txBody>
          <a:bodyPr wrap="square" lIns="0" tIns="0" rIns="0" bIns="0" rtlCol="0" anchor="ctr"/>
          <a:lstStyle/>
          <a:p>
            <a:pPr indent="0" marL="0">
              <a:buNone/>
            </a:pPr>
            <a:r>
              <a:rPr lang="en-US" sz="1400" i="1" dirty="0">
                <a:solidFill>
                  <a:srgbClr val="55607A"/>
                </a:solidFill>
                <a:latin typeface="Calibri" pitchFamily="34" charset="0"/>
                <a:ea typeface="Calibri" pitchFamily="34" charset="-122"/>
                <a:cs typeface="Calibri" pitchFamily="34" charset="-120"/>
              </a:rPr>
              <a:t>That much most teams already have. The interesting part is what Nx can generate for you.</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02 · THE ATOMIZER</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task becomes one task per file</a:t>
            </a:r>
            <a:endParaRPr lang="en-US" sz="3800" dirty="0"/>
          </a:p>
        </p:txBody>
      </p:sp>
      <p:sp>
        <p:nvSpPr>
          <p:cNvPr id="4" name="Text 2"/>
          <p:cNvSpPr txBox="1"/>
          <p:nvPr/>
        </p:nvSpPr>
        <p:spPr>
          <a:xfrm>
            <a:off x="640080" y="1874520"/>
            <a:ext cx="2377440" cy="274320"/>
          </a:xfrm>
          <a:prstGeom prst="rect">
            <a:avLst/>
          </a:prstGeom>
          <a:noFill/>
          <a:ln/>
        </p:spPr>
        <p:txBody>
          <a:bodyPr wrap="square" lIns="0" tIns="0" rIns="0" bIns="0" rtlCol="0" anchor="ctr"/>
          <a:lstStyle/>
          <a:p>
            <a:pPr indent="0" marL="0">
              <a:buNone/>
            </a:pPr>
            <a:r>
              <a:rPr lang="en-US" sz="1200" b="1" spc="200" kern="0" dirty="0">
                <a:solidFill>
                  <a:srgbClr val="F5A524"/>
                </a:solidFill>
                <a:latin typeface="Calibri" pitchFamily="34" charset="0"/>
                <a:ea typeface="Calibri" pitchFamily="34" charset="-122"/>
                <a:cs typeface="Calibri" pitchFamily="34" charset="-120"/>
              </a:rPr>
              <a:t>BEFORE</a:t>
            </a:r>
            <a:endParaRPr lang="en-US" sz="1200" dirty="0"/>
          </a:p>
        </p:txBody>
      </p:sp>
      <p:sp>
        <p:nvSpPr>
          <p:cNvPr id="5" name="Shape 3"/>
          <p:cNvSpPr/>
          <p:nvPr/>
        </p:nvSpPr>
        <p:spPr>
          <a:xfrm>
            <a:off x="640080" y="2240280"/>
            <a:ext cx="2377440" cy="2377440"/>
          </a:xfrm>
          <a:prstGeom prst="roundRect">
            <a:avLst>
              <a:gd name="adj" fmla="val 2692"/>
            </a:avLst>
          </a:prstGeom>
          <a:solidFill>
            <a:srgbClr val="1B2029"/>
          </a:solidFill>
          <a:ln w="19050">
            <a:solidFill>
              <a:srgbClr val="F5A524"/>
            </a:solidFill>
            <a:prstDash val="solid"/>
          </a:ln>
        </p:spPr>
      </p:sp>
      <p:sp>
        <p:nvSpPr>
          <p:cNvPr id="6" name="Text 4"/>
          <p:cNvSpPr txBox="1"/>
          <p:nvPr/>
        </p:nvSpPr>
        <p:spPr>
          <a:xfrm>
            <a:off x="640080" y="3063240"/>
            <a:ext cx="237744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e2e</a:t>
            </a:r>
            <a:endParaRPr lang="en-US" sz="2200" dirty="0"/>
          </a:p>
        </p:txBody>
      </p:sp>
      <p:sp>
        <p:nvSpPr>
          <p:cNvPr id="7" name="Text 5"/>
          <p:cNvSpPr txBox="1"/>
          <p:nvPr/>
        </p:nvSpPr>
        <p:spPr>
          <a:xfrm>
            <a:off x="640080" y="3520440"/>
            <a:ext cx="237744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56 tests, in a row</a:t>
            </a:r>
            <a:endParaRPr lang="en-US" sz="1200" dirty="0"/>
          </a:p>
        </p:txBody>
      </p:sp>
      <p:sp>
        <p:nvSpPr>
          <p:cNvPr id="8" name="Shape 6"/>
          <p:cNvSpPr/>
          <p:nvPr/>
        </p:nvSpPr>
        <p:spPr>
          <a:xfrm>
            <a:off x="3246120" y="3200400"/>
            <a:ext cx="777240" cy="411480"/>
          </a:xfrm>
          <a:prstGeom prst="rightArrow">
            <a:avLst/>
          </a:prstGeom>
          <a:solidFill>
            <a:srgbClr val="4ADE80"/>
          </a:solidFill>
          <a:ln w="12700">
            <a:solidFill>
              <a:srgbClr val="4ADE80"/>
            </a:solidFill>
            <a:prstDash val="solid"/>
          </a:ln>
        </p:spPr>
      </p:sp>
      <p:sp>
        <p:nvSpPr>
          <p:cNvPr id="9" name="Text 7"/>
          <p:cNvSpPr txBox="1"/>
          <p:nvPr/>
        </p:nvSpPr>
        <p:spPr>
          <a:xfrm>
            <a:off x="4251960" y="1874520"/>
            <a:ext cx="3291840" cy="274320"/>
          </a:xfrm>
          <a:prstGeom prst="rect">
            <a:avLst/>
          </a:prstGeom>
          <a:noFill/>
          <a:ln/>
        </p:spPr>
        <p:txBody>
          <a:bodyPr wrap="square" lIns="0" tIns="0" rIns="0" bIns="0" rtlCol="0" anchor="ctr"/>
          <a:lstStyle/>
          <a:p>
            <a:pPr indent="0" marL="0">
              <a:buNone/>
            </a:pPr>
            <a:r>
              <a:rPr lang="en-US" sz="1200" b="1" spc="200" kern="0" dirty="0">
                <a:solidFill>
                  <a:srgbClr val="4ADE80"/>
                </a:solidFill>
                <a:latin typeface="Calibri" pitchFamily="34" charset="0"/>
                <a:ea typeface="Calibri" pitchFamily="34" charset="-122"/>
                <a:cs typeface="Calibri" pitchFamily="34" charset="-120"/>
              </a:rPr>
              <a:t>AFTER</a:t>
            </a:r>
            <a:endParaRPr lang="en-US" sz="1200" dirty="0"/>
          </a:p>
        </p:txBody>
      </p:sp>
      <p:sp>
        <p:nvSpPr>
          <p:cNvPr id="10" name="Shape 8"/>
          <p:cNvSpPr/>
          <p:nvPr/>
        </p:nvSpPr>
        <p:spPr>
          <a:xfrm>
            <a:off x="4251960" y="2240280"/>
            <a:ext cx="3291840" cy="329184"/>
          </a:xfrm>
          <a:prstGeom prst="roundRect">
            <a:avLst>
              <a:gd name="adj" fmla="val 13889"/>
            </a:avLst>
          </a:prstGeom>
          <a:solidFill>
            <a:srgbClr val="1B2029"/>
          </a:solidFill>
          <a:ln w="12700">
            <a:solidFill>
              <a:srgbClr val="4ADE80"/>
            </a:solidFill>
            <a:prstDash val="solid"/>
          </a:ln>
        </p:spPr>
      </p:sp>
      <p:sp>
        <p:nvSpPr>
          <p:cNvPr id="11" name="Text 9"/>
          <p:cNvSpPr txBox="1"/>
          <p:nvPr/>
        </p:nvSpPr>
        <p:spPr>
          <a:xfrm>
            <a:off x="4389120" y="2240280"/>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catalog.cy.ts</a:t>
            </a:r>
            <a:endParaRPr lang="en-US" sz="1100" dirty="0"/>
          </a:p>
        </p:txBody>
      </p:sp>
      <p:sp>
        <p:nvSpPr>
          <p:cNvPr id="12" name="Shape 10"/>
          <p:cNvSpPr/>
          <p:nvPr/>
        </p:nvSpPr>
        <p:spPr>
          <a:xfrm>
            <a:off x="4251960" y="2642616"/>
            <a:ext cx="3291840" cy="329184"/>
          </a:xfrm>
          <a:prstGeom prst="roundRect">
            <a:avLst>
              <a:gd name="adj" fmla="val 13889"/>
            </a:avLst>
          </a:prstGeom>
          <a:solidFill>
            <a:srgbClr val="1B2029"/>
          </a:solidFill>
          <a:ln w="12700">
            <a:solidFill>
              <a:srgbClr val="4ADE80"/>
            </a:solidFill>
            <a:prstDash val="solid"/>
          </a:ln>
        </p:spPr>
      </p:sp>
      <p:sp>
        <p:nvSpPr>
          <p:cNvPr id="13" name="Text 11"/>
          <p:cNvSpPr txBox="1"/>
          <p:nvPr/>
        </p:nvSpPr>
        <p:spPr>
          <a:xfrm>
            <a:off x="4389120" y="2642616"/>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search.cy.ts</a:t>
            </a:r>
            <a:endParaRPr lang="en-US" sz="1100" dirty="0"/>
          </a:p>
        </p:txBody>
      </p:sp>
      <p:sp>
        <p:nvSpPr>
          <p:cNvPr id="14" name="Shape 12"/>
          <p:cNvSpPr/>
          <p:nvPr/>
        </p:nvSpPr>
        <p:spPr>
          <a:xfrm>
            <a:off x="4251960" y="3044952"/>
            <a:ext cx="3291840" cy="329184"/>
          </a:xfrm>
          <a:prstGeom prst="roundRect">
            <a:avLst>
              <a:gd name="adj" fmla="val 13889"/>
            </a:avLst>
          </a:prstGeom>
          <a:solidFill>
            <a:srgbClr val="1B2029"/>
          </a:solidFill>
          <a:ln w="12700">
            <a:solidFill>
              <a:srgbClr val="4ADE80"/>
            </a:solidFill>
            <a:prstDash val="solid"/>
          </a:ln>
        </p:spPr>
      </p:sp>
      <p:sp>
        <p:nvSpPr>
          <p:cNvPr id="15" name="Text 13"/>
          <p:cNvSpPr txBox="1"/>
          <p:nvPr/>
        </p:nvSpPr>
        <p:spPr>
          <a:xfrm>
            <a:off x="4389120" y="3044952"/>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cart-totals.cy.ts</a:t>
            </a:r>
            <a:endParaRPr lang="en-US" sz="1100" dirty="0"/>
          </a:p>
        </p:txBody>
      </p:sp>
      <p:sp>
        <p:nvSpPr>
          <p:cNvPr id="16" name="Shape 14"/>
          <p:cNvSpPr/>
          <p:nvPr/>
        </p:nvSpPr>
        <p:spPr>
          <a:xfrm>
            <a:off x="4251960" y="3447288"/>
            <a:ext cx="3291840" cy="329184"/>
          </a:xfrm>
          <a:prstGeom prst="roundRect">
            <a:avLst>
              <a:gd name="adj" fmla="val 13889"/>
            </a:avLst>
          </a:prstGeom>
          <a:solidFill>
            <a:srgbClr val="1B2029"/>
          </a:solidFill>
          <a:ln w="12700">
            <a:solidFill>
              <a:srgbClr val="4ADE80"/>
            </a:solidFill>
            <a:prstDash val="solid"/>
          </a:ln>
        </p:spPr>
      </p:sp>
      <p:sp>
        <p:nvSpPr>
          <p:cNvPr id="17" name="Text 15"/>
          <p:cNvSpPr txBox="1"/>
          <p:nvPr/>
        </p:nvSpPr>
        <p:spPr>
          <a:xfrm>
            <a:off x="4389120" y="3447288"/>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login.cy.ts</a:t>
            </a:r>
            <a:endParaRPr lang="en-US" sz="1100" dirty="0"/>
          </a:p>
        </p:txBody>
      </p:sp>
      <p:sp>
        <p:nvSpPr>
          <p:cNvPr id="18" name="Shape 16"/>
          <p:cNvSpPr/>
          <p:nvPr/>
        </p:nvSpPr>
        <p:spPr>
          <a:xfrm>
            <a:off x="4251960" y="3849624"/>
            <a:ext cx="3291840" cy="329184"/>
          </a:xfrm>
          <a:prstGeom prst="roundRect">
            <a:avLst>
              <a:gd name="adj" fmla="val 13889"/>
            </a:avLst>
          </a:prstGeom>
          <a:solidFill>
            <a:srgbClr val="1B2029"/>
          </a:solidFill>
          <a:ln w="12700">
            <a:solidFill>
              <a:srgbClr val="4ADE80"/>
            </a:solidFill>
            <a:prstDash val="solid"/>
          </a:ln>
        </p:spPr>
      </p:sp>
      <p:sp>
        <p:nvSpPr>
          <p:cNvPr id="19" name="Text 17"/>
          <p:cNvSpPr txBox="1"/>
          <p:nvPr/>
        </p:nvSpPr>
        <p:spPr>
          <a:xfrm>
            <a:off x="4389120" y="3849624"/>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checkout-*.cy.ts</a:t>
            </a:r>
            <a:endParaRPr lang="en-US" sz="1100" dirty="0"/>
          </a:p>
        </p:txBody>
      </p:sp>
      <p:sp>
        <p:nvSpPr>
          <p:cNvPr id="20" name="Shape 18"/>
          <p:cNvSpPr/>
          <p:nvPr/>
        </p:nvSpPr>
        <p:spPr>
          <a:xfrm>
            <a:off x="4251960" y="4251960"/>
            <a:ext cx="3291840" cy="329184"/>
          </a:xfrm>
          <a:prstGeom prst="roundRect">
            <a:avLst>
              <a:gd name="adj" fmla="val 13889"/>
            </a:avLst>
          </a:prstGeom>
          <a:solidFill>
            <a:srgbClr val="10131A"/>
          </a:solidFill>
          <a:ln w="12700">
            <a:solidFill>
              <a:srgbClr val="2C3340"/>
            </a:solidFill>
            <a:prstDash val="solid"/>
          </a:ln>
        </p:spPr>
      </p:sp>
      <p:sp>
        <p:nvSpPr>
          <p:cNvPr id="21" name="Text 19"/>
          <p:cNvSpPr txBox="1"/>
          <p:nvPr/>
        </p:nvSpPr>
        <p:spPr>
          <a:xfrm>
            <a:off x="4389120" y="4251960"/>
            <a:ext cx="3017520" cy="329184"/>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…10 in total</a:t>
            </a:r>
            <a:endParaRPr lang="en-US" sz="1100" dirty="0"/>
          </a:p>
        </p:txBody>
      </p:sp>
      <p:sp>
        <p:nvSpPr>
          <p:cNvPr id="22" name="Text 20"/>
          <p:cNvSpPr txBox="1"/>
          <p:nvPr/>
        </p:nvSpPr>
        <p:spPr>
          <a:xfrm>
            <a:off x="7955280" y="2240280"/>
            <a:ext cx="3566160" cy="310896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rgbClr val="FFFFFF"/>
                </a:solidFill>
                <a:latin typeface="Calibri" pitchFamily="34" charset="0"/>
                <a:ea typeface="Calibri" pitchFamily="34" charset="-122"/>
                <a:cs typeface="Calibri" pitchFamily="34" charset="-120"/>
              </a:rPr>
              <a:t>Generated, not written by hand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Add a spec file, get a target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runnable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cacheable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fails on its own</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SETUP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Turning it on</a:t>
            </a:r>
            <a:endParaRPr lang="en-US" sz="3800" dirty="0"/>
          </a:p>
        </p:txBody>
      </p:sp>
      <p:sp>
        <p:nvSpPr>
          <p:cNvPr id="4" name="Text 2"/>
          <p:cNvSpPr txBox="1"/>
          <p:nvPr/>
        </p:nvSpPr>
        <p:spPr>
          <a:xfrm>
            <a:off x="640080" y="182880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1 · Add the plugin</a:t>
            </a:r>
            <a:endParaRPr lang="en-US" sz="1600" dirty="0"/>
          </a:p>
        </p:txBody>
      </p:sp>
      <p:sp>
        <p:nvSpPr>
          <p:cNvPr id="5" name="Shape 3"/>
          <p:cNvSpPr/>
          <p:nvPr/>
        </p:nvSpPr>
        <p:spPr>
          <a:xfrm>
            <a:off x="640080" y="2194560"/>
            <a:ext cx="5120640" cy="768096"/>
          </a:xfrm>
          <a:prstGeom prst="roundRect">
            <a:avLst>
              <a:gd name="adj" fmla="val 7143"/>
            </a:avLst>
          </a:prstGeom>
          <a:solidFill>
            <a:srgbClr val="10131A"/>
          </a:solidFill>
          <a:ln w="12700">
            <a:solidFill>
              <a:srgbClr val="10131A"/>
            </a:solidFill>
            <a:prstDash val="solid"/>
          </a:ln>
        </p:spPr>
      </p:sp>
      <p:sp>
        <p:nvSpPr>
          <p:cNvPr id="6" name="Text 4"/>
          <p:cNvSpPr txBox="1"/>
          <p:nvPr/>
        </p:nvSpPr>
        <p:spPr>
          <a:xfrm>
            <a:off x="868680" y="2395728"/>
            <a:ext cx="4663440" cy="365760"/>
          </a:xfrm>
          <a:prstGeom prst="rect">
            <a:avLst/>
          </a:prstGeom>
          <a:noFill/>
          <a:ln/>
        </p:spPr>
        <p:txBody>
          <a:bodyPr wrap="square" lIns="0" tIns="0" rIns="0" bIns="0" rtlCol="0" anchor="t"/>
          <a:lstStyle/>
          <a:p>
            <a:pPr indent="0" marL="0">
              <a:lnSpc>
                <a:spcPct val="125000"/>
              </a:lnSpc>
              <a:buNone/>
            </a:pPr>
            <a:r>
              <a:rPr lang="en-US" sz="1500" dirty="0">
                <a:solidFill>
                  <a:srgbClr val="3DDC84"/>
                </a:solidFill>
                <a:latin typeface="Courier New" pitchFamily="34" charset="0"/>
                <a:ea typeface="Courier New" pitchFamily="34" charset="-122"/>
                <a:cs typeface="Courier New" pitchFamily="34" charset="-120"/>
              </a:rPr>
              <a:t>nx add @nx/cypress</a:t>
            </a:r>
            <a:endParaRPr lang="en-US" sz="1500" dirty="0"/>
          </a:p>
        </p:txBody>
      </p:sp>
      <p:sp>
        <p:nvSpPr>
          <p:cNvPr id="7" name="Text 5"/>
          <p:cNvSpPr txBox="1"/>
          <p:nvPr/>
        </p:nvSpPr>
        <p:spPr>
          <a:xfrm>
            <a:off x="640080" y="301752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2 · It registers this in nx.json</a:t>
            </a:r>
            <a:endParaRPr lang="en-US" sz="1600" dirty="0"/>
          </a:p>
        </p:txBody>
      </p:sp>
      <p:sp>
        <p:nvSpPr>
          <p:cNvPr id="8" name="Shape 6"/>
          <p:cNvSpPr/>
          <p:nvPr/>
        </p:nvSpPr>
        <p:spPr>
          <a:xfrm>
            <a:off x="640080" y="3383280"/>
            <a:ext cx="5120640" cy="2633472"/>
          </a:xfrm>
          <a:prstGeom prst="roundRect">
            <a:avLst>
              <a:gd name="adj" fmla="val 2083"/>
            </a:avLst>
          </a:prstGeom>
          <a:solidFill>
            <a:srgbClr val="10131A"/>
          </a:solidFill>
          <a:ln w="12700">
            <a:solidFill>
              <a:srgbClr val="10131A"/>
            </a:solidFill>
            <a:prstDash val="solid"/>
          </a:ln>
        </p:spPr>
      </p:sp>
      <p:sp>
        <p:nvSpPr>
          <p:cNvPr id="9" name="Text 7"/>
          <p:cNvSpPr txBox="1"/>
          <p:nvPr/>
        </p:nvSpPr>
        <p:spPr>
          <a:xfrm>
            <a:off x="868680" y="3584448"/>
            <a:ext cx="4663440" cy="2231136"/>
          </a:xfrm>
          <a:prstGeom prst="rect">
            <a:avLst/>
          </a:prstGeom>
          <a:noFill/>
          <a:ln/>
        </p:spPr>
        <p:txBody>
          <a:bodyPr wrap="square" lIns="0" tIns="0" rIns="0" bIns="0" rtlCol="0" anchor="t"/>
          <a:lstStyle/>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  "plugin": "@nx/cypress/plugin",</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"options": {</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"targetName": "e2e",</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"ciTargetName": "e2e-ci"</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p:txBody>
      </p:sp>
      <p:sp>
        <p:nvSpPr>
          <p:cNvPr id="10" name="Text 8"/>
          <p:cNvSpPr txBox="1"/>
          <p:nvPr/>
        </p:nvSpPr>
        <p:spPr>
          <a:xfrm>
            <a:off x="6309360" y="1828800"/>
            <a:ext cx="521208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3 · Ask what you got</a:t>
            </a:r>
            <a:endParaRPr lang="en-US" sz="1600" dirty="0"/>
          </a:p>
        </p:txBody>
      </p:sp>
      <p:sp>
        <p:nvSpPr>
          <p:cNvPr id="11" name="Shape 9"/>
          <p:cNvSpPr/>
          <p:nvPr/>
        </p:nvSpPr>
        <p:spPr>
          <a:xfrm>
            <a:off x="6309360" y="2194560"/>
            <a:ext cx="5212080" cy="2944368"/>
          </a:xfrm>
          <a:prstGeom prst="roundRect">
            <a:avLst>
              <a:gd name="adj" fmla="val 1863"/>
            </a:avLst>
          </a:prstGeom>
          <a:solidFill>
            <a:srgbClr val="10131A"/>
          </a:solidFill>
          <a:ln w="12700">
            <a:solidFill>
              <a:srgbClr val="10131A"/>
            </a:solidFill>
            <a:prstDash val="solid"/>
          </a:ln>
        </p:spPr>
      </p:sp>
      <p:sp>
        <p:nvSpPr>
          <p:cNvPr id="12" name="Text 10"/>
          <p:cNvSpPr txBox="1"/>
          <p:nvPr/>
        </p:nvSpPr>
        <p:spPr>
          <a:xfrm>
            <a:off x="6537960" y="2395728"/>
            <a:ext cx="4754880" cy="2542032"/>
          </a:xfrm>
          <a:prstGeom prst="rect">
            <a:avLst/>
          </a:prstGeom>
          <a:noFill/>
          <a:ln/>
        </p:spPr>
        <p:txBody>
          <a:bodyPr wrap="square" lIns="0" tIns="0" rIns="0" bIns="0" rtlCol="0" anchor="t"/>
          <a:lstStyle/>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e2e</a:t>
            </a:r>
            <a:endParaRPr lang="en-US" sz="1300" dirty="0"/>
          </a:p>
          <a:p>
            <a:pPr indent="0" marL="0">
              <a:lnSpc>
                <a:spcPct val="125000"/>
              </a:lnSpc>
              <a:buNone/>
            </a:pPr>
            <a:r>
              <a:rPr lang="en-US" sz="1300" dirty="0">
                <a:solidFill>
                  <a:srgbClr val="F5A524"/>
                </a:solidFill>
                <a:latin typeface="Courier New" pitchFamily="34" charset="0"/>
                <a:ea typeface="Courier New" pitchFamily="34" charset="-122"/>
                <a:cs typeface="Courier New" pitchFamily="34" charset="-120"/>
              </a:rPr>
              <a:t>e2e-ci</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e2e-ci--src/e2e/catalog.cy.ts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e2e-ci--src/e2e/search.cy.ts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e2e-ci--src/e2e/login.cy.ts</a:t>
            </a: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a:t>
            </a:r>
            <a:endParaRPr lang="en-US" sz="1300" dirty="0"/>
          </a:p>
        </p:txBody>
      </p:sp>
      <p:sp>
        <p:nvSpPr>
          <p:cNvPr id="13" name="Text 11"/>
          <p:cNvSpPr txBox="1"/>
          <p:nvPr/>
        </p:nvSpPr>
        <p:spPr>
          <a:xfrm>
            <a:off x="6309360" y="5349240"/>
            <a:ext cx="5212080" cy="457200"/>
          </a:xfrm>
          <a:prstGeom prst="rect">
            <a:avLst/>
          </a:prstGeom>
          <a:noFill/>
          <a:ln/>
        </p:spPr>
        <p:txBody>
          <a:bodyPr wrap="square" lIns="0" tIns="0" rIns="0" bIns="0" rtlCol="0" anchor="ctr"/>
          <a:lstStyle/>
          <a:p>
            <a:pPr indent="0" marL="0">
              <a:buNone/>
            </a:pPr>
            <a:r>
              <a:rPr lang="en-US" sz="1300" i="1" dirty="0">
                <a:solidFill>
                  <a:srgbClr val="55607A"/>
                </a:solidFill>
                <a:latin typeface="Calibri" pitchFamily="34" charset="0"/>
                <a:ea typeface="Calibri" pitchFamily="34" charset="-122"/>
                <a:cs typeface="Calibri" pitchFamily="34" charset="-120"/>
              </a:rPr>
              <a:t>Note the real names: one target per file path — not spec1, spec2, spec3.</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03 · THE CATCH</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Then Nx 23 tells you no</a:t>
            </a:r>
            <a:endParaRPr lang="en-US" sz="3800" dirty="0"/>
          </a:p>
        </p:txBody>
      </p:sp>
      <p:sp>
        <p:nvSpPr>
          <p:cNvPr id="4" name="Shape 2"/>
          <p:cNvSpPr/>
          <p:nvPr/>
        </p:nvSpPr>
        <p:spPr>
          <a:xfrm>
            <a:off x="640080" y="1783080"/>
            <a:ext cx="10881360" cy="731520"/>
          </a:xfrm>
          <a:prstGeom prst="roundRect">
            <a:avLst>
              <a:gd name="adj" fmla="val 7500"/>
            </a:avLst>
          </a:prstGeom>
          <a:solidFill>
            <a:srgbClr val="0A0D13"/>
          </a:solidFill>
          <a:ln w="12700">
            <a:solidFill>
              <a:srgbClr val="2C3340"/>
            </a:solidFill>
            <a:prstDash val="solid"/>
          </a:ln>
        </p:spPr>
      </p:sp>
      <p:sp>
        <p:nvSpPr>
          <p:cNvPr id="5" name="Text 3"/>
          <p:cNvSpPr txBox="1"/>
          <p:nvPr/>
        </p:nvSpPr>
        <p:spPr>
          <a:xfrm>
            <a:off x="868680" y="1984248"/>
            <a:ext cx="10424160" cy="329184"/>
          </a:xfrm>
          <a:prstGeom prst="rect">
            <a:avLst/>
          </a:prstGeom>
          <a:noFill/>
          <a:ln/>
        </p:spPr>
        <p:txBody>
          <a:bodyPr wrap="square" lIns="0" tIns="0" rIns="0" bIns="0" rtlCol="0" anchor="t"/>
          <a:lstStyle/>
          <a:p>
            <a:pPr indent="0" marL="0">
              <a:lnSpc>
                <a:spcPct val="125000"/>
              </a:lnSpc>
              <a:buNone/>
            </a:pPr>
            <a:r>
              <a:rPr lang="en-US" sz="1700" dirty="0">
                <a:solidFill>
                  <a:srgbClr val="FFFFFF"/>
                </a:solidFill>
                <a:latin typeface="Courier New" pitchFamily="34" charset="0"/>
                <a:ea typeface="Courier New" pitchFamily="34" charset="-122"/>
                <a:cs typeface="Courier New" pitchFamily="34" charset="-120"/>
              </a:rPr>
              <a:t>nx run-many -t e2e-ci --parallel=5</a:t>
            </a:r>
            <a:endParaRPr lang="en-US" sz="1700" dirty="0"/>
          </a:p>
        </p:txBody>
      </p:sp>
      <p:sp>
        <p:nvSpPr>
          <p:cNvPr id="6" name="Shape 4"/>
          <p:cNvSpPr/>
          <p:nvPr/>
        </p:nvSpPr>
        <p:spPr>
          <a:xfrm>
            <a:off x="640080" y="2697480"/>
            <a:ext cx="10881360" cy="1234440"/>
          </a:xfrm>
          <a:prstGeom prst="roundRect">
            <a:avLst>
              <a:gd name="adj" fmla="val 5185"/>
            </a:avLst>
          </a:prstGeom>
          <a:solidFill>
            <a:srgbClr val="2A1116"/>
          </a:solidFill>
          <a:ln w="19050">
            <a:solidFill>
              <a:srgbClr val="FB7185"/>
            </a:solidFill>
            <a:prstDash val="solid"/>
          </a:ln>
        </p:spPr>
      </p:sp>
      <p:sp>
        <p:nvSpPr>
          <p:cNvPr id="7" name="Text 5"/>
          <p:cNvSpPr txBox="1"/>
          <p:nvPr/>
        </p:nvSpPr>
        <p:spPr>
          <a:xfrm>
            <a:off x="914400" y="2926080"/>
            <a:ext cx="10332720" cy="822960"/>
          </a:xfrm>
          <a:prstGeom prst="rect">
            <a:avLst/>
          </a:prstGeom>
          <a:noFill/>
          <a:ln/>
        </p:spPr>
        <p:txBody>
          <a:bodyPr wrap="square" lIns="0" tIns="0" rIns="0" bIns="0" rtlCol="0" anchor="ctr"/>
          <a:lstStyle/>
          <a:p>
            <a:pPr indent="0" marL="0">
              <a:lnSpc>
                <a:spcPct val="130000"/>
              </a:lnSpc>
              <a:buNone/>
            </a:pPr>
            <a:r>
              <a:rPr lang="en-US" sz="1400" b="1" dirty="0">
                <a:solidFill>
                  <a:srgbClr val="FB7185"/>
                </a:solidFill>
                <a:latin typeface="Courier New" pitchFamily="34" charset="0"/>
                <a:ea typeface="Courier New" pitchFamily="34" charset="-122"/>
                <a:cs typeface="Courier New" pitchFamily="34" charset="-120"/>
              </a:rPr>
              <a:t>NX   The shop-e2e:e2e-ci task should only be run with Nx Cloud.</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Please enable Nx Cloud or use the slower "e2e" task.</a:t>
            </a:r>
            <a:endParaRPr lang="en-US" sz="1400" dirty="0"/>
          </a:p>
        </p:txBody>
      </p:sp>
      <p:sp>
        <p:nvSpPr>
          <p:cNvPr id="8" name="Text 6"/>
          <p:cNvSpPr txBox="1"/>
          <p:nvPr/>
        </p:nvSpPr>
        <p:spPr>
          <a:xfrm>
            <a:off x="640080" y="4160520"/>
            <a:ext cx="10881360" cy="411480"/>
          </a:xfrm>
          <a:prstGeom prst="rect">
            <a:avLst/>
          </a:prstGeom>
          <a:noFill/>
          <a:ln/>
        </p:spPr>
        <p:txBody>
          <a:bodyPr wrap="square" lIns="0" tIns="0" rIns="0" bIns="0" rtlCol="0" anchor="ctr"/>
          <a:lstStyle/>
          <a:p>
            <a:pPr indent="0" marL="0">
              <a:buNone/>
            </a:pPr>
            <a:r>
              <a:rPr lang="en-US" sz="2400" b="1" dirty="0">
                <a:solidFill>
                  <a:srgbClr val="4ADE80"/>
                </a:solidFill>
                <a:latin typeface="Cambria" pitchFamily="34" charset="0"/>
                <a:ea typeface="Cambria" pitchFamily="34" charset="-122"/>
                <a:cs typeface="Cambria" pitchFamily="34" charset="-120"/>
              </a:rPr>
              <a:t>The gate is on the wrapper, not on the work.</a:t>
            </a:r>
            <a:endParaRPr lang="en-US" sz="2400" dirty="0"/>
          </a:p>
        </p:txBody>
      </p:sp>
      <p:sp>
        <p:nvSpPr>
          <p:cNvPr id="9" name="Text 7"/>
          <p:cNvSpPr txBox="1"/>
          <p:nvPr/>
        </p:nvSpPr>
        <p:spPr>
          <a:xfrm>
            <a:off x="640080" y="4663440"/>
            <a:ext cx="10881360" cy="1554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e2e-ci is a no-op coordinator that just depends on the ten real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The ten atomized targets are ordinary nx:run-commands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Run one directly and it works, cache and all</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04 · PARALLEL, NO CLOUD</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Ask for the list yourself</a:t>
            </a:r>
            <a:endParaRPr lang="en-US" sz="3800" dirty="0"/>
          </a:p>
        </p:txBody>
      </p:sp>
      <p:sp>
        <p:nvSpPr>
          <p:cNvPr id="4" name="Shape 2"/>
          <p:cNvSpPr/>
          <p:nvPr/>
        </p:nvSpPr>
        <p:spPr>
          <a:xfrm>
            <a:off x="640080" y="1783080"/>
            <a:ext cx="108813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10424160" cy="1609344"/>
          </a:xfrm>
          <a:prstGeom prst="rect">
            <a:avLst/>
          </a:prstGeom>
          <a:noFill/>
          <a:ln/>
        </p:spPr>
        <p:txBody>
          <a:bodyPr wrap="square" lIns="0" tIns="0" rIns="0" bIns="0" rtlCol="0" anchor="t"/>
          <a:lstStyle/>
          <a:p>
            <a:pPr indent="0" marL="0">
              <a:lnSpc>
                <a:spcPct val="125000"/>
              </a:lnSpc>
              <a:buNone/>
            </a:pPr>
            <a:r>
              <a:rPr lang="en-US" sz="1500" dirty="0">
                <a:solidFill>
                  <a:srgbClr val="8A94A6"/>
                </a:solidFill>
                <a:latin typeface="Courier New" pitchFamily="34" charset="0"/>
                <a:ea typeface="Courier New" pitchFamily="34" charset="-122"/>
                <a:cs typeface="Courier New" pitchFamily="34" charset="-120"/>
              </a:rPr>
              <a:t># the gate does not apply to the leaf tasks</a:t>
            </a:r>
            <a:endParaRPr lang="en-US" sz="1500" dirty="0"/>
          </a:p>
          <a:p>
            <a:pPr indent="0" marL="0">
              <a:lnSpc>
                <a:spcPct val="125000"/>
              </a:lnSpc>
              <a:buNone/>
            </a:pPr>
            <a:r>
              <a:rPr lang="en-US" sz="1500" dirty="0">
                <a:solidFill>
                  <a:srgbClr val="4ADE80"/>
                </a:solidFill>
                <a:latin typeface="Courier New" pitchFamily="34" charset="0"/>
                <a:ea typeface="Courier New" pitchFamily="34" charset="-122"/>
                <a:cs typeface="Courier New" pitchFamily="34" charset="-120"/>
              </a:rPr>
              <a:t>nx run "shop-e2e:e2e-ci--src/e2e/catalog.cy.ts"   ✓</a:t>
            </a:r>
            <a:endParaRPr lang="en-US" sz="1500" dirty="0"/>
          </a:p>
          <a:p>
            <a:pPr indent="0" marL="0">
              <a:lnSpc>
                <a:spcPct val="125000"/>
              </a:lnSpc>
              <a:buNone/>
            </a:pPr>
            <a:endParaRPr lang="en-US" sz="1500" dirty="0"/>
          </a:p>
          <a:p>
            <a:pPr indent="0" marL="0">
              <a:lnSpc>
                <a:spcPct val="125000"/>
              </a:lnSpc>
              <a:buNone/>
            </a:pPr>
            <a:r>
              <a:rPr lang="en-US" sz="1500" dirty="0">
                <a:solidFill>
                  <a:srgbClr val="8A94A6"/>
                </a:solidFill>
                <a:latin typeface="Courier New" pitchFamily="34" charset="0"/>
                <a:ea typeface="Courier New" pitchFamily="34" charset="-122"/>
                <a:cs typeface="Courier New" pitchFamily="34" charset="-120"/>
              </a:rPr>
              <a:t># so discover them, then hand them to run-many</a:t>
            </a:r>
            <a:endParaRPr lang="en-US" sz="1500" dirty="0"/>
          </a:p>
          <a:p>
            <a:pPr indent="0" marL="0">
              <a:lnSpc>
                <a:spcPct val="125000"/>
              </a:lnSpc>
              <a:buNone/>
            </a:pPr>
            <a:r>
              <a:rPr lang="en-US" sz="1500" b="1" dirty="0">
                <a:solidFill>
                  <a:srgbClr val="FFFFFF"/>
                </a:solidFill>
                <a:latin typeface="Courier New" pitchFamily="34" charset="0"/>
                <a:ea typeface="Courier New" pitchFamily="34" charset="-122"/>
                <a:cs typeface="Courier New" pitchFamily="34" charset="-120"/>
              </a:rPr>
              <a:t>node tools/shard-e2e.mjs --parallel=5</a:t>
            </a:r>
            <a:endParaRPr lang="en-US" sz="1500" dirty="0"/>
          </a:p>
        </p:txBody>
      </p:sp>
      <p:sp>
        <p:nvSpPr>
          <p:cNvPr id="6" name="Shape 4"/>
          <p:cNvSpPr/>
          <p:nvPr/>
        </p:nvSpPr>
        <p:spPr>
          <a:xfrm>
            <a:off x="640080" y="3886200"/>
            <a:ext cx="3429000" cy="1463040"/>
          </a:xfrm>
          <a:prstGeom prst="roundRect">
            <a:avLst>
              <a:gd name="adj" fmla="val 4375"/>
            </a:avLst>
          </a:prstGeom>
          <a:solidFill>
            <a:srgbClr val="1B2029"/>
          </a:solidFill>
          <a:ln w="12700">
            <a:solidFill>
              <a:srgbClr val="2C3340"/>
            </a:solidFill>
            <a:prstDash val="solid"/>
          </a:ln>
        </p:spPr>
      </p:sp>
      <p:sp>
        <p:nvSpPr>
          <p:cNvPr id="7" name="Text 5"/>
          <p:cNvSpPr txBox="1"/>
          <p:nvPr/>
        </p:nvSpPr>
        <p:spPr>
          <a:xfrm>
            <a:off x="841248" y="406908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1m 33s</a:t>
            </a:r>
            <a:endParaRPr lang="en-US" sz="4000" dirty="0"/>
          </a:p>
        </p:txBody>
      </p:sp>
      <p:sp>
        <p:nvSpPr>
          <p:cNvPr id="8" name="Text 6"/>
          <p:cNvSpPr txBox="1"/>
          <p:nvPr/>
        </p:nvSpPr>
        <p:spPr>
          <a:xfrm>
            <a:off x="841248" y="478231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One task, all specs</a:t>
            </a:r>
            <a:endParaRPr lang="en-US" sz="1300" dirty="0"/>
          </a:p>
        </p:txBody>
      </p:sp>
      <p:sp>
        <p:nvSpPr>
          <p:cNvPr id="9" name="Shape 7"/>
          <p:cNvSpPr/>
          <p:nvPr/>
        </p:nvSpPr>
        <p:spPr>
          <a:xfrm>
            <a:off x="4343400" y="3886200"/>
            <a:ext cx="3429000" cy="1463040"/>
          </a:xfrm>
          <a:prstGeom prst="roundRect">
            <a:avLst>
              <a:gd name="adj" fmla="val 4375"/>
            </a:avLst>
          </a:prstGeom>
          <a:solidFill>
            <a:srgbClr val="1B2029"/>
          </a:solidFill>
          <a:ln w="12700">
            <a:solidFill>
              <a:srgbClr val="2C3340"/>
            </a:solidFill>
            <a:prstDash val="solid"/>
          </a:ln>
        </p:spPr>
      </p:sp>
      <p:sp>
        <p:nvSpPr>
          <p:cNvPr id="10" name="Text 8"/>
          <p:cNvSpPr txBox="1"/>
          <p:nvPr/>
        </p:nvSpPr>
        <p:spPr>
          <a:xfrm>
            <a:off x="4544568" y="406908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40s</a:t>
            </a:r>
            <a:endParaRPr lang="en-US" sz="4000" dirty="0"/>
          </a:p>
        </p:txBody>
      </p:sp>
      <p:sp>
        <p:nvSpPr>
          <p:cNvPr id="11" name="Text 9"/>
          <p:cNvSpPr txBox="1"/>
          <p:nvPr/>
        </p:nvSpPr>
        <p:spPr>
          <a:xfrm>
            <a:off x="4544568" y="478231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Atomized, 5 at a time</a:t>
            </a:r>
            <a:endParaRPr lang="en-US" sz="1300" dirty="0"/>
          </a:p>
        </p:txBody>
      </p:sp>
      <p:sp>
        <p:nvSpPr>
          <p:cNvPr id="12" name="Shape 10"/>
          <p:cNvSpPr/>
          <p:nvPr/>
        </p:nvSpPr>
        <p:spPr>
          <a:xfrm>
            <a:off x="8046720" y="3886200"/>
            <a:ext cx="3429000" cy="1463040"/>
          </a:xfrm>
          <a:prstGeom prst="roundRect">
            <a:avLst>
              <a:gd name="adj" fmla="val 4375"/>
            </a:avLst>
          </a:prstGeom>
          <a:solidFill>
            <a:srgbClr val="1B2029"/>
          </a:solidFill>
          <a:ln w="12700">
            <a:solidFill>
              <a:srgbClr val="2C3340"/>
            </a:solidFill>
            <a:prstDash val="solid"/>
          </a:ln>
        </p:spPr>
      </p:sp>
      <p:sp>
        <p:nvSpPr>
          <p:cNvPr id="13" name="Text 11"/>
          <p:cNvSpPr txBox="1"/>
          <p:nvPr/>
        </p:nvSpPr>
        <p:spPr>
          <a:xfrm>
            <a:off x="8247888" y="4069080"/>
            <a:ext cx="3026664" cy="685800"/>
          </a:xfrm>
          <a:prstGeom prst="rect">
            <a:avLst/>
          </a:prstGeom>
          <a:noFill/>
          <a:ln/>
        </p:spPr>
        <p:txBody>
          <a:bodyPr wrap="square" lIns="0" tIns="0" rIns="0" bIns="0" rtlCol="0" anchor="ctr"/>
          <a:lstStyle/>
          <a:p>
            <a:pPr indent="0" marL="0">
              <a:buNone/>
            </a:pPr>
            <a:r>
              <a:rPr lang="en-US" sz="4000" b="1" dirty="0">
                <a:solidFill>
                  <a:srgbClr val="60A5FA"/>
                </a:solidFill>
                <a:latin typeface="Cambria" pitchFamily="34" charset="0"/>
                <a:ea typeface="Cambria" pitchFamily="34" charset="-122"/>
                <a:cs typeface="Cambria" pitchFamily="34" charset="-120"/>
              </a:rPr>
              <a:t>2.3×</a:t>
            </a:r>
            <a:endParaRPr lang="en-US" sz="4000" dirty="0"/>
          </a:p>
        </p:txBody>
      </p:sp>
      <p:sp>
        <p:nvSpPr>
          <p:cNvPr id="14" name="Text 12"/>
          <p:cNvSpPr txBox="1"/>
          <p:nvPr/>
        </p:nvSpPr>
        <p:spPr>
          <a:xfrm>
            <a:off x="8247888" y="478231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On one laptop, no cloud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04 · THE PART PEOPLE SKIP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Splitting alone makes it slower</a:t>
            </a:r>
            <a:endParaRPr lang="en-US" sz="3800" dirty="0"/>
          </a:p>
        </p:txBody>
      </p:sp>
      <p:sp>
        <p:nvSpPr>
          <p:cNvPr id="4" name="Text 2"/>
          <p:cNvSpPr txBox="1"/>
          <p:nvPr/>
        </p:nvSpPr>
        <p:spPr>
          <a:xfrm>
            <a:off x="640080" y="2103120"/>
            <a:ext cx="3108960" cy="365760"/>
          </a:xfrm>
          <a:prstGeom prst="rect">
            <a:avLst/>
          </a:prstGeom>
          <a:noFill/>
          <a:ln/>
        </p:spPr>
        <p:txBody>
          <a:bodyPr wrap="square" lIns="0" tIns="0" rIns="0" bIns="0" rtlCol="0" anchor="ctr"/>
          <a:lstStyle/>
          <a:p>
            <a:pPr indent="0" marL="0">
              <a:buNone/>
            </a:pPr>
            <a:r>
              <a:rPr lang="en-US" sz="1400" dirty="0">
                <a:solidFill>
                  <a:srgbClr val="10131A"/>
                </a:solidFill>
                <a:latin typeface="Calibri" pitchFamily="34" charset="0"/>
                <a:ea typeface="Calibri" pitchFamily="34" charset="-122"/>
                <a:cs typeface="Calibri" pitchFamily="34" charset="-120"/>
              </a:rPr>
              <a:t>One task, all specs</a:t>
            </a:r>
            <a:endParaRPr lang="en-US" sz="1400" dirty="0"/>
          </a:p>
        </p:txBody>
      </p:sp>
      <p:sp>
        <p:nvSpPr>
          <p:cNvPr id="5" name="Shape 3"/>
          <p:cNvSpPr/>
          <p:nvPr/>
        </p:nvSpPr>
        <p:spPr>
          <a:xfrm>
            <a:off x="3840480" y="2157984"/>
            <a:ext cx="5619982" cy="310896"/>
          </a:xfrm>
          <a:prstGeom prst="roundRect">
            <a:avLst>
              <a:gd name="adj" fmla="val 11765"/>
            </a:avLst>
          </a:prstGeom>
          <a:solidFill>
            <a:srgbClr val="F5A524"/>
          </a:solidFill>
          <a:ln w="12700">
            <a:solidFill>
              <a:srgbClr val="F5A524"/>
            </a:solidFill>
            <a:prstDash val="solid"/>
          </a:ln>
        </p:spPr>
      </p:sp>
      <p:sp>
        <p:nvSpPr>
          <p:cNvPr id="6" name="Text 4"/>
          <p:cNvSpPr txBox="1"/>
          <p:nvPr/>
        </p:nvSpPr>
        <p:spPr>
          <a:xfrm>
            <a:off x="9551902" y="2103120"/>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1m 33s</a:t>
            </a:r>
            <a:endParaRPr lang="en-US" sz="1400" dirty="0"/>
          </a:p>
        </p:txBody>
      </p:sp>
      <p:sp>
        <p:nvSpPr>
          <p:cNvPr id="7" name="Text 5"/>
          <p:cNvSpPr txBox="1"/>
          <p:nvPr/>
        </p:nvSpPr>
        <p:spPr>
          <a:xfrm>
            <a:off x="640080" y="3017520"/>
            <a:ext cx="3108960" cy="365760"/>
          </a:xfrm>
          <a:prstGeom prst="rect">
            <a:avLst/>
          </a:prstGeom>
          <a:noFill/>
          <a:ln/>
        </p:spPr>
        <p:txBody>
          <a:bodyPr wrap="square" lIns="0" tIns="0" rIns="0" bIns="0" rtlCol="0" anchor="ctr"/>
          <a:lstStyle/>
          <a:p>
            <a:pPr indent="0" marL="0">
              <a:buNone/>
            </a:pPr>
            <a:r>
              <a:rPr lang="en-US" sz="1400" dirty="0">
                <a:solidFill>
                  <a:srgbClr val="10131A"/>
                </a:solidFill>
                <a:latin typeface="Calibri" pitchFamily="34" charset="0"/>
                <a:ea typeface="Calibri" pitchFamily="34" charset="-122"/>
                <a:cs typeface="Calibri" pitchFamily="34" charset="-120"/>
              </a:rPr>
              <a:t>Atomized, one at a time</a:t>
            </a:r>
            <a:endParaRPr lang="en-US" sz="1400" dirty="0"/>
          </a:p>
        </p:txBody>
      </p:sp>
      <p:sp>
        <p:nvSpPr>
          <p:cNvPr id="8" name="Shape 6"/>
          <p:cNvSpPr/>
          <p:nvPr/>
        </p:nvSpPr>
        <p:spPr>
          <a:xfrm>
            <a:off x="3840480" y="3072384"/>
            <a:ext cx="6949440" cy="310896"/>
          </a:xfrm>
          <a:prstGeom prst="roundRect">
            <a:avLst>
              <a:gd name="adj" fmla="val 11765"/>
            </a:avLst>
          </a:prstGeom>
          <a:solidFill>
            <a:srgbClr val="FB7185"/>
          </a:solidFill>
          <a:ln w="12700">
            <a:solidFill>
              <a:srgbClr val="FB7185"/>
            </a:solidFill>
            <a:prstDash val="solid"/>
          </a:ln>
        </p:spPr>
      </p:sp>
      <p:sp>
        <p:nvSpPr>
          <p:cNvPr id="9" name="Text 7"/>
          <p:cNvSpPr txBox="1"/>
          <p:nvPr/>
        </p:nvSpPr>
        <p:spPr>
          <a:xfrm>
            <a:off x="10881360" y="3017520"/>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1m 55s</a:t>
            </a:r>
            <a:endParaRPr lang="en-US" sz="1400" dirty="0"/>
          </a:p>
        </p:txBody>
      </p:sp>
      <p:sp>
        <p:nvSpPr>
          <p:cNvPr id="10" name="Text 8"/>
          <p:cNvSpPr txBox="1"/>
          <p:nvPr/>
        </p:nvSpPr>
        <p:spPr>
          <a:xfrm>
            <a:off x="640080" y="3931920"/>
            <a:ext cx="3108960" cy="365760"/>
          </a:xfrm>
          <a:prstGeom prst="rect">
            <a:avLst/>
          </a:prstGeom>
          <a:noFill/>
          <a:ln/>
        </p:spPr>
        <p:txBody>
          <a:bodyPr wrap="square" lIns="0" tIns="0" rIns="0" bIns="0" rtlCol="0" anchor="ctr"/>
          <a:lstStyle/>
          <a:p>
            <a:pPr indent="0" marL="0">
              <a:buNone/>
            </a:pPr>
            <a:r>
              <a:rPr lang="en-US" sz="1400" dirty="0">
                <a:solidFill>
                  <a:srgbClr val="10131A"/>
                </a:solidFill>
                <a:latin typeface="Calibri" pitchFamily="34" charset="0"/>
                <a:ea typeface="Calibri" pitchFamily="34" charset="-122"/>
                <a:cs typeface="Calibri" pitchFamily="34" charset="-120"/>
              </a:rPr>
              <a:t>Atomized, five at a time</a:t>
            </a:r>
            <a:endParaRPr lang="en-US" sz="1400" dirty="0"/>
          </a:p>
        </p:txBody>
      </p:sp>
      <p:sp>
        <p:nvSpPr>
          <p:cNvPr id="11" name="Shape 9"/>
          <p:cNvSpPr/>
          <p:nvPr/>
        </p:nvSpPr>
        <p:spPr>
          <a:xfrm>
            <a:off x="3840480" y="3986784"/>
            <a:ext cx="2417197" cy="310896"/>
          </a:xfrm>
          <a:prstGeom prst="roundRect">
            <a:avLst>
              <a:gd name="adj" fmla="val 11765"/>
            </a:avLst>
          </a:prstGeom>
          <a:solidFill>
            <a:srgbClr val="0B7A44"/>
          </a:solidFill>
          <a:ln w="12700">
            <a:solidFill>
              <a:srgbClr val="0B7A44"/>
            </a:solidFill>
            <a:prstDash val="solid"/>
          </a:ln>
        </p:spPr>
      </p:sp>
      <p:sp>
        <p:nvSpPr>
          <p:cNvPr id="12" name="Text 10"/>
          <p:cNvSpPr txBox="1"/>
          <p:nvPr/>
        </p:nvSpPr>
        <p:spPr>
          <a:xfrm>
            <a:off x="6349117" y="3931920"/>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40s</a:t>
            </a:r>
            <a:endParaRPr lang="en-US" sz="1400" dirty="0"/>
          </a:p>
        </p:txBody>
      </p:sp>
      <p:sp>
        <p:nvSpPr>
          <p:cNvPr id="13" name="Shape 11"/>
          <p:cNvSpPr/>
          <p:nvPr/>
        </p:nvSpPr>
        <p:spPr>
          <a:xfrm>
            <a:off x="640080" y="4983480"/>
            <a:ext cx="10881360" cy="1051560"/>
          </a:xfrm>
          <a:prstGeom prst="roundRect">
            <a:avLst>
              <a:gd name="adj" fmla="val 6087"/>
            </a:avLst>
          </a:prstGeom>
          <a:solidFill>
            <a:srgbClr val="FFF7E6"/>
          </a:solidFill>
          <a:ln w="12700">
            <a:solidFill>
              <a:srgbClr val="F5A524"/>
            </a:solidFill>
            <a:prstDash val="solid"/>
          </a:ln>
        </p:spPr>
      </p:sp>
      <p:sp>
        <p:nvSpPr>
          <p:cNvPr id="14" name="Text 12"/>
          <p:cNvSpPr txBox="1"/>
          <p:nvPr/>
        </p:nvSpPr>
        <p:spPr>
          <a:xfrm>
            <a:off x="914400" y="5138928"/>
            <a:ext cx="10332720" cy="777240"/>
          </a:xfrm>
          <a:prstGeom prst="rect">
            <a:avLst/>
          </a:prstGeom>
          <a:noFill/>
          <a:ln/>
        </p:spPr>
        <p:txBody>
          <a:bodyPr wrap="square" lIns="0" tIns="0" rIns="0" bIns="0" rtlCol="0" anchor="ctr"/>
          <a:lstStyle/>
          <a:p>
            <a:pPr indent="0" marL="0">
              <a:buNone/>
            </a:pPr>
            <a:r>
              <a:rPr lang="en-US" sz="1400" dirty="0">
                <a:solidFill>
                  <a:srgbClr val="5B4308"/>
                </a:solidFill>
                <a:latin typeface="Calibri" pitchFamily="34" charset="0"/>
                <a:ea typeface="Calibri" pitchFamily="34" charset="-122"/>
                <a:cs typeface="Calibri" pitchFamily="34" charset="-120"/>
              </a:rPr>
              <a:t>Every atomized target boots its own Cypress. Ten specs through the atomizer, run serially, cost 22 seconds more than not splitting at all. Atomization is not a speedup — it is what makes a speedup possible.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05 · THE CACHE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Run it again. Nothing runs.</a:t>
            </a:r>
            <a:endParaRPr lang="en-US" sz="3800" dirty="0"/>
          </a:p>
        </p:txBody>
      </p:sp>
      <p:sp>
        <p:nvSpPr>
          <p:cNvPr id="4" name="Shape 2"/>
          <p:cNvSpPr/>
          <p:nvPr/>
        </p:nvSpPr>
        <p:spPr>
          <a:xfrm>
            <a:off x="640080" y="1783080"/>
            <a:ext cx="10881360" cy="1700784"/>
          </a:xfrm>
          <a:prstGeom prst="roundRect">
            <a:avLst>
              <a:gd name="adj" fmla="val 3226"/>
            </a:avLst>
          </a:prstGeom>
          <a:solidFill>
            <a:srgbClr val="0A0D13"/>
          </a:solidFill>
          <a:ln w="12700">
            <a:solidFill>
              <a:srgbClr val="2C3340"/>
            </a:solidFill>
            <a:prstDash val="solid"/>
          </a:ln>
        </p:spPr>
      </p:sp>
      <p:sp>
        <p:nvSpPr>
          <p:cNvPr id="5" name="Text 3"/>
          <p:cNvSpPr txBox="1"/>
          <p:nvPr/>
        </p:nvSpPr>
        <p:spPr>
          <a:xfrm>
            <a:off x="868680" y="1984248"/>
            <a:ext cx="10424160" cy="1298448"/>
          </a:xfrm>
          <a:prstGeom prst="rect">
            <a:avLst/>
          </a:prstGeom>
          <a:noFill/>
          <a:ln/>
        </p:spPr>
        <p:txBody>
          <a:bodyPr wrap="square" lIns="0" tIns="0" rIns="0" bIns="0" rtlCol="0" anchor="t"/>
          <a:lstStyle/>
          <a:p>
            <a:pPr indent="0" marL="0">
              <a:lnSpc>
                <a:spcPct val="125000"/>
              </a:lnSpc>
              <a:buNone/>
            </a:pPr>
            <a:r>
              <a:rPr lang="en-US" sz="1600" dirty="0">
                <a:solidFill>
                  <a:srgbClr val="8A94A6"/>
                </a:solidFill>
                <a:latin typeface="Courier New" pitchFamily="34" charset="0"/>
                <a:ea typeface="Courier New" pitchFamily="34" charset="-122"/>
                <a:cs typeface="Courier New" pitchFamily="34" charset="-120"/>
              </a:rPr>
              <a:t>node tools/shard-e2e.mjs --parallel=5    # again, unchanged</a:t>
            </a:r>
            <a:endParaRPr lang="en-US" sz="1600" dirty="0"/>
          </a:p>
          <a:p>
            <a:pPr indent="0" marL="0">
              <a:lnSpc>
                <a:spcPct val="125000"/>
              </a:lnSpc>
              <a:buNone/>
            </a:pP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Run duration:  160ms</a:t>
            </a: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Cache:         11/12 hit (92%)</a:t>
            </a:r>
            <a:endParaRPr lang="en-US" sz="1600" dirty="0"/>
          </a:p>
        </p:txBody>
      </p:sp>
      <p:sp>
        <p:nvSpPr>
          <p:cNvPr id="6" name="Text 4"/>
          <p:cNvSpPr txBox="1"/>
          <p:nvPr/>
        </p:nvSpPr>
        <p:spPr>
          <a:xfrm>
            <a:off x="640080" y="3703320"/>
            <a:ext cx="5120640" cy="822960"/>
          </a:xfrm>
          <a:prstGeom prst="rect">
            <a:avLst/>
          </a:prstGeom>
          <a:noFill/>
          <a:ln/>
        </p:spPr>
        <p:txBody>
          <a:bodyPr wrap="square" lIns="0" tIns="0" rIns="0" bIns="0" rtlCol="0" anchor="ctr"/>
          <a:lstStyle/>
          <a:p>
            <a:pPr indent="0" marL="0">
              <a:buNone/>
            </a:pPr>
            <a:r>
              <a:rPr lang="en-US" sz="4400" b="1" dirty="0">
                <a:solidFill>
                  <a:srgbClr val="4ADE80"/>
                </a:solidFill>
                <a:latin typeface="Cambria" pitchFamily="34" charset="0"/>
                <a:ea typeface="Cambria" pitchFamily="34" charset="-122"/>
                <a:cs typeface="Cambria" pitchFamily="34" charset="-120"/>
              </a:rPr>
              <a:t>40s → 0.16s</a:t>
            </a:r>
            <a:endParaRPr lang="en-US" sz="4400" dirty="0"/>
          </a:p>
        </p:txBody>
      </p:sp>
      <p:sp>
        <p:nvSpPr>
          <p:cNvPr id="7" name="Text 5"/>
          <p:cNvSpPr txBox="1"/>
          <p:nvPr/>
        </p:nvSpPr>
        <p:spPr>
          <a:xfrm>
            <a:off x="5943600" y="3794760"/>
            <a:ext cx="557784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hashed each task: the spec file, the app source it depends on, the Cypress version</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Same hash, so the stored result is replayed instead of recomputed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This is per-machine and on disk in .nx/cache — no account, no network</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05 · THE PAYOFF</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retry only runs what failed</a:t>
            </a:r>
            <a:endParaRPr lang="en-US" sz="3800" dirty="0"/>
          </a:p>
        </p:txBody>
      </p:sp>
      <p:sp>
        <p:nvSpPr>
          <p:cNvPr id="4" name="Text 2"/>
          <p:cNvSpPr txBox="1"/>
          <p:nvPr/>
        </p:nvSpPr>
        <p:spPr>
          <a:xfrm>
            <a:off x="640080" y="1691640"/>
            <a:ext cx="10881360" cy="411480"/>
          </a:xfrm>
          <a:prstGeom prst="rect">
            <a:avLst/>
          </a:prstGeom>
          <a:noFill/>
          <a:ln/>
        </p:spPr>
        <p:txBody>
          <a:bodyPr wrap="square" lIns="0" tIns="0" rIns="0" bIns="0" rtlCol="0" anchor="ctr"/>
          <a:lstStyle/>
          <a:p>
            <a:pPr indent="0" marL="0">
              <a:buNone/>
            </a:pPr>
            <a:r>
              <a:rPr lang="en-US" sz="2400" b="1" dirty="0">
                <a:solidFill>
                  <a:srgbClr val="FB7185"/>
                </a:solidFill>
                <a:latin typeface="Cambria" pitchFamily="34" charset="0"/>
                <a:ea typeface="Cambria" pitchFamily="34" charset="-122"/>
                <a:cs typeface="Cambria" pitchFamily="34" charset="-120"/>
              </a:rPr>
              <a:t>Nx never caches a failed task.</a:t>
            </a:r>
            <a:endParaRPr lang="en-US" sz="2400" dirty="0"/>
          </a:p>
        </p:txBody>
      </p:sp>
      <p:sp>
        <p:nvSpPr>
          <p:cNvPr id="5" name="Shape 3"/>
          <p:cNvSpPr/>
          <p:nvPr/>
        </p:nvSpPr>
        <p:spPr>
          <a:xfrm>
            <a:off x="640080" y="2240280"/>
            <a:ext cx="2057400" cy="621792"/>
          </a:xfrm>
          <a:prstGeom prst="roundRect">
            <a:avLst>
              <a:gd name="adj" fmla="val 8824"/>
            </a:avLst>
          </a:prstGeom>
          <a:solidFill>
            <a:srgbClr val="10251A"/>
          </a:solidFill>
          <a:ln w="15240">
            <a:solidFill>
              <a:srgbClr val="4ADE80"/>
            </a:solidFill>
            <a:prstDash val="solid"/>
          </a:ln>
        </p:spPr>
      </p:sp>
      <p:sp>
        <p:nvSpPr>
          <p:cNvPr id="6" name="Text 4"/>
          <p:cNvSpPr txBox="1"/>
          <p:nvPr/>
        </p:nvSpPr>
        <p:spPr>
          <a:xfrm>
            <a:off x="777240"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7" name="Text 5"/>
          <p:cNvSpPr txBox="1"/>
          <p:nvPr/>
        </p:nvSpPr>
        <p:spPr>
          <a:xfrm>
            <a:off x="777240"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catalog</a:t>
            </a:r>
            <a:endParaRPr lang="en-US" sz="1000" dirty="0"/>
          </a:p>
        </p:txBody>
      </p:sp>
      <p:sp>
        <p:nvSpPr>
          <p:cNvPr id="8" name="Shape 6"/>
          <p:cNvSpPr/>
          <p:nvPr/>
        </p:nvSpPr>
        <p:spPr>
          <a:xfrm>
            <a:off x="2852928" y="2240280"/>
            <a:ext cx="2057400" cy="621792"/>
          </a:xfrm>
          <a:prstGeom prst="roundRect">
            <a:avLst>
              <a:gd name="adj" fmla="val 8824"/>
            </a:avLst>
          </a:prstGeom>
          <a:solidFill>
            <a:srgbClr val="10251A"/>
          </a:solidFill>
          <a:ln w="15240">
            <a:solidFill>
              <a:srgbClr val="4ADE80"/>
            </a:solidFill>
            <a:prstDash val="solid"/>
          </a:ln>
        </p:spPr>
      </p:sp>
      <p:sp>
        <p:nvSpPr>
          <p:cNvPr id="9" name="Text 7"/>
          <p:cNvSpPr txBox="1"/>
          <p:nvPr/>
        </p:nvSpPr>
        <p:spPr>
          <a:xfrm>
            <a:off x="2990088"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0" name="Text 8"/>
          <p:cNvSpPr txBox="1"/>
          <p:nvPr/>
        </p:nvSpPr>
        <p:spPr>
          <a:xfrm>
            <a:off x="2990088"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search</a:t>
            </a:r>
            <a:endParaRPr lang="en-US" sz="1000" dirty="0"/>
          </a:p>
        </p:txBody>
      </p:sp>
      <p:sp>
        <p:nvSpPr>
          <p:cNvPr id="11" name="Shape 9"/>
          <p:cNvSpPr/>
          <p:nvPr/>
        </p:nvSpPr>
        <p:spPr>
          <a:xfrm>
            <a:off x="5065776" y="2240280"/>
            <a:ext cx="2057400" cy="621792"/>
          </a:xfrm>
          <a:prstGeom prst="roundRect">
            <a:avLst>
              <a:gd name="adj" fmla="val 8824"/>
            </a:avLst>
          </a:prstGeom>
          <a:solidFill>
            <a:srgbClr val="10251A"/>
          </a:solidFill>
          <a:ln w="15240">
            <a:solidFill>
              <a:srgbClr val="4ADE80"/>
            </a:solidFill>
            <a:prstDash val="solid"/>
          </a:ln>
        </p:spPr>
      </p:sp>
      <p:sp>
        <p:nvSpPr>
          <p:cNvPr id="12" name="Text 10"/>
          <p:cNvSpPr txBox="1"/>
          <p:nvPr/>
        </p:nvSpPr>
        <p:spPr>
          <a:xfrm>
            <a:off x="5202936"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3" name="Text 11"/>
          <p:cNvSpPr txBox="1"/>
          <p:nvPr/>
        </p:nvSpPr>
        <p:spPr>
          <a:xfrm>
            <a:off x="5202936"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filters</a:t>
            </a:r>
            <a:endParaRPr lang="en-US" sz="1000" dirty="0"/>
          </a:p>
        </p:txBody>
      </p:sp>
      <p:sp>
        <p:nvSpPr>
          <p:cNvPr id="14" name="Shape 12"/>
          <p:cNvSpPr/>
          <p:nvPr/>
        </p:nvSpPr>
        <p:spPr>
          <a:xfrm>
            <a:off x="7278624" y="2240280"/>
            <a:ext cx="2057400" cy="621792"/>
          </a:xfrm>
          <a:prstGeom prst="roundRect">
            <a:avLst>
              <a:gd name="adj" fmla="val 8824"/>
            </a:avLst>
          </a:prstGeom>
          <a:solidFill>
            <a:srgbClr val="10251A"/>
          </a:solidFill>
          <a:ln w="15240">
            <a:solidFill>
              <a:srgbClr val="4ADE80"/>
            </a:solidFill>
            <a:prstDash val="solid"/>
          </a:ln>
        </p:spPr>
      </p:sp>
      <p:sp>
        <p:nvSpPr>
          <p:cNvPr id="15" name="Text 13"/>
          <p:cNvSpPr txBox="1"/>
          <p:nvPr/>
        </p:nvSpPr>
        <p:spPr>
          <a:xfrm>
            <a:off x="7415784"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6" name="Text 14"/>
          <p:cNvSpPr txBox="1"/>
          <p:nvPr/>
        </p:nvSpPr>
        <p:spPr>
          <a:xfrm>
            <a:off x="7415784"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product-detail</a:t>
            </a:r>
            <a:endParaRPr lang="en-US" sz="1000" dirty="0"/>
          </a:p>
        </p:txBody>
      </p:sp>
      <p:sp>
        <p:nvSpPr>
          <p:cNvPr id="17" name="Shape 15"/>
          <p:cNvSpPr/>
          <p:nvPr/>
        </p:nvSpPr>
        <p:spPr>
          <a:xfrm>
            <a:off x="9491472" y="2240280"/>
            <a:ext cx="2057400" cy="621792"/>
          </a:xfrm>
          <a:prstGeom prst="roundRect">
            <a:avLst>
              <a:gd name="adj" fmla="val 8824"/>
            </a:avLst>
          </a:prstGeom>
          <a:solidFill>
            <a:srgbClr val="10251A"/>
          </a:solidFill>
          <a:ln w="15240">
            <a:solidFill>
              <a:srgbClr val="4ADE80"/>
            </a:solidFill>
            <a:prstDash val="solid"/>
          </a:ln>
        </p:spPr>
      </p:sp>
      <p:sp>
        <p:nvSpPr>
          <p:cNvPr id="18" name="Text 16"/>
          <p:cNvSpPr txBox="1"/>
          <p:nvPr/>
        </p:nvSpPr>
        <p:spPr>
          <a:xfrm>
            <a:off x="9628632"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9" name="Text 17"/>
          <p:cNvSpPr txBox="1"/>
          <p:nvPr/>
        </p:nvSpPr>
        <p:spPr>
          <a:xfrm>
            <a:off x="9628632"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cart-add</a:t>
            </a:r>
            <a:endParaRPr lang="en-US" sz="1000" dirty="0"/>
          </a:p>
        </p:txBody>
      </p:sp>
      <p:sp>
        <p:nvSpPr>
          <p:cNvPr id="20" name="Shape 18"/>
          <p:cNvSpPr/>
          <p:nvPr/>
        </p:nvSpPr>
        <p:spPr>
          <a:xfrm>
            <a:off x="640080" y="3017520"/>
            <a:ext cx="2057400" cy="621792"/>
          </a:xfrm>
          <a:prstGeom prst="roundRect">
            <a:avLst>
              <a:gd name="adj" fmla="val 8824"/>
            </a:avLst>
          </a:prstGeom>
          <a:solidFill>
            <a:srgbClr val="2A1116"/>
          </a:solidFill>
          <a:ln w="15240">
            <a:solidFill>
              <a:srgbClr val="FB7185"/>
            </a:solidFill>
            <a:prstDash val="solid"/>
          </a:ln>
        </p:spPr>
      </p:sp>
      <p:sp>
        <p:nvSpPr>
          <p:cNvPr id="21" name="Text 19"/>
          <p:cNvSpPr txBox="1"/>
          <p:nvPr/>
        </p:nvSpPr>
        <p:spPr>
          <a:xfrm>
            <a:off x="777240"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22" name="Text 20"/>
          <p:cNvSpPr txBox="1"/>
          <p:nvPr/>
        </p:nvSpPr>
        <p:spPr>
          <a:xfrm>
            <a:off x="777240"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cart-totals</a:t>
            </a:r>
            <a:endParaRPr lang="en-US" sz="1000" dirty="0"/>
          </a:p>
        </p:txBody>
      </p:sp>
      <p:sp>
        <p:nvSpPr>
          <p:cNvPr id="23" name="Shape 21"/>
          <p:cNvSpPr/>
          <p:nvPr/>
        </p:nvSpPr>
        <p:spPr>
          <a:xfrm>
            <a:off x="2852928" y="3017520"/>
            <a:ext cx="2057400" cy="621792"/>
          </a:xfrm>
          <a:prstGeom prst="roundRect">
            <a:avLst>
              <a:gd name="adj" fmla="val 8824"/>
            </a:avLst>
          </a:prstGeom>
          <a:solidFill>
            <a:srgbClr val="10251A"/>
          </a:solidFill>
          <a:ln w="15240">
            <a:solidFill>
              <a:srgbClr val="4ADE80"/>
            </a:solidFill>
            <a:prstDash val="solid"/>
          </a:ln>
        </p:spPr>
      </p:sp>
      <p:sp>
        <p:nvSpPr>
          <p:cNvPr id="24" name="Text 22"/>
          <p:cNvSpPr txBox="1"/>
          <p:nvPr/>
        </p:nvSpPr>
        <p:spPr>
          <a:xfrm>
            <a:off x="2990088"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5" name="Text 23"/>
          <p:cNvSpPr txBox="1"/>
          <p:nvPr/>
        </p:nvSpPr>
        <p:spPr>
          <a:xfrm>
            <a:off x="2990088"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login</a:t>
            </a:r>
            <a:endParaRPr lang="en-US" sz="1000" dirty="0"/>
          </a:p>
        </p:txBody>
      </p:sp>
      <p:sp>
        <p:nvSpPr>
          <p:cNvPr id="26" name="Shape 24"/>
          <p:cNvSpPr/>
          <p:nvPr/>
        </p:nvSpPr>
        <p:spPr>
          <a:xfrm>
            <a:off x="5065776" y="3017520"/>
            <a:ext cx="2057400" cy="621792"/>
          </a:xfrm>
          <a:prstGeom prst="roundRect">
            <a:avLst>
              <a:gd name="adj" fmla="val 8824"/>
            </a:avLst>
          </a:prstGeom>
          <a:solidFill>
            <a:srgbClr val="10251A"/>
          </a:solidFill>
          <a:ln w="15240">
            <a:solidFill>
              <a:srgbClr val="4ADE80"/>
            </a:solidFill>
            <a:prstDash val="solid"/>
          </a:ln>
        </p:spPr>
      </p:sp>
      <p:sp>
        <p:nvSpPr>
          <p:cNvPr id="27" name="Text 25"/>
          <p:cNvSpPr txBox="1"/>
          <p:nvPr/>
        </p:nvSpPr>
        <p:spPr>
          <a:xfrm>
            <a:off x="5202936"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8" name="Text 26"/>
          <p:cNvSpPr txBox="1"/>
          <p:nvPr/>
        </p:nvSpPr>
        <p:spPr>
          <a:xfrm>
            <a:off x="5202936"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checkout-validation</a:t>
            </a:r>
            <a:endParaRPr lang="en-US" sz="1000" dirty="0"/>
          </a:p>
        </p:txBody>
      </p:sp>
      <p:sp>
        <p:nvSpPr>
          <p:cNvPr id="29" name="Shape 27"/>
          <p:cNvSpPr/>
          <p:nvPr/>
        </p:nvSpPr>
        <p:spPr>
          <a:xfrm>
            <a:off x="7278624" y="3017520"/>
            <a:ext cx="2057400" cy="621792"/>
          </a:xfrm>
          <a:prstGeom prst="roundRect">
            <a:avLst>
              <a:gd name="adj" fmla="val 8824"/>
            </a:avLst>
          </a:prstGeom>
          <a:solidFill>
            <a:srgbClr val="2A1116"/>
          </a:solidFill>
          <a:ln w="15240">
            <a:solidFill>
              <a:srgbClr val="FB7185"/>
            </a:solidFill>
            <a:prstDash val="solid"/>
          </a:ln>
        </p:spPr>
      </p:sp>
      <p:sp>
        <p:nvSpPr>
          <p:cNvPr id="30" name="Text 28"/>
          <p:cNvSpPr txBox="1"/>
          <p:nvPr/>
        </p:nvSpPr>
        <p:spPr>
          <a:xfrm>
            <a:off x="7415784"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31" name="Text 29"/>
          <p:cNvSpPr txBox="1"/>
          <p:nvPr/>
        </p:nvSpPr>
        <p:spPr>
          <a:xfrm>
            <a:off x="7415784"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checkout-happy-path</a:t>
            </a:r>
            <a:endParaRPr lang="en-US" sz="1000" dirty="0"/>
          </a:p>
        </p:txBody>
      </p:sp>
      <p:sp>
        <p:nvSpPr>
          <p:cNvPr id="32" name="Shape 30"/>
          <p:cNvSpPr/>
          <p:nvPr/>
        </p:nvSpPr>
        <p:spPr>
          <a:xfrm>
            <a:off x="9491472" y="3017520"/>
            <a:ext cx="2057400" cy="621792"/>
          </a:xfrm>
          <a:prstGeom prst="roundRect">
            <a:avLst>
              <a:gd name="adj" fmla="val 8824"/>
            </a:avLst>
          </a:prstGeom>
          <a:solidFill>
            <a:srgbClr val="10251A"/>
          </a:solidFill>
          <a:ln w="15240">
            <a:solidFill>
              <a:srgbClr val="4ADE80"/>
            </a:solidFill>
            <a:prstDash val="solid"/>
          </a:ln>
        </p:spPr>
      </p:sp>
      <p:sp>
        <p:nvSpPr>
          <p:cNvPr id="33" name="Text 31"/>
          <p:cNvSpPr txBox="1"/>
          <p:nvPr/>
        </p:nvSpPr>
        <p:spPr>
          <a:xfrm>
            <a:off x="9628632"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34" name="Text 32"/>
          <p:cNvSpPr txBox="1"/>
          <p:nvPr/>
        </p:nvSpPr>
        <p:spPr>
          <a:xfrm>
            <a:off x="9628632"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orders</a:t>
            </a:r>
            <a:endParaRPr lang="en-US" sz="1000" dirty="0"/>
          </a:p>
        </p:txBody>
      </p:sp>
      <p:sp>
        <p:nvSpPr>
          <p:cNvPr id="35" name="Text 33"/>
          <p:cNvSpPr txBox="1"/>
          <p:nvPr/>
        </p:nvSpPr>
        <p:spPr>
          <a:xfrm>
            <a:off x="640080" y="39776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No test-name bookkeeping. No --only-failures flag. No plugin. A cache that stores successes gives you failure-only retries for free — locally and on CI.</a:t>
            </a:r>
            <a:endParaRPr lang="en-US" sz="1500" dirty="0"/>
          </a:p>
        </p:txBody>
      </p:sp>
      <p:sp>
        <p:nvSpPr>
          <p:cNvPr id="36" name="Shape 34"/>
          <p:cNvSpPr/>
          <p:nvPr/>
        </p:nvSpPr>
        <p:spPr>
          <a:xfrm>
            <a:off x="640080" y="4709160"/>
            <a:ext cx="3429000" cy="1463040"/>
          </a:xfrm>
          <a:prstGeom prst="roundRect">
            <a:avLst>
              <a:gd name="adj" fmla="val 4375"/>
            </a:avLst>
          </a:prstGeom>
          <a:solidFill>
            <a:srgbClr val="1B2029"/>
          </a:solidFill>
          <a:ln w="12700">
            <a:solidFill>
              <a:srgbClr val="2C3340"/>
            </a:solidFill>
            <a:prstDash val="solid"/>
          </a:ln>
        </p:spPr>
      </p:sp>
      <p:sp>
        <p:nvSpPr>
          <p:cNvPr id="37" name="Text 35"/>
          <p:cNvSpPr txBox="1"/>
          <p:nvPr/>
        </p:nvSpPr>
        <p:spPr>
          <a:xfrm>
            <a:off x="841248" y="489204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37s</a:t>
            </a:r>
            <a:endParaRPr lang="en-US" sz="4000" dirty="0"/>
          </a:p>
        </p:txBody>
      </p:sp>
      <p:sp>
        <p:nvSpPr>
          <p:cNvPr id="38" name="Text 36"/>
          <p:cNvSpPr txBox="1"/>
          <p:nvPr/>
        </p:nvSpPr>
        <p:spPr>
          <a:xfrm>
            <a:off x="84124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First run, 2 specs fail</a:t>
            </a:r>
            <a:endParaRPr lang="en-US" sz="1300" dirty="0"/>
          </a:p>
        </p:txBody>
      </p:sp>
      <p:sp>
        <p:nvSpPr>
          <p:cNvPr id="39" name="Shape 37"/>
          <p:cNvSpPr/>
          <p:nvPr/>
        </p:nvSpPr>
        <p:spPr>
          <a:xfrm>
            <a:off x="4343400" y="4709160"/>
            <a:ext cx="3429000" cy="1463040"/>
          </a:xfrm>
          <a:prstGeom prst="roundRect">
            <a:avLst>
              <a:gd name="adj" fmla="val 4375"/>
            </a:avLst>
          </a:prstGeom>
          <a:solidFill>
            <a:srgbClr val="1B2029"/>
          </a:solidFill>
          <a:ln w="12700">
            <a:solidFill>
              <a:srgbClr val="2C3340"/>
            </a:solidFill>
            <a:prstDash val="solid"/>
          </a:ln>
        </p:spPr>
      </p:sp>
      <p:sp>
        <p:nvSpPr>
          <p:cNvPr id="40" name="Text 38"/>
          <p:cNvSpPr txBox="1"/>
          <p:nvPr/>
        </p:nvSpPr>
        <p:spPr>
          <a:xfrm>
            <a:off x="4544568" y="489204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28s</a:t>
            </a:r>
            <a:endParaRPr lang="en-US" sz="4000" dirty="0"/>
          </a:p>
        </p:txBody>
      </p:sp>
      <p:sp>
        <p:nvSpPr>
          <p:cNvPr id="41" name="Text 39"/>
          <p:cNvSpPr txBox="1"/>
          <p:nvPr/>
        </p:nvSpPr>
        <p:spPr>
          <a:xfrm>
            <a:off x="454456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Retry: 9 of 10 replayed</a:t>
            </a:r>
            <a:endParaRPr lang="en-US" sz="1300" dirty="0"/>
          </a:p>
        </p:txBody>
      </p:sp>
      <p:sp>
        <p:nvSpPr>
          <p:cNvPr id="42" name="Shape 40"/>
          <p:cNvSpPr/>
          <p:nvPr/>
        </p:nvSpPr>
        <p:spPr>
          <a:xfrm>
            <a:off x="8046720" y="4709160"/>
            <a:ext cx="3429000" cy="1463040"/>
          </a:xfrm>
          <a:prstGeom prst="roundRect">
            <a:avLst>
              <a:gd name="adj" fmla="val 4375"/>
            </a:avLst>
          </a:prstGeom>
          <a:solidFill>
            <a:srgbClr val="1B2029"/>
          </a:solidFill>
          <a:ln w="12700">
            <a:solidFill>
              <a:srgbClr val="2C3340"/>
            </a:solidFill>
            <a:prstDash val="solid"/>
          </a:ln>
        </p:spPr>
      </p:sp>
      <p:sp>
        <p:nvSpPr>
          <p:cNvPr id="43" name="Text 41"/>
          <p:cNvSpPr txBox="1"/>
          <p:nvPr/>
        </p:nvSpPr>
        <p:spPr>
          <a:xfrm>
            <a:off x="8247888" y="4892040"/>
            <a:ext cx="3026664" cy="685800"/>
          </a:xfrm>
          <a:prstGeom prst="rect">
            <a:avLst/>
          </a:prstGeom>
          <a:noFill/>
          <a:ln/>
        </p:spPr>
        <p:txBody>
          <a:bodyPr wrap="square" lIns="0" tIns="0" rIns="0" bIns="0" rtlCol="0" anchor="ctr"/>
          <a:lstStyle/>
          <a:p>
            <a:pPr indent="0" marL="0">
              <a:buNone/>
            </a:pPr>
            <a:r>
              <a:rPr lang="en-US" sz="4000" b="1" dirty="0">
                <a:solidFill>
                  <a:srgbClr val="FB7185"/>
                </a:solidFill>
                <a:latin typeface="Cambria" pitchFamily="34" charset="0"/>
                <a:ea typeface="Cambria" pitchFamily="34" charset="-122"/>
                <a:cs typeface="Cambria" pitchFamily="34" charset="-120"/>
              </a:rPr>
              <a:t>2</a:t>
            </a:r>
            <a:endParaRPr lang="en-US" sz="4000" dirty="0"/>
          </a:p>
        </p:txBody>
      </p:sp>
      <p:sp>
        <p:nvSpPr>
          <p:cNvPr id="44" name="Text 42"/>
          <p:cNvSpPr txBox="1"/>
          <p:nvPr/>
        </p:nvSpPr>
        <p:spPr>
          <a:xfrm>
            <a:off x="824788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Specs that actually ran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05 · THE BIT THAT SURPRISES PEOPLE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The cache is content-addressed</a:t>
            </a:r>
            <a:endParaRPr lang="en-US" sz="3800" dirty="0"/>
          </a:p>
        </p:txBody>
      </p:sp>
      <p:sp>
        <p:nvSpPr>
          <p:cNvPr id="4" name="Shape 2"/>
          <p:cNvSpPr/>
          <p:nvPr/>
        </p:nvSpPr>
        <p:spPr>
          <a:xfrm>
            <a:off x="640080" y="2011680"/>
            <a:ext cx="3429000" cy="2148840"/>
          </a:xfrm>
          <a:prstGeom prst="roundRect">
            <a:avLst>
              <a:gd name="adj" fmla="val 2979"/>
            </a:avLst>
          </a:prstGeom>
          <a:solidFill>
            <a:srgbClr val="FFFFFF"/>
          </a:solidFill>
          <a:ln w="12700">
            <a:solidFill>
              <a:srgbClr val="DFE4EC"/>
            </a:solidFill>
            <a:prstDash val="solid"/>
          </a:ln>
        </p:spPr>
      </p:sp>
      <p:sp>
        <p:nvSpPr>
          <p:cNvPr id="5" name="Text 3"/>
          <p:cNvSpPr txBox="1"/>
          <p:nvPr/>
        </p:nvSpPr>
        <p:spPr>
          <a:xfrm>
            <a:off x="86868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1</a:t>
            </a:r>
            <a:endParaRPr lang="en-US" sz="1800" dirty="0"/>
          </a:p>
        </p:txBody>
      </p:sp>
      <p:sp>
        <p:nvSpPr>
          <p:cNvPr id="6" name="Text 4"/>
          <p:cNvSpPr txBox="1"/>
          <p:nvPr/>
        </p:nvSpPr>
        <p:spPr>
          <a:xfrm>
            <a:off x="86868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Green suite</a:t>
            </a:r>
            <a:endParaRPr lang="en-US" sz="1700" dirty="0"/>
          </a:p>
        </p:txBody>
      </p:sp>
      <p:sp>
        <p:nvSpPr>
          <p:cNvPr id="7" name="Text 5"/>
          <p:cNvSpPr txBox="1"/>
          <p:nvPr/>
        </p:nvSpPr>
        <p:spPr>
          <a:xfrm>
            <a:off x="86868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a:t>
            </a:r>
            <a:endParaRPr lang="en-US" sz="1300" dirty="0"/>
          </a:p>
        </p:txBody>
      </p:sp>
      <p:sp>
        <p:nvSpPr>
          <p:cNvPr id="8" name="Text 6"/>
          <p:cNvSpPr txBox="1"/>
          <p:nvPr/>
        </p:nvSpPr>
        <p:spPr>
          <a:xfrm>
            <a:off x="86868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cached</a:t>
            </a:r>
            <a:endParaRPr lang="en-US" sz="1300" dirty="0"/>
          </a:p>
        </p:txBody>
      </p:sp>
      <p:sp>
        <p:nvSpPr>
          <p:cNvPr id="9" name="Shape 7"/>
          <p:cNvSpPr/>
          <p:nvPr/>
        </p:nvSpPr>
        <p:spPr>
          <a:xfrm>
            <a:off x="4343400" y="2011680"/>
            <a:ext cx="3429000" cy="2148840"/>
          </a:xfrm>
          <a:prstGeom prst="roundRect">
            <a:avLst>
              <a:gd name="adj" fmla="val 2979"/>
            </a:avLst>
          </a:prstGeom>
          <a:solidFill>
            <a:srgbClr val="FFFFFF"/>
          </a:solidFill>
          <a:ln w="12700">
            <a:solidFill>
              <a:srgbClr val="DFE4EC"/>
            </a:solidFill>
            <a:prstDash val="solid"/>
          </a:ln>
        </p:spPr>
      </p:sp>
      <p:sp>
        <p:nvSpPr>
          <p:cNvPr id="10" name="Text 8"/>
          <p:cNvSpPr txBox="1"/>
          <p:nvPr/>
        </p:nvSpPr>
        <p:spPr>
          <a:xfrm>
            <a:off x="4572000" y="2194560"/>
            <a:ext cx="457200" cy="365760"/>
          </a:xfrm>
          <a:prstGeom prst="rect">
            <a:avLst/>
          </a:prstGeom>
          <a:noFill/>
          <a:ln/>
        </p:spPr>
        <p:txBody>
          <a:bodyPr wrap="square" lIns="0" tIns="0" rIns="0" bIns="0" rtlCol="0" anchor="ctr"/>
          <a:lstStyle/>
          <a:p>
            <a:pPr indent="0" marL="0">
              <a:buNone/>
            </a:pPr>
            <a:r>
              <a:rPr lang="en-US" sz="1800" b="1" dirty="0">
                <a:solidFill>
                  <a:srgbClr val="FB7185"/>
                </a:solidFill>
                <a:latin typeface="Courier New" pitchFamily="34" charset="0"/>
                <a:ea typeface="Courier New" pitchFamily="34" charset="-122"/>
                <a:cs typeface="Courier New" pitchFamily="34" charset="-120"/>
              </a:rPr>
              <a:t>2</a:t>
            </a:r>
            <a:endParaRPr lang="en-US" sz="1800" dirty="0"/>
          </a:p>
        </p:txBody>
      </p:sp>
      <p:sp>
        <p:nvSpPr>
          <p:cNvPr id="11" name="Text 9"/>
          <p:cNvSpPr txBox="1"/>
          <p:nvPr/>
        </p:nvSpPr>
        <p:spPr>
          <a:xfrm>
            <a:off x="457200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Seed the bug</a:t>
            </a:r>
            <a:endParaRPr lang="en-US" sz="1700" dirty="0"/>
          </a:p>
        </p:txBody>
      </p:sp>
      <p:sp>
        <p:nvSpPr>
          <p:cNvPr id="12" name="Text 10"/>
          <p:cNvSpPr txBox="1"/>
          <p:nvPr/>
        </p:nvSpPr>
        <p:spPr>
          <a:xfrm>
            <a:off x="457200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B</a:t>
            </a:r>
            <a:endParaRPr lang="en-US" sz="1300" dirty="0"/>
          </a:p>
        </p:txBody>
      </p:sp>
      <p:sp>
        <p:nvSpPr>
          <p:cNvPr id="13" name="Text 11"/>
          <p:cNvSpPr txBox="1"/>
          <p:nvPr/>
        </p:nvSpPr>
        <p:spPr>
          <a:xfrm>
            <a:off x="4572000" y="3401568"/>
            <a:ext cx="2971800" cy="548640"/>
          </a:xfrm>
          <a:prstGeom prst="rect">
            <a:avLst/>
          </a:prstGeom>
          <a:noFill/>
          <a:ln/>
        </p:spPr>
        <p:txBody>
          <a:bodyPr wrap="square" lIns="0" tIns="0" rIns="0" bIns="0" rtlCol="0" anchor="ctr"/>
          <a:lstStyle/>
          <a:p>
            <a:pPr indent="0" marL="0">
              <a:buNone/>
            </a:pPr>
            <a:r>
              <a:rPr lang="en-US" sz="1300" b="1" dirty="0">
                <a:solidFill>
                  <a:srgbClr val="FB7185"/>
                </a:solidFill>
                <a:latin typeface="Calibri" pitchFamily="34" charset="0"/>
                <a:ea typeface="Calibri" pitchFamily="34" charset="-122"/>
                <a:cs typeface="Calibri" pitchFamily="34" charset="-120"/>
              </a:rPr>
              <a:t>2 fail, 8 cached at B</a:t>
            </a:r>
            <a:endParaRPr lang="en-US" sz="1300" dirty="0"/>
          </a:p>
        </p:txBody>
      </p:sp>
      <p:sp>
        <p:nvSpPr>
          <p:cNvPr id="14" name="Shape 12"/>
          <p:cNvSpPr/>
          <p:nvPr/>
        </p:nvSpPr>
        <p:spPr>
          <a:xfrm>
            <a:off x="8046720" y="2011680"/>
            <a:ext cx="3429000" cy="2148840"/>
          </a:xfrm>
          <a:prstGeom prst="roundRect">
            <a:avLst>
              <a:gd name="adj" fmla="val 2979"/>
            </a:avLst>
          </a:prstGeom>
          <a:solidFill>
            <a:srgbClr val="FFFFFF"/>
          </a:solidFill>
          <a:ln w="12700">
            <a:solidFill>
              <a:srgbClr val="DFE4EC"/>
            </a:solidFill>
            <a:prstDash val="solid"/>
          </a:ln>
        </p:spPr>
      </p:sp>
      <p:sp>
        <p:nvSpPr>
          <p:cNvPr id="15" name="Text 13"/>
          <p:cNvSpPr txBox="1"/>
          <p:nvPr/>
        </p:nvSpPr>
        <p:spPr>
          <a:xfrm>
            <a:off x="827532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3</a:t>
            </a:r>
            <a:endParaRPr lang="en-US" sz="1800" dirty="0"/>
          </a:p>
        </p:txBody>
      </p:sp>
      <p:sp>
        <p:nvSpPr>
          <p:cNvPr id="16" name="Text 14"/>
          <p:cNvSpPr txBox="1"/>
          <p:nvPr/>
        </p:nvSpPr>
        <p:spPr>
          <a:xfrm>
            <a:off x="827532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Revert the bug</a:t>
            </a:r>
            <a:endParaRPr lang="en-US" sz="1700" dirty="0"/>
          </a:p>
        </p:txBody>
      </p:sp>
      <p:sp>
        <p:nvSpPr>
          <p:cNvPr id="17" name="Text 15"/>
          <p:cNvSpPr txBox="1"/>
          <p:nvPr/>
        </p:nvSpPr>
        <p:spPr>
          <a:xfrm>
            <a:off x="827532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 again</a:t>
            </a:r>
            <a:endParaRPr lang="en-US" sz="1300" dirty="0"/>
          </a:p>
        </p:txBody>
      </p:sp>
      <p:sp>
        <p:nvSpPr>
          <p:cNvPr id="18" name="Text 16"/>
          <p:cNvSpPr txBox="1"/>
          <p:nvPr/>
        </p:nvSpPr>
        <p:spPr>
          <a:xfrm>
            <a:off x="827532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all 10 replay — 226ms</a:t>
            </a:r>
            <a:endParaRPr lang="en-US" sz="1300" dirty="0"/>
          </a:p>
        </p:txBody>
      </p:sp>
      <p:sp>
        <p:nvSpPr>
          <p:cNvPr id="19" name="Text 17"/>
          <p:cNvSpPr txBox="1"/>
          <p:nvPr/>
        </p:nvSpPr>
        <p:spPr>
          <a:xfrm>
            <a:off x="640080" y="4434840"/>
            <a:ext cx="10881360" cy="548640"/>
          </a:xfrm>
          <a:prstGeom prst="rect">
            <a:avLst/>
          </a:prstGeom>
          <a:noFill/>
          <a:ln/>
        </p:spPr>
        <p:txBody>
          <a:bodyPr wrap="square" lIns="0" tIns="0" rIns="0" bIns="0" rtlCol="0" anchor="ctr"/>
          <a:lstStyle/>
          <a:p>
            <a:pPr indent="0" marL="0">
              <a:buNone/>
            </a:pPr>
            <a:r>
              <a:rPr lang="en-US" sz="1500" dirty="0">
                <a:solidFill>
                  <a:srgbClr val="55607A"/>
                </a:solidFill>
                <a:latin typeface="Calibri" pitchFamily="34" charset="0"/>
                <a:ea typeface="Calibri" pitchFamily="34" charset="-122"/>
                <a:cs typeface="Calibri" pitchFamily="34" charset="-120"/>
              </a:rPr>
              <a:t>Undoing a change gives you your old results back. Nothing re-runs, because Nx already knows the answer for that exact input.</a:t>
            </a:r>
            <a:endParaRPr lang="en-US" sz="1500" dirty="0"/>
          </a:p>
        </p:txBody>
      </p:sp>
      <p:sp>
        <p:nvSpPr>
          <p:cNvPr id="20" name="Shape 18"/>
          <p:cNvSpPr/>
          <p:nvPr/>
        </p:nvSpPr>
        <p:spPr>
          <a:xfrm>
            <a:off x="640080" y="5074920"/>
            <a:ext cx="10881360" cy="914400"/>
          </a:xfrm>
          <a:prstGeom prst="roundRect">
            <a:avLst>
              <a:gd name="adj" fmla="val 7000"/>
            </a:avLst>
          </a:prstGeom>
          <a:solidFill>
            <a:srgbClr val="F0F5FF"/>
          </a:solidFill>
          <a:ln w="12700">
            <a:solidFill>
              <a:srgbClr val="9CC0F5"/>
            </a:solidFill>
            <a:prstDash val="solid"/>
          </a:ln>
        </p:spPr>
      </p:sp>
      <p:sp>
        <p:nvSpPr>
          <p:cNvPr id="21" name="Text 19"/>
          <p:cNvSpPr txBox="1"/>
          <p:nvPr/>
        </p:nvSpPr>
        <p:spPr>
          <a:xfrm>
            <a:off x="914400" y="5257800"/>
            <a:ext cx="10332720" cy="594360"/>
          </a:xfrm>
          <a:prstGeom prst="rect">
            <a:avLst/>
          </a:prstGeom>
          <a:noFill/>
          <a:ln/>
        </p:spPr>
        <p:txBody>
          <a:bodyPr wrap="square" lIns="0" tIns="0" rIns="0" bIns="0" rtlCol="0" anchor="ctr"/>
          <a:lstStyle/>
          <a:p>
            <a:pPr indent="0" marL="0">
              <a:buNone/>
            </a:pPr>
            <a:r>
              <a:rPr lang="en-US" sz="1400" dirty="0">
                <a:solidFill>
                  <a:srgbClr val="1D3F73"/>
                </a:solidFill>
                <a:latin typeface="Calibri" pitchFamily="34" charset="0"/>
                <a:ea typeface="Calibri" pitchFamily="34" charset="-122"/>
                <a:cs typeface="Calibri" pitchFamily="34" charset="-120"/>
              </a:rPr>
              <a:t>The flip side: touch a shared component and all ten specs invalidate — correctly. Failure-only retries work between retries of the same commit, not across a code change.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06 · DISTRIBUTION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matrix instead of a subscription</a:t>
            </a:r>
            <a:endParaRPr lang="en-US" sz="3800" dirty="0"/>
          </a:p>
        </p:txBody>
      </p:sp>
      <p:sp>
        <p:nvSpPr>
          <p:cNvPr id="4" name="Shape 2"/>
          <p:cNvSpPr/>
          <p:nvPr/>
        </p:nvSpPr>
        <p:spPr>
          <a:xfrm>
            <a:off x="640080" y="1783080"/>
            <a:ext cx="72237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6766560" cy="1609344"/>
          </a:xfrm>
          <a:prstGeom prst="rect">
            <a:avLst/>
          </a:prstGeom>
          <a:noFill/>
          <a:ln/>
        </p:spPr>
        <p:txBody>
          <a:bodyPr wrap="square" lIns="0" tIns="0" rIns="0" bIns="0" rtlCol="0" anchor="t"/>
          <a:lstStyle/>
          <a:p>
            <a:pPr indent="0" marL="0">
              <a:lnSpc>
                <a:spcPct val="125000"/>
              </a:lnSpc>
              <a:buNone/>
            </a:pPr>
            <a:r>
              <a:rPr lang="en-US" sz="1200" dirty="0">
                <a:solidFill>
                  <a:srgbClr val="7DD3FC"/>
                </a:solidFill>
                <a:latin typeface="Courier New" pitchFamily="34" charset="0"/>
                <a:ea typeface="Courier New" pitchFamily="34" charset="-122"/>
                <a:cs typeface="Courier New" pitchFamily="34" charset="-120"/>
              </a:rPr>
              <a:t>strategy:</a:t>
            </a:r>
            <a:endParaRPr lang="en-US" sz="1200" dirty="0"/>
          </a:p>
          <a:p>
            <a:pPr indent="0" marL="0">
              <a:lnSpc>
                <a:spcPct val="125000"/>
              </a:lnSpc>
              <a:buNone/>
            </a:pPr>
            <a:r>
              <a:rPr lang="en-US" sz="1200" dirty="0">
                <a:solidFill>
                  <a:srgbClr val="FFFFFF"/>
                </a:solidFill>
                <a:latin typeface="Courier New" pitchFamily="34" charset="0"/>
                <a:ea typeface="Courier New" pitchFamily="34" charset="-122"/>
                <a:cs typeface="Courier New" pitchFamily="34" charset="-120"/>
              </a:rPr>
              <a:t>  matrix: { shard: [1, 2, 3] }</a:t>
            </a:r>
            <a:endParaRPr lang="en-US" sz="1200" dirty="0"/>
          </a:p>
          <a:p>
            <a:pPr indent="0" marL="0">
              <a:lnSpc>
                <a:spcPct val="125000"/>
              </a:lnSpc>
              <a:buNone/>
            </a:pPr>
            <a:r>
              <a:rPr lang="en-US" sz="1200" dirty="0">
                <a:solidFill>
                  <a:srgbClr val="7DD3FC"/>
                </a:solidFill>
                <a:latin typeface="Courier New" pitchFamily="34" charset="0"/>
                <a:ea typeface="Courier New" pitchFamily="34" charset="-122"/>
                <a:cs typeface="Courier New" pitchFamily="34" charset="-120"/>
              </a:rPr>
              <a:t>steps:</a:t>
            </a:r>
            <a:endParaRPr lang="en-US" sz="1200" dirty="0"/>
          </a:p>
          <a:p>
            <a:pPr indent="0" marL="0">
              <a:lnSpc>
                <a:spcPct val="125000"/>
              </a:lnSpc>
              <a:buNone/>
            </a:pPr>
            <a:r>
              <a:rPr lang="en-US" sz="1200" dirty="0">
                <a:solidFill>
                  <a:srgbClr val="8A94A6"/>
                </a:solidFill>
                <a:latin typeface="Courier New" pitchFamily="34" charset="0"/>
                <a:ea typeface="Courier New" pitchFamily="34" charset="-122"/>
                <a:cs typeface="Courier New" pitchFamily="34" charset="-120"/>
              </a:rPr>
              <a:t>  - uses: actions/cache@v4          # .nx/cache, per shard</a:t>
            </a:r>
            <a:endParaRPr lang="en-US" sz="1200" dirty="0"/>
          </a:p>
          <a:p>
            <a:pPr indent="0" marL="0">
              <a:lnSpc>
                <a:spcPct val="125000"/>
              </a:lnSpc>
              <a:buNone/>
            </a:pPr>
            <a:r>
              <a:rPr lang="en-US" sz="1200" dirty="0">
                <a:solidFill>
                  <a:srgbClr val="4ADE80"/>
                </a:solidFill>
                <a:latin typeface="Courier New" pitchFamily="34" charset="0"/>
                <a:ea typeface="Courier New" pitchFamily="34" charset="-122"/>
                <a:cs typeface="Courier New" pitchFamily="34" charset="-120"/>
              </a:rPr>
              <a:t>  - run: node tools/shard-e2e.mjs --shard=${{ matrix.shard }}/3</a:t>
            </a:r>
            <a:endParaRPr lang="en-US" sz="1200" dirty="0"/>
          </a:p>
        </p:txBody>
      </p:sp>
      <p:sp>
        <p:nvSpPr>
          <p:cNvPr id="6" name="Text 4"/>
          <p:cNvSpPr txBox="1"/>
          <p:nvPr/>
        </p:nvSpPr>
        <p:spPr>
          <a:xfrm>
            <a:off x="8046720" y="1783080"/>
            <a:ext cx="3474720" cy="219456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C3CAD6"/>
                </a:solidFill>
                <a:latin typeface="Calibri" pitchFamily="34" charset="0"/>
                <a:ea typeface="Calibri" pitchFamily="34" charset="-122"/>
                <a:cs typeface="Calibri" pitchFamily="34" charset="-120"/>
              </a:rPr>
              <a:t>Discovery is the same; only the slice differs</a:t>
            </a:r>
            <a:endParaRPr lang="en-US" sz="1300" dirty="0"/>
          </a:p>
          <a:p>
            <a:pPr marL="342900" indent="-342900">
              <a:spcAft>
                <a:spcPts val="1000"/>
              </a:spcAft>
              <a:buSzPct val="100000"/>
              <a:buChar char="•"/>
            </a:pPr>
            <a:r>
              <a:rPr lang="en-US" sz="1300" dirty="0">
                <a:solidFill>
                  <a:srgbClr val="C3CAD6"/>
                </a:solidFill>
                <a:latin typeface="Calibri" pitchFamily="34" charset="0"/>
                <a:ea typeface="Calibri" pitchFamily="34" charset="-122"/>
                <a:cs typeface="Calibri" pitchFamily="34" charset="-120"/>
              </a:rPr>
              <a:t>Round-robin, not contiguous blocks — adjacent specs cost alike</a:t>
            </a:r>
            <a:endParaRPr lang="en-US" sz="1300" dirty="0"/>
          </a:p>
          <a:p>
            <a:pPr marL="342900" indent="-342900">
              <a:spcAft>
                <a:spcPts val="1000"/>
              </a:spcAft>
              <a:buSzPct val="100000"/>
              <a:buChar char="•"/>
            </a:pPr>
            <a:r>
              <a:rPr lang="en-US" sz="1300" dirty="0">
                <a:solidFill>
                  <a:srgbClr val="C3CAD6"/>
                </a:solidFill>
                <a:latin typeface="Calibri" pitchFamily="34" charset="0"/>
                <a:ea typeface="Calibri" pitchFamily="34" charset="-122"/>
                <a:cs typeface="Calibri" pitchFamily="34" charset="-120"/>
              </a:rPr>
              <a:t>Restore .nx/cache per shard so a re-run of a red job is cheap</a:t>
            </a:r>
            <a:endParaRPr lang="en-US" sz="1300" dirty="0"/>
          </a:p>
        </p:txBody>
      </p:sp>
      <p:sp>
        <p:nvSpPr>
          <p:cNvPr id="7" name="Text 5"/>
          <p:cNvSpPr txBox="1"/>
          <p:nvPr/>
        </p:nvSpPr>
        <p:spPr>
          <a:xfrm>
            <a:off x="640080" y="393192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What Nx Cloud still buys you</a:t>
            </a:r>
            <a:endParaRPr lang="en-US" sz="1600" dirty="0"/>
          </a:p>
        </p:txBody>
      </p:sp>
      <p:sp>
        <p:nvSpPr>
          <p:cNvPr id="8" name="Shape 6"/>
          <p:cNvSpPr/>
          <p:nvPr/>
        </p:nvSpPr>
        <p:spPr>
          <a:xfrm>
            <a:off x="640080" y="4389120"/>
            <a:ext cx="3429000" cy="1371600"/>
          </a:xfrm>
          <a:prstGeom prst="roundRect">
            <a:avLst>
              <a:gd name="adj" fmla="val 4667"/>
            </a:avLst>
          </a:prstGeom>
          <a:solidFill>
            <a:srgbClr val="1B2029"/>
          </a:solidFill>
          <a:ln w="12700">
            <a:solidFill>
              <a:srgbClr val="2C3340"/>
            </a:solidFill>
            <a:prstDash val="solid"/>
          </a:ln>
        </p:spPr>
      </p:sp>
      <p:sp>
        <p:nvSpPr>
          <p:cNvPr id="9" name="Text 7"/>
          <p:cNvSpPr txBox="1"/>
          <p:nvPr/>
        </p:nvSpPr>
        <p:spPr>
          <a:xfrm>
            <a:off x="841248" y="455371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Dynamic distribution</a:t>
            </a:r>
            <a:endParaRPr lang="en-US" sz="1400" dirty="0"/>
          </a:p>
        </p:txBody>
      </p:sp>
      <p:sp>
        <p:nvSpPr>
          <p:cNvPr id="10" name="Text 8"/>
          <p:cNvSpPr txBox="1"/>
          <p:nvPr/>
        </p:nvSpPr>
        <p:spPr>
          <a:xfrm>
            <a:off x="841248" y="4901184"/>
            <a:ext cx="3017520" cy="77724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Splits by measured duration, not by count, and rebalances itself.</a:t>
            </a:r>
            <a:endParaRPr lang="en-US" sz="1200" dirty="0"/>
          </a:p>
        </p:txBody>
      </p:sp>
      <p:sp>
        <p:nvSpPr>
          <p:cNvPr id="11" name="Shape 9"/>
          <p:cNvSpPr/>
          <p:nvPr/>
        </p:nvSpPr>
        <p:spPr>
          <a:xfrm>
            <a:off x="4343400" y="4389120"/>
            <a:ext cx="3429000" cy="1371600"/>
          </a:xfrm>
          <a:prstGeom prst="roundRect">
            <a:avLst>
              <a:gd name="adj" fmla="val 4667"/>
            </a:avLst>
          </a:prstGeom>
          <a:solidFill>
            <a:srgbClr val="1B2029"/>
          </a:solidFill>
          <a:ln w="12700">
            <a:solidFill>
              <a:srgbClr val="2C3340"/>
            </a:solidFill>
            <a:prstDash val="solid"/>
          </a:ln>
        </p:spPr>
      </p:sp>
      <p:sp>
        <p:nvSpPr>
          <p:cNvPr id="12" name="Text 10"/>
          <p:cNvSpPr txBox="1"/>
          <p:nvPr/>
        </p:nvSpPr>
        <p:spPr>
          <a:xfrm>
            <a:off x="4544568" y="455371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 shared remote cache</a:t>
            </a:r>
            <a:endParaRPr lang="en-US" sz="1400" dirty="0"/>
          </a:p>
        </p:txBody>
      </p:sp>
      <p:sp>
        <p:nvSpPr>
          <p:cNvPr id="13" name="Text 11"/>
          <p:cNvSpPr txBox="1"/>
          <p:nvPr/>
        </p:nvSpPr>
        <p:spPr>
          <a:xfrm>
            <a:off x="4544568" y="4901184"/>
            <a:ext cx="3017520" cy="77724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Your hit helps your teammates and CI. Here the cache is per-machine.</a:t>
            </a:r>
            <a:endParaRPr lang="en-US" sz="1200" dirty="0"/>
          </a:p>
        </p:txBody>
      </p:sp>
      <p:sp>
        <p:nvSpPr>
          <p:cNvPr id="14" name="Shape 12"/>
          <p:cNvSpPr/>
          <p:nvPr/>
        </p:nvSpPr>
        <p:spPr>
          <a:xfrm>
            <a:off x="8046720" y="4389120"/>
            <a:ext cx="3429000" cy="1371600"/>
          </a:xfrm>
          <a:prstGeom prst="roundRect">
            <a:avLst>
              <a:gd name="adj" fmla="val 4667"/>
            </a:avLst>
          </a:prstGeom>
          <a:solidFill>
            <a:srgbClr val="1B2029"/>
          </a:solidFill>
          <a:ln w="12700">
            <a:solidFill>
              <a:srgbClr val="2C3340"/>
            </a:solidFill>
            <a:prstDash val="solid"/>
          </a:ln>
        </p:spPr>
      </p:sp>
      <p:sp>
        <p:nvSpPr>
          <p:cNvPr id="15" name="Text 13"/>
          <p:cNvSpPr txBox="1"/>
          <p:nvPr/>
        </p:nvSpPr>
        <p:spPr>
          <a:xfrm>
            <a:off x="8247888" y="455371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Flaky detection</a:t>
            </a:r>
            <a:endParaRPr lang="en-US" sz="1400" dirty="0"/>
          </a:p>
        </p:txBody>
      </p:sp>
      <p:sp>
        <p:nvSpPr>
          <p:cNvPr id="16" name="Text 14"/>
          <p:cNvSpPr txBox="1"/>
          <p:nvPr/>
        </p:nvSpPr>
        <p:spPr>
          <a:xfrm>
            <a:off x="8247888" y="4901184"/>
            <a:ext cx="3017520" cy="77724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Across the org, with automatic re-runs.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BEFORE YOU TRY THIS AT WORK</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Five things that will bite you</a:t>
            </a:r>
            <a:endParaRPr lang="en-US" sz="3800" dirty="0"/>
          </a:p>
        </p:txBody>
      </p:sp>
      <p:sp>
        <p:nvSpPr>
          <p:cNvPr id="4" name="Shape 2"/>
          <p:cNvSpPr/>
          <p:nvPr/>
        </p:nvSpPr>
        <p:spPr>
          <a:xfrm>
            <a:off x="640080" y="1975104"/>
            <a:ext cx="365760" cy="365760"/>
          </a:xfrm>
          <a:prstGeom prst="ellipse">
            <a:avLst/>
          </a:prstGeom>
          <a:solidFill>
            <a:srgbClr val="B45309"/>
          </a:solidFill>
          <a:ln/>
        </p:spPr>
      </p:sp>
      <p:sp>
        <p:nvSpPr>
          <p:cNvPr id="5" name="Text 3"/>
          <p:cNvSpPr txBox="1"/>
          <p:nvPr/>
        </p:nvSpPr>
        <p:spPr>
          <a:xfrm>
            <a:off x="640080" y="1975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88720" y="192024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Per-task startup tax</a:t>
            </a:r>
            <a:endParaRPr lang="en-US" sz="1600" dirty="0"/>
          </a:p>
        </p:txBody>
      </p:sp>
      <p:sp>
        <p:nvSpPr>
          <p:cNvPr id="7" name="Text 5"/>
          <p:cNvSpPr txBox="1"/>
          <p:nvPr/>
        </p:nvSpPr>
        <p:spPr>
          <a:xfrm>
            <a:off x="5303520" y="192024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atomized target boots Cypress. Parallelism has to beat it.</a:t>
            </a:r>
            <a:endParaRPr lang="en-US" sz="1400" dirty="0"/>
          </a:p>
        </p:txBody>
      </p:sp>
      <p:sp>
        <p:nvSpPr>
          <p:cNvPr id="8" name="Shape 6"/>
          <p:cNvSpPr/>
          <p:nvPr/>
        </p:nvSpPr>
        <p:spPr>
          <a:xfrm>
            <a:off x="640080" y="2816352"/>
            <a:ext cx="365760" cy="365760"/>
          </a:xfrm>
          <a:prstGeom prst="ellipse">
            <a:avLst/>
          </a:prstGeom>
          <a:solidFill>
            <a:srgbClr val="B45309"/>
          </a:solidFill>
          <a:ln/>
        </p:spPr>
      </p:sp>
      <p:sp>
        <p:nvSpPr>
          <p:cNvPr id="9" name="Text 7"/>
          <p:cNvSpPr txBox="1"/>
          <p:nvPr/>
        </p:nvSpPr>
        <p:spPr>
          <a:xfrm>
            <a:off x="640080" y="281635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88720" y="2761488"/>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e2e-ci is gated on Nx 23</a:t>
            </a:r>
            <a:endParaRPr lang="en-US" sz="1600" dirty="0"/>
          </a:p>
        </p:txBody>
      </p:sp>
      <p:sp>
        <p:nvSpPr>
          <p:cNvPr id="11" name="Text 9"/>
          <p:cNvSpPr txBox="1"/>
          <p:nvPr/>
        </p:nvSpPr>
        <p:spPr>
          <a:xfrm>
            <a:off x="5303520" y="2761488"/>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The wrapper needs Nx Cloud. The leaf targets do not.</a:t>
            </a:r>
            <a:endParaRPr lang="en-US" sz="1400" dirty="0"/>
          </a:p>
        </p:txBody>
      </p:sp>
      <p:sp>
        <p:nvSpPr>
          <p:cNvPr id="12" name="Shape 10"/>
          <p:cNvSpPr/>
          <p:nvPr/>
        </p:nvSpPr>
        <p:spPr>
          <a:xfrm>
            <a:off x="640080" y="3657600"/>
            <a:ext cx="365760" cy="365760"/>
          </a:xfrm>
          <a:prstGeom prst="ellipse">
            <a:avLst/>
          </a:prstGeom>
          <a:solidFill>
            <a:srgbClr val="B45309"/>
          </a:solidFill>
          <a:ln/>
        </p:spPr>
      </p:sp>
      <p:sp>
        <p:nvSpPr>
          <p:cNvPr id="13" name="Text 11"/>
          <p:cNvSpPr txBox="1"/>
          <p:nvPr/>
        </p:nvSpPr>
        <p:spPr>
          <a:xfrm>
            <a:off x="640080" y="36576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88720" y="3602736"/>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e2e ≠ e2e-ci</a:t>
            </a:r>
            <a:endParaRPr lang="en-US" sz="1600" dirty="0"/>
          </a:p>
        </p:txBody>
      </p:sp>
      <p:sp>
        <p:nvSpPr>
          <p:cNvPr id="15" name="Text 13"/>
          <p:cNvSpPr txBox="1"/>
          <p:nvPr/>
        </p:nvSpPr>
        <p:spPr>
          <a:xfrm>
            <a:off x="5303520" y="3602736"/>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e2e uses the dev server on :4200, e2e-ci builds and previews on :4300.</a:t>
            </a:r>
            <a:endParaRPr lang="en-US" sz="1400" dirty="0"/>
          </a:p>
        </p:txBody>
      </p:sp>
      <p:sp>
        <p:nvSpPr>
          <p:cNvPr id="16" name="Shape 14"/>
          <p:cNvSpPr/>
          <p:nvPr/>
        </p:nvSpPr>
        <p:spPr>
          <a:xfrm>
            <a:off x="640080" y="4498848"/>
            <a:ext cx="365760" cy="365760"/>
          </a:xfrm>
          <a:prstGeom prst="ellipse">
            <a:avLst/>
          </a:prstGeom>
          <a:solidFill>
            <a:srgbClr val="B45309"/>
          </a:solidFill>
          <a:ln/>
        </p:spPr>
      </p:sp>
      <p:sp>
        <p:nvSpPr>
          <p:cNvPr id="17" name="Text 15"/>
          <p:cNvSpPr txBox="1"/>
          <p:nvPr/>
        </p:nvSpPr>
        <p:spPr>
          <a:xfrm>
            <a:off x="640080" y="449884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188720" y="4443984"/>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Cache the Cypress binary</a:t>
            </a:r>
            <a:endParaRPr lang="en-US" sz="1600" dirty="0"/>
          </a:p>
        </p:txBody>
      </p:sp>
      <p:sp>
        <p:nvSpPr>
          <p:cNvPr id="19" name="Text 17"/>
          <p:cNvSpPr txBox="1"/>
          <p:nvPr/>
        </p:nvSpPr>
        <p:spPr>
          <a:xfrm>
            <a:off x="5303520" y="4443984"/>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Otherwise every CI shard re-downloads ~200 MB.</a:t>
            </a:r>
            <a:endParaRPr lang="en-US" sz="1400" dirty="0"/>
          </a:p>
        </p:txBody>
      </p:sp>
      <p:sp>
        <p:nvSpPr>
          <p:cNvPr id="20" name="Shape 18"/>
          <p:cNvSpPr/>
          <p:nvPr/>
        </p:nvSpPr>
        <p:spPr>
          <a:xfrm>
            <a:off x="640080" y="5340096"/>
            <a:ext cx="365760" cy="365760"/>
          </a:xfrm>
          <a:prstGeom prst="ellipse">
            <a:avLst/>
          </a:prstGeom>
          <a:solidFill>
            <a:srgbClr val="B45309"/>
          </a:solidFill>
          <a:ln/>
        </p:spPr>
      </p:sp>
      <p:sp>
        <p:nvSpPr>
          <p:cNvPr id="21" name="Text 19"/>
          <p:cNvSpPr txBox="1"/>
          <p:nvPr/>
        </p:nvSpPr>
        <p:spPr>
          <a:xfrm>
            <a:off x="640080" y="534009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188720" y="5285232"/>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App changes invalidate everything</a:t>
            </a:r>
            <a:endParaRPr lang="en-US" sz="1600" dirty="0"/>
          </a:p>
        </p:txBody>
      </p:sp>
      <p:sp>
        <p:nvSpPr>
          <p:cNvPr id="23" name="Text 21"/>
          <p:cNvSpPr txBox="1"/>
          <p:nvPr/>
        </p:nvSpPr>
        <p:spPr>
          <a:xfrm>
            <a:off x="5303520" y="5285232"/>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Correct, but it limits when failure-only retries help.</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TAKEAWAYS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Four things to take back</a:t>
            </a:r>
            <a:endParaRPr lang="en-US" sz="3800" dirty="0"/>
          </a:p>
        </p:txBody>
      </p:sp>
      <p:sp>
        <p:nvSpPr>
          <p:cNvPr id="4" name="Text 2"/>
          <p:cNvSpPr txBox="1"/>
          <p:nvPr/>
        </p:nvSpPr>
        <p:spPr>
          <a:xfrm>
            <a:off x="640080" y="182880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01</a:t>
            </a:r>
            <a:endParaRPr lang="en-US" sz="2200" dirty="0"/>
          </a:p>
        </p:txBody>
      </p:sp>
      <p:sp>
        <p:nvSpPr>
          <p:cNvPr id="5" name="Text 3"/>
          <p:cNvSpPr txBox="1"/>
          <p:nvPr/>
        </p:nvSpPr>
        <p:spPr>
          <a:xfrm>
            <a:off x="1508760" y="1828800"/>
            <a:ext cx="1005840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Splitting is generated, not maintained</a:t>
            </a:r>
            <a:endParaRPr lang="en-US" sz="1900" dirty="0"/>
          </a:p>
        </p:txBody>
      </p:sp>
      <p:sp>
        <p:nvSpPr>
          <p:cNvPr id="6" name="Text 4"/>
          <p:cNvSpPr txBox="1"/>
          <p:nvPr/>
        </p:nvSpPr>
        <p:spPr>
          <a:xfrm>
            <a:off x="1508760" y="2231136"/>
            <a:ext cx="10058400" cy="384048"/>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One target per spec file, from one plugin entry in nx.json.</a:t>
            </a:r>
            <a:endParaRPr lang="en-US" sz="1400" dirty="0"/>
          </a:p>
        </p:txBody>
      </p:sp>
      <p:sp>
        <p:nvSpPr>
          <p:cNvPr id="7" name="Text 5"/>
          <p:cNvSpPr txBox="1"/>
          <p:nvPr/>
        </p:nvSpPr>
        <p:spPr>
          <a:xfrm>
            <a:off x="640080" y="288036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02</a:t>
            </a:r>
            <a:endParaRPr lang="en-US" sz="2200" dirty="0"/>
          </a:p>
        </p:txBody>
      </p:sp>
      <p:sp>
        <p:nvSpPr>
          <p:cNvPr id="8" name="Text 6"/>
          <p:cNvSpPr txBox="1"/>
          <p:nvPr/>
        </p:nvSpPr>
        <p:spPr>
          <a:xfrm>
            <a:off x="1508760" y="2880360"/>
            <a:ext cx="1005840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Splitting alone is not a speedup</a:t>
            </a:r>
            <a:endParaRPr lang="en-US" sz="1900" dirty="0"/>
          </a:p>
        </p:txBody>
      </p:sp>
      <p:sp>
        <p:nvSpPr>
          <p:cNvPr id="9" name="Text 7"/>
          <p:cNvSpPr txBox="1"/>
          <p:nvPr/>
        </p:nvSpPr>
        <p:spPr>
          <a:xfrm>
            <a:off x="1508760" y="3282696"/>
            <a:ext cx="10058400" cy="384048"/>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It is the precondition for one. Concurrency has to beat the startup tax.</a:t>
            </a:r>
            <a:endParaRPr lang="en-US" sz="1400" dirty="0"/>
          </a:p>
        </p:txBody>
      </p:sp>
      <p:sp>
        <p:nvSpPr>
          <p:cNvPr id="10" name="Text 8"/>
          <p:cNvSpPr txBox="1"/>
          <p:nvPr/>
        </p:nvSpPr>
        <p:spPr>
          <a:xfrm>
            <a:off x="640080" y="39319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03</a:t>
            </a:r>
            <a:endParaRPr lang="en-US" sz="2200" dirty="0"/>
          </a:p>
        </p:txBody>
      </p:sp>
      <p:sp>
        <p:nvSpPr>
          <p:cNvPr id="11" name="Text 9"/>
          <p:cNvSpPr txBox="1"/>
          <p:nvPr/>
        </p:nvSpPr>
        <p:spPr>
          <a:xfrm>
            <a:off x="1508760" y="3931920"/>
            <a:ext cx="1005840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The cache is the retry story</a:t>
            </a:r>
            <a:endParaRPr lang="en-US" sz="1900" dirty="0"/>
          </a:p>
        </p:txBody>
      </p:sp>
      <p:sp>
        <p:nvSpPr>
          <p:cNvPr id="12" name="Text 10"/>
          <p:cNvSpPr txBox="1"/>
          <p:nvPr/>
        </p:nvSpPr>
        <p:spPr>
          <a:xfrm>
            <a:off x="1508760" y="4334256"/>
            <a:ext cx="10058400" cy="384048"/>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Failed tasks are never cached, so a retry runs only the failures.</a:t>
            </a:r>
            <a:endParaRPr lang="en-US" sz="1400" dirty="0"/>
          </a:p>
        </p:txBody>
      </p:sp>
      <p:sp>
        <p:nvSpPr>
          <p:cNvPr id="13" name="Text 11"/>
          <p:cNvSpPr txBox="1"/>
          <p:nvPr/>
        </p:nvSpPr>
        <p:spPr>
          <a:xfrm>
            <a:off x="640080" y="498348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04</a:t>
            </a:r>
            <a:endParaRPr lang="en-US" sz="2200" dirty="0"/>
          </a:p>
        </p:txBody>
      </p:sp>
      <p:sp>
        <p:nvSpPr>
          <p:cNvPr id="14" name="Text 12"/>
          <p:cNvSpPr txBox="1"/>
          <p:nvPr/>
        </p:nvSpPr>
        <p:spPr>
          <a:xfrm>
            <a:off x="1508760" y="4983480"/>
            <a:ext cx="1005840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None of this needs Nx Cloud</a:t>
            </a:r>
            <a:endParaRPr lang="en-US" sz="1900" dirty="0"/>
          </a:p>
        </p:txBody>
      </p:sp>
      <p:sp>
        <p:nvSpPr>
          <p:cNvPr id="15" name="Text 13"/>
          <p:cNvSpPr txBox="1"/>
          <p:nvPr/>
        </p:nvSpPr>
        <p:spPr>
          <a:xfrm>
            <a:off x="1508760" y="5385816"/>
            <a:ext cx="10058400" cy="384048"/>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The gate is on one convenience target. Discovery plus run-many gets around it.</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2286000"/>
            <a:ext cx="10881360" cy="914400"/>
          </a:xfrm>
          <a:prstGeom prst="rect">
            <a:avLst/>
          </a:prstGeom>
          <a:noFill/>
          <a:ln/>
        </p:spPr>
        <p:txBody>
          <a:bodyPr wrap="square" lIns="0" tIns="0" rIns="0" bIns="0" rtlCol="0" anchor="ctr"/>
          <a:lstStyle/>
          <a:p>
            <a:pPr indent="0" marL="0">
              <a:buNone/>
            </a:pPr>
            <a:r>
              <a:rPr lang="en-US" sz="5600" b="1" dirty="0">
                <a:solidFill>
                  <a:srgbClr val="FFFFFF"/>
                </a:solidFill>
                <a:latin typeface="Cambria" pitchFamily="34" charset="0"/>
                <a:ea typeface="Cambria" pitchFamily="34" charset="-122"/>
                <a:cs typeface="Cambria" pitchFamily="34" charset="-120"/>
              </a:rPr>
              <a:t>Questions</a:t>
            </a:r>
            <a:endParaRPr lang="en-US" sz="5600" dirty="0"/>
          </a:p>
        </p:txBody>
      </p:sp>
      <p:sp>
        <p:nvSpPr>
          <p:cNvPr id="3" name="Text 1"/>
          <p:cNvSpPr txBox="1"/>
          <p:nvPr/>
        </p:nvSpPr>
        <p:spPr>
          <a:xfrm>
            <a:off x="640080" y="3383280"/>
            <a:ext cx="10881360" cy="365760"/>
          </a:xfrm>
          <a:prstGeom prst="rect">
            <a:avLst/>
          </a:prstGeom>
          <a:noFill/>
          <a:ln/>
        </p:spPr>
        <p:txBody>
          <a:bodyPr wrap="square" lIns="0" tIns="0" rIns="0" bIns="0" rtlCol="0" anchor="ctr"/>
          <a:lstStyle/>
          <a:p>
            <a:pPr indent="0" marL="0">
              <a:buNone/>
            </a:pPr>
            <a:r>
              <a:rPr lang="en-US" sz="1700" dirty="0">
                <a:solidFill>
                  <a:srgbClr val="C3CAD6"/>
                </a:solidFill>
                <a:latin typeface="Calibri" pitchFamily="34" charset="0"/>
                <a:ea typeface="Calibri" pitchFamily="34" charset="-122"/>
                <a:cs typeface="Calibri" pitchFamily="34" charset="-120"/>
              </a:rPr>
              <a:t>Clone it and run the demo yourself:</a:t>
            </a:r>
            <a:endParaRPr lang="en-US" sz="1700" dirty="0"/>
          </a:p>
        </p:txBody>
      </p:sp>
      <p:sp>
        <p:nvSpPr>
          <p:cNvPr id="4" name="Shape 2"/>
          <p:cNvSpPr/>
          <p:nvPr/>
        </p:nvSpPr>
        <p:spPr>
          <a:xfrm>
            <a:off x="640080" y="3886200"/>
            <a:ext cx="8229600" cy="1389888"/>
          </a:xfrm>
          <a:prstGeom prst="roundRect">
            <a:avLst>
              <a:gd name="adj" fmla="val 3947"/>
            </a:avLst>
          </a:prstGeom>
          <a:solidFill>
            <a:srgbClr val="0A0D13"/>
          </a:solidFill>
          <a:ln w="12700">
            <a:solidFill>
              <a:srgbClr val="2C3340"/>
            </a:solidFill>
            <a:prstDash val="solid"/>
          </a:ln>
        </p:spPr>
      </p:sp>
      <p:sp>
        <p:nvSpPr>
          <p:cNvPr id="5" name="Text 3"/>
          <p:cNvSpPr txBox="1"/>
          <p:nvPr/>
        </p:nvSpPr>
        <p:spPr>
          <a:xfrm>
            <a:off x="868680" y="4087368"/>
            <a:ext cx="7772400" cy="987552"/>
          </a:xfrm>
          <a:prstGeom prst="rect">
            <a:avLst/>
          </a:prstGeom>
          <a:noFill/>
          <a:ln/>
        </p:spPr>
        <p:txBody>
          <a:bodyPr wrap="square" lIns="0" tIns="0" rIns="0" bIns="0" rtlCol="0" anchor="t"/>
          <a:lstStyle/>
          <a:p>
            <a:pPr indent="0" marL="0">
              <a:lnSpc>
                <a:spcPct val="125000"/>
              </a:lnSpc>
              <a:buNone/>
            </a:pPr>
            <a:r>
              <a:rPr lang="en-US" sz="1500" dirty="0">
                <a:solidFill>
                  <a:srgbClr val="4ADE80"/>
                </a:solidFill>
                <a:latin typeface="Courier New" pitchFamily="34" charset="0"/>
                <a:ea typeface="Courier New" pitchFamily="34" charset="-122"/>
                <a:cs typeface="Courier New" pitchFamily="34" charset="-120"/>
              </a:rPr>
              <a:t>git clone github.com/radzivil/nx-scaling-e2e-tests-with-atomizer</a:t>
            </a:r>
            <a:endParaRPr lang="en-US" sz="1500" dirty="0"/>
          </a:p>
          <a:p>
            <a:pPr indent="0" marL="0">
              <a:lnSpc>
                <a:spcPct val="125000"/>
              </a:lnSpc>
              <a:buNone/>
            </a:pPr>
            <a:r>
              <a:rPr lang="en-US" sz="1500" dirty="0">
                <a:solidFill>
                  <a:srgbClr val="4ADE80"/>
                </a:solidFill>
                <a:latin typeface="Courier New" pitchFamily="34" charset="0"/>
                <a:ea typeface="Courier New" pitchFamily="34" charset="-122"/>
                <a:cs typeface="Courier New" pitchFamily="34" charset="-120"/>
              </a:rPr>
              <a:t>npm ci &amp;&amp; npx cypress install</a:t>
            </a:r>
            <a:endParaRPr lang="en-US" sz="1500" dirty="0"/>
          </a:p>
          <a:p>
            <a:pPr indent="0" marL="0">
              <a:lnSpc>
                <a:spcPct val="125000"/>
              </a:lnSpc>
              <a:buNone/>
            </a:pPr>
            <a:r>
              <a:rPr lang="en-US" sz="1500" b="1" dirty="0">
                <a:solidFill>
                  <a:srgbClr val="FFFFFF"/>
                </a:solidFill>
                <a:latin typeface="Courier New" pitchFamily="34" charset="0"/>
                <a:ea typeface="Courier New" pitchFamily="34" charset="-122"/>
                <a:cs typeface="Courier New" pitchFamily="34" charset="-120"/>
              </a:rPr>
              <a:t>node tools/shard-e2e.mjs --parallel=5</a:t>
            </a:r>
            <a:endParaRPr lang="en-US" sz="1500" dirty="0"/>
          </a:p>
        </p:txBody>
      </p:sp>
      <p:sp>
        <p:nvSpPr>
          <p:cNvPr id="6" name="Text 4"/>
          <p:cNvSpPr txBox="1"/>
          <p:nvPr/>
        </p:nvSpPr>
        <p:spPr>
          <a:xfrm>
            <a:off x="640080" y="5760720"/>
            <a:ext cx="5486400" cy="320040"/>
          </a:xfrm>
          <a:prstGeom prst="rect">
            <a:avLst/>
          </a:prstGeom>
          <a:noFill/>
          <a:ln/>
        </p:spPr>
        <p:txBody>
          <a:bodyPr wrap="square" lIns="0" tIns="0" rIns="0" bIns="0" rtlCol="0" anchor="ctr"/>
          <a:lstStyle/>
          <a:p>
            <a:pPr indent="0" marL="0">
              <a:buNone/>
            </a:pPr>
            <a:r>
              <a:rPr lang="en-US" sz="1500" b="1" dirty="0">
                <a:solidFill>
                  <a:srgbClr val="8A94A6"/>
                </a:solidFill>
                <a:latin typeface="Calibri" pitchFamily="34" charset="0"/>
                <a:ea typeface="Calibri" pitchFamily="34" charset="-122"/>
                <a:cs typeface="Calibri" pitchFamily="34" charset="-120"/>
              </a:rPr>
              <a:t>Vladimir Radzivil</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E2E Tests the Smart Way with Nx</dc:title>
  <dc:subject>PptxGenJS Presentation</dc:subject>
  <dc:creator>Vladimir Radzivil</dc:creator>
  <cp:lastModifiedBy>Vladimir Radzivil</cp:lastModifiedBy>
  <cp:revision>1</cp:revision>
  <dcterms:created xsi:type="dcterms:W3CDTF">2026-09-07T02:47:15Z</dcterms:created>
  <dcterms:modified xsi:type="dcterms:W3CDTF">2026-09-07T02:47:15Z</dcterms:modified>
</cp:coreProperties>
</file>