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everything in this talk is measured on the repo linked below, and every command runs with no Nx Cloud account. Promise the audience three numbers: ~1m33s, ~40s, and 0.15s. Re-measure on your own machine the morning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03, 05 and 06 are the new material versus the last time I gave this talk. Six rows, six sections — the scale section is where the monorepo argument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`npx nx e2e shop-e2e` before the talk so the number on screen is one they just watched.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60 seconds. The hashing bullet is the one that pays off in section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Forty seconds is short enough to actually watch the specs stream past. Timings vary run to run — say "about forty seconds", not a precise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the overhead buys credibility for the cache claims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up to here was one app. This is where it becomes a monorepo talk. 202 tests is the honest count: 56 shop, 78 admin, 68 docs. The uneven lib sharing is deliberate set-up for the affected slide two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number five. Most teams pay the slow-suite tax without ever having tried the free half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clone command up for the whole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920240"/>
            <a:ext cx="96012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Scaling E2E Tests</a:t>
            </a:r>
            <a:endParaRPr lang="en-US" sz="5400" dirty="0"/>
          </a:p>
        </p:txBody>
      </p:sp>
      <p:sp>
        <p:nvSpPr>
          <p:cNvPr id="3" name="Text 1"/>
          <p:cNvSpPr txBox="1"/>
          <p:nvPr/>
        </p:nvSpPr>
        <p:spPr>
          <a:xfrm>
            <a:off x="640080" y="2743200"/>
            <a:ext cx="9601200" cy="868680"/>
          </a:xfrm>
          <a:prstGeom prst="rect">
            <a:avLst/>
          </a:prstGeom>
          <a:noFill/>
          <a:ln/>
        </p:spPr>
        <p:txBody>
          <a:bodyPr wrap="square" lIns="0" tIns="0" rIns="0" bIns="0" rtlCol="0" anchor="ctr"/>
          <a:lstStyle/>
          <a:p>
            <a:pPr indent="0" marL="0">
              <a:buNone/>
            </a:pPr>
            <a:r>
              <a:rPr lang="en-US" sz="5400" b="1" dirty="0">
                <a:solidFill>
                  <a:srgbClr val="4ADE80"/>
                </a:solidFill>
                <a:latin typeface="Cambria" pitchFamily="34" charset="0"/>
                <a:ea typeface="Cambria" pitchFamily="34" charset="-122"/>
                <a:cs typeface="Cambria" pitchFamily="34" charset="-120"/>
              </a:rPr>
              <a:t>the Smart Way with Nx</a:t>
            </a:r>
            <a:endParaRPr lang="en-US" sz="5400" dirty="0"/>
          </a:p>
        </p:txBody>
      </p:sp>
      <p:sp>
        <p:nvSpPr>
          <p:cNvPr id="4" name="Text 2"/>
          <p:cNvSpPr txBox="1"/>
          <p:nvPr/>
        </p:nvSpPr>
        <p:spPr>
          <a:xfrm>
            <a:off x="640080" y="3749040"/>
            <a:ext cx="9601200" cy="411480"/>
          </a:xfrm>
          <a:prstGeom prst="rect">
            <a:avLst/>
          </a:prstGeom>
          <a:noFill/>
          <a:ln/>
        </p:spPr>
        <p:txBody>
          <a:bodyPr wrap="square" lIns="0" tIns="0" rIns="0" bIns="0" rtlCol="0" anchor="ctr"/>
          <a:lstStyle/>
          <a:p>
            <a:pPr indent="0" marL="0">
              <a:buNone/>
            </a:pPr>
            <a:r>
              <a:rPr lang="en-US" sz="18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800" dirty="0"/>
          </a:p>
        </p:txBody>
      </p:sp>
      <p:sp>
        <p:nvSpPr>
          <p:cNvPr id="5" name="Text 3"/>
          <p:cNvSpPr txBox="1"/>
          <p:nvPr/>
        </p:nvSpPr>
        <p:spPr>
          <a:xfrm>
            <a:off x="640080" y="5120640"/>
            <a:ext cx="5486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Vladimir Radzivil</a:t>
            </a:r>
            <a:endParaRPr lang="en-US" sz="1500" dirty="0"/>
          </a:p>
        </p:txBody>
      </p:sp>
      <p:sp>
        <p:nvSpPr>
          <p:cNvPr id="6" name="Text 4"/>
          <p:cNvSpPr txBox="1"/>
          <p:nvPr/>
        </p:nvSpPr>
        <p:spPr>
          <a:xfrm>
            <a:off x="640080" y="5468112"/>
            <a:ext cx="7315200" cy="320040"/>
          </a:xfrm>
          <a:prstGeom prst="rect">
            <a:avLst/>
          </a:prstGeom>
          <a:noFill/>
          <a:ln/>
        </p:spPr>
        <p:txBody>
          <a:bodyPr wrap="square" lIns="0" tIns="0" rIns="0" bIns="0" rtlCol="0" anchor="ctr"/>
          <a:lstStyle/>
          <a:p>
            <a:pPr indent="0" marL="0">
              <a:buNone/>
            </a:pPr>
            <a:r>
              <a:rPr lang="en-US" sz="1200" dirty="0">
                <a:solidFill>
                  <a:srgbClr val="8A94A6"/>
                </a:solidFill>
                <a:latin typeface="Courier New" pitchFamily="34" charset="0"/>
                <a:ea typeface="Courier New" pitchFamily="34" charset="-122"/>
                <a:cs typeface="Courier New" pitchFamily="34" charset="-120"/>
              </a:rPr>
              <a:t>Live demo: github.com/radzivil/nx-scaling-e2e-tests-with-atomizer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Two small scripts get the split back</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one runner each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suite is slow, so nobody runs it</a:t>
            </a:r>
            <a:endParaRPr lang="en-US" sz="3800" dirty="0"/>
          </a:p>
        </p:txBody>
      </p:sp>
      <p:sp>
        <p:nvSpPr>
          <p:cNvPr id="4" name="Text 2"/>
          <p:cNvSpPr txBox="1"/>
          <p:nvPr/>
        </p:nvSpPr>
        <p:spPr>
          <a:xfrm>
            <a:off x="640080" y="1920240"/>
            <a:ext cx="548640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One task, one process, every spec in sequence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Ten to thirty minutes on a real suite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it moves to a nightly job</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a failure is found the morning after it was written</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the author has already moved on</a:t>
            </a:r>
            <a:endParaRPr lang="en-US" sz="1700" dirty="0"/>
          </a:p>
        </p:txBody>
      </p:sp>
      <p:sp>
        <p:nvSpPr>
          <p:cNvPr id="5" name="Shape 3"/>
          <p:cNvSpPr/>
          <p:nvPr/>
        </p:nvSpPr>
        <p:spPr>
          <a:xfrm>
            <a:off x="6583680" y="1828800"/>
            <a:ext cx="4937760" cy="2651760"/>
          </a:xfrm>
          <a:prstGeom prst="roundRect">
            <a:avLst>
              <a:gd name="adj" fmla="val 2759"/>
            </a:avLst>
          </a:prstGeom>
          <a:solidFill>
            <a:srgbClr val="1B2029"/>
          </a:solidFill>
          <a:ln w="12700">
            <a:solidFill>
              <a:srgbClr val="2C3340"/>
            </a:solidFill>
            <a:prstDash val="solid"/>
          </a:ln>
        </p:spPr>
      </p:sp>
      <p:sp>
        <p:nvSpPr>
          <p:cNvPr id="6" name="Text 4"/>
          <p:cNvSpPr txBox="1"/>
          <p:nvPr/>
        </p:nvSpPr>
        <p:spPr>
          <a:xfrm>
            <a:off x="6812280" y="2011680"/>
            <a:ext cx="4480560" cy="27432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This repo, before any of it</a:t>
            </a:r>
            <a:endParaRPr lang="en-US" sz="1300" dirty="0"/>
          </a:p>
        </p:txBody>
      </p:sp>
      <p:sp>
        <p:nvSpPr>
          <p:cNvPr id="7" name="Text 5"/>
          <p:cNvSpPr txBox="1"/>
          <p:nvPr/>
        </p:nvSpPr>
        <p:spPr>
          <a:xfrm>
            <a:off x="6812280" y="2331720"/>
            <a:ext cx="4480560" cy="822960"/>
          </a:xfrm>
          <a:prstGeom prst="rect">
            <a:avLst/>
          </a:prstGeom>
          <a:noFill/>
          <a:ln/>
        </p:spPr>
        <p:txBody>
          <a:bodyPr wrap="square" lIns="0" tIns="0" rIns="0" bIns="0" rtlCol="0" anchor="ctr"/>
          <a:lstStyle/>
          <a:p>
            <a:pPr indent="0" marL="0">
              <a:buNone/>
            </a:pPr>
            <a:r>
              <a:rPr lang="en-US" sz="5200" b="1" dirty="0">
                <a:solidFill>
                  <a:srgbClr val="F5A524"/>
                </a:solidFill>
                <a:latin typeface="Cambria" pitchFamily="34" charset="0"/>
                <a:ea typeface="Cambria" pitchFamily="34" charset="-122"/>
                <a:cs typeface="Cambria" pitchFamily="34" charset="-120"/>
              </a:rPr>
              <a:t>1m 33s</a:t>
            </a:r>
            <a:endParaRPr lang="en-US" sz="5200" dirty="0"/>
          </a:p>
        </p:txBody>
      </p:sp>
      <p:sp>
        <p:nvSpPr>
          <p:cNvPr id="8" name="Text 6"/>
          <p:cNvSpPr txBox="1"/>
          <p:nvPr/>
        </p:nvSpPr>
        <p:spPr>
          <a:xfrm>
            <a:off x="6812280" y="3200400"/>
            <a:ext cx="448056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10 spec files · 56 tests · one Cypress process</a:t>
            </a:r>
            <a:endParaRPr lang="en-US" sz="1300" dirty="0"/>
          </a:p>
        </p:txBody>
      </p:sp>
      <p:sp>
        <p:nvSpPr>
          <p:cNvPr id="9" name="Text 7"/>
          <p:cNvSpPr txBox="1"/>
          <p:nvPr/>
        </p:nvSpPr>
        <p:spPr>
          <a:xfrm>
            <a:off x="6812280" y="3611880"/>
            <a:ext cx="4480560" cy="6400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Scale that to 200 specs and you have the nightly job.</a:t>
            </a:r>
            <a:endParaRPr lang="en-US" sz="1300" dirty="0"/>
          </a:p>
        </p:txBody>
      </p:sp>
      <p:sp>
        <p:nvSpPr>
          <p:cNvPr id="10" name="Text 8"/>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Speed of feedback is speed of delivery.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CONTEXT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Nx is a task graph, not a test runner</a:t>
            </a:r>
            <a:endParaRPr lang="en-US" sz="3800" dirty="0"/>
          </a:p>
        </p:txBody>
      </p:sp>
      <p:sp>
        <p:nvSpPr>
          <p:cNvPr id="4" name="Shape 2"/>
          <p:cNvSpPr/>
          <p:nvPr/>
        </p:nvSpPr>
        <p:spPr>
          <a:xfrm>
            <a:off x="640080" y="1965960"/>
            <a:ext cx="3429000" cy="2011680"/>
          </a:xfrm>
          <a:prstGeom prst="roundRect">
            <a:avLst>
              <a:gd name="adj" fmla="val 3182"/>
            </a:avLst>
          </a:prstGeom>
          <a:solidFill>
            <a:srgbClr val="FFFFFF"/>
          </a:solidFill>
          <a:ln w="12700">
            <a:solidFill>
              <a:srgbClr val="DFE4EC"/>
            </a:solidFill>
            <a:prstDash val="solid"/>
          </a:ln>
        </p:spPr>
      </p:sp>
      <p:sp>
        <p:nvSpPr>
          <p:cNvPr id="5" name="Shape 3"/>
          <p:cNvSpPr/>
          <p:nvPr/>
        </p:nvSpPr>
        <p:spPr>
          <a:xfrm>
            <a:off x="868680" y="2194560"/>
            <a:ext cx="384048" cy="384048"/>
          </a:xfrm>
          <a:prstGeom prst="ellipse">
            <a:avLst/>
          </a:prstGeom>
          <a:solidFill>
            <a:srgbClr val="0B7A44"/>
          </a:solidFill>
          <a:ln/>
        </p:spPr>
      </p:sp>
      <p:sp>
        <p:nvSpPr>
          <p:cNvPr id="6" name="Text 4"/>
          <p:cNvSpPr txBox="1"/>
          <p:nvPr/>
        </p:nvSpPr>
        <p:spPr>
          <a:xfrm>
            <a:off x="8686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Knows your graph</a:t>
            </a:r>
            <a:endParaRPr lang="en-US" sz="1600" dirty="0"/>
          </a:p>
        </p:txBody>
      </p:sp>
      <p:sp>
        <p:nvSpPr>
          <p:cNvPr id="8" name="Text 6"/>
          <p:cNvSpPr txBox="1"/>
          <p:nvPr/>
        </p:nvSpPr>
        <p:spPr>
          <a:xfrm>
            <a:off x="86868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Which projects exist, what depends on what, which files feed which task.</a:t>
            </a:r>
            <a:endParaRPr lang="en-US" sz="1300" dirty="0"/>
          </a:p>
        </p:txBody>
      </p:sp>
      <p:sp>
        <p:nvSpPr>
          <p:cNvPr id="9" name="Shape 7"/>
          <p:cNvSpPr/>
          <p:nvPr/>
        </p:nvSpPr>
        <p:spPr>
          <a:xfrm>
            <a:off x="4343400" y="1965960"/>
            <a:ext cx="3429000" cy="2011680"/>
          </a:xfrm>
          <a:prstGeom prst="roundRect">
            <a:avLst>
              <a:gd name="adj" fmla="val 3182"/>
            </a:avLst>
          </a:prstGeom>
          <a:solidFill>
            <a:srgbClr val="FFFFFF"/>
          </a:solidFill>
          <a:ln w="12700">
            <a:solidFill>
              <a:srgbClr val="DFE4EC"/>
            </a:solidFill>
            <a:prstDash val="solid"/>
          </a:ln>
        </p:spPr>
      </p:sp>
      <p:sp>
        <p:nvSpPr>
          <p:cNvPr id="10" name="Shape 8"/>
          <p:cNvSpPr/>
          <p:nvPr/>
        </p:nvSpPr>
        <p:spPr>
          <a:xfrm>
            <a:off x="4572000" y="2194560"/>
            <a:ext cx="384048" cy="384048"/>
          </a:xfrm>
          <a:prstGeom prst="ellipse">
            <a:avLst/>
          </a:prstGeom>
          <a:solidFill>
            <a:srgbClr val="0B7A44"/>
          </a:solidFill>
          <a:ln/>
        </p:spPr>
      </p:sp>
      <p:sp>
        <p:nvSpPr>
          <p:cNvPr id="11" name="Text 9"/>
          <p:cNvSpPr txBox="1"/>
          <p:nvPr/>
        </p:nvSpPr>
        <p:spPr>
          <a:xfrm>
            <a:off x="4572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07492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Schedules tasks</a:t>
            </a:r>
            <a:endParaRPr lang="en-US" sz="1600" dirty="0"/>
          </a:p>
        </p:txBody>
      </p:sp>
      <p:sp>
        <p:nvSpPr>
          <p:cNvPr id="13" name="Text 11"/>
          <p:cNvSpPr txBox="1"/>
          <p:nvPr/>
        </p:nvSpPr>
        <p:spPr>
          <a:xfrm>
            <a:off x="457200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Runs independent tasks concurrently and orders the dependent ones.</a:t>
            </a:r>
            <a:endParaRPr lang="en-US" sz="1300" dirty="0"/>
          </a:p>
        </p:txBody>
      </p:sp>
      <p:sp>
        <p:nvSpPr>
          <p:cNvPr id="14" name="Shape 12"/>
          <p:cNvSpPr/>
          <p:nvPr/>
        </p:nvSpPr>
        <p:spPr>
          <a:xfrm>
            <a:off x="8046720" y="1965960"/>
            <a:ext cx="3429000" cy="2011680"/>
          </a:xfrm>
          <a:prstGeom prst="roundRect">
            <a:avLst>
              <a:gd name="adj" fmla="val 3182"/>
            </a:avLst>
          </a:prstGeom>
          <a:solidFill>
            <a:srgbClr val="FFFFFF"/>
          </a:solidFill>
          <a:ln w="12700">
            <a:solidFill>
              <a:srgbClr val="DFE4EC"/>
            </a:solidFill>
            <a:prstDash val="solid"/>
          </a:ln>
        </p:spPr>
      </p:sp>
      <p:sp>
        <p:nvSpPr>
          <p:cNvPr id="15" name="Shape 13"/>
          <p:cNvSpPr/>
          <p:nvPr/>
        </p:nvSpPr>
        <p:spPr>
          <a:xfrm>
            <a:off x="8275320" y="2194560"/>
            <a:ext cx="384048" cy="384048"/>
          </a:xfrm>
          <a:prstGeom prst="ellipse">
            <a:avLst/>
          </a:prstGeom>
          <a:solidFill>
            <a:srgbClr val="0B7A44"/>
          </a:solidFill>
          <a:ln/>
        </p:spPr>
      </p:sp>
      <p:sp>
        <p:nvSpPr>
          <p:cNvPr id="16" name="Text 14"/>
          <p:cNvSpPr txBox="1"/>
          <p:nvPr/>
        </p:nvSpPr>
        <p:spPr>
          <a:xfrm>
            <a:off x="82753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77824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Hashes every task</a:t>
            </a:r>
            <a:endParaRPr lang="en-US" sz="1600" dirty="0"/>
          </a:p>
        </p:txBody>
      </p:sp>
      <p:sp>
        <p:nvSpPr>
          <p:cNvPr id="18" name="Text 16"/>
          <p:cNvSpPr txBox="1"/>
          <p:nvPr/>
        </p:nvSpPr>
        <p:spPr>
          <a:xfrm>
            <a:off x="827532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Inputs in, hash out. Same hash means the answer is already known.</a:t>
            </a:r>
            <a:endParaRPr lang="en-US" sz="1300" dirty="0"/>
          </a:p>
        </p:txBody>
      </p:sp>
      <p:sp>
        <p:nvSpPr>
          <p:cNvPr id="19" name="Shape 17"/>
          <p:cNvSpPr/>
          <p:nvPr/>
        </p:nvSpPr>
        <p:spPr>
          <a:xfrm>
            <a:off x="640080" y="4343400"/>
            <a:ext cx="10881360" cy="777240"/>
          </a:xfrm>
          <a:prstGeom prst="roundRect">
            <a:avLst>
              <a:gd name="adj" fmla="val 7059"/>
            </a:avLst>
          </a:prstGeom>
          <a:solidFill>
            <a:srgbClr val="10131A"/>
          </a:solidFill>
          <a:ln w="12700">
            <a:solidFill>
              <a:srgbClr val="10131A"/>
            </a:solidFill>
            <a:prstDash val="solid"/>
          </a:ln>
        </p:spPr>
      </p:sp>
      <p:sp>
        <p:nvSpPr>
          <p:cNvPr id="20" name="Text 18"/>
          <p:cNvSpPr txBox="1"/>
          <p:nvPr/>
        </p:nvSpPr>
        <p:spPr>
          <a:xfrm>
            <a:off x="868680" y="4544568"/>
            <a:ext cx="10424160" cy="374904"/>
          </a:xfrm>
          <a:prstGeom prst="rect">
            <a:avLst/>
          </a:prstGeom>
          <a:noFill/>
          <a:ln/>
        </p:spPr>
        <p:txBody>
          <a:bodyPr wrap="square" lIns="0" tIns="0" rIns="0" bIns="0" rtlCol="0" anchor="t"/>
          <a:lstStyle/>
          <a:p>
            <a:pPr indent="0" marL="0">
              <a:lnSpc>
                <a:spcPct val="125000"/>
              </a:lnSpc>
              <a:buNone/>
            </a:pPr>
            <a:r>
              <a:rPr lang="en-US" sz="1700" dirty="0">
                <a:solidFill>
                  <a:srgbClr val="3DDC84"/>
                </a:solidFill>
                <a:latin typeface="Courier New" pitchFamily="34" charset="0"/>
                <a:ea typeface="Courier New" pitchFamily="34" charset="-122"/>
                <a:cs typeface="Courier New" pitchFamily="34" charset="-120"/>
              </a:rPr>
              <a:t>nx run-many -t test --parallel=5</a:t>
            </a:r>
            <a:endParaRPr lang="en-US" sz="17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400" i="1" dirty="0">
                <a:solidFill>
                  <a:srgbClr val="55607A"/>
                </a:solidFill>
                <a:latin typeface="Calibri" pitchFamily="34" charset="0"/>
                <a:ea typeface="Calibri" pitchFamily="34" charset="-122"/>
                <a:cs typeface="Calibri" pitchFamily="34" charset="-120"/>
              </a:rPr>
              <a:t>That much most teams already have. The interesting part is what Nx can generate for you.</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108813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10424160" cy="1609344"/>
          </a:xfrm>
          <a:prstGeom prst="rect">
            <a:avLst/>
          </a:prstGeom>
          <a:noFill/>
          <a:ln/>
        </p:spPr>
        <p:txBody>
          <a:bodyPr wrap="square" lIns="0" tIns="0" rIns="0" bIns="0" rtlCol="0" anchor="t"/>
          <a:lstStyle/>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the gate does not apply to the leaf tasks</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nx run "shop-e2e:e2e-ci--src/e2e/catalog.cy.ts"   ✓</a:t>
            </a:r>
            <a:endParaRPr lang="en-US" sz="1500" dirty="0"/>
          </a:p>
          <a:p>
            <a:pPr indent="0" marL="0">
              <a:lnSpc>
                <a:spcPct val="125000"/>
              </a:lnSpc>
              <a:buNone/>
            </a:pPr>
            <a:endParaRPr lang="en-US" sz="1500" dirty="0"/>
          </a:p>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so discover them, then hand them to run-many</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Shape 4"/>
          <p:cNvSpPr/>
          <p:nvPr/>
        </p:nvSpPr>
        <p:spPr>
          <a:xfrm>
            <a:off x="640080" y="3886200"/>
            <a:ext cx="3429000" cy="1463040"/>
          </a:xfrm>
          <a:prstGeom prst="roundRect">
            <a:avLst>
              <a:gd name="adj" fmla="val 4375"/>
            </a:avLst>
          </a:prstGeom>
          <a:solidFill>
            <a:srgbClr val="1B2029"/>
          </a:solidFill>
          <a:ln w="12700">
            <a:solidFill>
              <a:srgbClr val="2C3340"/>
            </a:solidFill>
            <a:prstDash val="solid"/>
          </a:ln>
        </p:spPr>
      </p:sp>
      <p:sp>
        <p:nvSpPr>
          <p:cNvPr id="7" name="Text 5"/>
          <p:cNvSpPr txBox="1"/>
          <p:nvPr/>
        </p:nvSpPr>
        <p:spPr>
          <a:xfrm>
            <a:off x="841248" y="406908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1m 33s</a:t>
            </a:r>
            <a:endParaRPr lang="en-US" sz="4000" dirty="0"/>
          </a:p>
        </p:txBody>
      </p:sp>
      <p:sp>
        <p:nvSpPr>
          <p:cNvPr id="8" name="Text 6"/>
          <p:cNvSpPr txBox="1"/>
          <p:nvPr/>
        </p:nvSpPr>
        <p:spPr>
          <a:xfrm>
            <a:off x="84124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One task, all specs</a:t>
            </a:r>
            <a:endParaRPr lang="en-US" sz="1300" dirty="0"/>
          </a:p>
        </p:txBody>
      </p:sp>
      <p:sp>
        <p:nvSpPr>
          <p:cNvPr id="9" name="Shape 7"/>
          <p:cNvSpPr/>
          <p:nvPr/>
        </p:nvSpPr>
        <p:spPr>
          <a:xfrm>
            <a:off x="4343400" y="3886200"/>
            <a:ext cx="3429000" cy="1463040"/>
          </a:xfrm>
          <a:prstGeom prst="roundRect">
            <a:avLst>
              <a:gd name="adj" fmla="val 4375"/>
            </a:avLst>
          </a:prstGeom>
          <a:solidFill>
            <a:srgbClr val="1B2029"/>
          </a:solidFill>
          <a:ln w="12700">
            <a:solidFill>
              <a:srgbClr val="2C3340"/>
            </a:solidFill>
            <a:prstDash val="solid"/>
          </a:ln>
        </p:spPr>
      </p:sp>
      <p:sp>
        <p:nvSpPr>
          <p:cNvPr id="10" name="Text 8"/>
          <p:cNvSpPr txBox="1"/>
          <p:nvPr/>
        </p:nvSpPr>
        <p:spPr>
          <a:xfrm>
            <a:off x="4544568" y="406908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40s</a:t>
            </a:r>
            <a:endParaRPr lang="en-US" sz="4000" dirty="0"/>
          </a:p>
        </p:txBody>
      </p:sp>
      <p:sp>
        <p:nvSpPr>
          <p:cNvPr id="11" name="Text 9"/>
          <p:cNvSpPr txBox="1"/>
          <p:nvPr/>
        </p:nvSpPr>
        <p:spPr>
          <a:xfrm>
            <a:off x="454456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5 at a time</a:t>
            </a:r>
            <a:endParaRPr lang="en-US" sz="1300" dirty="0"/>
          </a:p>
        </p:txBody>
      </p:sp>
      <p:sp>
        <p:nvSpPr>
          <p:cNvPr id="12" name="Shape 10"/>
          <p:cNvSpPr/>
          <p:nvPr/>
        </p:nvSpPr>
        <p:spPr>
          <a:xfrm>
            <a:off x="8046720" y="3886200"/>
            <a:ext cx="3429000" cy="1463040"/>
          </a:xfrm>
          <a:prstGeom prst="roundRect">
            <a:avLst>
              <a:gd name="adj" fmla="val 4375"/>
            </a:avLst>
          </a:prstGeom>
          <a:solidFill>
            <a:srgbClr val="1B2029"/>
          </a:solidFill>
          <a:ln w="12700">
            <a:solidFill>
              <a:srgbClr val="2C3340"/>
            </a:solidFill>
            <a:prstDash val="solid"/>
          </a:ln>
        </p:spPr>
      </p:sp>
      <p:sp>
        <p:nvSpPr>
          <p:cNvPr id="13" name="Text 11"/>
          <p:cNvSpPr txBox="1"/>
          <p:nvPr/>
        </p:nvSpPr>
        <p:spPr>
          <a:xfrm>
            <a:off x="8247888" y="406908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2.3×</a:t>
            </a:r>
            <a:endParaRPr lang="en-US" sz="4000" dirty="0"/>
          </a:p>
        </p:txBody>
      </p:sp>
      <p:sp>
        <p:nvSpPr>
          <p:cNvPr id="14" name="Text 12"/>
          <p:cNvSpPr txBox="1"/>
          <p:nvPr/>
        </p:nvSpPr>
        <p:spPr>
          <a:xfrm>
            <a:off x="824788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 one laptop, no cloud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04 · THE PART PEOPLE SKIP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Splitting alone makes it slower</a:t>
            </a:r>
            <a:endParaRPr lang="en-US" sz="3800" dirty="0"/>
          </a:p>
        </p:txBody>
      </p:sp>
      <p:sp>
        <p:nvSpPr>
          <p:cNvPr id="4" name="Text 2"/>
          <p:cNvSpPr txBox="1"/>
          <p:nvPr/>
        </p:nvSpPr>
        <p:spPr>
          <a:xfrm>
            <a:off x="640080" y="21031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One task, all specs</a:t>
            </a:r>
            <a:endParaRPr lang="en-US" sz="1400" dirty="0"/>
          </a:p>
        </p:txBody>
      </p:sp>
      <p:sp>
        <p:nvSpPr>
          <p:cNvPr id="5" name="Shape 3"/>
          <p:cNvSpPr/>
          <p:nvPr/>
        </p:nvSpPr>
        <p:spPr>
          <a:xfrm>
            <a:off x="3840480" y="2157984"/>
            <a:ext cx="5619982" cy="310896"/>
          </a:xfrm>
          <a:prstGeom prst="roundRect">
            <a:avLst>
              <a:gd name="adj" fmla="val 11765"/>
            </a:avLst>
          </a:prstGeom>
          <a:solidFill>
            <a:srgbClr val="F5A524"/>
          </a:solidFill>
          <a:ln w="12700">
            <a:solidFill>
              <a:srgbClr val="F5A524"/>
            </a:solidFill>
            <a:prstDash val="solid"/>
          </a:ln>
        </p:spPr>
      </p:sp>
      <p:sp>
        <p:nvSpPr>
          <p:cNvPr id="6" name="Text 4"/>
          <p:cNvSpPr txBox="1"/>
          <p:nvPr/>
        </p:nvSpPr>
        <p:spPr>
          <a:xfrm>
            <a:off x="9551902" y="21031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33s</a:t>
            </a:r>
            <a:endParaRPr lang="en-US" sz="1400" dirty="0"/>
          </a:p>
        </p:txBody>
      </p:sp>
      <p:sp>
        <p:nvSpPr>
          <p:cNvPr id="7" name="Text 5"/>
          <p:cNvSpPr txBox="1"/>
          <p:nvPr/>
        </p:nvSpPr>
        <p:spPr>
          <a:xfrm>
            <a:off x="640080" y="30175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one at a time</a:t>
            </a:r>
            <a:endParaRPr lang="en-US" sz="1400" dirty="0"/>
          </a:p>
        </p:txBody>
      </p:sp>
      <p:sp>
        <p:nvSpPr>
          <p:cNvPr id="8" name="Shape 6"/>
          <p:cNvSpPr/>
          <p:nvPr/>
        </p:nvSpPr>
        <p:spPr>
          <a:xfrm>
            <a:off x="3840480" y="3072384"/>
            <a:ext cx="6949440" cy="310896"/>
          </a:xfrm>
          <a:prstGeom prst="roundRect">
            <a:avLst>
              <a:gd name="adj" fmla="val 11765"/>
            </a:avLst>
          </a:prstGeom>
          <a:solidFill>
            <a:srgbClr val="FB7185"/>
          </a:solidFill>
          <a:ln w="12700">
            <a:solidFill>
              <a:srgbClr val="FB7185"/>
            </a:solidFill>
            <a:prstDash val="solid"/>
          </a:ln>
        </p:spPr>
      </p:sp>
      <p:sp>
        <p:nvSpPr>
          <p:cNvPr id="9" name="Text 7"/>
          <p:cNvSpPr txBox="1"/>
          <p:nvPr/>
        </p:nvSpPr>
        <p:spPr>
          <a:xfrm>
            <a:off x="10881360" y="30175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55s</a:t>
            </a:r>
            <a:endParaRPr lang="en-US" sz="1400" dirty="0"/>
          </a:p>
        </p:txBody>
      </p:sp>
      <p:sp>
        <p:nvSpPr>
          <p:cNvPr id="10" name="Text 8"/>
          <p:cNvSpPr txBox="1"/>
          <p:nvPr/>
        </p:nvSpPr>
        <p:spPr>
          <a:xfrm>
            <a:off x="640080" y="39319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five at a time</a:t>
            </a:r>
            <a:endParaRPr lang="en-US" sz="1400" dirty="0"/>
          </a:p>
        </p:txBody>
      </p:sp>
      <p:sp>
        <p:nvSpPr>
          <p:cNvPr id="11" name="Shape 9"/>
          <p:cNvSpPr/>
          <p:nvPr/>
        </p:nvSpPr>
        <p:spPr>
          <a:xfrm>
            <a:off x="3840480" y="3986784"/>
            <a:ext cx="2417197" cy="310896"/>
          </a:xfrm>
          <a:prstGeom prst="roundRect">
            <a:avLst>
              <a:gd name="adj" fmla="val 11765"/>
            </a:avLst>
          </a:prstGeom>
          <a:solidFill>
            <a:srgbClr val="0B7A44"/>
          </a:solidFill>
          <a:ln w="12700">
            <a:solidFill>
              <a:srgbClr val="0B7A44"/>
            </a:solidFill>
            <a:prstDash val="solid"/>
          </a:ln>
        </p:spPr>
      </p:sp>
      <p:sp>
        <p:nvSpPr>
          <p:cNvPr id="12" name="Text 10"/>
          <p:cNvSpPr txBox="1"/>
          <p:nvPr/>
        </p:nvSpPr>
        <p:spPr>
          <a:xfrm>
            <a:off x="6349117" y="39319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40s</a:t>
            </a:r>
            <a:endParaRPr lang="en-US" sz="1400" dirty="0"/>
          </a:p>
        </p:txBody>
      </p:sp>
      <p:sp>
        <p:nvSpPr>
          <p:cNvPr id="13" name="Shape 11"/>
          <p:cNvSpPr/>
          <p:nvPr/>
        </p:nvSpPr>
        <p:spPr>
          <a:xfrm>
            <a:off x="640080" y="4983480"/>
            <a:ext cx="10881360" cy="1051560"/>
          </a:xfrm>
          <a:prstGeom prst="roundRect">
            <a:avLst>
              <a:gd name="adj" fmla="val 6087"/>
            </a:avLst>
          </a:prstGeom>
          <a:solidFill>
            <a:srgbClr val="FFF7E6"/>
          </a:solidFill>
          <a:ln w="12700">
            <a:solidFill>
              <a:srgbClr val="F5A524"/>
            </a:solidFill>
            <a:prstDash val="solid"/>
          </a:ln>
        </p:spPr>
      </p:sp>
      <p:sp>
        <p:nvSpPr>
          <p:cNvPr id="14" name="Text 12"/>
          <p:cNvSpPr txBox="1"/>
          <p:nvPr/>
        </p:nvSpPr>
        <p:spPr>
          <a:xfrm>
            <a:off x="914400" y="5138928"/>
            <a:ext cx="10332720" cy="77724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Every atomized target boots its own Cypress. Ten specs through the atomizer, run serially, cost 22 seconds more than not splitting at all. Atomization is not a speedup — it is what makes a speedup possible.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SCALE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Now do it for a whole monorepo</a:t>
            </a:r>
            <a:endParaRPr lang="en-US" sz="3800" dirty="0"/>
          </a:p>
        </p:txBody>
      </p:sp>
      <p:sp>
        <p:nvSpPr>
          <p:cNvPr id="4" name="Shape 2"/>
          <p:cNvSpPr/>
          <p:nvPr/>
        </p:nvSpPr>
        <p:spPr>
          <a:xfrm>
            <a:off x="640080" y="1828800"/>
            <a:ext cx="3429000" cy="1600200"/>
          </a:xfrm>
          <a:prstGeom prst="roundRect">
            <a:avLst>
              <a:gd name="adj" fmla="val 4571"/>
            </a:avLst>
          </a:prstGeom>
          <a:solidFill>
            <a:srgbClr val="1B2029"/>
          </a:solidFill>
          <a:ln w="19050">
            <a:solidFill>
              <a:srgbClr val="4ADE80"/>
            </a:solidFill>
            <a:prstDash val="solid"/>
          </a:ln>
        </p:spPr>
      </p:sp>
      <p:sp>
        <p:nvSpPr>
          <p:cNvPr id="5" name="Text 3"/>
          <p:cNvSpPr txBox="1"/>
          <p:nvPr/>
        </p:nvSpPr>
        <p:spPr>
          <a:xfrm>
            <a:off x="868680" y="2011680"/>
            <a:ext cx="2926080" cy="36576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shop</a:t>
            </a:r>
            <a:endParaRPr lang="en-US" sz="2000" dirty="0"/>
          </a:p>
        </p:txBody>
      </p:sp>
      <p:sp>
        <p:nvSpPr>
          <p:cNvPr id="6" name="Text 4"/>
          <p:cNvSpPr txBox="1"/>
          <p:nvPr/>
        </p:nvSpPr>
        <p:spPr>
          <a:xfrm>
            <a:off x="868680" y="2395728"/>
            <a:ext cx="292608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storefront</a:t>
            </a:r>
            <a:endParaRPr lang="en-US" sz="1300" dirty="0"/>
          </a:p>
        </p:txBody>
      </p:sp>
      <p:sp>
        <p:nvSpPr>
          <p:cNvPr id="7" name="Text 5"/>
          <p:cNvSpPr txBox="1"/>
          <p:nvPr/>
        </p:nvSpPr>
        <p:spPr>
          <a:xfrm>
            <a:off x="868680" y="2688336"/>
            <a:ext cx="2926080" cy="27432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10 specs → 10 targets</a:t>
            </a:r>
            <a:endParaRPr lang="en-US" sz="1200" dirty="0"/>
          </a:p>
        </p:txBody>
      </p:sp>
      <p:sp>
        <p:nvSpPr>
          <p:cNvPr id="8" name="Text 6"/>
          <p:cNvSpPr txBox="1"/>
          <p:nvPr/>
        </p:nvSpPr>
        <p:spPr>
          <a:xfrm>
            <a:off x="868680" y="2962656"/>
            <a:ext cx="2926080" cy="274320"/>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uses formatting</a:t>
            </a:r>
            <a:endParaRPr lang="en-US" sz="1100" dirty="0"/>
          </a:p>
        </p:txBody>
      </p:sp>
      <p:sp>
        <p:nvSpPr>
          <p:cNvPr id="9" name="Shape 7"/>
          <p:cNvSpPr/>
          <p:nvPr/>
        </p:nvSpPr>
        <p:spPr>
          <a:xfrm>
            <a:off x="4343400" y="1828800"/>
            <a:ext cx="3429000" cy="1600200"/>
          </a:xfrm>
          <a:prstGeom prst="roundRect">
            <a:avLst>
              <a:gd name="adj" fmla="val 4571"/>
            </a:avLst>
          </a:prstGeom>
          <a:solidFill>
            <a:srgbClr val="1B2029"/>
          </a:solidFill>
          <a:ln w="19050">
            <a:solidFill>
              <a:srgbClr val="60A5FA"/>
            </a:solidFill>
            <a:prstDash val="solid"/>
          </a:ln>
        </p:spPr>
      </p:sp>
      <p:sp>
        <p:nvSpPr>
          <p:cNvPr id="10" name="Text 8"/>
          <p:cNvSpPr txBox="1"/>
          <p:nvPr/>
        </p:nvSpPr>
        <p:spPr>
          <a:xfrm>
            <a:off x="4572000" y="2011680"/>
            <a:ext cx="2926080" cy="365760"/>
          </a:xfrm>
          <a:prstGeom prst="rect">
            <a:avLst/>
          </a:prstGeom>
          <a:noFill/>
          <a:ln/>
        </p:spPr>
        <p:txBody>
          <a:bodyPr wrap="square" lIns="0" tIns="0" rIns="0" bIns="0" rtlCol="0" anchor="ctr"/>
          <a:lstStyle/>
          <a:p>
            <a:pPr indent="0" marL="0">
              <a:buNone/>
            </a:pPr>
            <a:r>
              <a:rPr lang="en-US" sz="2000" b="1" dirty="0">
                <a:solidFill>
                  <a:srgbClr val="60A5FA"/>
                </a:solidFill>
                <a:latin typeface="Courier New" pitchFamily="34" charset="0"/>
                <a:ea typeface="Courier New" pitchFamily="34" charset="-122"/>
                <a:cs typeface="Courier New" pitchFamily="34" charset="-120"/>
              </a:rPr>
              <a:t>admin</a:t>
            </a:r>
            <a:endParaRPr lang="en-US" sz="2000" dirty="0"/>
          </a:p>
        </p:txBody>
      </p:sp>
      <p:sp>
        <p:nvSpPr>
          <p:cNvPr id="11" name="Text 9"/>
          <p:cNvSpPr txBox="1"/>
          <p:nvPr/>
        </p:nvSpPr>
        <p:spPr>
          <a:xfrm>
            <a:off x="4572000" y="2395728"/>
            <a:ext cx="292608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back-office</a:t>
            </a:r>
            <a:endParaRPr lang="en-US" sz="1300" dirty="0"/>
          </a:p>
        </p:txBody>
      </p:sp>
      <p:sp>
        <p:nvSpPr>
          <p:cNvPr id="12" name="Text 10"/>
          <p:cNvSpPr txBox="1"/>
          <p:nvPr/>
        </p:nvSpPr>
        <p:spPr>
          <a:xfrm>
            <a:off x="4572000" y="2688336"/>
            <a:ext cx="2926080" cy="27432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10 specs → 10 targets</a:t>
            </a:r>
            <a:endParaRPr lang="en-US" sz="1200" dirty="0"/>
          </a:p>
        </p:txBody>
      </p:sp>
      <p:sp>
        <p:nvSpPr>
          <p:cNvPr id="13" name="Text 11"/>
          <p:cNvSpPr txBox="1"/>
          <p:nvPr/>
        </p:nvSpPr>
        <p:spPr>
          <a:xfrm>
            <a:off x="4572000" y="2962656"/>
            <a:ext cx="2926080" cy="274320"/>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uses ui + formatting</a:t>
            </a:r>
            <a:endParaRPr lang="en-US" sz="1100" dirty="0"/>
          </a:p>
        </p:txBody>
      </p:sp>
      <p:sp>
        <p:nvSpPr>
          <p:cNvPr id="14" name="Shape 12"/>
          <p:cNvSpPr/>
          <p:nvPr/>
        </p:nvSpPr>
        <p:spPr>
          <a:xfrm>
            <a:off x="8046720" y="1828800"/>
            <a:ext cx="3429000" cy="1600200"/>
          </a:xfrm>
          <a:prstGeom prst="roundRect">
            <a:avLst>
              <a:gd name="adj" fmla="val 4571"/>
            </a:avLst>
          </a:prstGeom>
          <a:solidFill>
            <a:srgbClr val="1B2029"/>
          </a:solidFill>
          <a:ln w="19050">
            <a:solidFill>
              <a:srgbClr val="C084FC"/>
            </a:solidFill>
            <a:prstDash val="solid"/>
          </a:ln>
        </p:spPr>
      </p:sp>
      <p:sp>
        <p:nvSpPr>
          <p:cNvPr id="15" name="Text 13"/>
          <p:cNvSpPr txBox="1"/>
          <p:nvPr/>
        </p:nvSpPr>
        <p:spPr>
          <a:xfrm>
            <a:off x="8275320" y="2011680"/>
            <a:ext cx="2926080" cy="365760"/>
          </a:xfrm>
          <a:prstGeom prst="rect">
            <a:avLst/>
          </a:prstGeom>
          <a:noFill/>
          <a:ln/>
        </p:spPr>
        <p:txBody>
          <a:bodyPr wrap="square" lIns="0" tIns="0" rIns="0" bIns="0" rtlCol="0" anchor="ctr"/>
          <a:lstStyle/>
          <a:p>
            <a:pPr indent="0" marL="0">
              <a:buNone/>
            </a:pPr>
            <a:r>
              <a:rPr lang="en-US" sz="2000" b="1" dirty="0">
                <a:solidFill>
                  <a:srgbClr val="C084FC"/>
                </a:solidFill>
                <a:latin typeface="Courier New" pitchFamily="34" charset="0"/>
                <a:ea typeface="Courier New" pitchFamily="34" charset="-122"/>
                <a:cs typeface="Courier New" pitchFamily="34" charset="-120"/>
              </a:rPr>
              <a:t>docs</a:t>
            </a:r>
            <a:endParaRPr lang="en-US" sz="2000" dirty="0"/>
          </a:p>
        </p:txBody>
      </p:sp>
      <p:sp>
        <p:nvSpPr>
          <p:cNvPr id="16" name="Text 14"/>
          <p:cNvSpPr txBox="1"/>
          <p:nvPr/>
        </p:nvSpPr>
        <p:spPr>
          <a:xfrm>
            <a:off x="8275320" y="2395728"/>
            <a:ext cx="292608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documentation</a:t>
            </a:r>
            <a:endParaRPr lang="en-US" sz="1300" dirty="0"/>
          </a:p>
        </p:txBody>
      </p:sp>
      <p:sp>
        <p:nvSpPr>
          <p:cNvPr id="17" name="Text 15"/>
          <p:cNvSpPr txBox="1"/>
          <p:nvPr/>
        </p:nvSpPr>
        <p:spPr>
          <a:xfrm>
            <a:off x="8275320" y="2688336"/>
            <a:ext cx="2926080" cy="27432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10 specs → 10 targets</a:t>
            </a:r>
            <a:endParaRPr lang="en-US" sz="1200" dirty="0"/>
          </a:p>
        </p:txBody>
      </p:sp>
      <p:sp>
        <p:nvSpPr>
          <p:cNvPr id="18" name="Text 16"/>
          <p:cNvSpPr txBox="1"/>
          <p:nvPr/>
        </p:nvSpPr>
        <p:spPr>
          <a:xfrm>
            <a:off x="8275320" y="2962656"/>
            <a:ext cx="2926080" cy="274320"/>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uses ui</a:t>
            </a:r>
            <a:endParaRPr lang="en-US" sz="1100" dirty="0"/>
          </a:p>
        </p:txBody>
      </p:sp>
      <p:sp>
        <p:nvSpPr>
          <p:cNvPr id="19" name="Shape 17"/>
          <p:cNvSpPr/>
          <p:nvPr/>
        </p:nvSpPr>
        <p:spPr>
          <a:xfrm>
            <a:off x="640080" y="3794760"/>
            <a:ext cx="3429000" cy="1463040"/>
          </a:xfrm>
          <a:prstGeom prst="roundRect">
            <a:avLst>
              <a:gd name="adj" fmla="val 4375"/>
            </a:avLst>
          </a:prstGeom>
          <a:solidFill>
            <a:srgbClr val="1B2029"/>
          </a:solidFill>
          <a:ln w="12700">
            <a:solidFill>
              <a:srgbClr val="2C3340"/>
            </a:solidFill>
            <a:prstDash val="solid"/>
          </a:ln>
        </p:spPr>
      </p:sp>
      <p:sp>
        <p:nvSpPr>
          <p:cNvPr id="20" name="Text 18"/>
          <p:cNvSpPr txBox="1"/>
          <p:nvPr/>
        </p:nvSpPr>
        <p:spPr>
          <a:xfrm>
            <a:off x="841248" y="39776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30</a:t>
            </a:r>
            <a:endParaRPr lang="en-US" sz="4000" dirty="0"/>
          </a:p>
        </p:txBody>
      </p:sp>
      <p:sp>
        <p:nvSpPr>
          <p:cNvPr id="21" name="Text 19"/>
          <p:cNvSpPr txBox="1"/>
          <p:nvPr/>
        </p:nvSpPr>
        <p:spPr>
          <a:xfrm>
            <a:off x="841248" y="46908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targets</a:t>
            </a:r>
            <a:endParaRPr lang="en-US" sz="1300" dirty="0"/>
          </a:p>
        </p:txBody>
      </p:sp>
      <p:sp>
        <p:nvSpPr>
          <p:cNvPr id="22" name="Shape 20"/>
          <p:cNvSpPr/>
          <p:nvPr/>
        </p:nvSpPr>
        <p:spPr>
          <a:xfrm>
            <a:off x="4343400" y="3794760"/>
            <a:ext cx="3429000" cy="1463040"/>
          </a:xfrm>
          <a:prstGeom prst="roundRect">
            <a:avLst>
              <a:gd name="adj" fmla="val 4375"/>
            </a:avLst>
          </a:prstGeom>
          <a:solidFill>
            <a:srgbClr val="1B2029"/>
          </a:solidFill>
          <a:ln w="12700">
            <a:solidFill>
              <a:srgbClr val="2C3340"/>
            </a:solidFill>
            <a:prstDash val="solid"/>
          </a:ln>
        </p:spPr>
      </p:sp>
      <p:sp>
        <p:nvSpPr>
          <p:cNvPr id="23" name="Text 21"/>
          <p:cNvSpPr txBox="1"/>
          <p:nvPr/>
        </p:nvSpPr>
        <p:spPr>
          <a:xfrm>
            <a:off x="4544568" y="3977640"/>
            <a:ext cx="3026664"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202</a:t>
            </a:r>
            <a:endParaRPr lang="en-US" sz="4000" dirty="0"/>
          </a:p>
        </p:txBody>
      </p:sp>
      <p:sp>
        <p:nvSpPr>
          <p:cNvPr id="24" name="Text 22"/>
          <p:cNvSpPr txBox="1"/>
          <p:nvPr/>
        </p:nvSpPr>
        <p:spPr>
          <a:xfrm>
            <a:off x="4544568" y="46908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tests across three apps</a:t>
            </a:r>
            <a:endParaRPr lang="en-US" sz="1300" dirty="0"/>
          </a:p>
        </p:txBody>
      </p:sp>
      <p:sp>
        <p:nvSpPr>
          <p:cNvPr id="25" name="Shape 23"/>
          <p:cNvSpPr/>
          <p:nvPr/>
        </p:nvSpPr>
        <p:spPr>
          <a:xfrm>
            <a:off x="8046720" y="3794760"/>
            <a:ext cx="3429000" cy="1463040"/>
          </a:xfrm>
          <a:prstGeom prst="roundRect">
            <a:avLst>
              <a:gd name="adj" fmla="val 4375"/>
            </a:avLst>
          </a:prstGeom>
          <a:solidFill>
            <a:srgbClr val="1B2029"/>
          </a:solidFill>
          <a:ln w="12700">
            <a:solidFill>
              <a:srgbClr val="2C3340"/>
            </a:solidFill>
            <a:prstDash val="solid"/>
          </a:ln>
        </p:spPr>
      </p:sp>
      <p:sp>
        <p:nvSpPr>
          <p:cNvPr id="26" name="Text 24"/>
          <p:cNvSpPr txBox="1"/>
          <p:nvPr/>
        </p:nvSpPr>
        <p:spPr>
          <a:xfrm>
            <a:off x="8247888" y="397764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a:t>
            </a:r>
            <a:endParaRPr lang="en-US" sz="4000" dirty="0"/>
          </a:p>
        </p:txBody>
      </p:sp>
      <p:sp>
        <p:nvSpPr>
          <p:cNvPr id="27" name="Text 25"/>
          <p:cNvSpPr txBox="1"/>
          <p:nvPr/>
        </p:nvSpPr>
        <p:spPr>
          <a:xfrm>
            <a:off x="8247888" y="46908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shared libs, on purpose</a:t>
            </a:r>
            <a:endParaRPr lang="en-US" sz="1300" dirty="0"/>
          </a:p>
        </p:txBody>
      </p:sp>
      <p:sp>
        <p:nvSpPr>
          <p:cNvPr id="28" name="Text 26"/>
          <p:cNvSpPr txBox="1"/>
          <p:nvPr/>
        </p:nvSpPr>
        <p:spPr>
          <a:xfrm>
            <a:off x="640080" y="5486400"/>
            <a:ext cx="10881360" cy="365760"/>
          </a:xfrm>
          <a:prstGeom prst="rect">
            <a:avLst/>
          </a:prstGeom>
          <a:noFill/>
          <a:ln/>
        </p:spPr>
        <p:txBody>
          <a:bodyPr wrap="square" lIns="0" tIns="0" rIns="0" bIns="0" rtlCol="0" anchor="ctr"/>
          <a:lstStyle/>
          <a:p>
            <a:pPr indent="0" marL="0">
              <a:buNone/>
            </a:pPr>
            <a:r>
              <a:rPr lang="en-US" sz="1400" i="1" dirty="0">
                <a:solidFill>
                  <a:srgbClr val="8A94A6"/>
                </a:solidFill>
                <a:latin typeface="Calibri" pitchFamily="34" charset="0"/>
                <a:ea typeface="Calibri" pitchFamily="34" charset="-122"/>
                <a:cs typeface="Calibri" pitchFamily="34" charset="-120"/>
              </a:rPr>
              <a:t>The libs are shared unevenly — that is the point. No single change invalidates all three apps.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47472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Five things to take back</a:t>
            </a:r>
            <a:endParaRPr lang="en-US" sz="3800" dirty="0"/>
          </a:p>
        </p:txBody>
      </p:sp>
      <p:sp>
        <p:nvSpPr>
          <p:cNvPr id="4" name="Text 2"/>
          <p:cNvSpPr txBox="1"/>
          <p:nvPr/>
        </p:nvSpPr>
        <p:spPr>
          <a:xfrm>
            <a:off x="640080" y="178308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78308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is generated, not maintained</a:t>
            </a:r>
            <a:endParaRPr lang="en-US" sz="1900" dirty="0"/>
          </a:p>
        </p:txBody>
      </p:sp>
      <p:sp>
        <p:nvSpPr>
          <p:cNvPr id="6" name="Text 4"/>
          <p:cNvSpPr txBox="1"/>
          <p:nvPr/>
        </p:nvSpPr>
        <p:spPr>
          <a:xfrm>
            <a:off x="1508760" y="218541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target per spec file, from one plugin entry in nx.json.</a:t>
            </a:r>
            <a:endParaRPr lang="en-US" sz="1400" dirty="0"/>
          </a:p>
        </p:txBody>
      </p:sp>
      <p:sp>
        <p:nvSpPr>
          <p:cNvPr id="7" name="Text 5"/>
          <p:cNvSpPr txBox="1"/>
          <p:nvPr/>
        </p:nvSpPr>
        <p:spPr>
          <a:xfrm>
            <a:off x="640080" y="2715768"/>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2715768"/>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alone is not a speedup</a:t>
            </a:r>
            <a:endParaRPr lang="en-US" sz="1900" dirty="0"/>
          </a:p>
        </p:txBody>
      </p:sp>
      <p:sp>
        <p:nvSpPr>
          <p:cNvPr id="9" name="Text 7"/>
          <p:cNvSpPr txBox="1"/>
          <p:nvPr/>
        </p:nvSpPr>
        <p:spPr>
          <a:xfrm>
            <a:off x="1508760" y="3118104"/>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It is the precondition for one. Concurrency has to beat the startup tax.</a:t>
            </a:r>
            <a:endParaRPr lang="en-US" sz="1400" dirty="0"/>
          </a:p>
        </p:txBody>
      </p:sp>
      <p:sp>
        <p:nvSpPr>
          <p:cNvPr id="10" name="Text 8"/>
          <p:cNvSpPr txBox="1"/>
          <p:nvPr/>
        </p:nvSpPr>
        <p:spPr>
          <a:xfrm>
            <a:off x="640080" y="3648456"/>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3648456"/>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cache is the retry story</a:t>
            </a:r>
            <a:endParaRPr lang="en-US" sz="1900" dirty="0"/>
          </a:p>
        </p:txBody>
      </p:sp>
      <p:sp>
        <p:nvSpPr>
          <p:cNvPr id="12" name="Text 10"/>
          <p:cNvSpPr txBox="1"/>
          <p:nvPr/>
        </p:nvSpPr>
        <p:spPr>
          <a:xfrm>
            <a:off x="1508760" y="4050792"/>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Failed tasks are never cached, so a retry runs only the failures.</a:t>
            </a:r>
            <a:endParaRPr lang="en-US" sz="1400" dirty="0"/>
          </a:p>
        </p:txBody>
      </p:sp>
      <p:sp>
        <p:nvSpPr>
          <p:cNvPr id="13" name="Text 11"/>
          <p:cNvSpPr txBox="1"/>
          <p:nvPr/>
        </p:nvSpPr>
        <p:spPr>
          <a:xfrm>
            <a:off x="640080" y="4581144"/>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04</a:t>
            </a:r>
            <a:endParaRPr lang="en-US" sz="2200" dirty="0"/>
          </a:p>
        </p:txBody>
      </p:sp>
      <p:sp>
        <p:nvSpPr>
          <p:cNvPr id="14" name="Text 12"/>
          <p:cNvSpPr txBox="1"/>
          <p:nvPr/>
        </p:nvSpPr>
        <p:spPr>
          <a:xfrm>
            <a:off x="1508760" y="4581144"/>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Distribute by app before by index</a:t>
            </a:r>
            <a:endParaRPr lang="en-US" sz="1900" dirty="0"/>
          </a:p>
        </p:txBody>
      </p:sp>
      <p:sp>
        <p:nvSpPr>
          <p:cNvPr id="15" name="Text 13"/>
          <p:cNvSpPr txBox="1"/>
          <p:nvPr/>
        </p:nvSpPr>
        <p:spPr>
          <a:xfrm>
            <a:off x="1508760" y="4983480"/>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server per runner, nothing to balance, and no cross-product traps.</a:t>
            </a:r>
            <a:endParaRPr lang="en-US" sz="1400" dirty="0"/>
          </a:p>
        </p:txBody>
      </p:sp>
      <p:sp>
        <p:nvSpPr>
          <p:cNvPr id="16" name="Text 14"/>
          <p:cNvSpPr txBox="1"/>
          <p:nvPr/>
        </p:nvSpPr>
        <p:spPr>
          <a:xfrm>
            <a:off x="640080" y="5513832"/>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05</a:t>
            </a:r>
            <a:endParaRPr lang="en-US" sz="2200" dirty="0"/>
          </a:p>
        </p:txBody>
      </p:sp>
      <p:sp>
        <p:nvSpPr>
          <p:cNvPr id="17" name="Text 15"/>
          <p:cNvSpPr txBox="1"/>
          <p:nvPr/>
        </p:nvSpPr>
        <p:spPr>
          <a:xfrm>
            <a:off x="1508760" y="5513832"/>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None of this needs Nx Cloud</a:t>
            </a:r>
            <a:endParaRPr lang="en-US" sz="1900" dirty="0"/>
          </a:p>
        </p:txBody>
      </p:sp>
      <p:sp>
        <p:nvSpPr>
          <p:cNvPr id="18" name="Text 16"/>
          <p:cNvSpPr txBox="1"/>
          <p:nvPr/>
        </p:nvSpPr>
        <p:spPr>
          <a:xfrm>
            <a:off x="1508760" y="5916168"/>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The gate is on one convenience target. Discovery plus run-many gets around 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3" name="Text 1"/>
          <p:cNvSpPr txBox="1"/>
          <p:nvPr/>
        </p:nvSpPr>
        <p:spPr>
          <a:xfrm>
            <a:off x="640080" y="3383280"/>
            <a:ext cx="10881360" cy="36576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Clone it and run the demo yourself:</a:t>
            </a:r>
            <a:endParaRPr lang="en-US" sz="1700" dirty="0"/>
          </a:p>
        </p:txBody>
      </p:sp>
      <p:sp>
        <p:nvSpPr>
          <p:cNvPr id="4" name="Shape 2"/>
          <p:cNvSpPr/>
          <p:nvPr/>
        </p:nvSpPr>
        <p:spPr>
          <a:xfrm>
            <a:off x="640080" y="3886200"/>
            <a:ext cx="8229600" cy="1389888"/>
          </a:xfrm>
          <a:prstGeom prst="roundRect">
            <a:avLst>
              <a:gd name="adj" fmla="val 3947"/>
            </a:avLst>
          </a:prstGeom>
          <a:solidFill>
            <a:srgbClr val="0A0D13"/>
          </a:solidFill>
          <a:ln w="12700">
            <a:solidFill>
              <a:srgbClr val="2C3340"/>
            </a:solidFill>
            <a:prstDash val="solid"/>
          </a:ln>
        </p:spPr>
      </p:sp>
      <p:sp>
        <p:nvSpPr>
          <p:cNvPr id="5" name="Text 3"/>
          <p:cNvSpPr txBox="1"/>
          <p:nvPr/>
        </p:nvSpPr>
        <p:spPr>
          <a:xfrm>
            <a:off x="868680" y="4087368"/>
            <a:ext cx="7772400" cy="987552"/>
          </a:xfrm>
          <a:prstGeom prst="rect">
            <a:avLst/>
          </a:prstGeom>
          <a:noFill/>
          <a:ln/>
        </p:spPr>
        <p:txBody>
          <a:bodyPr wrap="square" lIns="0" tIns="0" rIns="0" bIns="0" rtlCol="0" anchor="t"/>
          <a:lstStyle/>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git clone github.com/radzivil/nx-scaling-e2e-tests-with-atomizer</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npm ci &amp;&amp; npx cypress install</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Text 4"/>
          <p:cNvSpPr txBox="1"/>
          <p:nvPr/>
        </p:nvSpPr>
        <p:spPr>
          <a:xfrm>
            <a:off x="640080" y="5760720"/>
            <a:ext cx="5486400" cy="320040"/>
          </a:xfrm>
          <a:prstGeom prst="rect">
            <a:avLst/>
          </a:prstGeom>
          <a:noFill/>
          <a:ln/>
        </p:spPr>
        <p:txBody>
          <a:bodyPr wrap="square" lIns="0" tIns="0" rIns="0" bIns="0" rtlCol="0" anchor="ctr"/>
          <a:lstStyle/>
          <a:p>
            <a:pPr indent="0" marL="0">
              <a:buNone/>
            </a:pPr>
            <a:r>
              <a:rPr lang="en-US" sz="1500" b="1" dirty="0">
                <a:solidFill>
                  <a:srgbClr val="8A94A6"/>
                </a:solidFill>
                <a:latin typeface="Calibri" pitchFamily="34" charset="0"/>
                <a:ea typeface="Calibri" pitchFamily="34" charset="-122"/>
                <a:cs typeface="Calibri" pitchFamily="34" charset="-120"/>
              </a:rPr>
              <a:t>Vladimir Radzivil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2026-09-07T07:15:53Z</dcterms:created>
  <dcterms:modified xsi:type="dcterms:W3CDTF">2026-09-07T07:15:53Z</dcterms:modified>
</cp:coreProperties>
</file>