
<file path=[Content_Types].xml><?xml version="1.0" encoding="utf-8"?>
<Types xmlns="http://schemas.openxmlformats.org/package/2006/content-types">
  <Default Extension="xml" ContentType="application/xml"/>
  <Default Extension="rels" ContentType="application/vnd.openxmlformats-package.relationships+xml"/>
  <Default Extension="jpeg" ContentType="image/jpeg"/>
  <Default Extension="jpg" ContentType="image/jpg"/>
  <Default Extension="svg" ContentType="image/svg+xml"/>
  <Default Extension="png" ContentType="image/png"/>
  <Default Extension="gif" ContentType="image/gif"/>
  <Default Extension="m4v" ContentType="video/mp4"/>
  <Default Extension="mp4" ContentType="video/mp4"/>
  <Default Extension="vml" ContentType="application/vnd.openxmlformats-officedocument.vmlDrawing"/>
  <Default Extension="xlsx" ContentType="application/vnd.openxmlformats-officedocument.spreadsheetml.sheet"/>
  <Override PartName="/ppt/presentation.xml" ContentType="application/vnd.openxmlformats-officedocument.presentationml.presentation.main+xml"/>
  <Override PartName="/ppt/notesMasters/notesMaster1.xml" ContentType="application/vnd.openxmlformats-officedocument.presentationml.notesMaster+xml"/>
  <Override PartName="/ppt/slideMasters/slideMaster1.xml" ContentType="application/vnd.openxmlformats-officedocument.presentationml.slideMaster+xml"/>
  <Override PartName="/ppt/slides/slide1.xml" ContentType="application/vnd.openxmlformats-officedocument.presentationml.slide+xml"/>
  <Override PartName="/ppt/slideMasters/slideMaster2.xml" ContentType="application/vnd.openxmlformats-officedocument.presentationml.slideMaster+xml"/>
  <Override PartName="/ppt/slides/slide2.xml" ContentType="application/vnd.openxmlformats-officedocument.presentationml.slide+xml"/>
  <Override PartName="/ppt/slideMasters/slideMaster3.xml" ContentType="application/vnd.openxmlformats-officedocument.presentationml.slideMaster+xml"/>
  <Override PartName="/ppt/slides/slide3.xml" ContentType="application/vnd.openxmlformats-officedocument.presentationml.slide+xml"/>
  <Override PartName="/ppt/slideMasters/slideMaster4.xml" ContentType="application/vnd.openxmlformats-officedocument.presentationml.slideMaster+xml"/>
  <Override PartName="/ppt/slides/slide4.xml" ContentType="application/vnd.openxmlformats-officedocument.presentationml.slide+xml"/>
  <Override PartName="/ppt/slideMasters/slideMaster5.xml" ContentType="application/vnd.openxmlformats-officedocument.presentationml.slideMaster+xml"/>
  <Override PartName="/ppt/slides/slide5.xml" ContentType="application/vnd.openxmlformats-officedocument.presentationml.slide+xml"/>
  <Override PartName="/ppt/slideMasters/slideMaster6.xml" ContentType="application/vnd.openxmlformats-officedocument.presentationml.slideMaster+xml"/>
  <Override PartName="/ppt/slides/slide6.xml" ContentType="application/vnd.openxmlformats-officedocument.presentationml.slide+xml"/>
  <Override PartName="/ppt/slideMasters/slideMaster7.xml" ContentType="application/vnd.openxmlformats-officedocument.presentationml.slideMaster+xml"/>
  <Override PartName="/ppt/slides/slide7.xml" ContentType="application/vnd.openxmlformats-officedocument.presentationml.slide+xml"/>
  <Override PartName="/ppt/slideMasters/slideMaster8.xml" ContentType="application/vnd.openxmlformats-officedocument.presentationml.slideMaster+xml"/>
  <Override PartName="/ppt/slides/slide8.xml" ContentType="application/vnd.openxmlformats-officedocument.presentationml.slide+xml"/>
  <Override PartName="/ppt/slideMasters/slideMaster9.xml" ContentType="application/vnd.openxmlformats-officedocument.presentationml.slideMaster+xml"/>
  <Override PartName="/ppt/slides/slide9.xml" ContentType="application/vnd.openxmlformats-officedocument.presentationml.slide+xml"/>
  <Override PartName="/ppt/slideMasters/slideMaster10.xml" ContentType="application/vnd.openxmlformats-officedocument.presentationml.slideMaster+xml"/>
  <Override PartName="/ppt/slides/slide10.xml" ContentType="application/vnd.openxmlformats-officedocument.presentationml.slide+xml"/>
  <Override PartName="/ppt/slideMasters/slideMaster11.xml" ContentType="application/vnd.openxmlformats-officedocument.presentationml.slideMaster+xml"/>
  <Override PartName="/ppt/slides/slide11.xml" ContentType="application/vnd.openxmlformats-officedocument.presentationml.slide+xml"/>
  <Override PartName="/ppt/slideMasters/slideMaster12.xml" ContentType="application/vnd.openxmlformats-officedocument.presentationml.slideMaster+xml"/>
  <Override PartName="/ppt/slides/slide12.xml" ContentType="application/vnd.openxmlformats-officedocument.presentationml.slide+xml"/>
  <Override PartName="/ppt/slideMasters/slideMaster13.xml" ContentType="application/vnd.openxmlformats-officedocument.presentationml.slideMaster+xml"/>
  <Override PartName="/ppt/slides/slide13.xml" ContentType="application/vnd.openxmlformats-officedocument.presentationml.slide+xml"/>
  <Override PartName="/ppt/slideMasters/slideMaster14.xml" ContentType="application/vnd.openxmlformats-officedocument.presentationml.slideMaster+xml"/>
  <Override PartName="/ppt/slides/slide14.xml" ContentType="application/vnd.openxmlformats-officedocument.presentationml.slide+xml"/>
  <Override PartName="/ppt/slideMasters/slideMaster15.xml" ContentType="application/vnd.openxmlformats-officedocument.presentationml.slideMaster+xml"/>
  <Override PartName="/ppt/slides/slide15.xml" ContentType="application/vnd.openxmlformats-officedocument.presentationml.slide+xml"/>
  <Override PartName="/ppt/slideMasters/slideMaster16.xml" ContentType="application/vnd.openxmlformats-officedocument.presentationml.slideMaster+xml"/>
  <Override PartName="/ppt/slides/slide16.xml" ContentType="application/vnd.openxmlformats-officedocument.presentationml.slide+xml"/>
  <Override PartName="/ppt/presProps.xml" ContentType="application/vnd.openxmlformats-officedocument.presentationml.presProps+xml"/>
  <Override PartName="/ppt/viewProps.xml" ContentType="application/vnd.openxmlformats-officedocument.presentationml.viewProps+xml"/>
  <Override PartName="/ppt/theme/theme1.xml" ContentType="application/vnd.openxmlformats-officedocument.theme+xml"/>
  <Override PartName="/ppt/tableStyles.xml" ContentType="application/vnd.openxmlformats-officedocument.presentationml.tableStyles+xml"/>
  <Override PartName="/ppt/slideLayouts/slideLayout1.xml" ContentType="application/vnd.openxmlformats-officedocument.presentationml.slideLayout+xml"/>
  <Override PartName="/ppt/notesSlides/notesSlide1.xml" ContentType="application/vnd.openxmlformats-officedocument.presentationml.notesSlide+xml"/>
  <Override PartName="/ppt/notesSlides/notesSlide2.xml" ContentType="application/vnd.openxmlformats-officedocument.presentationml.notesSlide+xml"/>
  <Override PartName="/ppt/notesSlides/notesSlide3.xml" ContentType="application/vnd.openxmlformats-officedocument.presentationml.notesSlide+xml"/>
  <Override PartName="/ppt/notesSlides/notesSlide4.xml" ContentType="application/vnd.openxmlformats-officedocument.presentationml.notesSlide+xml"/>
  <Override PartName="/ppt/notesSlides/notesSlide5.xml" ContentType="application/vnd.openxmlformats-officedocument.presentationml.notesSlide+xml"/>
  <Override PartName="/ppt/notesSlides/notesSlide6.xml" ContentType="application/vnd.openxmlformats-officedocument.presentationml.notesSlide+xml"/>
  <Override PartName="/ppt/notesSlides/notesSlide7.xml" ContentType="application/vnd.openxmlformats-officedocument.presentationml.notesSlide+xml"/>
  <Override PartName="/ppt/notesSlides/notesSlide8.xml" ContentType="application/vnd.openxmlformats-officedocument.presentationml.notesSlide+xml"/>
  <Override PartName="/ppt/notesSlides/notesSlide9.xml" ContentType="application/vnd.openxmlformats-officedocument.presentationml.notesSlide+xml"/>
  <Override PartName="/ppt/notesSlides/notesSlide10.xml" ContentType="application/vnd.openxmlformats-officedocument.presentationml.notesSlide+xml"/>
  <Override PartName="/ppt/notesSlides/notesSlide11.xml" ContentType="application/vnd.openxmlformats-officedocument.presentationml.notesSlide+xml"/>
  <Override PartName="/ppt/notesSlides/notesSlide12.xml" ContentType="application/vnd.openxmlformats-officedocument.presentationml.notesSlide+xml"/>
  <Override PartName="/ppt/notesSlides/notesSlide13.xml" ContentType="application/vnd.openxmlformats-officedocument.presentationml.notesSlide+xml"/>
  <Override PartName="/ppt/notesSlides/notesSlide14.xml" ContentType="application/vnd.openxmlformats-officedocument.presentationml.notesSlide+xml"/>
  <Override PartName="/ppt/notesSlides/notesSlide15.xml" ContentType="application/vnd.openxmlformats-officedocument.presentationml.notesSlide+xml"/>
  <Override PartName="/ppt/notesSlides/notesSlide16.xml" ContentType="application/vnd.openxmlformats-officedocument.presentationml.notesSlide+xml"/>
  <Override PartName="/docProps/core.xml" ContentType="application/vnd.openxmlformats-package.core-properties+xml"/>
  <Override PartName="/docProps/app.xml" ContentType="application/vnd.openxmlformats-officedocument.extended-properties+xml"/>
</Types>
</file>

<file path=_rels/.rels><?xml version="1.0" encoding="UTF-8" standalone="yes"?>
<Relationships xmlns="http://schemas.openxmlformats.org/package/2006/relationships">
		<Relationship Id="rId1" Type="http://schemas.openxmlformats.org/officeDocument/2006/relationships/extended-properties" Target="docProps/app.xml"/>
		<Relationship Id="rId2" Type="http://schemas.openxmlformats.org/package/2006/relationships/metadata/core-properties" Target="docProps/core.xml"/>
		<Relationship Id="rId3" Type="http://schemas.openxmlformats.org/officeDocument/2006/relationships/officeDocument" Target="ppt/presentation.xml"/>
		</Relationships>
</file>

<file path=ppt/presentation.xml><?xml version="1.0" encoding="utf-8"?>
<p:presentation xmlns:a="http://schemas.openxmlformats.org/drawingml/2006/main" xmlns:r="http://schemas.openxmlformats.org/officeDocument/2006/relationships" xmlns:p="http://schemas.openxmlformats.org/presentationml/2006/main" saveSubsetFonts="1" autoCompressPictures="0">
  <p:sldMasterIdLst>
    <p:sldMasterId id="2147483648" r:id="rId1"/>
  </p:sldMasterIdLst>
  <p:sldIdLst>
    <p:sldId id="256" r:id="rId2"/>
    <p:sldId id="257" r:id="rId3"/>
    <p:sldId id="258" r:id="rId4"/>
    <p:sldId id="259" r:id="rId5"/>
    <p:sldId id="260" r:id="rId6"/>
    <p:sldId id="261" r:id="rId7"/>
    <p:sldId id="262" r:id="rId8"/>
    <p:sldId id="263" r:id="rId9"/>
    <p:sldId id="264" r:id="rId10"/>
    <p:sldId id="265" r:id="rId11"/>
    <p:sldId id="266" r:id="rId12"/>
    <p:sldId id="267" r:id="rId13"/>
    <p:sldId id="268" r:id="rId14"/>
    <p:sldId id="269" r:id="rId15"/>
    <p:sldId id="270" r:id="rId16"/>
    <p:sldId id="271" r:id="rId17"/>
  </p:sldIdLst>
  <p:notesMasterIdLst>
    <p:notesMasterId r:id="rId18"/>
  </p:notesMasterIdLst>
  <p:sldSz cx="12192000" cy="6858000"/>
  <p:notesSz cx="6858000" cy="12192000"/>
  <p:defaultTextStyle>
    <a:lvl1pPr marL="0" algn="l" defTabSz="914400" rtl="0" eaLnBrk="1" latinLnBrk="0" hangingPunct="1">
      <a:defRPr sz="1800" kern="1200">
        <a:solidFill>
          <a:schemeClr val="tx1"/>
        </a:solidFill>
        <a:latin typeface="+mn-lt"/>
        <a:ea typeface="+mn-ea"/>
        <a:cs typeface="+mn-cs"/>
      </a:defRPr>
    </a:lvl1pPr>
    <a:lvl2pPr marL="457200" algn="l" defTabSz="914400" rtl="0" eaLnBrk="1" latinLnBrk="0" hangingPunct="1">
      <a:defRPr sz="1800" kern="1200">
        <a:solidFill>
          <a:schemeClr val="tx1"/>
        </a:solidFill>
        <a:latin typeface="+mn-lt"/>
        <a:ea typeface="+mn-ea"/>
        <a:cs typeface="+mn-cs"/>
      </a:defRPr>
    </a:lvl2pPr>
    <a:lvl3pPr marL="914400" algn="l" defTabSz="914400" rtl="0" eaLnBrk="1" latinLnBrk="0" hangingPunct="1">
      <a:defRPr sz="1800" kern="1200">
        <a:solidFill>
          <a:schemeClr val="tx1"/>
        </a:solidFill>
        <a:latin typeface="+mn-lt"/>
        <a:ea typeface="+mn-ea"/>
        <a:cs typeface="+mn-cs"/>
      </a:defRPr>
    </a:lvl3pPr>
    <a:lvl4pPr marL="1371600" algn="l" defTabSz="914400" rtl="0" eaLnBrk="1" latinLnBrk="0" hangingPunct="1">
      <a:defRPr sz="1800" kern="1200">
        <a:solidFill>
          <a:schemeClr val="tx1"/>
        </a:solidFill>
        <a:latin typeface="+mn-lt"/>
        <a:ea typeface="+mn-ea"/>
        <a:cs typeface="+mn-cs"/>
      </a:defRPr>
    </a:lvl4pPr>
    <a:lvl5pPr marL="1828800" algn="l" defTabSz="914400" rtl="0" eaLnBrk="1" latinLnBrk="0" hangingPunct="1">
      <a:defRPr sz="1800" kern="1200">
        <a:solidFill>
          <a:schemeClr val="tx1"/>
        </a:solidFill>
        <a:latin typeface="+mn-lt"/>
        <a:ea typeface="+mn-ea"/>
        <a:cs typeface="+mn-cs"/>
      </a:defRPr>
    </a:lvl5pPr>
    <a:lvl6pPr marL="2286000" algn="l" defTabSz="914400" rtl="0" eaLnBrk="1" latinLnBrk="0" hangingPunct="1">
      <a:defRPr sz="1800" kern="1200">
        <a:solidFill>
          <a:schemeClr val="tx1"/>
        </a:solidFill>
        <a:latin typeface="+mn-lt"/>
        <a:ea typeface="+mn-ea"/>
        <a:cs typeface="+mn-cs"/>
      </a:defRPr>
    </a:lvl6pPr>
    <a:lvl7pPr marL="2743200" algn="l" defTabSz="914400" rtl="0" eaLnBrk="1" latinLnBrk="0" hangingPunct="1">
      <a:defRPr sz="1800" kern="1200">
        <a:solidFill>
          <a:schemeClr val="tx1"/>
        </a:solidFill>
        <a:latin typeface="+mn-lt"/>
        <a:ea typeface="+mn-ea"/>
        <a:cs typeface="+mn-cs"/>
      </a:defRPr>
    </a:lvl7pPr>
    <a:lvl8pPr marL="3200400" algn="l" defTabSz="914400" rtl="0" eaLnBrk="1" latinLnBrk="0" hangingPunct="1">
      <a:defRPr sz="1800" kern="1200">
        <a:solidFill>
          <a:schemeClr val="tx1"/>
        </a:solidFill>
        <a:latin typeface="+mn-lt"/>
        <a:ea typeface="+mn-ea"/>
        <a:cs typeface="+mn-cs"/>
      </a:defRPr>
    </a:lvl8pPr>
    <a:lvl9pPr marL="3657600" algn="l" defTabSz="914400" rtl="0" eaLnBrk="1" latinLnBrk="0" hangingPunct="1">
      <a:defRPr sz="1800" kern="1200">
        <a:solidFill>
          <a:schemeClr val="tx1"/>
        </a:solidFill>
        <a:latin typeface="+mn-lt"/>
        <a:ea typeface="+mn-ea"/>
        <a:cs typeface="+mn-cs"/>
      </a:defRPr>
    </a:lvl9pPr>
  </p:defaultTextStyle>
</p:presentation>
</file>

<file path=ppt/presProps.xml><?xml version="1.0" encoding="utf-8"?>
<p:presentationPr xmlns:a="http://schemas.openxmlformats.org/drawingml/2006/main" xmlns:r="http://schemas.openxmlformats.org/officeDocument/2006/relationships" xmlns:p="http://schemas.openxmlformats.org/presentationml/2006/main"/>
</file>

<file path=ppt/tableStyles.xml><?xml version="1.0" encoding="utf-8"?>
<a:tblStyleLst xmlns:a="http://schemas.openxmlformats.org/drawingml/2006/main" def="{5C22544A-7EE6-4342-B048-85BDC9FD1C3A}"/>
</file>

<file path=ppt/viewProps.xml><?xml version="1.0" encoding="utf-8"?>
<p:viewPr xmlns:a="http://schemas.openxmlformats.org/drawingml/2006/main" xmlns:r="http://schemas.openxmlformats.org/officeDocument/2006/relationships" xmlns:p="http://schemas.openxmlformats.org/presentationml/2006/main">
  <p:normalViewPr horzBarState="maximized">
    <p:restoredLeft sz="15611"/>
    <p:restoredTop sz="94610"/>
  </p:normalViewPr>
  <p:slideViewPr>
    <p:cSldViewPr snapToGrid="0" snapToObjects="1">
      <p:cViewPr varScale="1">
        <p:scale>
          <a:sx n="136" d="100"/>
          <a:sy n="136" d="100"/>
        </p:scale>
        <p:origin x="216" y="312"/>
      </p:cViewPr>
      <p:guideLst/>
    </p:cSldViewPr>
  </p:slideViewPr>
  <p:notesTextViewPr>
    <p:cViewPr>
      <p:scale>
        <a:sx n="1" d="1"/>
        <a:sy n="1" d="1"/>
      </p:scale>
      <p:origin x="0" y="0"/>
    </p:cViewPr>
  </p:notesTextViewPr>
  <p:gridSpacing cx="76200" cy="76200"/>
</p:viewPr>
</file>

<file path=ppt/_rels/presentation.xml.rels><?xml version="1.0" encoding="UTF-8" standalone="yes"?>
<Relationships xmlns="http://schemas.openxmlformats.org/package/2006/relationships"><Relationship Id="rId1" Type="http://schemas.openxmlformats.org/officeDocument/2006/relationships/slideMaster" Target="slideMasters/slideMaster1.xml"/><Relationship Id="rId2" Type="http://schemas.openxmlformats.org/officeDocument/2006/relationships/slide" Target="slides/slide1.xml"/><Relationship Id="rId3" Type="http://schemas.openxmlformats.org/officeDocument/2006/relationships/slide" Target="slides/slide2.xml"/><Relationship Id="rId4" Type="http://schemas.openxmlformats.org/officeDocument/2006/relationships/slide" Target="slides/slide3.xml"/><Relationship Id="rId5" Type="http://schemas.openxmlformats.org/officeDocument/2006/relationships/slide" Target="slides/slide4.xml"/><Relationship Id="rId6" Type="http://schemas.openxmlformats.org/officeDocument/2006/relationships/slide" Target="slides/slide5.xml"/><Relationship Id="rId7" Type="http://schemas.openxmlformats.org/officeDocument/2006/relationships/slide" Target="slides/slide6.xml"/><Relationship Id="rId8" Type="http://schemas.openxmlformats.org/officeDocument/2006/relationships/slide" Target="slides/slide7.xml"/><Relationship Id="rId9" Type="http://schemas.openxmlformats.org/officeDocument/2006/relationships/slide" Target="slides/slide8.xml"/><Relationship Id="rId10" Type="http://schemas.openxmlformats.org/officeDocument/2006/relationships/slide" Target="slides/slide9.xml"/><Relationship Id="rId11" Type="http://schemas.openxmlformats.org/officeDocument/2006/relationships/slide" Target="slides/slide10.xml"/><Relationship Id="rId12" Type="http://schemas.openxmlformats.org/officeDocument/2006/relationships/slide" Target="slides/slide11.xml"/><Relationship Id="rId13" Type="http://schemas.openxmlformats.org/officeDocument/2006/relationships/slide" Target="slides/slide12.xml"/><Relationship Id="rId14" Type="http://schemas.openxmlformats.org/officeDocument/2006/relationships/slide" Target="slides/slide13.xml"/><Relationship Id="rId15" Type="http://schemas.openxmlformats.org/officeDocument/2006/relationships/slide" Target="slides/slide14.xml"/><Relationship Id="rId16" Type="http://schemas.openxmlformats.org/officeDocument/2006/relationships/slide" Target="slides/slide15.xml"/><Relationship Id="rId17" Type="http://schemas.openxmlformats.org/officeDocument/2006/relationships/slide" Target="slides/slide16.xml"/><Relationship Id="rId18" Type="http://schemas.openxmlformats.org/officeDocument/2006/relationships/notesMaster" Target="notesMasters/notesMaster1.xml"/><Relationship Id="rId19" Type="http://schemas.openxmlformats.org/officeDocument/2006/relationships/presProps" Target="presProps.xml"/><Relationship Id="rId20" Type="http://schemas.openxmlformats.org/officeDocument/2006/relationships/viewProps" Target="viewProps.xml"/><Relationship Id="rId21" Type="http://schemas.openxmlformats.org/officeDocument/2006/relationships/theme" Target="theme/theme1.xml"/><Relationship Id="rId22" Type="http://schemas.openxmlformats.org/officeDocument/2006/relationships/tableStyles" Target="tableStyles.xml"/></Relationships>
</file>

<file path=ppt/notesMasters/_rels/notesMaster1.xml.rels><?xml version="1.0" encoding="UTF-8" standalone="yes"?>
<Relationships xmlns="http://schemas.openxmlformats.org/package/2006/relationships">
		<Relationship Id="rId1" Type="http://schemas.openxmlformats.org/officeDocument/2006/relationships/theme" Target="../theme/theme1.xml"/>
		</Relationships>
</file>

<file path=ppt/notesMasters/notesMaster1.xml><?xml version="1.0" encoding="utf-8"?>
<p:notesMaster xmlns:a="http://schemas.openxmlformats.org/drawingml/2006/main" xmlns:r="http://schemas.openxmlformats.org/officeDocument/2006/relationships" xmlns:p="http://schemas.openxmlformats.org/presentationml/2006/main">
  <p:cSld>
    <p:bg>
      <p:bgRef idx="1001">
        <a:schemeClr val="bg1"/>
      </p:bgRef>
    </p:bg>
    <p:spTree>
      <p:nvGrpSpPr>
        <p:cNvPr id="1" name=""/>
        <p:cNvGrpSpPr/>
        <p:nvPr/>
      </p:nvGrpSpPr>
      <p:grpSpPr>
        <a:xfrm>
          <a:off x="0" y="0"/>
          <a:ext cx="0" cy="0"/>
          <a:chOff x="0" y="0"/>
          <a:chExt cx="0" cy="0"/>
        </a:xfrm>
      </p:grpSpPr>
      <p:sp>
        <p:nvSpPr>
          <p:cNvPr id="2" name="Header Placeholder 1"/>
          <p:cNvSpPr>
            <a:spLocks noGrp="1"/>
          </p:cNvSpPr>
          <p:nvPr>
            <p:ph type="hdr" sz="quarter"/>
          </p:nvPr>
        </p:nvSpPr>
        <p:spPr>
          <a:xfrm>
            <a:off x="0" y="0"/>
            <a:ext cx="2971800" cy="458788"/>
          </a:xfrm>
          <a:prstGeom prst="rect">
            <a:avLst/>
          </a:prstGeom>
        </p:spPr>
        <p:txBody>
          <a:bodyPr vert="horz" lIns="91440" tIns="45720" rIns="91440" bIns="45720" rtlCol="0"/>
          <a:lstStyle>
            <a:lvl1pPr algn="l">
              <a:defRPr sz="1200"/>
            </a:lvl1pPr>
          </a:lstStyle>
          <a:p>
            <a:endParaRPr lang="en-US"/>
          </a:p>
        </p:txBody>
      </p:sp>
      <p:sp>
        <p:nvSpPr>
          <p:cNvPr id="3" name="Date Placeholder 2"/>
          <p:cNvSpPr>
            <a:spLocks noGrp="1"/>
          </p:cNvSpPr>
          <p:nvPr>
            <p:ph type="dt" idx="1"/>
          </p:nvPr>
        </p:nvSpPr>
        <p:spPr>
          <a:xfrm>
            <a:off x="3884613" y="0"/>
            <a:ext cx="2971800" cy="458788"/>
          </a:xfrm>
          <a:prstGeom prst="rect">
            <a:avLst/>
          </a:prstGeom>
        </p:spPr>
        <p:txBody>
          <a:bodyPr vert="horz" lIns="91440" tIns="45720" rIns="91440" bIns="45720" rtlCol="0"/>
          <a:lstStyle>
            <a:lvl1pPr algn="r">
              <a:defRPr sz="1200"/>
            </a:lvl1pPr>
          </a:lstStyle>
          <a:p>
            <a:fld id="{5282F153-3F37-0F45-9E97-73ACFA13230C}" type="datetimeFigureOut">
              <a:rPr lang="en-US"/>
              <a:t>7/23/19</a:t>
            </a:fld>
            <a:endParaRPr lang="en-US"/>
          </a:p>
        </p:txBody>
      </p:sp>
      <p:sp>
        <p:nvSpPr>
          <p:cNvPr id="4" name="Slide Image Placeholder 3"/>
          <p:cNvSpPr>
            <a:spLocks noGrp="1" noRot="1" noChangeAspect="1"/>
          </p:cNvSpPr>
          <p:nvPr>
            <p:ph type="sldImg" idx="2"/>
          </p:nvPr>
        </p:nvSpPr>
        <p:spPr>
          <a:xfrm>
            <a:off x="685800" y="1143000"/>
            <a:ext cx="5486400" cy="3086100"/>
          </a:xfrm>
          <a:prstGeom prst="rect">
            <a:avLst/>
          </a:prstGeom>
          <a:noFill/>
          <a:ln w="12700">
            <a:solidFill>
              <a:prstClr val="black"/>
            </a:solidFill>
          </a:ln>
        </p:spPr>
        <p:txBody>
          <a:bodyPr vert="horz" lIns="91440" tIns="45720" rIns="91440" bIns="45720" rtlCol="0" anchor="ctr"/>
          <a:lstStyle/>
          <a:p>
            <a:endParaRPr lang="en-US"/>
          </a:p>
        </p:txBody>
      </p:sp>
      <p:sp>
        <p:nvSpPr>
          <p:cNvPr id="5" name="Notes Placeholder 4"/>
          <p:cNvSpPr>
            <a:spLocks noGrp="1"/>
          </p:cNvSpPr>
          <p:nvPr>
            <p:ph type="body" sz="quarter" idx="3"/>
          </p:nvPr>
        </p:nvSpPr>
        <p:spPr>
          <a:xfrm>
            <a:off x="685800" y="4400550"/>
            <a:ext cx="5486400" cy="3600450"/>
          </a:xfrm>
          <a:prstGeom prst="rect">
            <a:avLst/>
          </a:prstGeom>
        </p:spPr>
        <p:txBody>
          <a:bodyPr vert="horz" lIns="91440" tIns="45720" rIns="91440" bIns="45720" rtlCol="0"/>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p>
        </p:txBody>
      </p:sp>
      <p:sp>
        <p:nvSpPr>
          <p:cNvPr id="6" name="Footer Placeholder 5"/>
          <p:cNvSpPr>
            <a:spLocks noGrp="1"/>
          </p:cNvSpPr>
          <p:nvPr>
            <p:ph type="ftr" sz="quarter" idx="4"/>
          </p:nvPr>
        </p:nvSpPr>
        <p:spPr>
          <a:xfrm>
            <a:off x="0" y="8685213"/>
            <a:ext cx="2971800" cy="458787"/>
          </a:xfrm>
          <a:prstGeom prst="rect">
            <a:avLst/>
          </a:prstGeom>
        </p:spPr>
        <p:txBody>
          <a:bodyPr vert="horz" lIns="91440" tIns="45720" rIns="91440" bIns="45720" rtlCol="0" anchor="b"/>
          <a:lstStyle>
            <a:lvl1pPr algn="l">
              <a:defRPr sz="1200"/>
            </a:lvl1pPr>
          </a:lstStyle>
          <a:p>
            <a:endParaRPr lang="en-US"/>
          </a:p>
        </p:txBody>
      </p:sp>
      <p:sp>
        <p:nvSpPr>
          <p:cNvPr id="7" name="Slide Number Placeholder 6"/>
          <p:cNvSpPr>
            <a:spLocks noGrp="1"/>
          </p:cNvSpPr>
          <p:nvPr>
            <p:ph type="sldNum" sz="quarter" idx="5"/>
          </p:nvPr>
        </p:nvSpPr>
        <p:spPr>
          <a:xfrm>
            <a:off x="3884613" y="8685213"/>
            <a:ext cx="2971800" cy="458787"/>
          </a:xfrm>
          <a:prstGeom prst="rect">
            <a:avLst/>
          </a:prstGeom>
        </p:spPr>
        <p:txBody>
          <a:bodyPr vert="horz" lIns="91440" tIns="45720" rIns="91440" bIns="45720" rtlCol="0" anchor="b"/>
          <a:lstStyle>
            <a:lvl1pPr algn="r">
              <a:defRPr sz="1200"/>
            </a:lvl1pPr>
          </a:lstStyle>
          <a:p>
            <a:fld id="{CE5E9CC1-C706-0F49-92D6-E571CC5EEA8F}" type="slidenum">
              <a:rPr lang="en-US"/>
              <a:t>‹#›</a:t>
            </a:fld>
            <a:endParaRPr lang="en-US"/>
          </a:p>
        </p:txBody>
      </p:sp>
    </p:spTree>
    <p:extLst>
      <p:ext uri="{BB962C8B-B14F-4D97-AF65-F5344CB8AC3E}">
        <p14:creationId xmlns:p14="http://schemas.microsoft.com/office/powerpoint/2010/main" val="1024086991"/>
      </p:ext>
    </p:extLst>
  </p:cSld>
  <p:clrMap bg1="lt1" tx1="dk1" bg2="lt2" tx2="dk2" accent1="accent1" accent2="accent2" accent3="accent3" accent4="accent4" accent5="accent5" accent6="accent6" hlink="hlink" folHlink="folHlink"/>
  <p:notesStyle>
    <a:lvl1pPr marL="0" algn="l" defTabSz="914400" rtl="0" eaLnBrk="1" latinLnBrk="0" hangingPunct="1">
      <a:defRPr sz="1200" kern="1200">
        <a:solidFill>
          <a:schemeClr val="tx1"/>
        </a:solidFill>
        <a:latin typeface="+mn-lt"/>
        <a:ea typeface="+mn-ea"/>
        <a:cs typeface="+mn-cs"/>
      </a:defRPr>
    </a:lvl1pPr>
    <a:lvl2pPr marL="457200" algn="l" defTabSz="914400" rtl="0" eaLnBrk="1" latinLnBrk="0" hangingPunct="1">
      <a:defRPr sz="1200" kern="1200">
        <a:solidFill>
          <a:schemeClr val="tx1"/>
        </a:solidFill>
        <a:latin typeface="+mn-lt"/>
        <a:ea typeface="+mn-ea"/>
        <a:cs typeface="+mn-cs"/>
      </a:defRPr>
    </a:lvl2pPr>
    <a:lvl3pPr marL="914400" algn="l" defTabSz="914400" rtl="0" eaLnBrk="1" latinLnBrk="0" hangingPunct="1">
      <a:defRPr sz="1200" kern="1200">
        <a:solidFill>
          <a:schemeClr val="tx1"/>
        </a:solidFill>
        <a:latin typeface="+mn-lt"/>
        <a:ea typeface="+mn-ea"/>
        <a:cs typeface="+mn-cs"/>
      </a:defRPr>
    </a:lvl3pPr>
    <a:lvl4pPr marL="1371600" algn="l" defTabSz="914400" rtl="0" eaLnBrk="1" latinLnBrk="0" hangingPunct="1">
      <a:defRPr sz="1200" kern="1200">
        <a:solidFill>
          <a:schemeClr val="tx1"/>
        </a:solidFill>
        <a:latin typeface="+mn-lt"/>
        <a:ea typeface="+mn-ea"/>
        <a:cs typeface="+mn-cs"/>
      </a:defRPr>
    </a:lvl4pPr>
    <a:lvl5pPr marL="1828800" algn="l" defTabSz="914400" rtl="0" eaLnBrk="1" latinLnBrk="0" hangingPunct="1">
      <a:defRPr sz="1200" kern="1200">
        <a:solidFill>
          <a:schemeClr val="tx1"/>
        </a:solidFill>
        <a:latin typeface="+mn-lt"/>
        <a:ea typeface="+mn-ea"/>
        <a:cs typeface="+mn-cs"/>
      </a:defRPr>
    </a:lvl5pPr>
    <a:lvl6pPr marL="2286000" algn="l" defTabSz="914400" rtl="0" eaLnBrk="1" latinLnBrk="0" hangingPunct="1">
      <a:defRPr sz="1200" kern="1200">
        <a:solidFill>
          <a:schemeClr val="tx1"/>
        </a:solidFill>
        <a:latin typeface="+mn-lt"/>
        <a:ea typeface="+mn-ea"/>
        <a:cs typeface="+mn-cs"/>
      </a:defRPr>
    </a:lvl6pPr>
    <a:lvl7pPr marL="2743200" algn="l" defTabSz="914400" rtl="0" eaLnBrk="1" latinLnBrk="0" hangingPunct="1">
      <a:defRPr sz="1200" kern="1200">
        <a:solidFill>
          <a:schemeClr val="tx1"/>
        </a:solidFill>
        <a:latin typeface="+mn-lt"/>
        <a:ea typeface="+mn-ea"/>
        <a:cs typeface="+mn-cs"/>
      </a:defRPr>
    </a:lvl7pPr>
    <a:lvl8pPr marL="3200400" algn="l" defTabSz="914400" rtl="0" eaLnBrk="1" latinLnBrk="0" hangingPunct="1">
      <a:defRPr sz="1200" kern="1200">
        <a:solidFill>
          <a:schemeClr val="tx1"/>
        </a:solidFill>
        <a:latin typeface="+mn-lt"/>
        <a:ea typeface="+mn-ea"/>
        <a:cs typeface="+mn-cs"/>
      </a:defRPr>
    </a:lvl8pPr>
    <a:lvl9pPr marL="3657600" algn="l" defTabSz="914400" rtl="0" eaLnBrk="1" latinLnBrk="0" hangingPunct="1">
      <a:defRPr sz="1200" kern="1200">
        <a:solidFill>
          <a:schemeClr val="tx1"/>
        </a:solidFill>
        <a:latin typeface="+mn-lt"/>
        <a:ea typeface="+mn-ea"/>
        <a:cs typeface="+mn-cs"/>
      </a:defRPr>
    </a:lvl9pPr>
  </p:notesStyle>
</p:notesMaster>
</file>

<file path=ppt/notesSlides/_rels/notesSlide1.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xml"/>
		</Relationships>
</file>

<file path=ppt/notesSlides/_rels/notesSlide2.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2.xml"/>
		</Relationships>
</file>

<file path=ppt/notesSlides/_rels/notesSlide3.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3.xml"/>
		</Relationships>
</file>

<file path=ppt/notesSlides/_rels/notesSlide4.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4.xml"/>
		</Relationships>
</file>

<file path=ppt/notesSlides/_rels/notesSlide5.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5.xml"/>
		</Relationships>
</file>

<file path=ppt/notesSlides/_rels/notesSlide6.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6.xml"/>
		</Relationships>
</file>

<file path=ppt/notesSlides/_rels/notesSlide7.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7.xml"/>
		</Relationships>
</file>

<file path=ppt/notesSlides/_rels/notesSlide8.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8.xml"/>
		</Relationships>
</file>

<file path=ppt/notesSlides/_rels/notesSlide9.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9.xml"/>
		</Relationships>
</file>

<file path=ppt/notesSlides/_rels/notesSlide10.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0.xml"/>
		</Relationships>
</file>

<file path=ppt/notesSlides/_rels/notesSlide11.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1.xml"/>
		</Relationships>
</file>

<file path=ppt/notesSlides/_rels/notesSlide12.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2.xml"/>
		</Relationships>
</file>

<file path=ppt/notesSlides/_rels/notesSlide13.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3.xml"/>
		</Relationships>
</file>

<file path=ppt/notesSlides/_rels/notesSlide14.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4.xml"/>
		</Relationships>
</file>

<file path=ppt/notesSlides/_rels/notesSlide15.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5.xml"/>
		</Relationships>
</file>

<file path=ppt/notesSlides/_rels/notesSlide16.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6.xml"/>
		</Relationships>
</file>

<file path=ppt/notesSlides/notesSlide1.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Framing: everything in this talk is measured on the repo linked below, and every command runs with no Nx Cloud account. Promise the audience three numbers: ~1m33s, ~40s, and 0.15s. Re-measure on your own machine the morning of the talk.</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Sections 03 and 05 are the new material versus the last time I gave this talk.</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2</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3.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Run `npx nx e2e shop-e2e` before the talk so the number on screen is one they just watched.</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3</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4.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Keep this short — 60 seconds. The hashing bullet is the one that pays off in section 05.</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4</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5.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Stress "generated". Nobody maintains this list — that is the difference from hand-rolled spec sharding.</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5</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6.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Do this live. Piping through `npm run e2e:targets` gives a cleaner list if the JSON is too wide for the screen.</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6</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7.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This is the slide that did not exist last time. Nx 23 added the guard. Show the error live, then immediately run one atomized target directly to prove the split itself is free.</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7</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8.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Run it live. Forty seconds is short enough to actually watch the specs stream past. Timings vary run to run — say "about forty seconds", not a precise figure.</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8</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9.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Being upfront about the overhead buys credibility for the cache claims coming next.</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9</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0.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Hit up-arrow and enter. The whole point is that it returns before you finish the sentence.</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10</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1.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Be honest about 37→28: the two seeded failures are the two slowest specs and each still boots Cypress. The saving scales with how many specs pass — on 200 specs with 3 failures it is enormous.</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11</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2.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If you want the "everything re-runs" version instead, run nx reset before this step.</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12</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3.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Do not oversell. The argument is that the free tier of this idea is unclaimed, not that the paid product is pointless.</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13</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4.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Good slide to leave up during questions. Items 3 and 4 both bit this repo on its first CI run — worth telling as war stories rather than reading out.</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14</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5.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Land on number four. Most teams pay the slow-suite tax without ever having tried the free half of this.</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15</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6.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Leave the clone command up for the whole Q&amp;A.</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16</a:t>
            </a:fld>
            <a:endParaRPr lang="en-US"/>
          </a:p>
        </p:txBody>
      </p:sp>
    </p:spTree>
    <p:extLst>
      <p:ext uri="{BB962C8B-B14F-4D97-AF65-F5344CB8AC3E}">
        <p14:creationId xmlns:p14="http://schemas.microsoft.com/office/powerpoint/2010/main" val="1024086991"/>
      </p:ext>
    </p:extLst>
  </p:cSld>
  <p:clrMapOvr>
    <a:masterClrMapping/>
  </p:clrMapOvr>
</p:notes>
</file>

<file path=ppt/slideLayouts/_rels/slideLayout1.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slideLayout1.xml><?xml version="1.0" encoding="utf-8"?>
<p:sldLayout xmlns:a="http://schemas.openxmlformats.org/drawingml/2006/main" xmlns:r="http://schemas.openxmlformats.org/officeDocument/2006/relationships" xmlns:p="http://schemas.openxmlformats.org/presentationml/2006/main" preserve="1">
  <p:cSld name="DEFAULT">
    <p:bg>
      <p:bgRef idx="1001">
        <a:schemeClr val="bg1"/>
      </p:bgRef>
    </p:bg>
    <p:spTree>
      <p:nvGrpSpPr>
        <p:cNvPr id="1" name=""/>
        <p:cNvGrpSpPr/>
        <p:nvPr/>
      </p:nvGrpSpPr>
      <p:grpSpPr>
        <a:xfrm>
          <a:off x="0" y="0"/>
          <a:ext cx="0" cy="0"/>
          <a:chOff x="0" y="0"/>
          <a:chExt cx="0" cy="0"/>
        </a:xfrm>
      </p:grpSpPr>
    </p:spTree>
  </p:cSld>
  <p:clrMapOvr>
    <a:masterClrMapping/>
  </p:clrMapOvr>
</p:sldLayout>
</file>

<file path=ppt/slideMasters/_rels/slideMaster1.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theme" Target="../theme/theme1.xml"/></Relationships>
</file>

<file path=ppt/slideMasters/slideMaster1.xml><?xml version="1.0" encoding="utf-8"?>
<p:sldMaster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Tree>
  </p:cSld>
  <p:clrMap bg1="lt1" tx1="dk1" bg2="lt2" tx2="dk2" accent1="accent1" accent2="accent2" accent3="accent3" accent4="accent4" accent5="accent5" accent6="accent6" hlink="hlink" folHlink="folHlink"/>
  <p:sldLayoutIdLst>
    <p:sldLayoutId id="2147483649" r:id="rId1"/>
  </p:sldLayoutIdLst>
  <p:hf sldNum="0" hdr="0" ftr="0" dt="0"/>
  <p:txStyles>
    <p:titleStyle>
      <a:lvl1pPr algn="ctr" defTabSz="914400" rtl="0" eaLnBrk="1" latinLnBrk="0" hangingPunct="1">
        <a:spcBef>
          <a:spcPct val="0"/>
        </a:spcBef>
        <a:buNone/>
        <a:defRPr sz="4400" kern="1200">
          <a:solidFill>
            <a:schemeClr val="tx1"/>
          </a:solidFill>
          <a:latin typeface="+mj-lt"/>
          <a:ea typeface="+mj-ea"/>
          <a:cs typeface="+mj-cs"/>
        </a:defRPr>
      </a:lvl1pPr>
    </p:titleStyle>
    <p:bodyStyle>
      <a:lvl1pPr marL="342900" indent="-342900" algn="l" defTabSz="914400" rtl="0" eaLnBrk="1" latinLnBrk="0" hangingPunct="1">
        <a:spcBef>
          <a:spcPct val="20000"/>
        </a:spcBef>
        <a:buFont typeface="Arial" pitchFamily="34" charset="0"/>
        <a:buChar char="•"/>
        <a:defRPr sz="3200" kern="1200">
          <a:solidFill>
            <a:schemeClr val="tx1"/>
          </a:solidFill>
          <a:latin typeface="+mn-lt"/>
          <a:ea typeface="+mn-ea"/>
          <a:cs typeface="+mn-cs"/>
        </a:defRPr>
      </a:lvl1pPr>
      <a:lvl2pPr marL="742950" indent="-285750" algn="l" defTabSz="914400" rtl="0" eaLnBrk="1" latinLnBrk="0" hangingPunct="1">
        <a:spcBef>
          <a:spcPct val="20000"/>
        </a:spcBef>
        <a:buFont typeface="Arial" pitchFamily="34" charset="0"/>
        <a:buChar char="–"/>
        <a:defRPr sz="2800" kern="1200">
          <a:solidFill>
            <a:schemeClr val="tx1"/>
          </a:solidFill>
          <a:latin typeface="+mn-lt"/>
          <a:ea typeface="+mn-ea"/>
          <a:cs typeface="+mn-cs"/>
        </a:defRPr>
      </a:lvl2pPr>
      <a:lvl3pPr marL="1143000" indent="-228600" algn="l" defTabSz="914400" rtl="0" eaLnBrk="1" latinLnBrk="0" hangingPunct="1">
        <a:spcBef>
          <a:spcPct val="20000"/>
        </a:spcBef>
        <a:buFont typeface="Arial" pitchFamily="34" charset="0"/>
        <a:buChar char="•"/>
        <a:defRPr sz="2400" kern="1200">
          <a:solidFill>
            <a:schemeClr val="tx1"/>
          </a:solidFill>
          <a:latin typeface="+mn-lt"/>
          <a:ea typeface="+mn-ea"/>
          <a:cs typeface="+mn-cs"/>
        </a:defRPr>
      </a:lvl3pPr>
      <a:lvl4pPr marL="16002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4pPr>
      <a:lvl5pPr marL="20574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5pPr>
      <a:lvl6pPr marL="25146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6pPr>
      <a:lvl7pPr marL="29718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7pPr>
      <a:lvl8pPr marL="34290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8pPr>
      <a:lvl9pPr marL="38862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9pPr>
    </p:bodyStyle>
    <p:otherStyle>
      <a:defPPr>
        <a:defRPr lang="en-US"/>
      </a:defPPr>
      <a:lvl1pPr marL="0" algn="l" defTabSz="914400" rtl="0" eaLnBrk="1" latinLnBrk="0" hangingPunct="1">
        <a:defRPr sz="1800" kern="1200">
          <a:solidFill>
            <a:schemeClr val="tx1"/>
          </a:solidFill>
          <a:latin typeface="+mn-lt"/>
          <a:ea typeface="+mn-ea"/>
          <a:cs typeface="+mn-cs"/>
        </a:defRPr>
      </a:lvl1pPr>
      <a:lvl2pPr marL="457200" algn="l" defTabSz="914400" rtl="0" eaLnBrk="1" latinLnBrk="0" hangingPunct="1">
        <a:defRPr sz="1800" kern="1200">
          <a:solidFill>
            <a:schemeClr val="tx1"/>
          </a:solidFill>
          <a:latin typeface="+mn-lt"/>
          <a:ea typeface="+mn-ea"/>
          <a:cs typeface="+mn-cs"/>
        </a:defRPr>
      </a:lvl2pPr>
      <a:lvl3pPr marL="914400" algn="l" defTabSz="914400" rtl="0" eaLnBrk="1" latinLnBrk="0" hangingPunct="1">
        <a:defRPr sz="1800" kern="1200">
          <a:solidFill>
            <a:schemeClr val="tx1"/>
          </a:solidFill>
          <a:latin typeface="+mn-lt"/>
          <a:ea typeface="+mn-ea"/>
          <a:cs typeface="+mn-cs"/>
        </a:defRPr>
      </a:lvl3pPr>
      <a:lvl4pPr marL="1371600" algn="l" defTabSz="914400" rtl="0" eaLnBrk="1" latinLnBrk="0" hangingPunct="1">
        <a:defRPr sz="1800" kern="1200">
          <a:solidFill>
            <a:schemeClr val="tx1"/>
          </a:solidFill>
          <a:latin typeface="+mn-lt"/>
          <a:ea typeface="+mn-ea"/>
          <a:cs typeface="+mn-cs"/>
        </a:defRPr>
      </a:lvl4pPr>
      <a:lvl5pPr marL="1828800" algn="l" defTabSz="914400" rtl="0" eaLnBrk="1" latinLnBrk="0" hangingPunct="1">
        <a:defRPr sz="1800" kern="1200">
          <a:solidFill>
            <a:schemeClr val="tx1"/>
          </a:solidFill>
          <a:latin typeface="+mn-lt"/>
          <a:ea typeface="+mn-ea"/>
          <a:cs typeface="+mn-cs"/>
        </a:defRPr>
      </a:lvl5pPr>
      <a:lvl6pPr marL="2286000" algn="l" defTabSz="914400" rtl="0" eaLnBrk="1" latinLnBrk="0" hangingPunct="1">
        <a:defRPr sz="1800" kern="1200">
          <a:solidFill>
            <a:schemeClr val="tx1"/>
          </a:solidFill>
          <a:latin typeface="+mn-lt"/>
          <a:ea typeface="+mn-ea"/>
          <a:cs typeface="+mn-cs"/>
        </a:defRPr>
      </a:lvl6pPr>
      <a:lvl7pPr marL="2743200" algn="l" defTabSz="914400" rtl="0" eaLnBrk="1" latinLnBrk="0" hangingPunct="1">
        <a:defRPr sz="1800" kern="1200">
          <a:solidFill>
            <a:schemeClr val="tx1"/>
          </a:solidFill>
          <a:latin typeface="+mn-lt"/>
          <a:ea typeface="+mn-ea"/>
          <a:cs typeface="+mn-cs"/>
        </a:defRPr>
      </a:lvl7pPr>
      <a:lvl8pPr marL="3200400" algn="l" defTabSz="914400" rtl="0" eaLnBrk="1" latinLnBrk="0" hangingPunct="1">
        <a:defRPr sz="1800" kern="1200">
          <a:solidFill>
            <a:schemeClr val="tx1"/>
          </a:solidFill>
          <a:latin typeface="+mn-lt"/>
          <a:ea typeface="+mn-ea"/>
          <a:cs typeface="+mn-cs"/>
        </a:defRPr>
      </a:lvl8pPr>
      <a:lvl9pPr marL="3657600" algn="l" defTabSz="914400" rtl="0" eaLnBrk="1" latinLnBrk="0" hangingPunct="1">
        <a:defRPr sz="1800" kern="1200">
          <a:solidFill>
            <a:schemeClr val="tx1"/>
          </a:solidFill>
          <a:latin typeface="+mn-lt"/>
          <a:ea typeface="+mn-ea"/>
          <a:cs typeface="+mn-cs"/>
        </a:defRPr>
      </a:lvl9pPr>
    </p:otherStyle>
  </p:txStyles>
</p:sldMaster>
</file>

<file path=ppt/slides/_rels/slide1.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1.xml"/></Relationships>
</file>

<file path=ppt/slides/_rels/slide2.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2.xml"/></Relationships>
</file>

<file path=ppt/slides/_rels/slide3.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3.xml"/></Relationships>
</file>

<file path=ppt/slides/_rels/slide4.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4.xml"/></Relationships>
</file>

<file path=ppt/slides/_rels/slide5.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5.xml"/></Relationships>
</file>

<file path=ppt/slides/_rels/slide6.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6.xml"/></Relationships>
</file>

<file path=ppt/slides/_rels/slide7.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7.xml"/></Relationships>
</file>

<file path=ppt/slides/_rels/slide8.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8.xml"/></Relationships>
</file>

<file path=ppt/slides/_rels/slide9.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9.xml"/></Relationships>
</file>

<file path=ppt/slides/_rels/slide10.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10.xml"/></Relationships>
</file>

<file path=ppt/slides/_rels/slide11.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11.xml"/></Relationships>
</file>

<file path=ppt/slides/_rels/slide12.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12.xml"/></Relationships>
</file>

<file path=ppt/slides/_rels/slide13.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13.xml"/></Relationships>
</file>

<file path=ppt/slides/_rels/slide14.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14.xml"/></Relationships>
</file>

<file path=ppt/slides/_rels/slide15.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15.xml"/></Relationships>
</file>

<file path=ppt/slides/_rels/slide16.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16.xml"/></Relationships>
</file>

<file path=ppt/slides/slide1.xml><?xml version="1.0" encoding="utf-8"?>
<p:sld xmlns:a="http://schemas.openxmlformats.org/drawingml/2006/main" xmlns:r="http://schemas.openxmlformats.org/officeDocument/2006/relationships" xmlns:p="http://schemas.openxmlformats.org/presentationml/2006/main">
  <p:cSld name="Slide 1">
    <p:bg>
      <p:bgPr>
        <a:solidFill>
          <a:srgbClr val="10131A"/>
        </a:solidFill>
      </p:bgPr>
    </p:bg>
    <p:spTree>
      <p:nvGrpSpPr>
        <p:cNvPr id="1" name=""/>
        <p:cNvGrpSpPr/>
        <p:nvPr/>
      </p:nvGrpSpPr>
      <p:grpSpPr>
        <a:xfrm>
          <a:off x="0" y="0"/>
          <a:ext cx="0" cy="0"/>
          <a:chOff x="0" y="0"/>
          <a:chExt cx="0" cy="0"/>
        </a:xfrm>
      </p:grpSpPr>
      <p:sp>
        <p:nvSpPr>
          <p:cNvPr id="2" name="Text 0"/>
          <p:cNvSpPr txBox="1"/>
          <p:nvPr/>
        </p:nvSpPr>
        <p:spPr>
          <a:xfrm>
            <a:off x="640080" y="1920240"/>
            <a:ext cx="9601200" cy="868680"/>
          </a:xfrm>
          <a:prstGeom prst="rect">
            <a:avLst/>
          </a:prstGeom>
          <a:noFill/>
          <a:ln/>
        </p:spPr>
        <p:txBody>
          <a:bodyPr wrap="square" lIns="0" tIns="0" rIns="0" bIns="0" rtlCol="0" anchor="ctr"/>
          <a:lstStyle/>
          <a:p>
            <a:pPr indent="0" marL="0">
              <a:buNone/>
            </a:pPr>
            <a:r>
              <a:rPr lang="en-US" sz="5400" b="1" dirty="0">
                <a:solidFill>
                  <a:srgbClr val="FFFFFF"/>
                </a:solidFill>
                <a:latin typeface="Cambria" pitchFamily="34" charset="0"/>
                <a:ea typeface="Cambria" pitchFamily="34" charset="-122"/>
                <a:cs typeface="Cambria" pitchFamily="34" charset="-120"/>
              </a:rPr>
              <a:t>Scaling E2E Tests</a:t>
            </a:r>
            <a:endParaRPr lang="en-US" sz="5400" dirty="0"/>
          </a:p>
        </p:txBody>
      </p:sp>
      <p:sp>
        <p:nvSpPr>
          <p:cNvPr id="3" name="Text 1"/>
          <p:cNvSpPr txBox="1"/>
          <p:nvPr/>
        </p:nvSpPr>
        <p:spPr>
          <a:xfrm>
            <a:off x="640080" y="2743200"/>
            <a:ext cx="9601200" cy="868680"/>
          </a:xfrm>
          <a:prstGeom prst="rect">
            <a:avLst/>
          </a:prstGeom>
          <a:noFill/>
          <a:ln/>
        </p:spPr>
        <p:txBody>
          <a:bodyPr wrap="square" lIns="0" tIns="0" rIns="0" bIns="0" rtlCol="0" anchor="ctr"/>
          <a:lstStyle/>
          <a:p>
            <a:pPr indent="0" marL="0">
              <a:buNone/>
            </a:pPr>
            <a:r>
              <a:rPr lang="en-US" sz="5400" b="1" dirty="0">
                <a:solidFill>
                  <a:srgbClr val="4ADE80"/>
                </a:solidFill>
                <a:latin typeface="Cambria" pitchFamily="34" charset="0"/>
                <a:ea typeface="Cambria" pitchFamily="34" charset="-122"/>
                <a:cs typeface="Cambria" pitchFamily="34" charset="-120"/>
              </a:rPr>
              <a:t>the Smart Way with Nx</a:t>
            </a:r>
            <a:endParaRPr lang="en-US" sz="5400" dirty="0"/>
          </a:p>
        </p:txBody>
      </p:sp>
      <p:sp>
        <p:nvSpPr>
          <p:cNvPr id="4" name="Text 2"/>
          <p:cNvSpPr txBox="1"/>
          <p:nvPr/>
        </p:nvSpPr>
        <p:spPr>
          <a:xfrm>
            <a:off x="640080" y="3749040"/>
            <a:ext cx="9601200" cy="411480"/>
          </a:xfrm>
          <a:prstGeom prst="rect">
            <a:avLst/>
          </a:prstGeom>
          <a:noFill/>
          <a:ln/>
        </p:spPr>
        <p:txBody>
          <a:bodyPr wrap="square" lIns="0" tIns="0" rIns="0" bIns="0" rtlCol="0" anchor="ctr"/>
          <a:lstStyle/>
          <a:p>
            <a:pPr indent="0" marL="0">
              <a:buNone/>
            </a:pPr>
            <a:r>
              <a:rPr lang="en-US" sz="1800" dirty="0">
                <a:solidFill>
                  <a:srgbClr val="C3CAD6"/>
                </a:solidFill>
                <a:latin typeface="Calibri" pitchFamily="34" charset="0"/>
                <a:ea typeface="Calibri" pitchFamily="34" charset="-122"/>
                <a:cs typeface="Calibri" pitchFamily="34" charset="-120"/>
              </a:rPr>
              <a:t>Atomizing, parallelising and caching a Cypress suite — without Nx Cloud</a:t>
            </a:r>
            <a:endParaRPr lang="en-US" sz="1800" dirty="0"/>
          </a:p>
        </p:txBody>
      </p:sp>
      <p:sp>
        <p:nvSpPr>
          <p:cNvPr id="5" name="Text 3"/>
          <p:cNvSpPr txBox="1"/>
          <p:nvPr/>
        </p:nvSpPr>
        <p:spPr>
          <a:xfrm>
            <a:off x="640080" y="5120640"/>
            <a:ext cx="5486400" cy="320040"/>
          </a:xfrm>
          <a:prstGeom prst="rect">
            <a:avLst/>
          </a:prstGeom>
          <a:noFill/>
          <a:ln/>
        </p:spPr>
        <p:txBody>
          <a:bodyPr wrap="square" lIns="0" tIns="0" rIns="0" bIns="0" rtlCol="0" anchor="ctr"/>
          <a:lstStyle/>
          <a:p>
            <a:pPr indent="0" marL="0">
              <a:buNone/>
            </a:pPr>
            <a:r>
              <a:rPr lang="en-US" sz="1500" b="1" dirty="0">
                <a:solidFill>
                  <a:srgbClr val="FFFFFF"/>
                </a:solidFill>
                <a:latin typeface="Calibri" pitchFamily="34" charset="0"/>
                <a:ea typeface="Calibri" pitchFamily="34" charset="-122"/>
                <a:cs typeface="Calibri" pitchFamily="34" charset="-120"/>
              </a:rPr>
              <a:t>Vladimir Radzivil</a:t>
            </a:r>
            <a:endParaRPr lang="en-US" sz="1500" dirty="0"/>
          </a:p>
        </p:txBody>
      </p:sp>
      <p:sp>
        <p:nvSpPr>
          <p:cNvPr id="6" name="Text 4"/>
          <p:cNvSpPr txBox="1"/>
          <p:nvPr/>
        </p:nvSpPr>
        <p:spPr>
          <a:xfrm>
            <a:off x="640080" y="5468112"/>
            <a:ext cx="7315200" cy="320040"/>
          </a:xfrm>
          <a:prstGeom prst="rect">
            <a:avLst/>
          </a:prstGeom>
          <a:noFill/>
          <a:ln/>
        </p:spPr>
        <p:txBody>
          <a:bodyPr wrap="square" lIns="0" tIns="0" rIns="0" bIns="0" rtlCol="0" anchor="ctr"/>
          <a:lstStyle/>
          <a:p>
            <a:pPr indent="0" marL="0">
              <a:buNone/>
            </a:pPr>
            <a:r>
              <a:rPr lang="en-US" sz="1200" dirty="0">
                <a:solidFill>
                  <a:srgbClr val="8A94A6"/>
                </a:solidFill>
                <a:latin typeface="Courier New" pitchFamily="34" charset="0"/>
                <a:ea typeface="Courier New" pitchFamily="34" charset="-122"/>
                <a:cs typeface="Courier New" pitchFamily="34" charset="-120"/>
              </a:rPr>
              <a:t>Live demo: github.com/radzivil/nx-scaling-e2e-tests-with-atomizer</a:t>
            </a:r>
            <a:endParaRPr lang="en-US" sz="1200" dirty="0"/>
          </a:p>
        </p:txBody>
      </p:sp>
    </p:spTree>
  </p:cSld>
  <p:clrMapOvr>
    <a:masterClrMapping/>
  </p:clrMapOvr>
</p:sld>
</file>

<file path=ppt/slides/slide2.xml><?xml version="1.0" encoding="utf-8"?>
<p:sld xmlns:a="http://schemas.openxmlformats.org/drawingml/2006/main" xmlns:r="http://schemas.openxmlformats.org/officeDocument/2006/relationships" xmlns:p="http://schemas.openxmlformats.org/presentationml/2006/main">
  <p:cSld name="Slide 2">
    <p:bg>
      <p:bgPr>
        <a:solidFill>
          <a:srgbClr val="10131A"/>
        </a:solidFill>
      </p:bgPr>
    </p:bg>
    <p:spTree>
      <p:nvGrpSpPr>
        <p:cNvPr id="1" name=""/>
        <p:cNvGrpSpPr/>
        <p:nvPr/>
      </p:nvGrpSpPr>
      <p:grpSpPr>
        <a:xfrm>
          <a:off x="0" y="0"/>
          <a:ext cx="0" cy="0"/>
          <a:chOff x="0" y="0"/>
          <a:chExt cx="0" cy="0"/>
        </a:xfrm>
      </p:grpSpPr>
      <p:sp>
        <p:nvSpPr>
          <p:cNvPr id="2" name="Text 0"/>
          <p:cNvSpPr txBox="1"/>
          <p:nvPr/>
        </p:nvSpPr>
        <p:spPr>
          <a:xfrm>
            <a:off x="640080" y="411480"/>
            <a:ext cx="10881360" cy="274320"/>
          </a:xfrm>
          <a:prstGeom prst="rect">
            <a:avLst/>
          </a:prstGeom>
          <a:noFill/>
          <a:ln/>
        </p:spPr>
        <p:txBody>
          <a:bodyPr wrap="square" lIns="0" tIns="0" rIns="0" bIns="0" rtlCol="0" anchor="ctr"/>
          <a:lstStyle/>
          <a:p>
            <a:pPr indent="0" marL="0">
              <a:buNone/>
            </a:pPr>
            <a:r>
              <a:rPr lang="en-US" sz="1200" b="1" spc="250" kern="0" dirty="0">
                <a:solidFill>
                  <a:srgbClr val="4ADE80"/>
                </a:solidFill>
                <a:latin typeface="Calibri" pitchFamily="34" charset="0"/>
                <a:ea typeface="Calibri" pitchFamily="34" charset="-122"/>
                <a:cs typeface="Calibri" pitchFamily="34" charset="-120"/>
              </a:rPr>
              <a:t>AGENDA</a:t>
            </a:r>
            <a:endParaRPr lang="en-US" sz="1200" dirty="0"/>
          </a:p>
        </p:txBody>
      </p:sp>
      <p:sp>
        <p:nvSpPr>
          <p:cNvPr id="3" name="Text 1"/>
          <p:cNvSpPr txBox="1"/>
          <p:nvPr/>
        </p:nvSpPr>
        <p:spPr>
          <a:xfrm>
            <a:off x="640080" y="749808"/>
            <a:ext cx="10881360" cy="731520"/>
          </a:xfrm>
          <a:prstGeom prst="rect">
            <a:avLst/>
          </a:prstGeom>
          <a:noFill/>
          <a:ln/>
        </p:spPr>
        <p:txBody>
          <a:bodyPr wrap="square" lIns="0" tIns="0" rIns="0" bIns="0" rtlCol="0" anchor="ctr"/>
          <a:lstStyle/>
          <a:p>
            <a:pPr indent="0" marL="0">
              <a:buNone/>
            </a:pPr>
            <a:r>
              <a:rPr lang="en-US" sz="3800" b="1" dirty="0">
                <a:solidFill>
                  <a:srgbClr val="FFFFFF"/>
                </a:solidFill>
                <a:latin typeface="Cambria" pitchFamily="34" charset="0"/>
                <a:ea typeface="Cambria" pitchFamily="34" charset="-122"/>
                <a:cs typeface="Cambria" pitchFamily="34" charset="-120"/>
              </a:rPr>
              <a:t>Where this goes</a:t>
            </a:r>
            <a:endParaRPr lang="en-US" sz="3800" dirty="0"/>
          </a:p>
        </p:txBody>
      </p:sp>
      <p:sp>
        <p:nvSpPr>
          <p:cNvPr id="4" name="Text 2"/>
          <p:cNvSpPr txBox="1"/>
          <p:nvPr/>
        </p:nvSpPr>
        <p:spPr>
          <a:xfrm>
            <a:off x="640080" y="1828800"/>
            <a:ext cx="640080" cy="457200"/>
          </a:xfrm>
          <a:prstGeom prst="rect">
            <a:avLst/>
          </a:prstGeom>
          <a:noFill/>
          <a:ln/>
        </p:spPr>
        <p:txBody>
          <a:bodyPr wrap="square" lIns="0" tIns="0" rIns="0" bIns="0" rtlCol="0" anchor="ctr"/>
          <a:lstStyle/>
          <a:p>
            <a:pPr indent="0" marL="0">
              <a:buNone/>
            </a:pPr>
            <a:r>
              <a:rPr lang="en-US" sz="2000" b="1" dirty="0">
                <a:solidFill>
                  <a:srgbClr val="4ADE80"/>
                </a:solidFill>
                <a:latin typeface="Courier New" pitchFamily="34" charset="0"/>
                <a:ea typeface="Courier New" pitchFamily="34" charset="-122"/>
                <a:cs typeface="Courier New" pitchFamily="34" charset="-120"/>
              </a:rPr>
              <a:t>01</a:t>
            </a:r>
            <a:endParaRPr lang="en-US" sz="2000" dirty="0"/>
          </a:p>
        </p:txBody>
      </p:sp>
      <p:sp>
        <p:nvSpPr>
          <p:cNvPr id="5" name="Text 3"/>
          <p:cNvSpPr txBox="1"/>
          <p:nvPr/>
        </p:nvSpPr>
        <p:spPr>
          <a:xfrm>
            <a:off x="1325880" y="1828800"/>
            <a:ext cx="4480560" cy="347472"/>
          </a:xfrm>
          <a:prstGeom prst="rect">
            <a:avLst/>
          </a:prstGeom>
          <a:noFill/>
          <a:ln/>
        </p:spPr>
        <p:txBody>
          <a:bodyPr wrap="square" lIns="0" tIns="0" rIns="0" bIns="0" rtlCol="0" anchor="ctr"/>
          <a:lstStyle/>
          <a:p>
            <a:pPr indent="0" marL="0">
              <a:buNone/>
            </a:pPr>
            <a:r>
              <a:rPr lang="en-US" sz="1800" b="1" dirty="0">
                <a:solidFill>
                  <a:srgbClr val="FFFFFF"/>
                </a:solidFill>
                <a:latin typeface="Calibri" pitchFamily="34" charset="0"/>
                <a:ea typeface="Calibri" pitchFamily="34" charset="-122"/>
                <a:cs typeface="Calibri" pitchFamily="34" charset="-120"/>
              </a:rPr>
              <a:t>The problem</a:t>
            </a:r>
            <a:endParaRPr lang="en-US" sz="1800" dirty="0"/>
          </a:p>
        </p:txBody>
      </p:sp>
      <p:sp>
        <p:nvSpPr>
          <p:cNvPr id="6" name="Text 4"/>
          <p:cNvSpPr txBox="1"/>
          <p:nvPr/>
        </p:nvSpPr>
        <p:spPr>
          <a:xfrm>
            <a:off x="1325880" y="2176272"/>
            <a:ext cx="4480560" cy="457200"/>
          </a:xfrm>
          <a:prstGeom prst="rect">
            <a:avLst/>
          </a:prstGeom>
          <a:noFill/>
          <a:ln/>
        </p:spPr>
        <p:txBody>
          <a:bodyPr wrap="square" lIns="0" tIns="0" rIns="0" bIns="0" rtlCol="0" anchor="ctr"/>
          <a:lstStyle/>
          <a:p>
            <a:pPr indent="0" marL="0">
              <a:buNone/>
            </a:pPr>
            <a:r>
              <a:rPr lang="en-US" sz="1300" dirty="0">
                <a:solidFill>
                  <a:srgbClr val="8A94A6"/>
                </a:solidFill>
                <a:latin typeface="Calibri" pitchFamily="34" charset="0"/>
                <a:ea typeface="Calibri" pitchFamily="34" charset="-122"/>
                <a:cs typeface="Calibri" pitchFamily="34" charset="-120"/>
              </a:rPr>
              <a:t>E2E is the slowest signal you have</a:t>
            </a:r>
            <a:endParaRPr lang="en-US" sz="1300" dirty="0"/>
          </a:p>
        </p:txBody>
      </p:sp>
      <p:sp>
        <p:nvSpPr>
          <p:cNvPr id="7" name="Text 5"/>
          <p:cNvSpPr txBox="1"/>
          <p:nvPr/>
        </p:nvSpPr>
        <p:spPr>
          <a:xfrm>
            <a:off x="6263640" y="1828800"/>
            <a:ext cx="640080" cy="457200"/>
          </a:xfrm>
          <a:prstGeom prst="rect">
            <a:avLst/>
          </a:prstGeom>
          <a:noFill/>
          <a:ln/>
        </p:spPr>
        <p:txBody>
          <a:bodyPr wrap="square" lIns="0" tIns="0" rIns="0" bIns="0" rtlCol="0" anchor="ctr"/>
          <a:lstStyle/>
          <a:p>
            <a:pPr indent="0" marL="0">
              <a:buNone/>
            </a:pPr>
            <a:r>
              <a:rPr lang="en-US" sz="2000" b="1" dirty="0">
                <a:solidFill>
                  <a:srgbClr val="4ADE80"/>
                </a:solidFill>
                <a:latin typeface="Courier New" pitchFamily="34" charset="0"/>
                <a:ea typeface="Courier New" pitchFamily="34" charset="-122"/>
                <a:cs typeface="Courier New" pitchFamily="34" charset="-120"/>
              </a:rPr>
              <a:t>02</a:t>
            </a:r>
            <a:endParaRPr lang="en-US" sz="2000" dirty="0"/>
          </a:p>
        </p:txBody>
      </p:sp>
      <p:sp>
        <p:nvSpPr>
          <p:cNvPr id="8" name="Text 6"/>
          <p:cNvSpPr txBox="1"/>
          <p:nvPr/>
        </p:nvSpPr>
        <p:spPr>
          <a:xfrm>
            <a:off x="6949440" y="1828800"/>
            <a:ext cx="4480560" cy="347472"/>
          </a:xfrm>
          <a:prstGeom prst="rect">
            <a:avLst/>
          </a:prstGeom>
          <a:noFill/>
          <a:ln/>
        </p:spPr>
        <p:txBody>
          <a:bodyPr wrap="square" lIns="0" tIns="0" rIns="0" bIns="0" rtlCol="0" anchor="ctr"/>
          <a:lstStyle/>
          <a:p>
            <a:pPr indent="0" marL="0">
              <a:buNone/>
            </a:pPr>
            <a:r>
              <a:rPr lang="en-US" sz="1800" b="1" dirty="0">
                <a:solidFill>
                  <a:srgbClr val="FFFFFF"/>
                </a:solidFill>
                <a:latin typeface="Calibri" pitchFamily="34" charset="0"/>
                <a:ea typeface="Calibri" pitchFamily="34" charset="-122"/>
                <a:cs typeface="Calibri" pitchFamily="34" charset="-120"/>
              </a:rPr>
              <a:t>The atomizer</a:t>
            </a:r>
            <a:endParaRPr lang="en-US" sz="1800" dirty="0"/>
          </a:p>
        </p:txBody>
      </p:sp>
      <p:sp>
        <p:nvSpPr>
          <p:cNvPr id="9" name="Text 7"/>
          <p:cNvSpPr txBox="1"/>
          <p:nvPr/>
        </p:nvSpPr>
        <p:spPr>
          <a:xfrm>
            <a:off x="6949440" y="2176272"/>
            <a:ext cx="4480560" cy="457200"/>
          </a:xfrm>
          <a:prstGeom prst="rect">
            <a:avLst/>
          </a:prstGeom>
          <a:noFill/>
          <a:ln/>
        </p:spPr>
        <p:txBody>
          <a:bodyPr wrap="square" lIns="0" tIns="0" rIns="0" bIns="0" rtlCol="0" anchor="ctr"/>
          <a:lstStyle/>
          <a:p>
            <a:pPr indent="0" marL="0">
              <a:buNone/>
            </a:pPr>
            <a:r>
              <a:rPr lang="en-US" sz="1300" dirty="0">
                <a:solidFill>
                  <a:srgbClr val="8A94A6"/>
                </a:solidFill>
                <a:latin typeface="Calibri" pitchFamily="34" charset="0"/>
                <a:ea typeface="Calibri" pitchFamily="34" charset="-122"/>
                <a:cs typeface="Calibri" pitchFamily="34" charset="-120"/>
              </a:rPr>
              <a:t>One target per spec file, generated for you</a:t>
            </a:r>
            <a:endParaRPr lang="en-US" sz="1300" dirty="0"/>
          </a:p>
        </p:txBody>
      </p:sp>
      <p:sp>
        <p:nvSpPr>
          <p:cNvPr id="10" name="Text 8"/>
          <p:cNvSpPr txBox="1"/>
          <p:nvPr/>
        </p:nvSpPr>
        <p:spPr>
          <a:xfrm>
            <a:off x="640080" y="3063240"/>
            <a:ext cx="640080" cy="457200"/>
          </a:xfrm>
          <a:prstGeom prst="rect">
            <a:avLst/>
          </a:prstGeom>
          <a:noFill/>
          <a:ln/>
        </p:spPr>
        <p:txBody>
          <a:bodyPr wrap="square" lIns="0" tIns="0" rIns="0" bIns="0" rtlCol="0" anchor="ctr"/>
          <a:lstStyle/>
          <a:p>
            <a:pPr indent="0" marL="0">
              <a:buNone/>
            </a:pPr>
            <a:r>
              <a:rPr lang="en-US" sz="2000" b="1" dirty="0">
                <a:solidFill>
                  <a:srgbClr val="4ADE80"/>
                </a:solidFill>
                <a:latin typeface="Courier New" pitchFamily="34" charset="0"/>
                <a:ea typeface="Courier New" pitchFamily="34" charset="-122"/>
                <a:cs typeface="Courier New" pitchFamily="34" charset="-120"/>
              </a:rPr>
              <a:t>03</a:t>
            </a:r>
            <a:endParaRPr lang="en-US" sz="2000" dirty="0"/>
          </a:p>
        </p:txBody>
      </p:sp>
      <p:sp>
        <p:nvSpPr>
          <p:cNvPr id="11" name="Text 9"/>
          <p:cNvSpPr txBox="1"/>
          <p:nvPr/>
        </p:nvSpPr>
        <p:spPr>
          <a:xfrm>
            <a:off x="1325880" y="3063240"/>
            <a:ext cx="4480560" cy="347472"/>
          </a:xfrm>
          <a:prstGeom prst="rect">
            <a:avLst/>
          </a:prstGeom>
          <a:noFill/>
          <a:ln/>
        </p:spPr>
        <p:txBody>
          <a:bodyPr wrap="square" lIns="0" tIns="0" rIns="0" bIns="0" rtlCol="0" anchor="ctr"/>
          <a:lstStyle/>
          <a:p>
            <a:pPr indent="0" marL="0">
              <a:buNone/>
            </a:pPr>
            <a:r>
              <a:rPr lang="en-US" sz="1800" b="1" dirty="0">
                <a:solidFill>
                  <a:srgbClr val="FFFFFF"/>
                </a:solidFill>
                <a:latin typeface="Calibri" pitchFamily="34" charset="0"/>
                <a:ea typeface="Calibri" pitchFamily="34" charset="-122"/>
                <a:cs typeface="Calibri" pitchFamily="34" charset="-120"/>
              </a:rPr>
              <a:t>The catch</a:t>
            </a:r>
            <a:endParaRPr lang="en-US" sz="1800" dirty="0"/>
          </a:p>
        </p:txBody>
      </p:sp>
      <p:sp>
        <p:nvSpPr>
          <p:cNvPr id="12" name="Text 10"/>
          <p:cNvSpPr txBox="1"/>
          <p:nvPr/>
        </p:nvSpPr>
        <p:spPr>
          <a:xfrm>
            <a:off x="1325880" y="3410712"/>
            <a:ext cx="4480560" cy="457200"/>
          </a:xfrm>
          <a:prstGeom prst="rect">
            <a:avLst/>
          </a:prstGeom>
          <a:noFill/>
          <a:ln/>
        </p:spPr>
        <p:txBody>
          <a:bodyPr wrap="square" lIns="0" tIns="0" rIns="0" bIns="0" rtlCol="0" anchor="ctr"/>
          <a:lstStyle/>
          <a:p>
            <a:pPr indent="0" marL="0">
              <a:buNone/>
            </a:pPr>
            <a:r>
              <a:rPr lang="en-US" sz="1300" dirty="0">
                <a:solidFill>
                  <a:srgbClr val="8A94A6"/>
                </a:solidFill>
                <a:latin typeface="Calibri" pitchFamily="34" charset="0"/>
                <a:ea typeface="Calibri" pitchFamily="34" charset="-122"/>
                <a:cs typeface="Calibri" pitchFamily="34" charset="-120"/>
              </a:rPr>
              <a:t>Nx 23 gates the wrapper task behind Nx Cloud</a:t>
            </a:r>
            <a:endParaRPr lang="en-US" sz="1300" dirty="0"/>
          </a:p>
        </p:txBody>
      </p:sp>
      <p:sp>
        <p:nvSpPr>
          <p:cNvPr id="13" name="Text 11"/>
          <p:cNvSpPr txBox="1"/>
          <p:nvPr/>
        </p:nvSpPr>
        <p:spPr>
          <a:xfrm>
            <a:off x="6263640" y="3063240"/>
            <a:ext cx="640080" cy="457200"/>
          </a:xfrm>
          <a:prstGeom prst="rect">
            <a:avLst/>
          </a:prstGeom>
          <a:noFill/>
          <a:ln/>
        </p:spPr>
        <p:txBody>
          <a:bodyPr wrap="square" lIns="0" tIns="0" rIns="0" bIns="0" rtlCol="0" anchor="ctr"/>
          <a:lstStyle/>
          <a:p>
            <a:pPr indent="0" marL="0">
              <a:buNone/>
            </a:pPr>
            <a:r>
              <a:rPr lang="en-US" sz="2000" b="1" dirty="0">
                <a:solidFill>
                  <a:srgbClr val="4ADE80"/>
                </a:solidFill>
                <a:latin typeface="Courier New" pitchFamily="34" charset="0"/>
                <a:ea typeface="Courier New" pitchFamily="34" charset="-122"/>
                <a:cs typeface="Courier New" pitchFamily="34" charset="-120"/>
              </a:rPr>
              <a:t>04</a:t>
            </a:r>
            <a:endParaRPr lang="en-US" sz="2000" dirty="0"/>
          </a:p>
        </p:txBody>
      </p:sp>
      <p:sp>
        <p:nvSpPr>
          <p:cNvPr id="14" name="Text 12"/>
          <p:cNvSpPr txBox="1"/>
          <p:nvPr/>
        </p:nvSpPr>
        <p:spPr>
          <a:xfrm>
            <a:off x="6949440" y="3063240"/>
            <a:ext cx="4480560" cy="347472"/>
          </a:xfrm>
          <a:prstGeom prst="rect">
            <a:avLst/>
          </a:prstGeom>
          <a:noFill/>
          <a:ln/>
        </p:spPr>
        <p:txBody>
          <a:bodyPr wrap="square" lIns="0" tIns="0" rIns="0" bIns="0" rtlCol="0" anchor="ctr"/>
          <a:lstStyle/>
          <a:p>
            <a:pPr indent="0" marL="0">
              <a:buNone/>
            </a:pPr>
            <a:r>
              <a:rPr lang="en-US" sz="1800" b="1" dirty="0">
                <a:solidFill>
                  <a:srgbClr val="FFFFFF"/>
                </a:solidFill>
                <a:latin typeface="Calibri" pitchFamily="34" charset="0"/>
                <a:ea typeface="Calibri" pitchFamily="34" charset="-122"/>
                <a:cs typeface="Calibri" pitchFamily="34" charset="-120"/>
              </a:rPr>
              <a:t>Parallel, no cloud</a:t>
            </a:r>
            <a:endParaRPr lang="en-US" sz="1800" dirty="0"/>
          </a:p>
        </p:txBody>
      </p:sp>
      <p:sp>
        <p:nvSpPr>
          <p:cNvPr id="15" name="Text 13"/>
          <p:cNvSpPr txBox="1"/>
          <p:nvPr/>
        </p:nvSpPr>
        <p:spPr>
          <a:xfrm>
            <a:off x="6949440" y="3410712"/>
            <a:ext cx="4480560" cy="457200"/>
          </a:xfrm>
          <a:prstGeom prst="rect">
            <a:avLst/>
          </a:prstGeom>
          <a:noFill/>
          <a:ln/>
        </p:spPr>
        <p:txBody>
          <a:bodyPr wrap="square" lIns="0" tIns="0" rIns="0" bIns="0" rtlCol="0" anchor="ctr"/>
          <a:lstStyle/>
          <a:p>
            <a:pPr indent="0" marL="0">
              <a:buNone/>
            </a:pPr>
            <a:r>
              <a:rPr lang="en-US" sz="1300" dirty="0">
                <a:solidFill>
                  <a:srgbClr val="8A94A6"/>
                </a:solidFill>
                <a:latin typeface="Calibri" pitchFamily="34" charset="0"/>
                <a:ea typeface="Calibri" pitchFamily="34" charset="-122"/>
                <a:cs typeface="Calibri" pitchFamily="34" charset="-120"/>
              </a:rPr>
              <a:t>Two small scripts get the split back</a:t>
            </a:r>
            <a:endParaRPr lang="en-US" sz="1300" dirty="0"/>
          </a:p>
        </p:txBody>
      </p:sp>
      <p:sp>
        <p:nvSpPr>
          <p:cNvPr id="16" name="Text 14"/>
          <p:cNvSpPr txBox="1"/>
          <p:nvPr/>
        </p:nvSpPr>
        <p:spPr>
          <a:xfrm>
            <a:off x="640080" y="4297680"/>
            <a:ext cx="640080" cy="457200"/>
          </a:xfrm>
          <a:prstGeom prst="rect">
            <a:avLst/>
          </a:prstGeom>
          <a:noFill/>
          <a:ln/>
        </p:spPr>
        <p:txBody>
          <a:bodyPr wrap="square" lIns="0" tIns="0" rIns="0" bIns="0" rtlCol="0" anchor="ctr"/>
          <a:lstStyle/>
          <a:p>
            <a:pPr indent="0" marL="0">
              <a:buNone/>
            </a:pPr>
            <a:r>
              <a:rPr lang="en-US" sz="2000" b="1" dirty="0">
                <a:solidFill>
                  <a:srgbClr val="4ADE80"/>
                </a:solidFill>
                <a:latin typeface="Courier New" pitchFamily="34" charset="0"/>
                <a:ea typeface="Courier New" pitchFamily="34" charset="-122"/>
                <a:cs typeface="Courier New" pitchFamily="34" charset="-120"/>
              </a:rPr>
              <a:t>05</a:t>
            </a:r>
            <a:endParaRPr lang="en-US" sz="2000" dirty="0"/>
          </a:p>
        </p:txBody>
      </p:sp>
      <p:sp>
        <p:nvSpPr>
          <p:cNvPr id="17" name="Text 15"/>
          <p:cNvSpPr txBox="1"/>
          <p:nvPr/>
        </p:nvSpPr>
        <p:spPr>
          <a:xfrm>
            <a:off x="1325880" y="4297680"/>
            <a:ext cx="4480560" cy="347472"/>
          </a:xfrm>
          <a:prstGeom prst="rect">
            <a:avLst/>
          </a:prstGeom>
          <a:noFill/>
          <a:ln/>
        </p:spPr>
        <p:txBody>
          <a:bodyPr wrap="square" lIns="0" tIns="0" rIns="0" bIns="0" rtlCol="0" anchor="ctr"/>
          <a:lstStyle/>
          <a:p>
            <a:pPr indent="0" marL="0">
              <a:buNone/>
            </a:pPr>
            <a:r>
              <a:rPr lang="en-US" sz="1800" b="1" dirty="0">
                <a:solidFill>
                  <a:srgbClr val="FFFFFF"/>
                </a:solidFill>
                <a:latin typeface="Calibri" pitchFamily="34" charset="0"/>
                <a:ea typeface="Calibri" pitchFamily="34" charset="-122"/>
                <a:cs typeface="Calibri" pitchFamily="34" charset="-120"/>
              </a:rPr>
              <a:t>The cache</a:t>
            </a:r>
            <a:endParaRPr lang="en-US" sz="1800" dirty="0"/>
          </a:p>
        </p:txBody>
      </p:sp>
      <p:sp>
        <p:nvSpPr>
          <p:cNvPr id="18" name="Text 16"/>
          <p:cNvSpPr txBox="1"/>
          <p:nvPr/>
        </p:nvSpPr>
        <p:spPr>
          <a:xfrm>
            <a:off x="1325880" y="4645152"/>
            <a:ext cx="4480560" cy="457200"/>
          </a:xfrm>
          <a:prstGeom prst="rect">
            <a:avLst/>
          </a:prstGeom>
          <a:noFill/>
          <a:ln/>
        </p:spPr>
        <p:txBody>
          <a:bodyPr wrap="square" lIns="0" tIns="0" rIns="0" bIns="0" rtlCol="0" anchor="ctr"/>
          <a:lstStyle/>
          <a:p>
            <a:pPr indent="0" marL="0">
              <a:buNone/>
            </a:pPr>
            <a:r>
              <a:rPr lang="en-US" sz="1300" dirty="0">
                <a:solidFill>
                  <a:srgbClr val="8A94A6"/>
                </a:solidFill>
                <a:latin typeface="Calibri" pitchFamily="34" charset="0"/>
                <a:ea typeface="Calibri" pitchFamily="34" charset="-122"/>
                <a:cs typeface="Calibri" pitchFamily="34" charset="-120"/>
              </a:rPr>
              <a:t>Why a re-run only executes the failures</a:t>
            </a:r>
            <a:endParaRPr lang="en-US" sz="1300" dirty="0"/>
          </a:p>
        </p:txBody>
      </p:sp>
      <p:sp>
        <p:nvSpPr>
          <p:cNvPr id="19" name="Text 17"/>
          <p:cNvSpPr txBox="1"/>
          <p:nvPr/>
        </p:nvSpPr>
        <p:spPr>
          <a:xfrm>
            <a:off x="6263640" y="4297680"/>
            <a:ext cx="640080" cy="457200"/>
          </a:xfrm>
          <a:prstGeom prst="rect">
            <a:avLst/>
          </a:prstGeom>
          <a:noFill/>
          <a:ln/>
        </p:spPr>
        <p:txBody>
          <a:bodyPr wrap="square" lIns="0" tIns="0" rIns="0" bIns="0" rtlCol="0" anchor="ctr"/>
          <a:lstStyle/>
          <a:p>
            <a:pPr indent="0" marL="0">
              <a:buNone/>
            </a:pPr>
            <a:r>
              <a:rPr lang="en-US" sz="2000" b="1" dirty="0">
                <a:solidFill>
                  <a:srgbClr val="4ADE80"/>
                </a:solidFill>
                <a:latin typeface="Courier New" pitchFamily="34" charset="0"/>
                <a:ea typeface="Courier New" pitchFamily="34" charset="-122"/>
                <a:cs typeface="Courier New" pitchFamily="34" charset="-120"/>
              </a:rPr>
              <a:t>06</a:t>
            </a:r>
            <a:endParaRPr lang="en-US" sz="2000" dirty="0"/>
          </a:p>
        </p:txBody>
      </p:sp>
      <p:sp>
        <p:nvSpPr>
          <p:cNvPr id="20" name="Text 18"/>
          <p:cNvSpPr txBox="1"/>
          <p:nvPr/>
        </p:nvSpPr>
        <p:spPr>
          <a:xfrm>
            <a:off x="6949440" y="4297680"/>
            <a:ext cx="4480560" cy="347472"/>
          </a:xfrm>
          <a:prstGeom prst="rect">
            <a:avLst/>
          </a:prstGeom>
          <a:noFill/>
          <a:ln/>
        </p:spPr>
        <p:txBody>
          <a:bodyPr wrap="square" lIns="0" tIns="0" rIns="0" bIns="0" rtlCol="0" anchor="ctr"/>
          <a:lstStyle/>
          <a:p>
            <a:pPr indent="0" marL="0">
              <a:buNone/>
            </a:pPr>
            <a:r>
              <a:rPr lang="en-US" sz="1800" b="1" dirty="0">
                <a:solidFill>
                  <a:srgbClr val="FFFFFF"/>
                </a:solidFill>
                <a:latin typeface="Calibri" pitchFamily="34" charset="0"/>
                <a:ea typeface="Calibri" pitchFamily="34" charset="-122"/>
                <a:cs typeface="Calibri" pitchFamily="34" charset="-120"/>
              </a:rPr>
              <a:t>Distribution</a:t>
            </a:r>
            <a:endParaRPr lang="en-US" sz="1800" dirty="0"/>
          </a:p>
        </p:txBody>
      </p:sp>
      <p:sp>
        <p:nvSpPr>
          <p:cNvPr id="21" name="Text 19"/>
          <p:cNvSpPr txBox="1"/>
          <p:nvPr/>
        </p:nvSpPr>
        <p:spPr>
          <a:xfrm>
            <a:off x="6949440" y="4645152"/>
            <a:ext cx="4480560" cy="457200"/>
          </a:xfrm>
          <a:prstGeom prst="rect">
            <a:avLst/>
          </a:prstGeom>
          <a:noFill/>
          <a:ln/>
        </p:spPr>
        <p:txBody>
          <a:bodyPr wrap="square" lIns="0" tIns="0" rIns="0" bIns="0" rtlCol="0" anchor="ctr"/>
          <a:lstStyle/>
          <a:p>
            <a:pPr indent="0" marL="0">
              <a:buNone/>
            </a:pPr>
            <a:r>
              <a:rPr lang="en-US" sz="1300" dirty="0">
                <a:solidFill>
                  <a:srgbClr val="8A94A6"/>
                </a:solidFill>
                <a:latin typeface="Calibri" pitchFamily="34" charset="0"/>
                <a:ea typeface="Calibri" pitchFamily="34" charset="-122"/>
                <a:cs typeface="Calibri" pitchFamily="34" charset="-120"/>
              </a:rPr>
              <a:t>A GitHub matrix instead of a subscription</a:t>
            </a:r>
            <a:endParaRPr lang="en-US" sz="1300" dirty="0"/>
          </a:p>
        </p:txBody>
      </p:sp>
    </p:spTree>
  </p:cSld>
  <p:clrMapOvr>
    <a:masterClrMapping/>
  </p:clrMapOvr>
</p:sld>
</file>

<file path=ppt/slides/slide3.xml><?xml version="1.0" encoding="utf-8"?>
<p:sld xmlns:a="http://schemas.openxmlformats.org/drawingml/2006/main" xmlns:r="http://schemas.openxmlformats.org/officeDocument/2006/relationships" xmlns:p="http://schemas.openxmlformats.org/presentationml/2006/main">
  <p:cSld name="Slide 3">
    <p:bg>
      <p:bgPr>
        <a:solidFill>
          <a:srgbClr val="10131A"/>
        </a:solidFill>
      </p:bgPr>
    </p:bg>
    <p:spTree>
      <p:nvGrpSpPr>
        <p:cNvPr id="1" name=""/>
        <p:cNvGrpSpPr/>
        <p:nvPr/>
      </p:nvGrpSpPr>
      <p:grpSpPr>
        <a:xfrm>
          <a:off x="0" y="0"/>
          <a:ext cx="0" cy="0"/>
          <a:chOff x="0" y="0"/>
          <a:chExt cx="0" cy="0"/>
        </a:xfrm>
      </p:grpSpPr>
      <p:sp>
        <p:nvSpPr>
          <p:cNvPr id="2" name="Text 0"/>
          <p:cNvSpPr txBox="1"/>
          <p:nvPr/>
        </p:nvSpPr>
        <p:spPr>
          <a:xfrm>
            <a:off x="640080" y="411480"/>
            <a:ext cx="10881360" cy="274320"/>
          </a:xfrm>
          <a:prstGeom prst="rect">
            <a:avLst/>
          </a:prstGeom>
          <a:noFill/>
          <a:ln/>
        </p:spPr>
        <p:txBody>
          <a:bodyPr wrap="square" lIns="0" tIns="0" rIns="0" bIns="0" rtlCol="0" anchor="ctr"/>
          <a:lstStyle/>
          <a:p>
            <a:pPr indent="0" marL="0">
              <a:buNone/>
            </a:pPr>
            <a:r>
              <a:rPr lang="en-US" sz="1200" b="1" spc="250" kern="0" dirty="0">
                <a:solidFill>
                  <a:srgbClr val="F5A524"/>
                </a:solidFill>
                <a:latin typeface="Calibri" pitchFamily="34" charset="0"/>
                <a:ea typeface="Calibri" pitchFamily="34" charset="-122"/>
                <a:cs typeface="Calibri" pitchFamily="34" charset="-120"/>
              </a:rPr>
              <a:t>SECTION 01 · THE PROBLEM</a:t>
            </a:r>
            <a:endParaRPr lang="en-US" sz="1200" dirty="0"/>
          </a:p>
        </p:txBody>
      </p:sp>
      <p:sp>
        <p:nvSpPr>
          <p:cNvPr id="3" name="Text 1"/>
          <p:cNvSpPr txBox="1"/>
          <p:nvPr/>
        </p:nvSpPr>
        <p:spPr>
          <a:xfrm>
            <a:off x="640080" y="749808"/>
            <a:ext cx="10881360" cy="731520"/>
          </a:xfrm>
          <a:prstGeom prst="rect">
            <a:avLst/>
          </a:prstGeom>
          <a:noFill/>
          <a:ln/>
        </p:spPr>
        <p:txBody>
          <a:bodyPr wrap="square" lIns="0" tIns="0" rIns="0" bIns="0" rtlCol="0" anchor="ctr"/>
          <a:lstStyle/>
          <a:p>
            <a:pPr indent="0" marL="0">
              <a:buNone/>
            </a:pPr>
            <a:r>
              <a:rPr lang="en-US" sz="3800" b="1" dirty="0">
                <a:solidFill>
                  <a:srgbClr val="FFFFFF"/>
                </a:solidFill>
                <a:latin typeface="Cambria" pitchFamily="34" charset="0"/>
                <a:ea typeface="Cambria" pitchFamily="34" charset="-122"/>
                <a:cs typeface="Cambria" pitchFamily="34" charset="-120"/>
              </a:rPr>
              <a:t>The suite is slow, so nobody runs it</a:t>
            </a:r>
            <a:endParaRPr lang="en-US" sz="3800" dirty="0"/>
          </a:p>
        </p:txBody>
      </p:sp>
      <p:sp>
        <p:nvSpPr>
          <p:cNvPr id="4" name="Text 2"/>
          <p:cNvSpPr txBox="1"/>
          <p:nvPr/>
        </p:nvSpPr>
        <p:spPr>
          <a:xfrm>
            <a:off x="640080" y="1920240"/>
            <a:ext cx="5486400" cy="3108960"/>
          </a:xfrm>
          <a:prstGeom prst="rect">
            <a:avLst/>
          </a:prstGeom>
          <a:noFill/>
          <a:ln/>
        </p:spPr>
        <p:txBody>
          <a:bodyPr wrap="square" lIns="0" tIns="0" rIns="0" bIns="0" rtlCol="0" anchor="t"/>
          <a:lstStyle/>
          <a:p>
            <a:pPr marL="342900" indent="-342900">
              <a:spcAft>
                <a:spcPts val="1000"/>
              </a:spcAft>
              <a:buSzPct val="100000"/>
              <a:buChar char="•"/>
            </a:pPr>
            <a:r>
              <a:rPr lang="en-US" sz="1700" dirty="0">
                <a:solidFill>
                  <a:srgbClr val="C3CAD6"/>
                </a:solidFill>
                <a:latin typeface="Calibri" pitchFamily="34" charset="0"/>
                <a:ea typeface="Calibri" pitchFamily="34" charset="-122"/>
                <a:cs typeface="Calibri" pitchFamily="34" charset="-120"/>
              </a:rPr>
              <a:t>One task, one process, every spec in sequence</a:t>
            </a:r>
            <a:endParaRPr lang="en-US" sz="1700" dirty="0"/>
          </a:p>
          <a:p>
            <a:pPr marL="342900" indent="-342900">
              <a:spcAft>
                <a:spcPts val="1000"/>
              </a:spcAft>
              <a:buSzPct val="100000"/>
              <a:buChar char="•"/>
            </a:pPr>
            <a:r>
              <a:rPr lang="en-US" sz="1700" dirty="0">
                <a:solidFill>
                  <a:srgbClr val="C3CAD6"/>
                </a:solidFill>
                <a:latin typeface="Calibri" pitchFamily="34" charset="0"/>
                <a:ea typeface="Calibri" pitchFamily="34" charset="-122"/>
                <a:cs typeface="Calibri" pitchFamily="34" charset="-120"/>
              </a:rPr>
              <a:t>Ten to thirty minutes on a real suite</a:t>
            </a:r>
            <a:endParaRPr lang="en-US" sz="1700" dirty="0"/>
          </a:p>
          <a:p>
            <a:pPr marL="342900" indent="-342900">
              <a:spcAft>
                <a:spcPts val="1000"/>
              </a:spcAft>
              <a:buSzPct val="100000"/>
              <a:buChar char="•"/>
            </a:pPr>
            <a:r>
              <a:rPr lang="en-US" sz="1700" dirty="0">
                <a:solidFill>
                  <a:srgbClr val="C3CAD6"/>
                </a:solidFill>
                <a:latin typeface="Calibri" pitchFamily="34" charset="0"/>
                <a:ea typeface="Calibri" pitchFamily="34" charset="-122"/>
                <a:cs typeface="Calibri" pitchFamily="34" charset="-120"/>
              </a:rPr>
              <a:t>So it moves to a nightly job</a:t>
            </a:r>
            <a:endParaRPr lang="en-US" sz="1700" dirty="0"/>
          </a:p>
          <a:p>
            <a:pPr marL="342900" indent="-342900">
              <a:spcAft>
                <a:spcPts val="1000"/>
              </a:spcAft>
              <a:buSzPct val="100000"/>
              <a:buChar char="•"/>
            </a:pPr>
            <a:r>
              <a:rPr lang="en-US" sz="1700" dirty="0">
                <a:solidFill>
                  <a:srgbClr val="C3CAD6"/>
                </a:solidFill>
                <a:latin typeface="Calibri" pitchFamily="34" charset="0"/>
                <a:ea typeface="Calibri" pitchFamily="34" charset="-122"/>
                <a:cs typeface="Calibri" pitchFamily="34" charset="-120"/>
              </a:rPr>
              <a:t>So a failure is found the morning after it was written</a:t>
            </a:r>
            <a:endParaRPr lang="en-US" sz="1700" dirty="0"/>
          </a:p>
          <a:p>
            <a:pPr marL="342900" indent="-342900">
              <a:spcAft>
                <a:spcPts val="1000"/>
              </a:spcAft>
              <a:buSzPct val="100000"/>
              <a:buChar char="•"/>
            </a:pPr>
            <a:r>
              <a:rPr lang="en-US" sz="1700" dirty="0">
                <a:solidFill>
                  <a:srgbClr val="C3CAD6"/>
                </a:solidFill>
                <a:latin typeface="Calibri" pitchFamily="34" charset="0"/>
                <a:ea typeface="Calibri" pitchFamily="34" charset="-122"/>
                <a:cs typeface="Calibri" pitchFamily="34" charset="-120"/>
              </a:rPr>
              <a:t>So the author has already moved on</a:t>
            </a:r>
            <a:endParaRPr lang="en-US" sz="1700" dirty="0"/>
          </a:p>
        </p:txBody>
      </p:sp>
      <p:sp>
        <p:nvSpPr>
          <p:cNvPr id="5" name="Shape 3"/>
          <p:cNvSpPr/>
          <p:nvPr/>
        </p:nvSpPr>
        <p:spPr>
          <a:xfrm>
            <a:off x="6583680" y="1828800"/>
            <a:ext cx="4937760" cy="2651760"/>
          </a:xfrm>
          <a:prstGeom prst="roundRect">
            <a:avLst>
              <a:gd name="adj" fmla="val 2759"/>
            </a:avLst>
          </a:prstGeom>
          <a:solidFill>
            <a:srgbClr val="1B2029"/>
          </a:solidFill>
          <a:ln w="12700">
            <a:solidFill>
              <a:srgbClr val="2C3340"/>
            </a:solidFill>
            <a:prstDash val="solid"/>
          </a:ln>
        </p:spPr>
      </p:sp>
      <p:sp>
        <p:nvSpPr>
          <p:cNvPr id="6" name="Text 4"/>
          <p:cNvSpPr txBox="1"/>
          <p:nvPr/>
        </p:nvSpPr>
        <p:spPr>
          <a:xfrm>
            <a:off x="6812280" y="2011680"/>
            <a:ext cx="4480560" cy="274320"/>
          </a:xfrm>
          <a:prstGeom prst="rect">
            <a:avLst/>
          </a:prstGeom>
          <a:noFill/>
          <a:ln/>
        </p:spPr>
        <p:txBody>
          <a:bodyPr wrap="square" lIns="0" tIns="0" rIns="0" bIns="0" rtlCol="0" anchor="ctr"/>
          <a:lstStyle/>
          <a:p>
            <a:pPr indent="0" marL="0">
              <a:buNone/>
            </a:pPr>
            <a:r>
              <a:rPr lang="en-US" sz="1300" dirty="0">
                <a:solidFill>
                  <a:srgbClr val="8A94A6"/>
                </a:solidFill>
                <a:latin typeface="Calibri" pitchFamily="34" charset="0"/>
                <a:ea typeface="Calibri" pitchFamily="34" charset="-122"/>
                <a:cs typeface="Calibri" pitchFamily="34" charset="-120"/>
              </a:rPr>
              <a:t>This repo, before any of it</a:t>
            </a:r>
            <a:endParaRPr lang="en-US" sz="1300" dirty="0"/>
          </a:p>
        </p:txBody>
      </p:sp>
      <p:sp>
        <p:nvSpPr>
          <p:cNvPr id="7" name="Text 5"/>
          <p:cNvSpPr txBox="1"/>
          <p:nvPr/>
        </p:nvSpPr>
        <p:spPr>
          <a:xfrm>
            <a:off x="6812280" y="2331720"/>
            <a:ext cx="4480560" cy="822960"/>
          </a:xfrm>
          <a:prstGeom prst="rect">
            <a:avLst/>
          </a:prstGeom>
          <a:noFill/>
          <a:ln/>
        </p:spPr>
        <p:txBody>
          <a:bodyPr wrap="square" lIns="0" tIns="0" rIns="0" bIns="0" rtlCol="0" anchor="ctr"/>
          <a:lstStyle/>
          <a:p>
            <a:pPr indent="0" marL="0">
              <a:buNone/>
            </a:pPr>
            <a:r>
              <a:rPr lang="en-US" sz="5200" b="1" dirty="0">
                <a:solidFill>
                  <a:srgbClr val="F5A524"/>
                </a:solidFill>
                <a:latin typeface="Cambria" pitchFamily="34" charset="0"/>
                <a:ea typeface="Cambria" pitchFamily="34" charset="-122"/>
                <a:cs typeface="Cambria" pitchFamily="34" charset="-120"/>
              </a:rPr>
              <a:t>1m 33s</a:t>
            </a:r>
            <a:endParaRPr lang="en-US" sz="5200" dirty="0"/>
          </a:p>
        </p:txBody>
      </p:sp>
      <p:sp>
        <p:nvSpPr>
          <p:cNvPr id="8" name="Text 6"/>
          <p:cNvSpPr txBox="1"/>
          <p:nvPr/>
        </p:nvSpPr>
        <p:spPr>
          <a:xfrm>
            <a:off x="6812280" y="3200400"/>
            <a:ext cx="4480560" cy="274320"/>
          </a:xfrm>
          <a:prstGeom prst="rect">
            <a:avLst/>
          </a:prstGeom>
          <a:noFill/>
          <a:ln/>
        </p:spPr>
        <p:txBody>
          <a:bodyPr wrap="square" lIns="0" tIns="0" rIns="0" bIns="0" rtlCol="0" anchor="ctr"/>
          <a:lstStyle/>
          <a:p>
            <a:pPr indent="0" marL="0">
              <a:buNone/>
            </a:pPr>
            <a:r>
              <a:rPr lang="en-US" sz="1300" dirty="0">
                <a:solidFill>
                  <a:srgbClr val="C3CAD6"/>
                </a:solidFill>
                <a:latin typeface="Calibri" pitchFamily="34" charset="0"/>
                <a:ea typeface="Calibri" pitchFamily="34" charset="-122"/>
                <a:cs typeface="Calibri" pitchFamily="34" charset="-120"/>
              </a:rPr>
              <a:t>10 spec files · 56 tests · one Cypress process</a:t>
            </a:r>
            <a:endParaRPr lang="en-US" sz="1300" dirty="0"/>
          </a:p>
        </p:txBody>
      </p:sp>
      <p:sp>
        <p:nvSpPr>
          <p:cNvPr id="9" name="Text 7"/>
          <p:cNvSpPr txBox="1"/>
          <p:nvPr/>
        </p:nvSpPr>
        <p:spPr>
          <a:xfrm>
            <a:off x="6812280" y="3611880"/>
            <a:ext cx="4480560" cy="640080"/>
          </a:xfrm>
          <a:prstGeom prst="rect">
            <a:avLst/>
          </a:prstGeom>
          <a:noFill/>
          <a:ln/>
        </p:spPr>
        <p:txBody>
          <a:bodyPr wrap="square" lIns="0" tIns="0" rIns="0" bIns="0" rtlCol="0" anchor="ctr"/>
          <a:lstStyle/>
          <a:p>
            <a:pPr indent="0" marL="0">
              <a:buNone/>
            </a:pPr>
            <a:r>
              <a:rPr lang="en-US" sz="1300" i="1" dirty="0">
                <a:solidFill>
                  <a:srgbClr val="8A94A6"/>
                </a:solidFill>
                <a:latin typeface="Calibri" pitchFamily="34" charset="0"/>
                <a:ea typeface="Calibri" pitchFamily="34" charset="-122"/>
                <a:cs typeface="Calibri" pitchFamily="34" charset="-120"/>
              </a:rPr>
              <a:t>Scale that to 200 specs and you have the nightly job.</a:t>
            </a:r>
            <a:endParaRPr lang="en-US" sz="1300" dirty="0"/>
          </a:p>
        </p:txBody>
      </p:sp>
      <p:sp>
        <p:nvSpPr>
          <p:cNvPr id="10" name="Text 8"/>
          <p:cNvSpPr txBox="1"/>
          <p:nvPr/>
        </p:nvSpPr>
        <p:spPr>
          <a:xfrm>
            <a:off x="640080" y="5029200"/>
            <a:ext cx="10881360" cy="457200"/>
          </a:xfrm>
          <a:prstGeom prst="rect">
            <a:avLst/>
          </a:prstGeom>
          <a:noFill/>
          <a:ln/>
        </p:spPr>
        <p:txBody>
          <a:bodyPr wrap="square" lIns="0" tIns="0" rIns="0" bIns="0" rtlCol="0" anchor="ctr"/>
          <a:lstStyle/>
          <a:p>
            <a:pPr indent="0" marL="0">
              <a:buNone/>
            </a:pPr>
            <a:r>
              <a:rPr lang="en-US" sz="2200" i="1" dirty="0">
                <a:solidFill>
                  <a:srgbClr val="FFFFFF"/>
                </a:solidFill>
                <a:latin typeface="Cambria" pitchFamily="34" charset="0"/>
                <a:ea typeface="Cambria" pitchFamily="34" charset="-122"/>
                <a:cs typeface="Cambria" pitchFamily="34" charset="-120"/>
              </a:rPr>
              <a:t>Speed of feedback is speed of delivery.</a:t>
            </a:r>
            <a:endParaRPr lang="en-US" sz="2200" dirty="0"/>
          </a:p>
        </p:txBody>
      </p:sp>
    </p:spTree>
  </p:cSld>
  <p:clrMapOvr>
    <a:masterClrMapping/>
  </p:clrMapOvr>
</p:sld>
</file>

<file path=ppt/slides/slide4.xml><?xml version="1.0" encoding="utf-8"?>
<p:sld xmlns:a="http://schemas.openxmlformats.org/drawingml/2006/main" xmlns:r="http://schemas.openxmlformats.org/officeDocument/2006/relationships" xmlns:p="http://schemas.openxmlformats.org/presentationml/2006/main">
  <p:cSld name="Slide 4">
    <p:bg>
      <p:bgPr>
        <a:solidFill>
          <a:srgbClr val="F7F8FA"/>
        </a:solidFill>
      </p:bgPr>
    </p:bg>
    <p:spTree>
      <p:nvGrpSpPr>
        <p:cNvPr id="1" name=""/>
        <p:cNvGrpSpPr/>
        <p:nvPr/>
      </p:nvGrpSpPr>
      <p:grpSpPr>
        <a:xfrm>
          <a:off x="0" y="0"/>
          <a:ext cx="0" cy="0"/>
          <a:chOff x="0" y="0"/>
          <a:chExt cx="0" cy="0"/>
        </a:xfrm>
      </p:grpSpPr>
      <p:sp>
        <p:nvSpPr>
          <p:cNvPr id="2" name="Text 0"/>
          <p:cNvSpPr txBox="1"/>
          <p:nvPr/>
        </p:nvSpPr>
        <p:spPr>
          <a:xfrm>
            <a:off x="640080" y="411480"/>
            <a:ext cx="10881360" cy="274320"/>
          </a:xfrm>
          <a:prstGeom prst="rect">
            <a:avLst/>
          </a:prstGeom>
          <a:noFill/>
          <a:ln/>
        </p:spPr>
        <p:txBody>
          <a:bodyPr wrap="square" lIns="0" tIns="0" rIns="0" bIns="0" rtlCol="0" anchor="ctr"/>
          <a:lstStyle/>
          <a:p>
            <a:pPr indent="0" marL="0">
              <a:buNone/>
            </a:pPr>
            <a:r>
              <a:rPr lang="en-US" sz="1200" b="1" spc="250" kern="0" dirty="0">
                <a:solidFill>
                  <a:srgbClr val="0B7A44"/>
                </a:solidFill>
                <a:latin typeface="Calibri" pitchFamily="34" charset="0"/>
                <a:ea typeface="Calibri" pitchFamily="34" charset="-122"/>
                <a:cs typeface="Calibri" pitchFamily="34" charset="-120"/>
              </a:rPr>
              <a:t>SECTION 02 · CONTEXT</a:t>
            </a:r>
            <a:endParaRPr lang="en-US" sz="1200" dirty="0"/>
          </a:p>
        </p:txBody>
      </p:sp>
      <p:sp>
        <p:nvSpPr>
          <p:cNvPr id="3" name="Text 1"/>
          <p:cNvSpPr txBox="1"/>
          <p:nvPr/>
        </p:nvSpPr>
        <p:spPr>
          <a:xfrm>
            <a:off x="640080" y="749808"/>
            <a:ext cx="10881360" cy="731520"/>
          </a:xfrm>
          <a:prstGeom prst="rect">
            <a:avLst/>
          </a:prstGeom>
          <a:noFill/>
          <a:ln/>
        </p:spPr>
        <p:txBody>
          <a:bodyPr wrap="square" lIns="0" tIns="0" rIns="0" bIns="0" rtlCol="0" anchor="ctr"/>
          <a:lstStyle/>
          <a:p>
            <a:pPr indent="0" marL="0">
              <a:buNone/>
            </a:pPr>
            <a:r>
              <a:rPr lang="en-US" sz="3800" b="1" dirty="0">
                <a:solidFill>
                  <a:srgbClr val="10131A"/>
                </a:solidFill>
                <a:latin typeface="Cambria" pitchFamily="34" charset="0"/>
                <a:ea typeface="Cambria" pitchFamily="34" charset="-122"/>
                <a:cs typeface="Cambria" pitchFamily="34" charset="-120"/>
              </a:rPr>
              <a:t>Nx is a task graph, not a test runner</a:t>
            </a:r>
            <a:endParaRPr lang="en-US" sz="3800" dirty="0"/>
          </a:p>
        </p:txBody>
      </p:sp>
      <p:sp>
        <p:nvSpPr>
          <p:cNvPr id="4" name="Shape 2"/>
          <p:cNvSpPr/>
          <p:nvPr/>
        </p:nvSpPr>
        <p:spPr>
          <a:xfrm>
            <a:off x="640080" y="1965960"/>
            <a:ext cx="3429000" cy="2011680"/>
          </a:xfrm>
          <a:prstGeom prst="roundRect">
            <a:avLst>
              <a:gd name="adj" fmla="val 3182"/>
            </a:avLst>
          </a:prstGeom>
          <a:solidFill>
            <a:srgbClr val="FFFFFF"/>
          </a:solidFill>
          <a:ln w="12700">
            <a:solidFill>
              <a:srgbClr val="DFE4EC"/>
            </a:solidFill>
            <a:prstDash val="solid"/>
          </a:ln>
        </p:spPr>
      </p:sp>
      <p:sp>
        <p:nvSpPr>
          <p:cNvPr id="5" name="Shape 3"/>
          <p:cNvSpPr/>
          <p:nvPr/>
        </p:nvSpPr>
        <p:spPr>
          <a:xfrm>
            <a:off x="868680" y="2194560"/>
            <a:ext cx="384048" cy="384048"/>
          </a:xfrm>
          <a:prstGeom prst="ellipse">
            <a:avLst/>
          </a:prstGeom>
          <a:solidFill>
            <a:srgbClr val="0B7A44"/>
          </a:solidFill>
          <a:ln/>
        </p:spPr>
      </p:sp>
      <p:sp>
        <p:nvSpPr>
          <p:cNvPr id="6" name="Text 4"/>
          <p:cNvSpPr txBox="1"/>
          <p:nvPr/>
        </p:nvSpPr>
        <p:spPr>
          <a:xfrm>
            <a:off x="868680" y="2194560"/>
            <a:ext cx="384048" cy="384048"/>
          </a:xfrm>
          <a:prstGeom prst="rect">
            <a:avLst/>
          </a:prstGeom>
          <a:noFill/>
          <a:ln/>
        </p:spPr>
        <p:txBody>
          <a:bodyPr wrap="square" lIns="0" tIns="0" rIns="0" bIns="0" rtlCol="0" anchor="ctr"/>
          <a:lstStyle/>
          <a:p>
            <a:pPr algn="ctr" indent="0" marL="0">
              <a:buNone/>
            </a:pPr>
            <a:r>
              <a:rPr lang="en-US" sz="1500" b="1" dirty="0">
                <a:solidFill>
                  <a:srgbClr val="FFFFFF"/>
                </a:solidFill>
                <a:latin typeface="Calibri" pitchFamily="34" charset="0"/>
                <a:ea typeface="Calibri" pitchFamily="34" charset="-122"/>
                <a:cs typeface="Calibri" pitchFamily="34" charset="-120"/>
              </a:rPr>
              <a:t>1</a:t>
            </a:r>
            <a:endParaRPr lang="en-US" sz="1500" dirty="0"/>
          </a:p>
        </p:txBody>
      </p:sp>
      <p:sp>
        <p:nvSpPr>
          <p:cNvPr id="7" name="Text 5"/>
          <p:cNvSpPr txBox="1"/>
          <p:nvPr/>
        </p:nvSpPr>
        <p:spPr>
          <a:xfrm>
            <a:off x="1371600" y="2212848"/>
            <a:ext cx="2514600" cy="365760"/>
          </a:xfrm>
          <a:prstGeom prst="rect">
            <a:avLst/>
          </a:prstGeom>
          <a:noFill/>
          <a:ln/>
        </p:spPr>
        <p:txBody>
          <a:bodyPr wrap="square" lIns="0" tIns="0" rIns="0" bIns="0" rtlCol="0" anchor="ctr"/>
          <a:lstStyle/>
          <a:p>
            <a:pPr indent="0" marL="0">
              <a:buNone/>
            </a:pPr>
            <a:r>
              <a:rPr lang="en-US" sz="1600" b="1" dirty="0">
                <a:solidFill>
                  <a:srgbClr val="10131A"/>
                </a:solidFill>
                <a:latin typeface="Calibri" pitchFamily="34" charset="0"/>
                <a:ea typeface="Calibri" pitchFamily="34" charset="-122"/>
                <a:cs typeface="Calibri" pitchFamily="34" charset="-120"/>
              </a:rPr>
              <a:t>Knows your graph</a:t>
            </a:r>
            <a:endParaRPr lang="en-US" sz="1600" dirty="0"/>
          </a:p>
        </p:txBody>
      </p:sp>
      <p:sp>
        <p:nvSpPr>
          <p:cNvPr id="8" name="Text 6"/>
          <p:cNvSpPr txBox="1"/>
          <p:nvPr/>
        </p:nvSpPr>
        <p:spPr>
          <a:xfrm>
            <a:off x="868680" y="2743200"/>
            <a:ext cx="2971800" cy="1005840"/>
          </a:xfrm>
          <a:prstGeom prst="rect">
            <a:avLst/>
          </a:prstGeom>
          <a:noFill/>
          <a:ln/>
        </p:spPr>
        <p:txBody>
          <a:bodyPr wrap="square" lIns="0" tIns="0" rIns="0" bIns="0" rtlCol="0" anchor="ctr"/>
          <a:lstStyle/>
          <a:p>
            <a:pPr indent="0" marL="0">
              <a:buNone/>
            </a:pPr>
            <a:r>
              <a:rPr lang="en-US" sz="1300" dirty="0">
                <a:solidFill>
                  <a:srgbClr val="55607A"/>
                </a:solidFill>
                <a:latin typeface="Calibri" pitchFamily="34" charset="0"/>
                <a:ea typeface="Calibri" pitchFamily="34" charset="-122"/>
                <a:cs typeface="Calibri" pitchFamily="34" charset="-120"/>
              </a:rPr>
              <a:t>Which projects exist, what depends on what, which files feed which task.</a:t>
            </a:r>
            <a:endParaRPr lang="en-US" sz="1300" dirty="0"/>
          </a:p>
        </p:txBody>
      </p:sp>
      <p:sp>
        <p:nvSpPr>
          <p:cNvPr id="9" name="Shape 7"/>
          <p:cNvSpPr/>
          <p:nvPr/>
        </p:nvSpPr>
        <p:spPr>
          <a:xfrm>
            <a:off x="4343400" y="1965960"/>
            <a:ext cx="3429000" cy="2011680"/>
          </a:xfrm>
          <a:prstGeom prst="roundRect">
            <a:avLst>
              <a:gd name="adj" fmla="val 3182"/>
            </a:avLst>
          </a:prstGeom>
          <a:solidFill>
            <a:srgbClr val="FFFFFF"/>
          </a:solidFill>
          <a:ln w="12700">
            <a:solidFill>
              <a:srgbClr val="DFE4EC"/>
            </a:solidFill>
            <a:prstDash val="solid"/>
          </a:ln>
        </p:spPr>
      </p:sp>
      <p:sp>
        <p:nvSpPr>
          <p:cNvPr id="10" name="Shape 8"/>
          <p:cNvSpPr/>
          <p:nvPr/>
        </p:nvSpPr>
        <p:spPr>
          <a:xfrm>
            <a:off x="4572000" y="2194560"/>
            <a:ext cx="384048" cy="384048"/>
          </a:xfrm>
          <a:prstGeom prst="ellipse">
            <a:avLst/>
          </a:prstGeom>
          <a:solidFill>
            <a:srgbClr val="0B7A44"/>
          </a:solidFill>
          <a:ln/>
        </p:spPr>
      </p:sp>
      <p:sp>
        <p:nvSpPr>
          <p:cNvPr id="11" name="Text 9"/>
          <p:cNvSpPr txBox="1"/>
          <p:nvPr/>
        </p:nvSpPr>
        <p:spPr>
          <a:xfrm>
            <a:off x="4572000" y="2194560"/>
            <a:ext cx="384048" cy="384048"/>
          </a:xfrm>
          <a:prstGeom prst="rect">
            <a:avLst/>
          </a:prstGeom>
          <a:noFill/>
          <a:ln/>
        </p:spPr>
        <p:txBody>
          <a:bodyPr wrap="square" lIns="0" tIns="0" rIns="0" bIns="0" rtlCol="0" anchor="ctr"/>
          <a:lstStyle/>
          <a:p>
            <a:pPr algn="ctr" indent="0" marL="0">
              <a:buNone/>
            </a:pPr>
            <a:r>
              <a:rPr lang="en-US" sz="1500" b="1" dirty="0">
                <a:solidFill>
                  <a:srgbClr val="FFFFFF"/>
                </a:solidFill>
                <a:latin typeface="Calibri" pitchFamily="34" charset="0"/>
                <a:ea typeface="Calibri" pitchFamily="34" charset="-122"/>
                <a:cs typeface="Calibri" pitchFamily="34" charset="-120"/>
              </a:rPr>
              <a:t>2</a:t>
            </a:r>
            <a:endParaRPr lang="en-US" sz="1500" dirty="0"/>
          </a:p>
        </p:txBody>
      </p:sp>
      <p:sp>
        <p:nvSpPr>
          <p:cNvPr id="12" name="Text 10"/>
          <p:cNvSpPr txBox="1"/>
          <p:nvPr/>
        </p:nvSpPr>
        <p:spPr>
          <a:xfrm>
            <a:off x="5074920" y="2212848"/>
            <a:ext cx="2514600" cy="365760"/>
          </a:xfrm>
          <a:prstGeom prst="rect">
            <a:avLst/>
          </a:prstGeom>
          <a:noFill/>
          <a:ln/>
        </p:spPr>
        <p:txBody>
          <a:bodyPr wrap="square" lIns="0" tIns="0" rIns="0" bIns="0" rtlCol="0" anchor="ctr"/>
          <a:lstStyle/>
          <a:p>
            <a:pPr indent="0" marL="0">
              <a:buNone/>
            </a:pPr>
            <a:r>
              <a:rPr lang="en-US" sz="1600" b="1" dirty="0">
                <a:solidFill>
                  <a:srgbClr val="10131A"/>
                </a:solidFill>
                <a:latin typeface="Calibri" pitchFamily="34" charset="0"/>
                <a:ea typeface="Calibri" pitchFamily="34" charset="-122"/>
                <a:cs typeface="Calibri" pitchFamily="34" charset="-120"/>
              </a:rPr>
              <a:t>Schedules tasks</a:t>
            </a:r>
            <a:endParaRPr lang="en-US" sz="1600" dirty="0"/>
          </a:p>
        </p:txBody>
      </p:sp>
      <p:sp>
        <p:nvSpPr>
          <p:cNvPr id="13" name="Text 11"/>
          <p:cNvSpPr txBox="1"/>
          <p:nvPr/>
        </p:nvSpPr>
        <p:spPr>
          <a:xfrm>
            <a:off x="4572000" y="2743200"/>
            <a:ext cx="2971800" cy="1005840"/>
          </a:xfrm>
          <a:prstGeom prst="rect">
            <a:avLst/>
          </a:prstGeom>
          <a:noFill/>
          <a:ln/>
        </p:spPr>
        <p:txBody>
          <a:bodyPr wrap="square" lIns="0" tIns="0" rIns="0" bIns="0" rtlCol="0" anchor="ctr"/>
          <a:lstStyle/>
          <a:p>
            <a:pPr indent="0" marL="0">
              <a:buNone/>
            </a:pPr>
            <a:r>
              <a:rPr lang="en-US" sz="1300" dirty="0">
                <a:solidFill>
                  <a:srgbClr val="55607A"/>
                </a:solidFill>
                <a:latin typeface="Calibri" pitchFamily="34" charset="0"/>
                <a:ea typeface="Calibri" pitchFamily="34" charset="-122"/>
                <a:cs typeface="Calibri" pitchFamily="34" charset="-120"/>
              </a:rPr>
              <a:t>Runs independent tasks concurrently and orders the dependent ones.</a:t>
            </a:r>
            <a:endParaRPr lang="en-US" sz="1300" dirty="0"/>
          </a:p>
        </p:txBody>
      </p:sp>
      <p:sp>
        <p:nvSpPr>
          <p:cNvPr id="14" name="Shape 12"/>
          <p:cNvSpPr/>
          <p:nvPr/>
        </p:nvSpPr>
        <p:spPr>
          <a:xfrm>
            <a:off x="8046720" y="1965960"/>
            <a:ext cx="3429000" cy="2011680"/>
          </a:xfrm>
          <a:prstGeom prst="roundRect">
            <a:avLst>
              <a:gd name="adj" fmla="val 3182"/>
            </a:avLst>
          </a:prstGeom>
          <a:solidFill>
            <a:srgbClr val="FFFFFF"/>
          </a:solidFill>
          <a:ln w="12700">
            <a:solidFill>
              <a:srgbClr val="DFE4EC"/>
            </a:solidFill>
            <a:prstDash val="solid"/>
          </a:ln>
        </p:spPr>
      </p:sp>
      <p:sp>
        <p:nvSpPr>
          <p:cNvPr id="15" name="Shape 13"/>
          <p:cNvSpPr/>
          <p:nvPr/>
        </p:nvSpPr>
        <p:spPr>
          <a:xfrm>
            <a:off x="8275320" y="2194560"/>
            <a:ext cx="384048" cy="384048"/>
          </a:xfrm>
          <a:prstGeom prst="ellipse">
            <a:avLst/>
          </a:prstGeom>
          <a:solidFill>
            <a:srgbClr val="0B7A44"/>
          </a:solidFill>
          <a:ln/>
        </p:spPr>
      </p:sp>
      <p:sp>
        <p:nvSpPr>
          <p:cNvPr id="16" name="Text 14"/>
          <p:cNvSpPr txBox="1"/>
          <p:nvPr/>
        </p:nvSpPr>
        <p:spPr>
          <a:xfrm>
            <a:off x="8275320" y="2194560"/>
            <a:ext cx="384048" cy="384048"/>
          </a:xfrm>
          <a:prstGeom prst="rect">
            <a:avLst/>
          </a:prstGeom>
          <a:noFill/>
          <a:ln/>
        </p:spPr>
        <p:txBody>
          <a:bodyPr wrap="square" lIns="0" tIns="0" rIns="0" bIns="0" rtlCol="0" anchor="ctr"/>
          <a:lstStyle/>
          <a:p>
            <a:pPr algn="ctr" indent="0" marL="0">
              <a:buNone/>
            </a:pPr>
            <a:r>
              <a:rPr lang="en-US" sz="1500" b="1" dirty="0">
                <a:solidFill>
                  <a:srgbClr val="FFFFFF"/>
                </a:solidFill>
                <a:latin typeface="Calibri" pitchFamily="34" charset="0"/>
                <a:ea typeface="Calibri" pitchFamily="34" charset="-122"/>
                <a:cs typeface="Calibri" pitchFamily="34" charset="-120"/>
              </a:rPr>
              <a:t>3</a:t>
            </a:r>
            <a:endParaRPr lang="en-US" sz="1500" dirty="0"/>
          </a:p>
        </p:txBody>
      </p:sp>
      <p:sp>
        <p:nvSpPr>
          <p:cNvPr id="17" name="Text 15"/>
          <p:cNvSpPr txBox="1"/>
          <p:nvPr/>
        </p:nvSpPr>
        <p:spPr>
          <a:xfrm>
            <a:off x="8778240" y="2212848"/>
            <a:ext cx="2514600" cy="365760"/>
          </a:xfrm>
          <a:prstGeom prst="rect">
            <a:avLst/>
          </a:prstGeom>
          <a:noFill/>
          <a:ln/>
        </p:spPr>
        <p:txBody>
          <a:bodyPr wrap="square" lIns="0" tIns="0" rIns="0" bIns="0" rtlCol="0" anchor="ctr"/>
          <a:lstStyle/>
          <a:p>
            <a:pPr indent="0" marL="0">
              <a:buNone/>
            </a:pPr>
            <a:r>
              <a:rPr lang="en-US" sz="1600" b="1" dirty="0">
                <a:solidFill>
                  <a:srgbClr val="10131A"/>
                </a:solidFill>
                <a:latin typeface="Calibri" pitchFamily="34" charset="0"/>
                <a:ea typeface="Calibri" pitchFamily="34" charset="-122"/>
                <a:cs typeface="Calibri" pitchFamily="34" charset="-120"/>
              </a:rPr>
              <a:t>Hashes every task</a:t>
            </a:r>
            <a:endParaRPr lang="en-US" sz="1600" dirty="0"/>
          </a:p>
        </p:txBody>
      </p:sp>
      <p:sp>
        <p:nvSpPr>
          <p:cNvPr id="18" name="Text 16"/>
          <p:cNvSpPr txBox="1"/>
          <p:nvPr/>
        </p:nvSpPr>
        <p:spPr>
          <a:xfrm>
            <a:off x="8275320" y="2743200"/>
            <a:ext cx="2971800" cy="1005840"/>
          </a:xfrm>
          <a:prstGeom prst="rect">
            <a:avLst/>
          </a:prstGeom>
          <a:noFill/>
          <a:ln/>
        </p:spPr>
        <p:txBody>
          <a:bodyPr wrap="square" lIns="0" tIns="0" rIns="0" bIns="0" rtlCol="0" anchor="ctr"/>
          <a:lstStyle/>
          <a:p>
            <a:pPr indent="0" marL="0">
              <a:buNone/>
            </a:pPr>
            <a:r>
              <a:rPr lang="en-US" sz="1300" dirty="0">
                <a:solidFill>
                  <a:srgbClr val="55607A"/>
                </a:solidFill>
                <a:latin typeface="Calibri" pitchFamily="34" charset="0"/>
                <a:ea typeface="Calibri" pitchFamily="34" charset="-122"/>
                <a:cs typeface="Calibri" pitchFamily="34" charset="-120"/>
              </a:rPr>
              <a:t>Inputs in, hash out. Same hash means the answer is already known.</a:t>
            </a:r>
            <a:endParaRPr lang="en-US" sz="1300" dirty="0"/>
          </a:p>
        </p:txBody>
      </p:sp>
      <p:sp>
        <p:nvSpPr>
          <p:cNvPr id="19" name="Shape 17"/>
          <p:cNvSpPr/>
          <p:nvPr/>
        </p:nvSpPr>
        <p:spPr>
          <a:xfrm>
            <a:off x="640080" y="4343400"/>
            <a:ext cx="10881360" cy="777240"/>
          </a:xfrm>
          <a:prstGeom prst="roundRect">
            <a:avLst>
              <a:gd name="adj" fmla="val 7059"/>
            </a:avLst>
          </a:prstGeom>
          <a:solidFill>
            <a:srgbClr val="10131A"/>
          </a:solidFill>
          <a:ln w="12700">
            <a:solidFill>
              <a:srgbClr val="10131A"/>
            </a:solidFill>
            <a:prstDash val="solid"/>
          </a:ln>
        </p:spPr>
      </p:sp>
      <p:sp>
        <p:nvSpPr>
          <p:cNvPr id="20" name="Text 18"/>
          <p:cNvSpPr txBox="1"/>
          <p:nvPr/>
        </p:nvSpPr>
        <p:spPr>
          <a:xfrm>
            <a:off x="868680" y="4544568"/>
            <a:ext cx="10424160" cy="374904"/>
          </a:xfrm>
          <a:prstGeom prst="rect">
            <a:avLst/>
          </a:prstGeom>
          <a:noFill/>
          <a:ln/>
        </p:spPr>
        <p:txBody>
          <a:bodyPr wrap="square" lIns="0" tIns="0" rIns="0" bIns="0" rtlCol="0" anchor="t"/>
          <a:lstStyle/>
          <a:p>
            <a:pPr indent="0" marL="0">
              <a:lnSpc>
                <a:spcPct val="125000"/>
              </a:lnSpc>
              <a:buNone/>
            </a:pPr>
            <a:r>
              <a:rPr lang="en-US" sz="1700" dirty="0">
                <a:solidFill>
                  <a:srgbClr val="3DDC84"/>
                </a:solidFill>
                <a:latin typeface="Courier New" pitchFamily="34" charset="0"/>
                <a:ea typeface="Courier New" pitchFamily="34" charset="-122"/>
                <a:cs typeface="Courier New" pitchFamily="34" charset="-120"/>
              </a:rPr>
              <a:t>nx run-many -t test --parallel=5</a:t>
            </a:r>
            <a:endParaRPr lang="en-US" sz="1700" dirty="0"/>
          </a:p>
        </p:txBody>
      </p:sp>
      <p:sp>
        <p:nvSpPr>
          <p:cNvPr id="21" name="Text 19"/>
          <p:cNvSpPr txBox="1"/>
          <p:nvPr/>
        </p:nvSpPr>
        <p:spPr>
          <a:xfrm>
            <a:off x="640080" y="5257800"/>
            <a:ext cx="10881360" cy="365760"/>
          </a:xfrm>
          <a:prstGeom prst="rect">
            <a:avLst/>
          </a:prstGeom>
          <a:noFill/>
          <a:ln/>
        </p:spPr>
        <p:txBody>
          <a:bodyPr wrap="square" lIns="0" tIns="0" rIns="0" bIns="0" rtlCol="0" anchor="ctr"/>
          <a:lstStyle/>
          <a:p>
            <a:pPr indent="0" marL="0">
              <a:buNone/>
            </a:pPr>
            <a:r>
              <a:rPr lang="en-US" sz="1400" i="1" dirty="0">
                <a:solidFill>
                  <a:srgbClr val="55607A"/>
                </a:solidFill>
                <a:latin typeface="Calibri" pitchFamily="34" charset="0"/>
                <a:ea typeface="Calibri" pitchFamily="34" charset="-122"/>
                <a:cs typeface="Calibri" pitchFamily="34" charset="-120"/>
              </a:rPr>
              <a:t>That much most teams already have. The interesting part is what Nx can generate for you.</a:t>
            </a:r>
            <a:endParaRPr lang="en-US" sz="1400" dirty="0"/>
          </a:p>
        </p:txBody>
      </p:sp>
    </p:spTree>
  </p:cSld>
  <p:clrMapOvr>
    <a:masterClrMapping/>
  </p:clrMapOvr>
</p:sld>
</file>

<file path=ppt/slides/slide5.xml><?xml version="1.0" encoding="utf-8"?>
<p:sld xmlns:a="http://schemas.openxmlformats.org/drawingml/2006/main" xmlns:r="http://schemas.openxmlformats.org/officeDocument/2006/relationships" xmlns:p="http://schemas.openxmlformats.org/presentationml/2006/main">
  <p:cSld name="Slide 5">
    <p:bg>
      <p:bgPr>
        <a:solidFill>
          <a:srgbClr val="10131A"/>
        </a:solidFill>
      </p:bgPr>
    </p:bg>
    <p:spTree>
      <p:nvGrpSpPr>
        <p:cNvPr id="1" name=""/>
        <p:cNvGrpSpPr/>
        <p:nvPr/>
      </p:nvGrpSpPr>
      <p:grpSpPr>
        <a:xfrm>
          <a:off x="0" y="0"/>
          <a:ext cx="0" cy="0"/>
          <a:chOff x="0" y="0"/>
          <a:chExt cx="0" cy="0"/>
        </a:xfrm>
      </p:grpSpPr>
      <p:sp>
        <p:nvSpPr>
          <p:cNvPr id="2" name="Text 0"/>
          <p:cNvSpPr txBox="1"/>
          <p:nvPr/>
        </p:nvSpPr>
        <p:spPr>
          <a:xfrm>
            <a:off x="640080" y="411480"/>
            <a:ext cx="10881360" cy="274320"/>
          </a:xfrm>
          <a:prstGeom prst="rect">
            <a:avLst/>
          </a:prstGeom>
          <a:noFill/>
          <a:ln/>
        </p:spPr>
        <p:txBody>
          <a:bodyPr wrap="square" lIns="0" tIns="0" rIns="0" bIns="0" rtlCol="0" anchor="ctr"/>
          <a:lstStyle/>
          <a:p>
            <a:pPr indent="0" marL="0">
              <a:buNone/>
            </a:pPr>
            <a:r>
              <a:rPr lang="en-US" sz="1200" b="1" spc="250" kern="0" dirty="0">
                <a:solidFill>
                  <a:srgbClr val="4ADE80"/>
                </a:solidFill>
                <a:latin typeface="Calibri" pitchFamily="34" charset="0"/>
                <a:ea typeface="Calibri" pitchFamily="34" charset="-122"/>
                <a:cs typeface="Calibri" pitchFamily="34" charset="-120"/>
              </a:rPr>
              <a:t>SECTION 02 · THE ATOMIZER</a:t>
            </a:r>
            <a:endParaRPr lang="en-US" sz="1200" dirty="0"/>
          </a:p>
        </p:txBody>
      </p:sp>
      <p:sp>
        <p:nvSpPr>
          <p:cNvPr id="3" name="Text 1"/>
          <p:cNvSpPr txBox="1"/>
          <p:nvPr/>
        </p:nvSpPr>
        <p:spPr>
          <a:xfrm>
            <a:off x="640080" y="749808"/>
            <a:ext cx="10881360" cy="731520"/>
          </a:xfrm>
          <a:prstGeom prst="rect">
            <a:avLst/>
          </a:prstGeom>
          <a:noFill/>
          <a:ln/>
        </p:spPr>
        <p:txBody>
          <a:bodyPr wrap="square" lIns="0" tIns="0" rIns="0" bIns="0" rtlCol="0" anchor="ctr"/>
          <a:lstStyle/>
          <a:p>
            <a:pPr indent="0" marL="0">
              <a:buNone/>
            </a:pPr>
            <a:r>
              <a:rPr lang="en-US" sz="3800" b="1" dirty="0">
                <a:solidFill>
                  <a:srgbClr val="FFFFFF"/>
                </a:solidFill>
                <a:latin typeface="Cambria" pitchFamily="34" charset="0"/>
                <a:ea typeface="Cambria" pitchFamily="34" charset="-122"/>
                <a:cs typeface="Cambria" pitchFamily="34" charset="-120"/>
              </a:rPr>
              <a:t>One task becomes one task per file</a:t>
            </a:r>
            <a:endParaRPr lang="en-US" sz="3800" dirty="0"/>
          </a:p>
        </p:txBody>
      </p:sp>
      <p:sp>
        <p:nvSpPr>
          <p:cNvPr id="4" name="Text 2"/>
          <p:cNvSpPr txBox="1"/>
          <p:nvPr/>
        </p:nvSpPr>
        <p:spPr>
          <a:xfrm>
            <a:off x="640080" y="1874520"/>
            <a:ext cx="2377440" cy="274320"/>
          </a:xfrm>
          <a:prstGeom prst="rect">
            <a:avLst/>
          </a:prstGeom>
          <a:noFill/>
          <a:ln/>
        </p:spPr>
        <p:txBody>
          <a:bodyPr wrap="square" lIns="0" tIns="0" rIns="0" bIns="0" rtlCol="0" anchor="ctr"/>
          <a:lstStyle/>
          <a:p>
            <a:pPr indent="0" marL="0">
              <a:buNone/>
            </a:pPr>
            <a:r>
              <a:rPr lang="en-US" sz="1200" b="1" spc="200" kern="0" dirty="0">
                <a:solidFill>
                  <a:srgbClr val="F5A524"/>
                </a:solidFill>
                <a:latin typeface="Calibri" pitchFamily="34" charset="0"/>
                <a:ea typeface="Calibri" pitchFamily="34" charset="-122"/>
                <a:cs typeface="Calibri" pitchFamily="34" charset="-120"/>
              </a:rPr>
              <a:t>BEFORE</a:t>
            </a:r>
            <a:endParaRPr lang="en-US" sz="1200" dirty="0"/>
          </a:p>
        </p:txBody>
      </p:sp>
      <p:sp>
        <p:nvSpPr>
          <p:cNvPr id="5" name="Shape 3"/>
          <p:cNvSpPr/>
          <p:nvPr/>
        </p:nvSpPr>
        <p:spPr>
          <a:xfrm>
            <a:off x="640080" y="2240280"/>
            <a:ext cx="2377440" cy="2377440"/>
          </a:xfrm>
          <a:prstGeom prst="roundRect">
            <a:avLst>
              <a:gd name="adj" fmla="val 2692"/>
            </a:avLst>
          </a:prstGeom>
          <a:solidFill>
            <a:srgbClr val="1B2029"/>
          </a:solidFill>
          <a:ln w="19050">
            <a:solidFill>
              <a:srgbClr val="F5A524"/>
            </a:solidFill>
            <a:prstDash val="solid"/>
          </a:ln>
        </p:spPr>
      </p:sp>
      <p:sp>
        <p:nvSpPr>
          <p:cNvPr id="6" name="Text 4"/>
          <p:cNvSpPr txBox="1"/>
          <p:nvPr/>
        </p:nvSpPr>
        <p:spPr>
          <a:xfrm>
            <a:off x="640080" y="3063240"/>
            <a:ext cx="2377440" cy="457200"/>
          </a:xfrm>
          <a:prstGeom prst="rect">
            <a:avLst/>
          </a:prstGeom>
          <a:noFill/>
          <a:ln/>
        </p:spPr>
        <p:txBody>
          <a:bodyPr wrap="square" lIns="0" tIns="0" rIns="0" bIns="0" rtlCol="0" anchor="ctr"/>
          <a:lstStyle/>
          <a:p>
            <a:pPr algn="ctr" indent="0" marL="0">
              <a:buNone/>
            </a:pPr>
            <a:r>
              <a:rPr lang="en-US" sz="2200" b="1" dirty="0">
                <a:solidFill>
                  <a:srgbClr val="FFFFFF"/>
                </a:solidFill>
                <a:latin typeface="Courier New" pitchFamily="34" charset="0"/>
                <a:ea typeface="Courier New" pitchFamily="34" charset="-122"/>
                <a:cs typeface="Courier New" pitchFamily="34" charset="-120"/>
              </a:rPr>
              <a:t>e2e</a:t>
            </a:r>
            <a:endParaRPr lang="en-US" sz="2200" dirty="0"/>
          </a:p>
        </p:txBody>
      </p:sp>
      <p:sp>
        <p:nvSpPr>
          <p:cNvPr id="7" name="Text 5"/>
          <p:cNvSpPr txBox="1"/>
          <p:nvPr/>
        </p:nvSpPr>
        <p:spPr>
          <a:xfrm>
            <a:off x="640080" y="3520440"/>
            <a:ext cx="2377440" cy="320040"/>
          </a:xfrm>
          <a:prstGeom prst="rect">
            <a:avLst/>
          </a:prstGeom>
          <a:noFill/>
          <a:ln/>
        </p:spPr>
        <p:txBody>
          <a:bodyPr wrap="square" lIns="0" tIns="0" rIns="0" bIns="0" rtlCol="0" anchor="ctr"/>
          <a:lstStyle/>
          <a:p>
            <a:pPr algn="ctr" indent="0" marL="0">
              <a:buNone/>
            </a:pPr>
            <a:r>
              <a:rPr lang="en-US" sz="1200" dirty="0">
                <a:solidFill>
                  <a:srgbClr val="8A94A6"/>
                </a:solidFill>
                <a:latin typeface="Calibri" pitchFamily="34" charset="0"/>
                <a:ea typeface="Calibri" pitchFamily="34" charset="-122"/>
                <a:cs typeface="Calibri" pitchFamily="34" charset="-120"/>
              </a:rPr>
              <a:t>56 tests, in a row</a:t>
            </a:r>
            <a:endParaRPr lang="en-US" sz="1200" dirty="0"/>
          </a:p>
        </p:txBody>
      </p:sp>
      <p:sp>
        <p:nvSpPr>
          <p:cNvPr id="8" name="Shape 6"/>
          <p:cNvSpPr/>
          <p:nvPr/>
        </p:nvSpPr>
        <p:spPr>
          <a:xfrm>
            <a:off x="3246120" y="3200400"/>
            <a:ext cx="777240" cy="411480"/>
          </a:xfrm>
          <a:prstGeom prst="rightArrow">
            <a:avLst/>
          </a:prstGeom>
          <a:solidFill>
            <a:srgbClr val="4ADE80"/>
          </a:solidFill>
          <a:ln w="12700">
            <a:solidFill>
              <a:srgbClr val="4ADE80"/>
            </a:solidFill>
            <a:prstDash val="solid"/>
          </a:ln>
        </p:spPr>
      </p:sp>
      <p:sp>
        <p:nvSpPr>
          <p:cNvPr id="9" name="Text 7"/>
          <p:cNvSpPr txBox="1"/>
          <p:nvPr/>
        </p:nvSpPr>
        <p:spPr>
          <a:xfrm>
            <a:off x="4251960" y="1874520"/>
            <a:ext cx="3291840" cy="274320"/>
          </a:xfrm>
          <a:prstGeom prst="rect">
            <a:avLst/>
          </a:prstGeom>
          <a:noFill/>
          <a:ln/>
        </p:spPr>
        <p:txBody>
          <a:bodyPr wrap="square" lIns="0" tIns="0" rIns="0" bIns="0" rtlCol="0" anchor="ctr"/>
          <a:lstStyle/>
          <a:p>
            <a:pPr indent="0" marL="0">
              <a:buNone/>
            </a:pPr>
            <a:r>
              <a:rPr lang="en-US" sz="1200" b="1" spc="200" kern="0" dirty="0">
                <a:solidFill>
                  <a:srgbClr val="4ADE80"/>
                </a:solidFill>
                <a:latin typeface="Calibri" pitchFamily="34" charset="0"/>
                <a:ea typeface="Calibri" pitchFamily="34" charset="-122"/>
                <a:cs typeface="Calibri" pitchFamily="34" charset="-120"/>
              </a:rPr>
              <a:t>AFTER</a:t>
            </a:r>
            <a:endParaRPr lang="en-US" sz="1200" dirty="0"/>
          </a:p>
        </p:txBody>
      </p:sp>
      <p:sp>
        <p:nvSpPr>
          <p:cNvPr id="10" name="Shape 8"/>
          <p:cNvSpPr/>
          <p:nvPr/>
        </p:nvSpPr>
        <p:spPr>
          <a:xfrm>
            <a:off x="4251960" y="2240280"/>
            <a:ext cx="3291840" cy="329184"/>
          </a:xfrm>
          <a:prstGeom prst="roundRect">
            <a:avLst>
              <a:gd name="adj" fmla="val 13889"/>
            </a:avLst>
          </a:prstGeom>
          <a:solidFill>
            <a:srgbClr val="1B2029"/>
          </a:solidFill>
          <a:ln w="12700">
            <a:solidFill>
              <a:srgbClr val="4ADE80"/>
            </a:solidFill>
            <a:prstDash val="solid"/>
          </a:ln>
        </p:spPr>
      </p:sp>
      <p:sp>
        <p:nvSpPr>
          <p:cNvPr id="11" name="Text 9"/>
          <p:cNvSpPr txBox="1"/>
          <p:nvPr/>
        </p:nvSpPr>
        <p:spPr>
          <a:xfrm>
            <a:off x="4389120" y="2240280"/>
            <a:ext cx="3017520" cy="329184"/>
          </a:xfrm>
          <a:prstGeom prst="rect">
            <a:avLst/>
          </a:prstGeom>
          <a:noFill/>
          <a:ln/>
        </p:spPr>
        <p:txBody>
          <a:bodyPr wrap="square" lIns="0" tIns="0" rIns="0" bIns="0" rtlCol="0" anchor="ctr"/>
          <a:lstStyle/>
          <a:p>
            <a:pPr indent="0" marL="0">
              <a:buNone/>
            </a:pPr>
            <a:r>
              <a:rPr lang="en-US" sz="1100" dirty="0">
                <a:solidFill>
                  <a:srgbClr val="FFFFFF"/>
                </a:solidFill>
                <a:latin typeface="Courier New" pitchFamily="34" charset="0"/>
                <a:ea typeface="Courier New" pitchFamily="34" charset="-122"/>
                <a:cs typeface="Courier New" pitchFamily="34" charset="-120"/>
              </a:rPr>
              <a:t>catalog.cy.ts</a:t>
            </a:r>
            <a:endParaRPr lang="en-US" sz="1100" dirty="0"/>
          </a:p>
        </p:txBody>
      </p:sp>
      <p:sp>
        <p:nvSpPr>
          <p:cNvPr id="12" name="Shape 10"/>
          <p:cNvSpPr/>
          <p:nvPr/>
        </p:nvSpPr>
        <p:spPr>
          <a:xfrm>
            <a:off x="4251960" y="2642616"/>
            <a:ext cx="3291840" cy="329184"/>
          </a:xfrm>
          <a:prstGeom prst="roundRect">
            <a:avLst>
              <a:gd name="adj" fmla="val 13889"/>
            </a:avLst>
          </a:prstGeom>
          <a:solidFill>
            <a:srgbClr val="1B2029"/>
          </a:solidFill>
          <a:ln w="12700">
            <a:solidFill>
              <a:srgbClr val="4ADE80"/>
            </a:solidFill>
            <a:prstDash val="solid"/>
          </a:ln>
        </p:spPr>
      </p:sp>
      <p:sp>
        <p:nvSpPr>
          <p:cNvPr id="13" name="Text 11"/>
          <p:cNvSpPr txBox="1"/>
          <p:nvPr/>
        </p:nvSpPr>
        <p:spPr>
          <a:xfrm>
            <a:off x="4389120" y="2642616"/>
            <a:ext cx="3017520" cy="329184"/>
          </a:xfrm>
          <a:prstGeom prst="rect">
            <a:avLst/>
          </a:prstGeom>
          <a:noFill/>
          <a:ln/>
        </p:spPr>
        <p:txBody>
          <a:bodyPr wrap="square" lIns="0" tIns="0" rIns="0" bIns="0" rtlCol="0" anchor="ctr"/>
          <a:lstStyle/>
          <a:p>
            <a:pPr indent="0" marL="0">
              <a:buNone/>
            </a:pPr>
            <a:r>
              <a:rPr lang="en-US" sz="1100" dirty="0">
                <a:solidFill>
                  <a:srgbClr val="FFFFFF"/>
                </a:solidFill>
                <a:latin typeface="Courier New" pitchFamily="34" charset="0"/>
                <a:ea typeface="Courier New" pitchFamily="34" charset="-122"/>
                <a:cs typeface="Courier New" pitchFamily="34" charset="-120"/>
              </a:rPr>
              <a:t>search.cy.ts</a:t>
            </a:r>
            <a:endParaRPr lang="en-US" sz="1100" dirty="0"/>
          </a:p>
        </p:txBody>
      </p:sp>
      <p:sp>
        <p:nvSpPr>
          <p:cNvPr id="14" name="Shape 12"/>
          <p:cNvSpPr/>
          <p:nvPr/>
        </p:nvSpPr>
        <p:spPr>
          <a:xfrm>
            <a:off x="4251960" y="3044952"/>
            <a:ext cx="3291840" cy="329184"/>
          </a:xfrm>
          <a:prstGeom prst="roundRect">
            <a:avLst>
              <a:gd name="adj" fmla="val 13889"/>
            </a:avLst>
          </a:prstGeom>
          <a:solidFill>
            <a:srgbClr val="1B2029"/>
          </a:solidFill>
          <a:ln w="12700">
            <a:solidFill>
              <a:srgbClr val="4ADE80"/>
            </a:solidFill>
            <a:prstDash val="solid"/>
          </a:ln>
        </p:spPr>
      </p:sp>
      <p:sp>
        <p:nvSpPr>
          <p:cNvPr id="15" name="Text 13"/>
          <p:cNvSpPr txBox="1"/>
          <p:nvPr/>
        </p:nvSpPr>
        <p:spPr>
          <a:xfrm>
            <a:off x="4389120" y="3044952"/>
            <a:ext cx="3017520" cy="329184"/>
          </a:xfrm>
          <a:prstGeom prst="rect">
            <a:avLst/>
          </a:prstGeom>
          <a:noFill/>
          <a:ln/>
        </p:spPr>
        <p:txBody>
          <a:bodyPr wrap="square" lIns="0" tIns="0" rIns="0" bIns="0" rtlCol="0" anchor="ctr"/>
          <a:lstStyle/>
          <a:p>
            <a:pPr indent="0" marL="0">
              <a:buNone/>
            </a:pPr>
            <a:r>
              <a:rPr lang="en-US" sz="1100" dirty="0">
                <a:solidFill>
                  <a:srgbClr val="FFFFFF"/>
                </a:solidFill>
                <a:latin typeface="Courier New" pitchFamily="34" charset="0"/>
                <a:ea typeface="Courier New" pitchFamily="34" charset="-122"/>
                <a:cs typeface="Courier New" pitchFamily="34" charset="-120"/>
              </a:rPr>
              <a:t>cart-totals.cy.ts</a:t>
            </a:r>
            <a:endParaRPr lang="en-US" sz="1100" dirty="0"/>
          </a:p>
        </p:txBody>
      </p:sp>
      <p:sp>
        <p:nvSpPr>
          <p:cNvPr id="16" name="Shape 14"/>
          <p:cNvSpPr/>
          <p:nvPr/>
        </p:nvSpPr>
        <p:spPr>
          <a:xfrm>
            <a:off x="4251960" y="3447288"/>
            <a:ext cx="3291840" cy="329184"/>
          </a:xfrm>
          <a:prstGeom prst="roundRect">
            <a:avLst>
              <a:gd name="adj" fmla="val 13889"/>
            </a:avLst>
          </a:prstGeom>
          <a:solidFill>
            <a:srgbClr val="1B2029"/>
          </a:solidFill>
          <a:ln w="12700">
            <a:solidFill>
              <a:srgbClr val="4ADE80"/>
            </a:solidFill>
            <a:prstDash val="solid"/>
          </a:ln>
        </p:spPr>
      </p:sp>
      <p:sp>
        <p:nvSpPr>
          <p:cNvPr id="17" name="Text 15"/>
          <p:cNvSpPr txBox="1"/>
          <p:nvPr/>
        </p:nvSpPr>
        <p:spPr>
          <a:xfrm>
            <a:off x="4389120" y="3447288"/>
            <a:ext cx="3017520" cy="329184"/>
          </a:xfrm>
          <a:prstGeom prst="rect">
            <a:avLst/>
          </a:prstGeom>
          <a:noFill/>
          <a:ln/>
        </p:spPr>
        <p:txBody>
          <a:bodyPr wrap="square" lIns="0" tIns="0" rIns="0" bIns="0" rtlCol="0" anchor="ctr"/>
          <a:lstStyle/>
          <a:p>
            <a:pPr indent="0" marL="0">
              <a:buNone/>
            </a:pPr>
            <a:r>
              <a:rPr lang="en-US" sz="1100" dirty="0">
                <a:solidFill>
                  <a:srgbClr val="FFFFFF"/>
                </a:solidFill>
                <a:latin typeface="Courier New" pitchFamily="34" charset="0"/>
                <a:ea typeface="Courier New" pitchFamily="34" charset="-122"/>
                <a:cs typeface="Courier New" pitchFamily="34" charset="-120"/>
              </a:rPr>
              <a:t>login.cy.ts</a:t>
            </a:r>
            <a:endParaRPr lang="en-US" sz="1100" dirty="0"/>
          </a:p>
        </p:txBody>
      </p:sp>
      <p:sp>
        <p:nvSpPr>
          <p:cNvPr id="18" name="Shape 16"/>
          <p:cNvSpPr/>
          <p:nvPr/>
        </p:nvSpPr>
        <p:spPr>
          <a:xfrm>
            <a:off x="4251960" y="3849624"/>
            <a:ext cx="3291840" cy="329184"/>
          </a:xfrm>
          <a:prstGeom prst="roundRect">
            <a:avLst>
              <a:gd name="adj" fmla="val 13889"/>
            </a:avLst>
          </a:prstGeom>
          <a:solidFill>
            <a:srgbClr val="1B2029"/>
          </a:solidFill>
          <a:ln w="12700">
            <a:solidFill>
              <a:srgbClr val="4ADE80"/>
            </a:solidFill>
            <a:prstDash val="solid"/>
          </a:ln>
        </p:spPr>
      </p:sp>
      <p:sp>
        <p:nvSpPr>
          <p:cNvPr id="19" name="Text 17"/>
          <p:cNvSpPr txBox="1"/>
          <p:nvPr/>
        </p:nvSpPr>
        <p:spPr>
          <a:xfrm>
            <a:off x="4389120" y="3849624"/>
            <a:ext cx="3017520" cy="329184"/>
          </a:xfrm>
          <a:prstGeom prst="rect">
            <a:avLst/>
          </a:prstGeom>
          <a:noFill/>
          <a:ln/>
        </p:spPr>
        <p:txBody>
          <a:bodyPr wrap="square" lIns="0" tIns="0" rIns="0" bIns="0" rtlCol="0" anchor="ctr"/>
          <a:lstStyle/>
          <a:p>
            <a:pPr indent="0" marL="0">
              <a:buNone/>
            </a:pPr>
            <a:r>
              <a:rPr lang="en-US" sz="1100" dirty="0">
                <a:solidFill>
                  <a:srgbClr val="FFFFFF"/>
                </a:solidFill>
                <a:latin typeface="Courier New" pitchFamily="34" charset="0"/>
                <a:ea typeface="Courier New" pitchFamily="34" charset="-122"/>
                <a:cs typeface="Courier New" pitchFamily="34" charset="-120"/>
              </a:rPr>
              <a:t>checkout-*.cy.ts</a:t>
            </a:r>
            <a:endParaRPr lang="en-US" sz="1100" dirty="0"/>
          </a:p>
        </p:txBody>
      </p:sp>
      <p:sp>
        <p:nvSpPr>
          <p:cNvPr id="20" name="Shape 18"/>
          <p:cNvSpPr/>
          <p:nvPr/>
        </p:nvSpPr>
        <p:spPr>
          <a:xfrm>
            <a:off x="4251960" y="4251960"/>
            <a:ext cx="3291840" cy="329184"/>
          </a:xfrm>
          <a:prstGeom prst="roundRect">
            <a:avLst>
              <a:gd name="adj" fmla="val 13889"/>
            </a:avLst>
          </a:prstGeom>
          <a:solidFill>
            <a:srgbClr val="10131A"/>
          </a:solidFill>
          <a:ln w="12700">
            <a:solidFill>
              <a:srgbClr val="2C3340"/>
            </a:solidFill>
            <a:prstDash val="solid"/>
          </a:ln>
        </p:spPr>
      </p:sp>
      <p:sp>
        <p:nvSpPr>
          <p:cNvPr id="21" name="Text 19"/>
          <p:cNvSpPr txBox="1"/>
          <p:nvPr/>
        </p:nvSpPr>
        <p:spPr>
          <a:xfrm>
            <a:off x="4389120" y="4251960"/>
            <a:ext cx="3017520" cy="329184"/>
          </a:xfrm>
          <a:prstGeom prst="rect">
            <a:avLst/>
          </a:prstGeom>
          <a:noFill/>
          <a:ln/>
        </p:spPr>
        <p:txBody>
          <a:bodyPr wrap="square" lIns="0" tIns="0" rIns="0" bIns="0" rtlCol="0" anchor="ctr"/>
          <a:lstStyle/>
          <a:p>
            <a:pPr indent="0" marL="0">
              <a:buNone/>
            </a:pPr>
            <a:r>
              <a:rPr lang="en-US" sz="1100" dirty="0">
                <a:solidFill>
                  <a:srgbClr val="8A94A6"/>
                </a:solidFill>
                <a:latin typeface="Courier New" pitchFamily="34" charset="0"/>
                <a:ea typeface="Courier New" pitchFamily="34" charset="-122"/>
                <a:cs typeface="Courier New" pitchFamily="34" charset="-120"/>
              </a:rPr>
              <a:t>…10 in total</a:t>
            </a:r>
            <a:endParaRPr lang="en-US" sz="1100" dirty="0"/>
          </a:p>
        </p:txBody>
      </p:sp>
      <p:sp>
        <p:nvSpPr>
          <p:cNvPr id="22" name="Text 20"/>
          <p:cNvSpPr txBox="1"/>
          <p:nvPr/>
        </p:nvSpPr>
        <p:spPr>
          <a:xfrm>
            <a:off x="7955280" y="2240280"/>
            <a:ext cx="3566160" cy="3108960"/>
          </a:xfrm>
          <a:prstGeom prst="rect">
            <a:avLst/>
          </a:prstGeom>
          <a:noFill/>
          <a:ln/>
        </p:spPr>
        <p:txBody>
          <a:bodyPr wrap="square" lIns="0" tIns="0" rIns="0" bIns="0" rtlCol="0" anchor="t"/>
          <a:lstStyle/>
          <a:p>
            <a:pPr marL="342900" indent="-342900">
              <a:spcAft>
                <a:spcPts val="1000"/>
              </a:spcAft>
              <a:buSzPct val="100000"/>
              <a:buChar char="•"/>
            </a:pPr>
            <a:r>
              <a:rPr lang="en-US" sz="1500" b="1" dirty="0">
                <a:solidFill>
                  <a:srgbClr val="FFFFFF"/>
                </a:solidFill>
                <a:latin typeface="Calibri" pitchFamily="34" charset="0"/>
                <a:ea typeface="Calibri" pitchFamily="34" charset="-122"/>
                <a:cs typeface="Calibri" pitchFamily="34" charset="-120"/>
              </a:rPr>
              <a:t>Generated, not written by hand</a:t>
            </a:r>
            <a:endParaRPr lang="en-US" sz="1500" dirty="0"/>
          </a:p>
          <a:p>
            <a:pPr marL="342900" indent="-342900">
              <a:spcAft>
                <a:spcPts val="1000"/>
              </a:spcAft>
              <a:buSzPct val="100000"/>
              <a:buChar char="•"/>
            </a:pPr>
            <a:r>
              <a:rPr lang="en-US" sz="1500" dirty="0">
                <a:solidFill>
                  <a:srgbClr val="C3CAD6"/>
                </a:solidFill>
                <a:latin typeface="Calibri" pitchFamily="34" charset="0"/>
                <a:ea typeface="Calibri" pitchFamily="34" charset="-122"/>
                <a:cs typeface="Calibri" pitchFamily="34" charset="-120"/>
              </a:rPr>
              <a:t>Add a spec file, get a target</a:t>
            </a:r>
            <a:endParaRPr lang="en-US" sz="1500" dirty="0"/>
          </a:p>
          <a:p>
            <a:pPr marL="342900" indent="-342900">
              <a:spcAft>
                <a:spcPts val="1000"/>
              </a:spcAft>
              <a:buSzPct val="100000"/>
              <a:buChar char="•"/>
            </a:pPr>
            <a:r>
              <a:rPr lang="en-US" sz="1500" dirty="0">
                <a:solidFill>
                  <a:srgbClr val="C3CAD6"/>
                </a:solidFill>
                <a:latin typeface="Calibri" pitchFamily="34" charset="0"/>
                <a:ea typeface="Calibri" pitchFamily="34" charset="-122"/>
                <a:cs typeface="Calibri" pitchFamily="34" charset="-120"/>
              </a:rPr>
              <a:t>Each one is independently runnable</a:t>
            </a:r>
            <a:endParaRPr lang="en-US" sz="1500" dirty="0"/>
          </a:p>
          <a:p>
            <a:pPr marL="342900" indent="-342900">
              <a:spcAft>
                <a:spcPts val="1000"/>
              </a:spcAft>
              <a:buSzPct val="100000"/>
              <a:buChar char="•"/>
            </a:pPr>
            <a:r>
              <a:rPr lang="en-US" sz="1500" dirty="0">
                <a:solidFill>
                  <a:srgbClr val="C3CAD6"/>
                </a:solidFill>
                <a:latin typeface="Calibri" pitchFamily="34" charset="0"/>
                <a:ea typeface="Calibri" pitchFamily="34" charset="-122"/>
                <a:cs typeface="Calibri" pitchFamily="34" charset="-120"/>
              </a:rPr>
              <a:t>Each one is independently cacheable</a:t>
            </a:r>
            <a:endParaRPr lang="en-US" sz="1500" dirty="0"/>
          </a:p>
          <a:p>
            <a:pPr marL="342900" indent="-342900">
              <a:spcAft>
                <a:spcPts val="1000"/>
              </a:spcAft>
              <a:buSzPct val="100000"/>
              <a:buChar char="•"/>
            </a:pPr>
            <a:r>
              <a:rPr lang="en-US" sz="1500" dirty="0">
                <a:solidFill>
                  <a:srgbClr val="C3CAD6"/>
                </a:solidFill>
                <a:latin typeface="Calibri" pitchFamily="34" charset="0"/>
                <a:ea typeface="Calibri" pitchFamily="34" charset="-122"/>
                <a:cs typeface="Calibri" pitchFamily="34" charset="-120"/>
              </a:rPr>
              <a:t>Each one fails on its own</a:t>
            </a:r>
            <a:endParaRPr lang="en-US" sz="1500" dirty="0"/>
          </a:p>
        </p:txBody>
      </p:sp>
    </p:spTree>
  </p:cSld>
  <p:clrMapOvr>
    <a:masterClrMapping/>
  </p:clrMapOvr>
</p:sld>
</file>

<file path=ppt/slides/slide6.xml><?xml version="1.0" encoding="utf-8"?>
<p:sld xmlns:a="http://schemas.openxmlformats.org/drawingml/2006/main" xmlns:r="http://schemas.openxmlformats.org/officeDocument/2006/relationships" xmlns:p="http://schemas.openxmlformats.org/presentationml/2006/main">
  <p:cSld name="Slide 6">
    <p:bg>
      <p:bgPr>
        <a:solidFill>
          <a:srgbClr val="F7F8FA"/>
        </a:solidFill>
      </p:bgPr>
    </p:bg>
    <p:spTree>
      <p:nvGrpSpPr>
        <p:cNvPr id="1" name=""/>
        <p:cNvGrpSpPr/>
        <p:nvPr/>
      </p:nvGrpSpPr>
      <p:grpSpPr>
        <a:xfrm>
          <a:off x="0" y="0"/>
          <a:ext cx="0" cy="0"/>
          <a:chOff x="0" y="0"/>
          <a:chExt cx="0" cy="0"/>
        </a:xfrm>
      </p:grpSpPr>
      <p:sp>
        <p:nvSpPr>
          <p:cNvPr id="2" name="Text 0"/>
          <p:cNvSpPr txBox="1"/>
          <p:nvPr/>
        </p:nvSpPr>
        <p:spPr>
          <a:xfrm>
            <a:off x="640080" y="411480"/>
            <a:ext cx="10881360" cy="274320"/>
          </a:xfrm>
          <a:prstGeom prst="rect">
            <a:avLst/>
          </a:prstGeom>
          <a:noFill/>
          <a:ln/>
        </p:spPr>
        <p:txBody>
          <a:bodyPr wrap="square" lIns="0" tIns="0" rIns="0" bIns="0" rtlCol="0" anchor="ctr"/>
          <a:lstStyle/>
          <a:p>
            <a:pPr indent="0" marL="0">
              <a:buNone/>
            </a:pPr>
            <a:r>
              <a:rPr lang="en-US" sz="1200" b="1" spc="250" kern="0" dirty="0">
                <a:solidFill>
                  <a:srgbClr val="0B7A44"/>
                </a:solidFill>
                <a:latin typeface="Calibri" pitchFamily="34" charset="0"/>
                <a:ea typeface="Calibri" pitchFamily="34" charset="-122"/>
                <a:cs typeface="Calibri" pitchFamily="34" charset="-120"/>
              </a:rPr>
              <a:t>SECTION 02 · SETUP</a:t>
            </a:r>
            <a:endParaRPr lang="en-US" sz="1200" dirty="0"/>
          </a:p>
        </p:txBody>
      </p:sp>
      <p:sp>
        <p:nvSpPr>
          <p:cNvPr id="3" name="Text 1"/>
          <p:cNvSpPr txBox="1"/>
          <p:nvPr/>
        </p:nvSpPr>
        <p:spPr>
          <a:xfrm>
            <a:off x="640080" y="749808"/>
            <a:ext cx="10881360" cy="731520"/>
          </a:xfrm>
          <a:prstGeom prst="rect">
            <a:avLst/>
          </a:prstGeom>
          <a:noFill/>
          <a:ln/>
        </p:spPr>
        <p:txBody>
          <a:bodyPr wrap="square" lIns="0" tIns="0" rIns="0" bIns="0" rtlCol="0" anchor="ctr"/>
          <a:lstStyle/>
          <a:p>
            <a:pPr indent="0" marL="0">
              <a:buNone/>
            </a:pPr>
            <a:r>
              <a:rPr lang="en-US" sz="3800" b="1" dirty="0">
                <a:solidFill>
                  <a:srgbClr val="10131A"/>
                </a:solidFill>
                <a:latin typeface="Cambria" pitchFamily="34" charset="0"/>
                <a:ea typeface="Cambria" pitchFamily="34" charset="-122"/>
                <a:cs typeface="Cambria" pitchFamily="34" charset="-120"/>
              </a:rPr>
              <a:t>Turning it on</a:t>
            </a:r>
            <a:endParaRPr lang="en-US" sz="3800" dirty="0"/>
          </a:p>
        </p:txBody>
      </p:sp>
      <p:sp>
        <p:nvSpPr>
          <p:cNvPr id="4" name="Text 2"/>
          <p:cNvSpPr txBox="1"/>
          <p:nvPr/>
        </p:nvSpPr>
        <p:spPr>
          <a:xfrm>
            <a:off x="640080" y="1828800"/>
            <a:ext cx="5120640" cy="320040"/>
          </a:xfrm>
          <a:prstGeom prst="rect">
            <a:avLst/>
          </a:prstGeom>
          <a:noFill/>
          <a:ln/>
        </p:spPr>
        <p:txBody>
          <a:bodyPr wrap="square" lIns="0" tIns="0" rIns="0" bIns="0" rtlCol="0" anchor="ctr"/>
          <a:lstStyle/>
          <a:p>
            <a:pPr indent="0" marL="0">
              <a:buNone/>
            </a:pPr>
            <a:r>
              <a:rPr lang="en-US" sz="1600" b="1" dirty="0">
                <a:solidFill>
                  <a:srgbClr val="10131A"/>
                </a:solidFill>
                <a:latin typeface="Calibri" pitchFamily="34" charset="0"/>
                <a:ea typeface="Calibri" pitchFamily="34" charset="-122"/>
                <a:cs typeface="Calibri" pitchFamily="34" charset="-120"/>
              </a:rPr>
              <a:t>1 · Add the plugin</a:t>
            </a:r>
            <a:endParaRPr lang="en-US" sz="1600" dirty="0"/>
          </a:p>
        </p:txBody>
      </p:sp>
      <p:sp>
        <p:nvSpPr>
          <p:cNvPr id="5" name="Shape 3"/>
          <p:cNvSpPr/>
          <p:nvPr/>
        </p:nvSpPr>
        <p:spPr>
          <a:xfrm>
            <a:off x="640080" y="2194560"/>
            <a:ext cx="5120640" cy="768096"/>
          </a:xfrm>
          <a:prstGeom prst="roundRect">
            <a:avLst>
              <a:gd name="adj" fmla="val 7143"/>
            </a:avLst>
          </a:prstGeom>
          <a:solidFill>
            <a:srgbClr val="10131A"/>
          </a:solidFill>
          <a:ln w="12700">
            <a:solidFill>
              <a:srgbClr val="10131A"/>
            </a:solidFill>
            <a:prstDash val="solid"/>
          </a:ln>
        </p:spPr>
      </p:sp>
      <p:sp>
        <p:nvSpPr>
          <p:cNvPr id="6" name="Text 4"/>
          <p:cNvSpPr txBox="1"/>
          <p:nvPr/>
        </p:nvSpPr>
        <p:spPr>
          <a:xfrm>
            <a:off x="868680" y="2395728"/>
            <a:ext cx="4663440" cy="365760"/>
          </a:xfrm>
          <a:prstGeom prst="rect">
            <a:avLst/>
          </a:prstGeom>
          <a:noFill/>
          <a:ln/>
        </p:spPr>
        <p:txBody>
          <a:bodyPr wrap="square" lIns="0" tIns="0" rIns="0" bIns="0" rtlCol="0" anchor="t"/>
          <a:lstStyle/>
          <a:p>
            <a:pPr indent="0" marL="0">
              <a:lnSpc>
                <a:spcPct val="125000"/>
              </a:lnSpc>
              <a:buNone/>
            </a:pPr>
            <a:r>
              <a:rPr lang="en-US" sz="1500" dirty="0">
                <a:solidFill>
                  <a:srgbClr val="3DDC84"/>
                </a:solidFill>
                <a:latin typeface="Courier New" pitchFamily="34" charset="0"/>
                <a:ea typeface="Courier New" pitchFamily="34" charset="-122"/>
                <a:cs typeface="Courier New" pitchFamily="34" charset="-120"/>
              </a:rPr>
              <a:t>nx add @nx/cypress</a:t>
            </a:r>
            <a:endParaRPr lang="en-US" sz="1500" dirty="0"/>
          </a:p>
        </p:txBody>
      </p:sp>
      <p:sp>
        <p:nvSpPr>
          <p:cNvPr id="7" name="Text 5"/>
          <p:cNvSpPr txBox="1"/>
          <p:nvPr/>
        </p:nvSpPr>
        <p:spPr>
          <a:xfrm>
            <a:off x="640080" y="3017520"/>
            <a:ext cx="5120640" cy="320040"/>
          </a:xfrm>
          <a:prstGeom prst="rect">
            <a:avLst/>
          </a:prstGeom>
          <a:noFill/>
          <a:ln/>
        </p:spPr>
        <p:txBody>
          <a:bodyPr wrap="square" lIns="0" tIns="0" rIns="0" bIns="0" rtlCol="0" anchor="ctr"/>
          <a:lstStyle/>
          <a:p>
            <a:pPr indent="0" marL="0">
              <a:buNone/>
            </a:pPr>
            <a:r>
              <a:rPr lang="en-US" sz="1600" b="1" dirty="0">
                <a:solidFill>
                  <a:srgbClr val="10131A"/>
                </a:solidFill>
                <a:latin typeface="Calibri" pitchFamily="34" charset="0"/>
                <a:ea typeface="Calibri" pitchFamily="34" charset="-122"/>
                <a:cs typeface="Calibri" pitchFamily="34" charset="-120"/>
              </a:rPr>
              <a:t>2 · It registers this in nx.json</a:t>
            </a:r>
            <a:endParaRPr lang="en-US" sz="1600" dirty="0"/>
          </a:p>
        </p:txBody>
      </p:sp>
      <p:sp>
        <p:nvSpPr>
          <p:cNvPr id="8" name="Shape 6"/>
          <p:cNvSpPr/>
          <p:nvPr/>
        </p:nvSpPr>
        <p:spPr>
          <a:xfrm>
            <a:off x="640080" y="3383280"/>
            <a:ext cx="5120640" cy="2633472"/>
          </a:xfrm>
          <a:prstGeom prst="roundRect">
            <a:avLst>
              <a:gd name="adj" fmla="val 2083"/>
            </a:avLst>
          </a:prstGeom>
          <a:solidFill>
            <a:srgbClr val="10131A"/>
          </a:solidFill>
          <a:ln w="12700">
            <a:solidFill>
              <a:srgbClr val="10131A"/>
            </a:solidFill>
            <a:prstDash val="solid"/>
          </a:ln>
        </p:spPr>
      </p:sp>
      <p:sp>
        <p:nvSpPr>
          <p:cNvPr id="9" name="Text 7"/>
          <p:cNvSpPr txBox="1"/>
          <p:nvPr/>
        </p:nvSpPr>
        <p:spPr>
          <a:xfrm>
            <a:off x="868680" y="3584448"/>
            <a:ext cx="4663440" cy="2231136"/>
          </a:xfrm>
          <a:prstGeom prst="rect">
            <a:avLst/>
          </a:prstGeom>
          <a:noFill/>
          <a:ln/>
        </p:spPr>
        <p:txBody>
          <a:bodyPr wrap="square" lIns="0" tIns="0" rIns="0" bIns="0" rtlCol="0" anchor="t"/>
          <a:lstStyle/>
          <a:p>
            <a:pPr indent="0" marL="0">
              <a:lnSpc>
                <a:spcPct val="125000"/>
              </a:lnSpc>
              <a:buNone/>
            </a:pPr>
            <a:r>
              <a:rPr lang="en-US" sz="1300" dirty="0">
                <a:solidFill>
                  <a:srgbClr val="C3CAD6"/>
                </a:solidFill>
                <a:latin typeface="Courier New" pitchFamily="34" charset="0"/>
                <a:ea typeface="Courier New" pitchFamily="34" charset="-122"/>
                <a:cs typeface="Courier New" pitchFamily="34" charset="-120"/>
              </a:rPr>
              <a:t>{</a:t>
            </a:r>
            <a:endParaRPr lang="en-US" sz="1300" dirty="0"/>
          </a:p>
          <a:p>
            <a:pPr indent="0" marL="0">
              <a:lnSpc>
                <a:spcPct val="125000"/>
              </a:lnSpc>
              <a:buNone/>
            </a:pPr>
            <a:r>
              <a:rPr lang="en-US" sz="1300" dirty="0">
                <a:solidFill>
                  <a:srgbClr val="7DD3FC"/>
                </a:solidFill>
                <a:latin typeface="Courier New" pitchFamily="34" charset="0"/>
                <a:ea typeface="Courier New" pitchFamily="34" charset="-122"/>
                <a:cs typeface="Courier New" pitchFamily="34" charset="-120"/>
              </a:rPr>
              <a:t>  "plugin": "@nx/cypress/plugin",</a:t>
            </a:r>
            <a:endParaRPr lang="en-US" sz="1300" dirty="0"/>
          </a:p>
          <a:p>
            <a:pPr indent="0" marL="0">
              <a:lnSpc>
                <a:spcPct val="125000"/>
              </a:lnSpc>
              <a:buNone/>
            </a:pPr>
            <a:r>
              <a:rPr lang="en-US" sz="1300" dirty="0">
                <a:solidFill>
                  <a:srgbClr val="C3CAD6"/>
                </a:solidFill>
                <a:latin typeface="Courier New" pitchFamily="34" charset="0"/>
                <a:ea typeface="Courier New" pitchFamily="34" charset="-122"/>
                <a:cs typeface="Courier New" pitchFamily="34" charset="-120"/>
              </a:rPr>
              <a:t>  "options": {</a:t>
            </a:r>
            <a:endParaRPr lang="en-US" sz="1300" dirty="0"/>
          </a:p>
          <a:p>
            <a:pPr indent="0" marL="0">
              <a:lnSpc>
                <a:spcPct val="125000"/>
              </a:lnSpc>
              <a:buNone/>
            </a:pPr>
            <a:r>
              <a:rPr lang="en-US" sz="1300" dirty="0">
                <a:solidFill>
                  <a:srgbClr val="3DDC84"/>
                </a:solidFill>
                <a:latin typeface="Courier New" pitchFamily="34" charset="0"/>
                <a:ea typeface="Courier New" pitchFamily="34" charset="-122"/>
                <a:cs typeface="Courier New" pitchFamily="34" charset="-120"/>
              </a:rPr>
              <a:t>    "targetName": "e2e",</a:t>
            </a:r>
            <a:endParaRPr lang="en-US" sz="1300" dirty="0"/>
          </a:p>
          <a:p>
            <a:pPr indent="0" marL="0">
              <a:lnSpc>
                <a:spcPct val="125000"/>
              </a:lnSpc>
              <a:buNone/>
            </a:pPr>
            <a:r>
              <a:rPr lang="en-US" sz="1300" dirty="0">
                <a:solidFill>
                  <a:srgbClr val="3DDC84"/>
                </a:solidFill>
                <a:latin typeface="Courier New" pitchFamily="34" charset="0"/>
                <a:ea typeface="Courier New" pitchFamily="34" charset="-122"/>
                <a:cs typeface="Courier New" pitchFamily="34" charset="-120"/>
              </a:rPr>
              <a:t>    "ciTargetName": "e2e-ci"</a:t>
            </a:r>
            <a:endParaRPr lang="en-US" sz="1300" dirty="0"/>
          </a:p>
          <a:p>
            <a:pPr indent="0" marL="0">
              <a:lnSpc>
                <a:spcPct val="125000"/>
              </a:lnSpc>
              <a:buNone/>
            </a:pPr>
            <a:r>
              <a:rPr lang="en-US" sz="1300" dirty="0">
                <a:solidFill>
                  <a:srgbClr val="C3CAD6"/>
                </a:solidFill>
                <a:latin typeface="Courier New" pitchFamily="34" charset="0"/>
                <a:ea typeface="Courier New" pitchFamily="34" charset="-122"/>
                <a:cs typeface="Courier New" pitchFamily="34" charset="-120"/>
              </a:rPr>
              <a:t>  }</a:t>
            </a:r>
            <a:endParaRPr lang="en-US" sz="1300" dirty="0"/>
          </a:p>
          <a:p>
            <a:pPr indent="0" marL="0">
              <a:lnSpc>
                <a:spcPct val="125000"/>
              </a:lnSpc>
              <a:buNone/>
            </a:pPr>
            <a:r>
              <a:rPr lang="en-US" sz="1300" dirty="0">
                <a:solidFill>
                  <a:srgbClr val="C3CAD6"/>
                </a:solidFill>
                <a:latin typeface="Courier New" pitchFamily="34" charset="0"/>
                <a:ea typeface="Courier New" pitchFamily="34" charset="-122"/>
                <a:cs typeface="Courier New" pitchFamily="34" charset="-120"/>
              </a:rPr>
              <a:t>}</a:t>
            </a:r>
            <a:endParaRPr lang="en-US" sz="1300" dirty="0"/>
          </a:p>
        </p:txBody>
      </p:sp>
      <p:sp>
        <p:nvSpPr>
          <p:cNvPr id="10" name="Text 8"/>
          <p:cNvSpPr txBox="1"/>
          <p:nvPr/>
        </p:nvSpPr>
        <p:spPr>
          <a:xfrm>
            <a:off x="6309360" y="1828800"/>
            <a:ext cx="5212080" cy="320040"/>
          </a:xfrm>
          <a:prstGeom prst="rect">
            <a:avLst/>
          </a:prstGeom>
          <a:noFill/>
          <a:ln/>
        </p:spPr>
        <p:txBody>
          <a:bodyPr wrap="square" lIns="0" tIns="0" rIns="0" bIns="0" rtlCol="0" anchor="ctr"/>
          <a:lstStyle/>
          <a:p>
            <a:pPr indent="0" marL="0">
              <a:buNone/>
            </a:pPr>
            <a:r>
              <a:rPr lang="en-US" sz="1600" b="1" dirty="0">
                <a:solidFill>
                  <a:srgbClr val="10131A"/>
                </a:solidFill>
                <a:latin typeface="Calibri" pitchFamily="34" charset="0"/>
                <a:ea typeface="Calibri" pitchFamily="34" charset="-122"/>
                <a:cs typeface="Calibri" pitchFamily="34" charset="-120"/>
              </a:rPr>
              <a:t>3 · Ask what you got</a:t>
            </a:r>
            <a:endParaRPr lang="en-US" sz="1600" dirty="0"/>
          </a:p>
        </p:txBody>
      </p:sp>
      <p:sp>
        <p:nvSpPr>
          <p:cNvPr id="11" name="Shape 9"/>
          <p:cNvSpPr/>
          <p:nvPr/>
        </p:nvSpPr>
        <p:spPr>
          <a:xfrm>
            <a:off x="6309360" y="2194560"/>
            <a:ext cx="5212080" cy="2944368"/>
          </a:xfrm>
          <a:prstGeom prst="roundRect">
            <a:avLst>
              <a:gd name="adj" fmla="val 1863"/>
            </a:avLst>
          </a:prstGeom>
          <a:solidFill>
            <a:srgbClr val="10131A"/>
          </a:solidFill>
          <a:ln w="12700">
            <a:solidFill>
              <a:srgbClr val="10131A"/>
            </a:solidFill>
            <a:prstDash val="solid"/>
          </a:ln>
        </p:spPr>
      </p:sp>
      <p:sp>
        <p:nvSpPr>
          <p:cNvPr id="12" name="Text 10"/>
          <p:cNvSpPr txBox="1"/>
          <p:nvPr/>
        </p:nvSpPr>
        <p:spPr>
          <a:xfrm>
            <a:off x="6537960" y="2395728"/>
            <a:ext cx="4754880" cy="2542032"/>
          </a:xfrm>
          <a:prstGeom prst="rect">
            <a:avLst/>
          </a:prstGeom>
          <a:noFill/>
          <a:ln/>
        </p:spPr>
        <p:txBody>
          <a:bodyPr wrap="square" lIns="0" tIns="0" rIns="0" bIns="0" rtlCol="0" anchor="t"/>
          <a:lstStyle/>
          <a:p>
            <a:pPr indent="0" marL="0">
              <a:lnSpc>
                <a:spcPct val="125000"/>
              </a:lnSpc>
              <a:buNone/>
            </a:pPr>
            <a:r>
              <a:rPr lang="en-US" sz="1300" dirty="0">
                <a:solidFill>
                  <a:srgbClr val="3DDC84"/>
                </a:solidFill>
                <a:latin typeface="Courier New" pitchFamily="34" charset="0"/>
                <a:ea typeface="Courier New" pitchFamily="34" charset="-122"/>
                <a:cs typeface="Courier New" pitchFamily="34" charset="-120"/>
              </a:rPr>
              <a:t>nx show project shop-e2e --json</a:t>
            </a:r>
            <a:endParaRPr lang="en-US" sz="1300" dirty="0"/>
          </a:p>
          <a:p>
            <a:pPr indent="0" marL="0">
              <a:lnSpc>
                <a:spcPct val="125000"/>
              </a:lnSpc>
              <a:buNone/>
            </a:pPr>
            <a:endParaRPr lang="en-US" sz="1300" dirty="0"/>
          </a:p>
          <a:p>
            <a:pPr indent="0" marL="0">
              <a:lnSpc>
                <a:spcPct val="125000"/>
              </a:lnSpc>
              <a:buNone/>
            </a:pPr>
            <a:r>
              <a:rPr lang="en-US" sz="1300" dirty="0">
                <a:solidFill>
                  <a:srgbClr val="8A94A6"/>
                </a:solidFill>
                <a:latin typeface="Courier New" pitchFamily="34" charset="0"/>
                <a:ea typeface="Courier New" pitchFamily="34" charset="-122"/>
                <a:cs typeface="Courier New" pitchFamily="34" charset="-120"/>
              </a:rPr>
              <a:t>e2e</a:t>
            </a:r>
            <a:endParaRPr lang="en-US" sz="1300" dirty="0"/>
          </a:p>
          <a:p>
            <a:pPr indent="0" marL="0">
              <a:lnSpc>
                <a:spcPct val="125000"/>
              </a:lnSpc>
              <a:buNone/>
            </a:pPr>
            <a:r>
              <a:rPr lang="en-US" sz="1300" dirty="0">
                <a:solidFill>
                  <a:srgbClr val="F5A524"/>
                </a:solidFill>
                <a:latin typeface="Courier New" pitchFamily="34" charset="0"/>
                <a:ea typeface="Courier New" pitchFamily="34" charset="-122"/>
                <a:cs typeface="Courier New" pitchFamily="34" charset="-120"/>
              </a:rPr>
              <a:t>e2e-ci</a:t>
            </a:r>
            <a:endParaRPr lang="en-US" sz="1300" dirty="0"/>
          </a:p>
          <a:p>
            <a:pPr indent="0" marL="0">
              <a:lnSpc>
                <a:spcPct val="125000"/>
              </a:lnSpc>
              <a:buNone/>
            </a:pPr>
            <a:r>
              <a:rPr lang="en-US" sz="1300" dirty="0">
                <a:solidFill>
                  <a:srgbClr val="7DD3FC"/>
                </a:solidFill>
                <a:latin typeface="Courier New" pitchFamily="34" charset="0"/>
                <a:ea typeface="Courier New" pitchFamily="34" charset="-122"/>
                <a:cs typeface="Courier New" pitchFamily="34" charset="-120"/>
              </a:rPr>
              <a:t>e2e-ci--src/e2e/catalog.cy.ts</a:t>
            </a:r>
            <a:endParaRPr lang="en-US" sz="1300" dirty="0"/>
          </a:p>
          <a:p>
            <a:pPr indent="0" marL="0">
              <a:lnSpc>
                <a:spcPct val="125000"/>
              </a:lnSpc>
              <a:buNone/>
            </a:pPr>
            <a:r>
              <a:rPr lang="en-US" sz="1300" dirty="0">
                <a:solidFill>
                  <a:srgbClr val="7DD3FC"/>
                </a:solidFill>
                <a:latin typeface="Courier New" pitchFamily="34" charset="0"/>
                <a:ea typeface="Courier New" pitchFamily="34" charset="-122"/>
                <a:cs typeface="Courier New" pitchFamily="34" charset="-120"/>
              </a:rPr>
              <a:t>e2e-ci--src/e2e/search.cy.ts</a:t>
            </a:r>
            <a:endParaRPr lang="en-US" sz="1300" dirty="0"/>
          </a:p>
          <a:p>
            <a:pPr indent="0" marL="0">
              <a:lnSpc>
                <a:spcPct val="125000"/>
              </a:lnSpc>
              <a:buNone/>
            </a:pPr>
            <a:r>
              <a:rPr lang="en-US" sz="1300" dirty="0">
                <a:solidFill>
                  <a:srgbClr val="7DD3FC"/>
                </a:solidFill>
                <a:latin typeface="Courier New" pitchFamily="34" charset="0"/>
                <a:ea typeface="Courier New" pitchFamily="34" charset="-122"/>
                <a:cs typeface="Courier New" pitchFamily="34" charset="-120"/>
              </a:rPr>
              <a:t>e2e-ci--src/e2e/login.cy.ts</a:t>
            </a:r>
            <a:endParaRPr lang="en-US" sz="1300" dirty="0"/>
          </a:p>
          <a:p>
            <a:pPr indent="0" marL="0">
              <a:lnSpc>
                <a:spcPct val="125000"/>
              </a:lnSpc>
              <a:buNone/>
            </a:pPr>
            <a:r>
              <a:rPr lang="en-US" sz="1300" dirty="0">
                <a:solidFill>
                  <a:srgbClr val="8A94A6"/>
                </a:solidFill>
                <a:latin typeface="Courier New" pitchFamily="34" charset="0"/>
                <a:ea typeface="Courier New" pitchFamily="34" charset="-122"/>
                <a:cs typeface="Courier New" pitchFamily="34" charset="-120"/>
              </a:rPr>
              <a:t>…</a:t>
            </a:r>
            <a:endParaRPr lang="en-US" sz="1300" dirty="0"/>
          </a:p>
        </p:txBody>
      </p:sp>
      <p:sp>
        <p:nvSpPr>
          <p:cNvPr id="13" name="Text 11"/>
          <p:cNvSpPr txBox="1"/>
          <p:nvPr/>
        </p:nvSpPr>
        <p:spPr>
          <a:xfrm>
            <a:off x="6309360" y="5349240"/>
            <a:ext cx="5212080" cy="457200"/>
          </a:xfrm>
          <a:prstGeom prst="rect">
            <a:avLst/>
          </a:prstGeom>
          <a:noFill/>
          <a:ln/>
        </p:spPr>
        <p:txBody>
          <a:bodyPr wrap="square" lIns="0" tIns="0" rIns="0" bIns="0" rtlCol="0" anchor="ctr"/>
          <a:lstStyle/>
          <a:p>
            <a:pPr indent="0" marL="0">
              <a:buNone/>
            </a:pPr>
            <a:r>
              <a:rPr lang="en-US" sz="1300" i="1" dirty="0">
                <a:solidFill>
                  <a:srgbClr val="55607A"/>
                </a:solidFill>
                <a:latin typeface="Calibri" pitchFamily="34" charset="0"/>
                <a:ea typeface="Calibri" pitchFamily="34" charset="-122"/>
                <a:cs typeface="Calibri" pitchFamily="34" charset="-120"/>
              </a:rPr>
              <a:t>Note the real names: one target per file path — not spec1, spec2, spec3.</a:t>
            </a:r>
            <a:endParaRPr lang="en-US" sz="1300" dirty="0"/>
          </a:p>
        </p:txBody>
      </p:sp>
    </p:spTree>
  </p:cSld>
  <p:clrMapOvr>
    <a:masterClrMapping/>
  </p:clrMapOvr>
</p:sld>
</file>

<file path=ppt/slides/slide7.xml><?xml version="1.0" encoding="utf-8"?>
<p:sld xmlns:a="http://schemas.openxmlformats.org/drawingml/2006/main" xmlns:r="http://schemas.openxmlformats.org/officeDocument/2006/relationships" xmlns:p="http://schemas.openxmlformats.org/presentationml/2006/main">
  <p:cSld name="Slide 7">
    <p:bg>
      <p:bgPr>
        <a:solidFill>
          <a:srgbClr val="10131A"/>
        </a:solidFill>
      </p:bgPr>
    </p:bg>
    <p:spTree>
      <p:nvGrpSpPr>
        <p:cNvPr id="1" name=""/>
        <p:cNvGrpSpPr/>
        <p:nvPr/>
      </p:nvGrpSpPr>
      <p:grpSpPr>
        <a:xfrm>
          <a:off x="0" y="0"/>
          <a:ext cx="0" cy="0"/>
          <a:chOff x="0" y="0"/>
          <a:chExt cx="0" cy="0"/>
        </a:xfrm>
      </p:grpSpPr>
      <p:sp>
        <p:nvSpPr>
          <p:cNvPr id="2" name="Text 0"/>
          <p:cNvSpPr txBox="1"/>
          <p:nvPr/>
        </p:nvSpPr>
        <p:spPr>
          <a:xfrm>
            <a:off x="640080" y="411480"/>
            <a:ext cx="10881360" cy="274320"/>
          </a:xfrm>
          <a:prstGeom prst="rect">
            <a:avLst/>
          </a:prstGeom>
          <a:noFill/>
          <a:ln/>
        </p:spPr>
        <p:txBody>
          <a:bodyPr wrap="square" lIns="0" tIns="0" rIns="0" bIns="0" rtlCol="0" anchor="ctr"/>
          <a:lstStyle/>
          <a:p>
            <a:pPr indent="0" marL="0">
              <a:buNone/>
            </a:pPr>
            <a:r>
              <a:rPr lang="en-US" sz="1200" b="1" spc="250" kern="0" dirty="0">
                <a:solidFill>
                  <a:srgbClr val="FB7185"/>
                </a:solidFill>
                <a:latin typeface="Calibri" pitchFamily="34" charset="0"/>
                <a:ea typeface="Calibri" pitchFamily="34" charset="-122"/>
                <a:cs typeface="Calibri" pitchFamily="34" charset="-120"/>
              </a:rPr>
              <a:t>SECTION 03 · THE CATCH</a:t>
            </a:r>
            <a:endParaRPr lang="en-US" sz="1200" dirty="0"/>
          </a:p>
        </p:txBody>
      </p:sp>
      <p:sp>
        <p:nvSpPr>
          <p:cNvPr id="3" name="Text 1"/>
          <p:cNvSpPr txBox="1"/>
          <p:nvPr/>
        </p:nvSpPr>
        <p:spPr>
          <a:xfrm>
            <a:off x="640080" y="749808"/>
            <a:ext cx="10881360" cy="731520"/>
          </a:xfrm>
          <a:prstGeom prst="rect">
            <a:avLst/>
          </a:prstGeom>
          <a:noFill/>
          <a:ln/>
        </p:spPr>
        <p:txBody>
          <a:bodyPr wrap="square" lIns="0" tIns="0" rIns="0" bIns="0" rtlCol="0" anchor="ctr"/>
          <a:lstStyle/>
          <a:p>
            <a:pPr indent="0" marL="0">
              <a:buNone/>
            </a:pPr>
            <a:r>
              <a:rPr lang="en-US" sz="3800" b="1" dirty="0">
                <a:solidFill>
                  <a:srgbClr val="FFFFFF"/>
                </a:solidFill>
                <a:latin typeface="Cambria" pitchFamily="34" charset="0"/>
                <a:ea typeface="Cambria" pitchFamily="34" charset="-122"/>
                <a:cs typeface="Cambria" pitchFamily="34" charset="-120"/>
              </a:rPr>
              <a:t>Then Nx 23 tells you no</a:t>
            </a:r>
            <a:endParaRPr lang="en-US" sz="3800" dirty="0"/>
          </a:p>
        </p:txBody>
      </p:sp>
      <p:sp>
        <p:nvSpPr>
          <p:cNvPr id="4" name="Shape 2"/>
          <p:cNvSpPr/>
          <p:nvPr/>
        </p:nvSpPr>
        <p:spPr>
          <a:xfrm>
            <a:off x="640080" y="1783080"/>
            <a:ext cx="10881360" cy="731520"/>
          </a:xfrm>
          <a:prstGeom prst="roundRect">
            <a:avLst>
              <a:gd name="adj" fmla="val 7500"/>
            </a:avLst>
          </a:prstGeom>
          <a:solidFill>
            <a:srgbClr val="0A0D13"/>
          </a:solidFill>
          <a:ln w="12700">
            <a:solidFill>
              <a:srgbClr val="2C3340"/>
            </a:solidFill>
            <a:prstDash val="solid"/>
          </a:ln>
        </p:spPr>
      </p:sp>
      <p:sp>
        <p:nvSpPr>
          <p:cNvPr id="5" name="Text 3"/>
          <p:cNvSpPr txBox="1"/>
          <p:nvPr/>
        </p:nvSpPr>
        <p:spPr>
          <a:xfrm>
            <a:off x="868680" y="1984248"/>
            <a:ext cx="10424160" cy="329184"/>
          </a:xfrm>
          <a:prstGeom prst="rect">
            <a:avLst/>
          </a:prstGeom>
          <a:noFill/>
          <a:ln/>
        </p:spPr>
        <p:txBody>
          <a:bodyPr wrap="square" lIns="0" tIns="0" rIns="0" bIns="0" rtlCol="0" anchor="t"/>
          <a:lstStyle/>
          <a:p>
            <a:pPr indent="0" marL="0">
              <a:lnSpc>
                <a:spcPct val="125000"/>
              </a:lnSpc>
              <a:buNone/>
            </a:pPr>
            <a:r>
              <a:rPr lang="en-US" sz="1700" dirty="0">
                <a:solidFill>
                  <a:srgbClr val="FFFFFF"/>
                </a:solidFill>
                <a:latin typeface="Courier New" pitchFamily="34" charset="0"/>
                <a:ea typeface="Courier New" pitchFamily="34" charset="-122"/>
                <a:cs typeface="Courier New" pitchFamily="34" charset="-120"/>
              </a:rPr>
              <a:t>nx run-many -t e2e-ci --parallel=5</a:t>
            </a:r>
            <a:endParaRPr lang="en-US" sz="1700" dirty="0"/>
          </a:p>
        </p:txBody>
      </p:sp>
      <p:sp>
        <p:nvSpPr>
          <p:cNvPr id="6" name="Shape 4"/>
          <p:cNvSpPr/>
          <p:nvPr/>
        </p:nvSpPr>
        <p:spPr>
          <a:xfrm>
            <a:off x="640080" y="2697480"/>
            <a:ext cx="10881360" cy="1234440"/>
          </a:xfrm>
          <a:prstGeom prst="roundRect">
            <a:avLst>
              <a:gd name="adj" fmla="val 5185"/>
            </a:avLst>
          </a:prstGeom>
          <a:solidFill>
            <a:srgbClr val="2A1116"/>
          </a:solidFill>
          <a:ln w="19050">
            <a:solidFill>
              <a:srgbClr val="FB7185"/>
            </a:solidFill>
            <a:prstDash val="solid"/>
          </a:ln>
        </p:spPr>
      </p:sp>
      <p:sp>
        <p:nvSpPr>
          <p:cNvPr id="7" name="Text 5"/>
          <p:cNvSpPr txBox="1"/>
          <p:nvPr/>
        </p:nvSpPr>
        <p:spPr>
          <a:xfrm>
            <a:off x="914400" y="2926080"/>
            <a:ext cx="10332720" cy="822960"/>
          </a:xfrm>
          <a:prstGeom prst="rect">
            <a:avLst/>
          </a:prstGeom>
          <a:noFill/>
          <a:ln/>
        </p:spPr>
        <p:txBody>
          <a:bodyPr wrap="square" lIns="0" tIns="0" rIns="0" bIns="0" rtlCol="0" anchor="ctr"/>
          <a:lstStyle/>
          <a:p>
            <a:pPr indent="0" marL="0">
              <a:lnSpc>
                <a:spcPct val="130000"/>
              </a:lnSpc>
              <a:buNone/>
            </a:pPr>
            <a:r>
              <a:rPr lang="en-US" sz="1400" b="1" dirty="0">
                <a:solidFill>
                  <a:srgbClr val="FB7185"/>
                </a:solidFill>
                <a:latin typeface="Courier New" pitchFamily="34" charset="0"/>
                <a:ea typeface="Courier New" pitchFamily="34" charset="-122"/>
                <a:cs typeface="Courier New" pitchFamily="34" charset="-120"/>
              </a:rPr>
              <a:t>NX   The shop-e2e:e2e-ci task should only be run with Nx Cloud.</a:t>
            </a:r>
            <a:endParaRPr lang="en-US" sz="1400" dirty="0"/>
          </a:p>
          <a:p>
            <a:pPr indent="0" marL="0">
              <a:lnSpc>
                <a:spcPct val="130000"/>
              </a:lnSpc>
              <a:buNone/>
            </a:pPr>
            <a:r>
              <a:rPr lang="en-US" sz="1400" dirty="0">
                <a:solidFill>
                  <a:srgbClr val="F5B7C0"/>
                </a:solidFill>
                <a:latin typeface="Courier New" pitchFamily="34" charset="0"/>
                <a:ea typeface="Courier New" pitchFamily="34" charset="-122"/>
                <a:cs typeface="Courier New" pitchFamily="34" charset="-120"/>
              </a:rPr>
              <a:t>Please enable Nx Cloud or use the slower "e2e" task.</a:t>
            </a:r>
            <a:endParaRPr lang="en-US" sz="1400" dirty="0"/>
          </a:p>
        </p:txBody>
      </p:sp>
      <p:sp>
        <p:nvSpPr>
          <p:cNvPr id="8" name="Text 6"/>
          <p:cNvSpPr txBox="1"/>
          <p:nvPr/>
        </p:nvSpPr>
        <p:spPr>
          <a:xfrm>
            <a:off x="640080" y="4160520"/>
            <a:ext cx="10881360" cy="411480"/>
          </a:xfrm>
          <a:prstGeom prst="rect">
            <a:avLst/>
          </a:prstGeom>
          <a:noFill/>
          <a:ln/>
        </p:spPr>
        <p:txBody>
          <a:bodyPr wrap="square" lIns="0" tIns="0" rIns="0" bIns="0" rtlCol="0" anchor="ctr"/>
          <a:lstStyle/>
          <a:p>
            <a:pPr indent="0" marL="0">
              <a:buNone/>
            </a:pPr>
            <a:r>
              <a:rPr lang="en-US" sz="2400" b="1" dirty="0">
                <a:solidFill>
                  <a:srgbClr val="4ADE80"/>
                </a:solidFill>
                <a:latin typeface="Cambria" pitchFamily="34" charset="0"/>
                <a:ea typeface="Cambria" pitchFamily="34" charset="-122"/>
                <a:cs typeface="Cambria" pitchFamily="34" charset="-120"/>
              </a:rPr>
              <a:t>The gate is on the wrapper, not on the work.</a:t>
            </a:r>
            <a:endParaRPr lang="en-US" sz="2400" dirty="0"/>
          </a:p>
        </p:txBody>
      </p:sp>
      <p:sp>
        <p:nvSpPr>
          <p:cNvPr id="9" name="Text 7"/>
          <p:cNvSpPr txBox="1"/>
          <p:nvPr/>
        </p:nvSpPr>
        <p:spPr>
          <a:xfrm>
            <a:off x="640080" y="4663440"/>
            <a:ext cx="10881360" cy="1554480"/>
          </a:xfrm>
          <a:prstGeom prst="rect">
            <a:avLst/>
          </a:prstGeom>
          <a:noFill/>
          <a:ln/>
        </p:spPr>
        <p:txBody>
          <a:bodyPr wrap="square" lIns="0" tIns="0" rIns="0" bIns="0" rtlCol="0" anchor="t"/>
          <a:lstStyle/>
          <a:p>
            <a:pPr marL="342900" indent="-342900">
              <a:spcAft>
                <a:spcPts val="1000"/>
              </a:spcAft>
              <a:buSzPct val="100000"/>
              <a:buChar char="•"/>
            </a:pPr>
            <a:r>
              <a:rPr lang="en-US" sz="1500" dirty="0">
                <a:solidFill>
                  <a:srgbClr val="C3CAD6"/>
                </a:solidFill>
                <a:latin typeface="Calibri" pitchFamily="34" charset="0"/>
                <a:ea typeface="Calibri" pitchFamily="34" charset="-122"/>
                <a:cs typeface="Calibri" pitchFamily="34" charset="-120"/>
              </a:rPr>
              <a:t>e2e-ci is a no-op coordinator that just depends on the ten real tasks</a:t>
            </a:r>
            <a:endParaRPr lang="en-US" sz="1500" dirty="0"/>
          </a:p>
          <a:p>
            <a:pPr marL="342900" indent="-342900">
              <a:spcAft>
                <a:spcPts val="1000"/>
              </a:spcAft>
              <a:buSzPct val="100000"/>
              <a:buChar char="•"/>
            </a:pPr>
            <a:r>
              <a:rPr lang="en-US" sz="1500" dirty="0">
                <a:solidFill>
                  <a:srgbClr val="C3CAD6"/>
                </a:solidFill>
                <a:latin typeface="Calibri" pitchFamily="34" charset="0"/>
                <a:ea typeface="Calibri" pitchFamily="34" charset="-122"/>
                <a:cs typeface="Calibri" pitchFamily="34" charset="-120"/>
              </a:rPr>
              <a:t>The ten atomized targets are ordinary nx:run-commands tasks</a:t>
            </a:r>
            <a:endParaRPr lang="en-US" sz="1500" dirty="0"/>
          </a:p>
          <a:p>
            <a:pPr marL="342900" indent="-342900">
              <a:spcAft>
                <a:spcPts val="1000"/>
              </a:spcAft>
              <a:buSzPct val="100000"/>
              <a:buChar char="•"/>
            </a:pPr>
            <a:r>
              <a:rPr lang="en-US" sz="1500" dirty="0">
                <a:solidFill>
                  <a:srgbClr val="C3CAD6"/>
                </a:solidFill>
                <a:latin typeface="Calibri" pitchFamily="34" charset="0"/>
                <a:ea typeface="Calibri" pitchFamily="34" charset="-122"/>
                <a:cs typeface="Calibri" pitchFamily="34" charset="-120"/>
              </a:rPr>
              <a:t>Run one directly and it works, cache and all</a:t>
            </a:r>
            <a:endParaRPr lang="en-US" sz="1500" dirty="0"/>
          </a:p>
        </p:txBody>
      </p:sp>
    </p:spTree>
  </p:cSld>
  <p:clrMapOvr>
    <a:masterClrMapping/>
  </p:clrMapOvr>
</p:sld>
</file>

<file path=ppt/slides/slide8.xml><?xml version="1.0" encoding="utf-8"?>
<p:sld xmlns:a="http://schemas.openxmlformats.org/drawingml/2006/main" xmlns:r="http://schemas.openxmlformats.org/officeDocument/2006/relationships" xmlns:p="http://schemas.openxmlformats.org/presentationml/2006/main">
  <p:cSld name="Slide 8">
    <p:bg>
      <p:bgPr>
        <a:solidFill>
          <a:srgbClr val="10131A"/>
        </a:solidFill>
      </p:bgPr>
    </p:bg>
    <p:spTree>
      <p:nvGrpSpPr>
        <p:cNvPr id="1" name=""/>
        <p:cNvGrpSpPr/>
        <p:nvPr/>
      </p:nvGrpSpPr>
      <p:grpSpPr>
        <a:xfrm>
          <a:off x="0" y="0"/>
          <a:ext cx="0" cy="0"/>
          <a:chOff x="0" y="0"/>
          <a:chExt cx="0" cy="0"/>
        </a:xfrm>
      </p:grpSpPr>
      <p:sp>
        <p:nvSpPr>
          <p:cNvPr id="2" name="Text 0"/>
          <p:cNvSpPr txBox="1"/>
          <p:nvPr/>
        </p:nvSpPr>
        <p:spPr>
          <a:xfrm>
            <a:off x="640080" y="411480"/>
            <a:ext cx="10881360" cy="274320"/>
          </a:xfrm>
          <a:prstGeom prst="rect">
            <a:avLst/>
          </a:prstGeom>
          <a:noFill/>
          <a:ln/>
        </p:spPr>
        <p:txBody>
          <a:bodyPr wrap="square" lIns="0" tIns="0" rIns="0" bIns="0" rtlCol="0" anchor="ctr"/>
          <a:lstStyle/>
          <a:p>
            <a:pPr indent="0" marL="0">
              <a:buNone/>
            </a:pPr>
            <a:r>
              <a:rPr lang="en-US" sz="1200" b="1" spc="250" kern="0" dirty="0">
                <a:solidFill>
                  <a:srgbClr val="4ADE80"/>
                </a:solidFill>
                <a:latin typeface="Calibri" pitchFamily="34" charset="0"/>
                <a:ea typeface="Calibri" pitchFamily="34" charset="-122"/>
                <a:cs typeface="Calibri" pitchFamily="34" charset="-120"/>
              </a:rPr>
              <a:t>SECTION 04 · PARALLEL, NO CLOUD</a:t>
            </a:r>
            <a:endParaRPr lang="en-US" sz="1200" dirty="0"/>
          </a:p>
        </p:txBody>
      </p:sp>
      <p:sp>
        <p:nvSpPr>
          <p:cNvPr id="3" name="Text 1"/>
          <p:cNvSpPr txBox="1"/>
          <p:nvPr/>
        </p:nvSpPr>
        <p:spPr>
          <a:xfrm>
            <a:off x="640080" y="749808"/>
            <a:ext cx="10881360" cy="731520"/>
          </a:xfrm>
          <a:prstGeom prst="rect">
            <a:avLst/>
          </a:prstGeom>
          <a:noFill/>
          <a:ln/>
        </p:spPr>
        <p:txBody>
          <a:bodyPr wrap="square" lIns="0" tIns="0" rIns="0" bIns="0" rtlCol="0" anchor="ctr"/>
          <a:lstStyle/>
          <a:p>
            <a:pPr indent="0" marL="0">
              <a:buNone/>
            </a:pPr>
            <a:r>
              <a:rPr lang="en-US" sz="3800" b="1" dirty="0">
                <a:solidFill>
                  <a:srgbClr val="FFFFFF"/>
                </a:solidFill>
                <a:latin typeface="Cambria" pitchFamily="34" charset="0"/>
                <a:ea typeface="Cambria" pitchFamily="34" charset="-122"/>
                <a:cs typeface="Cambria" pitchFamily="34" charset="-120"/>
              </a:rPr>
              <a:t>Ask for the list yourself</a:t>
            </a:r>
            <a:endParaRPr lang="en-US" sz="3800" dirty="0"/>
          </a:p>
        </p:txBody>
      </p:sp>
      <p:sp>
        <p:nvSpPr>
          <p:cNvPr id="4" name="Shape 2"/>
          <p:cNvSpPr/>
          <p:nvPr/>
        </p:nvSpPr>
        <p:spPr>
          <a:xfrm>
            <a:off x="640080" y="1783080"/>
            <a:ext cx="10881360" cy="2011680"/>
          </a:xfrm>
          <a:prstGeom prst="roundRect">
            <a:avLst>
              <a:gd name="adj" fmla="val 2727"/>
            </a:avLst>
          </a:prstGeom>
          <a:solidFill>
            <a:srgbClr val="0A0D13"/>
          </a:solidFill>
          <a:ln w="12700">
            <a:solidFill>
              <a:srgbClr val="2C3340"/>
            </a:solidFill>
            <a:prstDash val="solid"/>
          </a:ln>
        </p:spPr>
      </p:sp>
      <p:sp>
        <p:nvSpPr>
          <p:cNvPr id="5" name="Text 3"/>
          <p:cNvSpPr txBox="1"/>
          <p:nvPr/>
        </p:nvSpPr>
        <p:spPr>
          <a:xfrm>
            <a:off x="868680" y="1984248"/>
            <a:ext cx="10424160" cy="1609344"/>
          </a:xfrm>
          <a:prstGeom prst="rect">
            <a:avLst/>
          </a:prstGeom>
          <a:noFill/>
          <a:ln/>
        </p:spPr>
        <p:txBody>
          <a:bodyPr wrap="square" lIns="0" tIns="0" rIns="0" bIns="0" rtlCol="0" anchor="t"/>
          <a:lstStyle/>
          <a:p>
            <a:pPr indent="0" marL="0">
              <a:lnSpc>
                <a:spcPct val="125000"/>
              </a:lnSpc>
              <a:buNone/>
            </a:pPr>
            <a:r>
              <a:rPr lang="en-US" sz="1500" dirty="0">
                <a:solidFill>
                  <a:srgbClr val="8A94A6"/>
                </a:solidFill>
                <a:latin typeface="Courier New" pitchFamily="34" charset="0"/>
                <a:ea typeface="Courier New" pitchFamily="34" charset="-122"/>
                <a:cs typeface="Courier New" pitchFamily="34" charset="-120"/>
              </a:rPr>
              <a:t># the gate does not apply to the leaf tasks</a:t>
            </a:r>
            <a:endParaRPr lang="en-US" sz="1500" dirty="0"/>
          </a:p>
          <a:p>
            <a:pPr indent="0" marL="0">
              <a:lnSpc>
                <a:spcPct val="125000"/>
              </a:lnSpc>
              <a:buNone/>
            </a:pPr>
            <a:r>
              <a:rPr lang="en-US" sz="1500" dirty="0">
                <a:solidFill>
                  <a:srgbClr val="4ADE80"/>
                </a:solidFill>
                <a:latin typeface="Courier New" pitchFamily="34" charset="0"/>
                <a:ea typeface="Courier New" pitchFamily="34" charset="-122"/>
                <a:cs typeface="Courier New" pitchFamily="34" charset="-120"/>
              </a:rPr>
              <a:t>nx run "shop-e2e:e2e-ci--src/e2e/catalog.cy.ts"   ✓</a:t>
            </a:r>
            <a:endParaRPr lang="en-US" sz="1500" dirty="0"/>
          </a:p>
          <a:p>
            <a:pPr indent="0" marL="0">
              <a:lnSpc>
                <a:spcPct val="125000"/>
              </a:lnSpc>
              <a:buNone/>
            </a:pPr>
            <a:endParaRPr lang="en-US" sz="1500" dirty="0"/>
          </a:p>
          <a:p>
            <a:pPr indent="0" marL="0">
              <a:lnSpc>
                <a:spcPct val="125000"/>
              </a:lnSpc>
              <a:buNone/>
            </a:pPr>
            <a:r>
              <a:rPr lang="en-US" sz="1500" dirty="0">
                <a:solidFill>
                  <a:srgbClr val="8A94A6"/>
                </a:solidFill>
                <a:latin typeface="Courier New" pitchFamily="34" charset="0"/>
                <a:ea typeface="Courier New" pitchFamily="34" charset="-122"/>
                <a:cs typeface="Courier New" pitchFamily="34" charset="-120"/>
              </a:rPr>
              <a:t># so discover them, then hand them to run-many</a:t>
            </a:r>
            <a:endParaRPr lang="en-US" sz="1500" dirty="0"/>
          </a:p>
          <a:p>
            <a:pPr indent="0" marL="0">
              <a:lnSpc>
                <a:spcPct val="125000"/>
              </a:lnSpc>
              <a:buNone/>
            </a:pPr>
            <a:r>
              <a:rPr lang="en-US" sz="1500" b="1" dirty="0">
                <a:solidFill>
                  <a:srgbClr val="FFFFFF"/>
                </a:solidFill>
                <a:latin typeface="Courier New" pitchFamily="34" charset="0"/>
                <a:ea typeface="Courier New" pitchFamily="34" charset="-122"/>
                <a:cs typeface="Courier New" pitchFamily="34" charset="-120"/>
              </a:rPr>
              <a:t>node tools/shard-e2e.mjs --parallel=5</a:t>
            </a:r>
            <a:endParaRPr lang="en-US" sz="1500" dirty="0"/>
          </a:p>
        </p:txBody>
      </p:sp>
      <p:sp>
        <p:nvSpPr>
          <p:cNvPr id="6" name="Shape 4"/>
          <p:cNvSpPr/>
          <p:nvPr/>
        </p:nvSpPr>
        <p:spPr>
          <a:xfrm>
            <a:off x="640080" y="3886200"/>
            <a:ext cx="3429000" cy="1463040"/>
          </a:xfrm>
          <a:prstGeom prst="roundRect">
            <a:avLst>
              <a:gd name="adj" fmla="val 4375"/>
            </a:avLst>
          </a:prstGeom>
          <a:solidFill>
            <a:srgbClr val="1B2029"/>
          </a:solidFill>
          <a:ln w="12700">
            <a:solidFill>
              <a:srgbClr val="2C3340"/>
            </a:solidFill>
            <a:prstDash val="solid"/>
          </a:ln>
        </p:spPr>
      </p:sp>
      <p:sp>
        <p:nvSpPr>
          <p:cNvPr id="7" name="Text 5"/>
          <p:cNvSpPr txBox="1"/>
          <p:nvPr/>
        </p:nvSpPr>
        <p:spPr>
          <a:xfrm>
            <a:off x="841248" y="4069080"/>
            <a:ext cx="3026664" cy="685800"/>
          </a:xfrm>
          <a:prstGeom prst="rect">
            <a:avLst/>
          </a:prstGeom>
          <a:noFill/>
          <a:ln/>
        </p:spPr>
        <p:txBody>
          <a:bodyPr wrap="square" lIns="0" tIns="0" rIns="0" bIns="0" rtlCol="0" anchor="ctr"/>
          <a:lstStyle/>
          <a:p>
            <a:pPr indent="0" marL="0">
              <a:buNone/>
            </a:pPr>
            <a:r>
              <a:rPr lang="en-US" sz="4000" b="1" dirty="0">
                <a:solidFill>
                  <a:srgbClr val="F5A524"/>
                </a:solidFill>
                <a:latin typeface="Cambria" pitchFamily="34" charset="0"/>
                <a:ea typeface="Cambria" pitchFamily="34" charset="-122"/>
                <a:cs typeface="Cambria" pitchFamily="34" charset="-120"/>
              </a:rPr>
              <a:t>1m 33s</a:t>
            </a:r>
            <a:endParaRPr lang="en-US" sz="4000" dirty="0"/>
          </a:p>
        </p:txBody>
      </p:sp>
      <p:sp>
        <p:nvSpPr>
          <p:cNvPr id="8" name="Text 6"/>
          <p:cNvSpPr txBox="1"/>
          <p:nvPr/>
        </p:nvSpPr>
        <p:spPr>
          <a:xfrm>
            <a:off x="841248" y="4782312"/>
            <a:ext cx="3026664" cy="320040"/>
          </a:xfrm>
          <a:prstGeom prst="rect">
            <a:avLst/>
          </a:prstGeom>
          <a:noFill/>
          <a:ln/>
        </p:spPr>
        <p:txBody>
          <a:bodyPr wrap="square" lIns="0" tIns="0" rIns="0" bIns="0" rtlCol="0" anchor="ctr"/>
          <a:lstStyle/>
          <a:p>
            <a:pPr indent="0" marL="0">
              <a:buNone/>
            </a:pPr>
            <a:r>
              <a:rPr lang="en-US" sz="1300" dirty="0">
                <a:solidFill>
                  <a:srgbClr val="C3CAD6"/>
                </a:solidFill>
                <a:latin typeface="Calibri" pitchFamily="34" charset="0"/>
                <a:ea typeface="Calibri" pitchFamily="34" charset="-122"/>
                <a:cs typeface="Calibri" pitchFamily="34" charset="-120"/>
              </a:rPr>
              <a:t>One task, all specs</a:t>
            </a:r>
            <a:endParaRPr lang="en-US" sz="1300" dirty="0"/>
          </a:p>
        </p:txBody>
      </p:sp>
      <p:sp>
        <p:nvSpPr>
          <p:cNvPr id="9" name="Shape 7"/>
          <p:cNvSpPr/>
          <p:nvPr/>
        </p:nvSpPr>
        <p:spPr>
          <a:xfrm>
            <a:off x="4343400" y="3886200"/>
            <a:ext cx="3429000" cy="1463040"/>
          </a:xfrm>
          <a:prstGeom prst="roundRect">
            <a:avLst>
              <a:gd name="adj" fmla="val 4375"/>
            </a:avLst>
          </a:prstGeom>
          <a:solidFill>
            <a:srgbClr val="1B2029"/>
          </a:solidFill>
          <a:ln w="12700">
            <a:solidFill>
              <a:srgbClr val="2C3340"/>
            </a:solidFill>
            <a:prstDash val="solid"/>
          </a:ln>
        </p:spPr>
      </p:sp>
      <p:sp>
        <p:nvSpPr>
          <p:cNvPr id="10" name="Text 8"/>
          <p:cNvSpPr txBox="1"/>
          <p:nvPr/>
        </p:nvSpPr>
        <p:spPr>
          <a:xfrm>
            <a:off x="4544568" y="4069080"/>
            <a:ext cx="3026664" cy="685800"/>
          </a:xfrm>
          <a:prstGeom prst="rect">
            <a:avLst/>
          </a:prstGeom>
          <a:noFill/>
          <a:ln/>
        </p:spPr>
        <p:txBody>
          <a:bodyPr wrap="square" lIns="0" tIns="0" rIns="0" bIns="0" rtlCol="0" anchor="ctr"/>
          <a:lstStyle/>
          <a:p>
            <a:pPr indent="0" marL="0">
              <a:buNone/>
            </a:pPr>
            <a:r>
              <a:rPr lang="en-US" sz="4000" b="1" dirty="0">
                <a:solidFill>
                  <a:srgbClr val="4ADE80"/>
                </a:solidFill>
                <a:latin typeface="Cambria" pitchFamily="34" charset="0"/>
                <a:ea typeface="Cambria" pitchFamily="34" charset="-122"/>
                <a:cs typeface="Cambria" pitchFamily="34" charset="-120"/>
              </a:rPr>
              <a:t>40s</a:t>
            </a:r>
            <a:endParaRPr lang="en-US" sz="4000" dirty="0"/>
          </a:p>
        </p:txBody>
      </p:sp>
      <p:sp>
        <p:nvSpPr>
          <p:cNvPr id="11" name="Text 9"/>
          <p:cNvSpPr txBox="1"/>
          <p:nvPr/>
        </p:nvSpPr>
        <p:spPr>
          <a:xfrm>
            <a:off x="4544568" y="4782312"/>
            <a:ext cx="3026664" cy="320040"/>
          </a:xfrm>
          <a:prstGeom prst="rect">
            <a:avLst/>
          </a:prstGeom>
          <a:noFill/>
          <a:ln/>
        </p:spPr>
        <p:txBody>
          <a:bodyPr wrap="square" lIns="0" tIns="0" rIns="0" bIns="0" rtlCol="0" anchor="ctr"/>
          <a:lstStyle/>
          <a:p>
            <a:pPr indent="0" marL="0">
              <a:buNone/>
            </a:pPr>
            <a:r>
              <a:rPr lang="en-US" sz="1300" dirty="0">
                <a:solidFill>
                  <a:srgbClr val="C3CAD6"/>
                </a:solidFill>
                <a:latin typeface="Calibri" pitchFamily="34" charset="0"/>
                <a:ea typeface="Calibri" pitchFamily="34" charset="-122"/>
                <a:cs typeface="Calibri" pitchFamily="34" charset="-120"/>
              </a:rPr>
              <a:t>Atomized, 5 at a time</a:t>
            </a:r>
            <a:endParaRPr lang="en-US" sz="1300" dirty="0"/>
          </a:p>
        </p:txBody>
      </p:sp>
      <p:sp>
        <p:nvSpPr>
          <p:cNvPr id="12" name="Shape 10"/>
          <p:cNvSpPr/>
          <p:nvPr/>
        </p:nvSpPr>
        <p:spPr>
          <a:xfrm>
            <a:off x="8046720" y="3886200"/>
            <a:ext cx="3429000" cy="1463040"/>
          </a:xfrm>
          <a:prstGeom prst="roundRect">
            <a:avLst>
              <a:gd name="adj" fmla="val 4375"/>
            </a:avLst>
          </a:prstGeom>
          <a:solidFill>
            <a:srgbClr val="1B2029"/>
          </a:solidFill>
          <a:ln w="12700">
            <a:solidFill>
              <a:srgbClr val="2C3340"/>
            </a:solidFill>
            <a:prstDash val="solid"/>
          </a:ln>
        </p:spPr>
      </p:sp>
      <p:sp>
        <p:nvSpPr>
          <p:cNvPr id="13" name="Text 11"/>
          <p:cNvSpPr txBox="1"/>
          <p:nvPr/>
        </p:nvSpPr>
        <p:spPr>
          <a:xfrm>
            <a:off x="8247888" y="4069080"/>
            <a:ext cx="3026664" cy="685800"/>
          </a:xfrm>
          <a:prstGeom prst="rect">
            <a:avLst/>
          </a:prstGeom>
          <a:noFill/>
          <a:ln/>
        </p:spPr>
        <p:txBody>
          <a:bodyPr wrap="square" lIns="0" tIns="0" rIns="0" bIns="0" rtlCol="0" anchor="ctr"/>
          <a:lstStyle/>
          <a:p>
            <a:pPr indent="0" marL="0">
              <a:buNone/>
            </a:pPr>
            <a:r>
              <a:rPr lang="en-US" sz="4000" b="1" dirty="0">
                <a:solidFill>
                  <a:srgbClr val="60A5FA"/>
                </a:solidFill>
                <a:latin typeface="Cambria" pitchFamily="34" charset="0"/>
                <a:ea typeface="Cambria" pitchFamily="34" charset="-122"/>
                <a:cs typeface="Cambria" pitchFamily="34" charset="-120"/>
              </a:rPr>
              <a:t>2.3×</a:t>
            </a:r>
            <a:endParaRPr lang="en-US" sz="4000" dirty="0"/>
          </a:p>
        </p:txBody>
      </p:sp>
      <p:sp>
        <p:nvSpPr>
          <p:cNvPr id="14" name="Text 12"/>
          <p:cNvSpPr txBox="1"/>
          <p:nvPr/>
        </p:nvSpPr>
        <p:spPr>
          <a:xfrm>
            <a:off x="8247888" y="4782312"/>
            <a:ext cx="3026664" cy="320040"/>
          </a:xfrm>
          <a:prstGeom prst="rect">
            <a:avLst/>
          </a:prstGeom>
          <a:noFill/>
          <a:ln/>
        </p:spPr>
        <p:txBody>
          <a:bodyPr wrap="square" lIns="0" tIns="0" rIns="0" bIns="0" rtlCol="0" anchor="ctr"/>
          <a:lstStyle/>
          <a:p>
            <a:pPr indent="0" marL="0">
              <a:buNone/>
            </a:pPr>
            <a:r>
              <a:rPr lang="en-US" sz="1300" dirty="0">
                <a:solidFill>
                  <a:srgbClr val="C3CAD6"/>
                </a:solidFill>
                <a:latin typeface="Calibri" pitchFamily="34" charset="0"/>
                <a:ea typeface="Calibri" pitchFamily="34" charset="-122"/>
                <a:cs typeface="Calibri" pitchFamily="34" charset="-120"/>
              </a:rPr>
              <a:t>On one laptop, no cloud</a:t>
            </a:r>
            <a:endParaRPr lang="en-US" sz="1300" dirty="0"/>
          </a:p>
        </p:txBody>
      </p:sp>
    </p:spTree>
  </p:cSld>
  <p:clrMapOvr>
    <a:masterClrMapping/>
  </p:clrMapOvr>
</p:sld>
</file>

<file path=ppt/slides/slide9.xml><?xml version="1.0" encoding="utf-8"?>
<p:sld xmlns:a="http://schemas.openxmlformats.org/drawingml/2006/main" xmlns:r="http://schemas.openxmlformats.org/officeDocument/2006/relationships" xmlns:p="http://schemas.openxmlformats.org/presentationml/2006/main">
  <p:cSld name="Slide 9">
    <p:bg>
      <p:bgPr>
        <a:solidFill>
          <a:srgbClr val="F7F8FA"/>
        </a:solidFill>
      </p:bgPr>
    </p:bg>
    <p:spTree>
      <p:nvGrpSpPr>
        <p:cNvPr id="1" name=""/>
        <p:cNvGrpSpPr/>
        <p:nvPr/>
      </p:nvGrpSpPr>
      <p:grpSpPr>
        <a:xfrm>
          <a:off x="0" y="0"/>
          <a:ext cx="0" cy="0"/>
          <a:chOff x="0" y="0"/>
          <a:chExt cx="0" cy="0"/>
        </a:xfrm>
      </p:grpSpPr>
      <p:sp>
        <p:nvSpPr>
          <p:cNvPr id="2" name="Text 0"/>
          <p:cNvSpPr txBox="1"/>
          <p:nvPr/>
        </p:nvSpPr>
        <p:spPr>
          <a:xfrm>
            <a:off x="640080" y="411480"/>
            <a:ext cx="10881360" cy="274320"/>
          </a:xfrm>
          <a:prstGeom prst="rect">
            <a:avLst/>
          </a:prstGeom>
          <a:noFill/>
          <a:ln/>
        </p:spPr>
        <p:txBody>
          <a:bodyPr wrap="square" lIns="0" tIns="0" rIns="0" bIns="0" rtlCol="0" anchor="ctr"/>
          <a:lstStyle/>
          <a:p>
            <a:pPr indent="0" marL="0">
              <a:buNone/>
            </a:pPr>
            <a:r>
              <a:rPr lang="en-US" sz="1200" b="1" spc="250" kern="0" dirty="0">
                <a:solidFill>
                  <a:srgbClr val="B45309"/>
                </a:solidFill>
                <a:latin typeface="Calibri" pitchFamily="34" charset="0"/>
                <a:ea typeface="Calibri" pitchFamily="34" charset="-122"/>
                <a:cs typeface="Calibri" pitchFamily="34" charset="-120"/>
              </a:rPr>
              <a:t>SECTION 04 · THE PART PEOPLE SKIP</a:t>
            </a:r>
            <a:endParaRPr lang="en-US" sz="1200" dirty="0"/>
          </a:p>
        </p:txBody>
      </p:sp>
      <p:sp>
        <p:nvSpPr>
          <p:cNvPr id="3" name="Text 1"/>
          <p:cNvSpPr txBox="1"/>
          <p:nvPr/>
        </p:nvSpPr>
        <p:spPr>
          <a:xfrm>
            <a:off x="640080" y="749808"/>
            <a:ext cx="10881360" cy="731520"/>
          </a:xfrm>
          <a:prstGeom prst="rect">
            <a:avLst/>
          </a:prstGeom>
          <a:noFill/>
          <a:ln/>
        </p:spPr>
        <p:txBody>
          <a:bodyPr wrap="square" lIns="0" tIns="0" rIns="0" bIns="0" rtlCol="0" anchor="ctr"/>
          <a:lstStyle/>
          <a:p>
            <a:pPr indent="0" marL="0">
              <a:buNone/>
            </a:pPr>
            <a:r>
              <a:rPr lang="en-US" sz="3800" b="1" dirty="0">
                <a:solidFill>
                  <a:srgbClr val="10131A"/>
                </a:solidFill>
                <a:latin typeface="Cambria" pitchFamily="34" charset="0"/>
                <a:ea typeface="Cambria" pitchFamily="34" charset="-122"/>
                <a:cs typeface="Cambria" pitchFamily="34" charset="-120"/>
              </a:rPr>
              <a:t>Splitting alone makes it slower</a:t>
            </a:r>
            <a:endParaRPr lang="en-US" sz="3800" dirty="0"/>
          </a:p>
        </p:txBody>
      </p:sp>
      <p:sp>
        <p:nvSpPr>
          <p:cNvPr id="4" name="Text 2"/>
          <p:cNvSpPr txBox="1"/>
          <p:nvPr/>
        </p:nvSpPr>
        <p:spPr>
          <a:xfrm>
            <a:off x="640080" y="2103120"/>
            <a:ext cx="3108960" cy="365760"/>
          </a:xfrm>
          <a:prstGeom prst="rect">
            <a:avLst/>
          </a:prstGeom>
          <a:noFill/>
          <a:ln/>
        </p:spPr>
        <p:txBody>
          <a:bodyPr wrap="square" lIns="0" tIns="0" rIns="0" bIns="0" rtlCol="0" anchor="ctr"/>
          <a:lstStyle/>
          <a:p>
            <a:pPr indent="0" marL="0">
              <a:buNone/>
            </a:pPr>
            <a:r>
              <a:rPr lang="en-US" sz="1400" dirty="0">
                <a:solidFill>
                  <a:srgbClr val="10131A"/>
                </a:solidFill>
                <a:latin typeface="Calibri" pitchFamily="34" charset="0"/>
                <a:ea typeface="Calibri" pitchFamily="34" charset="-122"/>
                <a:cs typeface="Calibri" pitchFamily="34" charset="-120"/>
              </a:rPr>
              <a:t>One task, all specs</a:t>
            </a:r>
            <a:endParaRPr lang="en-US" sz="1400" dirty="0"/>
          </a:p>
        </p:txBody>
      </p:sp>
      <p:sp>
        <p:nvSpPr>
          <p:cNvPr id="5" name="Shape 3"/>
          <p:cNvSpPr/>
          <p:nvPr/>
        </p:nvSpPr>
        <p:spPr>
          <a:xfrm>
            <a:off x="3840480" y="2157984"/>
            <a:ext cx="5619982" cy="310896"/>
          </a:xfrm>
          <a:prstGeom prst="roundRect">
            <a:avLst>
              <a:gd name="adj" fmla="val 11765"/>
            </a:avLst>
          </a:prstGeom>
          <a:solidFill>
            <a:srgbClr val="F5A524"/>
          </a:solidFill>
          <a:ln w="12700">
            <a:solidFill>
              <a:srgbClr val="F5A524"/>
            </a:solidFill>
            <a:prstDash val="solid"/>
          </a:ln>
        </p:spPr>
      </p:sp>
      <p:sp>
        <p:nvSpPr>
          <p:cNvPr id="6" name="Text 4"/>
          <p:cNvSpPr txBox="1"/>
          <p:nvPr/>
        </p:nvSpPr>
        <p:spPr>
          <a:xfrm>
            <a:off x="9551902" y="2103120"/>
            <a:ext cx="1280160" cy="365760"/>
          </a:xfrm>
          <a:prstGeom prst="rect">
            <a:avLst/>
          </a:prstGeom>
          <a:noFill/>
          <a:ln/>
        </p:spPr>
        <p:txBody>
          <a:bodyPr wrap="square" lIns="0" tIns="0" rIns="0" bIns="0" rtlCol="0" anchor="ctr"/>
          <a:lstStyle/>
          <a:p>
            <a:pPr indent="0" marL="0">
              <a:buNone/>
            </a:pPr>
            <a:r>
              <a:rPr lang="en-US" sz="1400" b="1" dirty="0">
                <a:solidFill>
                  <a:srgbClr val="10131A"/>
                </a:solidFill>
                <a:latin typeface="Calibri" pitchFamily="34" charset="0"/>
                <a:ea typeface="Calibri" pitchFamily="34" charset="-122"/>
                <a:cs typeface="Calibri" pitchFamily="34" charset="-120"/>
              </a:rPr>
              <a:t>1m 33s</a:t>
            </a:r>
            <a:endParaRPr lang="en-US" sz="1400" dirty="0"/>
          </a:p>
        </p:txBody>
      </p:sp>
      <p:sp>
        <p:nvSpPr>
          <p:cNvPr id="7" name="Text 5"/>
          <p:cNvSpPr txBox="1"/>
          <p:nvPr/>
        </p:nvSpPr>
        <p:spPr>
          <a:xfrm>
            <a:off x="640080" y="3017520"/>
            <a:ext cx="3108960" cy="365760"/>
          </a:xfrm>
          <a:prstGeom prst="rect">
            <a:avLst/>
          </a:prstGeom>
          <a:noFill/>
          <a:ln/>
        </p:spPr>
        <p:txBody>
          <a:bodyPr wrap="square" lIns="0" tIns="0" rIns="0" bIns="0" rtlCol="0" anchor="ctr"/>
          <a:lstStyle/>
          <a:p>
            <a:pPr indent="0" marL="0">
              <a:buNone/>
            </a:pPr>
            <a:r>
              <a:rPr lang="en-US" sz="1400" dirty="0">
                <a:solidFill>
                  <a:srgbClr val="10131A"/>
                </a:solidFill>
                <a:latin typeface="Calibri" pitchFamily="34" charset="0"/>
                <a:ea typeface="Calibri" pitchFamily="34" charset="-122"/>
                <a:cs typeface="Calibri" pitchFamily="34" charset="-120"/>
              </a:rPr>
              <a:t>Atomized, one at a time</a:t>
            </a:r>
            <a:endParaRPr lang="en-US" sz="1400" dirty="0"/>
          </a:p>
        </p:txBody>
      </p:sp>
      <p:sp>
        <p:nvSpPr>
          <p:cNvPr id="8" name="Shape 6"/>
          <p:cNvSpPr/>
          <p:nvPr/>
        </p:nvSpPr>
        <p:spPr>
          <a:xfrm>
            <a:off x="3840480" y="3072384"/>
            <a:ext cx="6949440" cy="310896"/>
          </a:xfrm>
          <a:prstGeom prst="roundRect">
            <a:avLst>
              <a:gd name="adj" fmla="val 11765"/>
            </a:avLst>
          </a:prstGeom>
          <a:solidFill>
            <a:srgbClr val="FB7185"/>
          </a:solidFill>
          <a:ln w="12700">
            <a:solidFill>
              <a:srgbClr val="FB7185"/>
            </a:solidFill>
            <a:prstDash val="solid"/>
          </a:ln>
        </p:spPr>
      </p:sp>
      <p:sp>
        <p:nvSpPr>
          <p:cNvPr id="9" name="Text 7"/>
          <p:cNvSpPr txBox="1"/>
          <p:nvPr/>
        </p:nvSpPr>
        <p:spPr>
          <a:xfrm>
            <a:off x="10881360" y="3017520"/>
            <a:ext cx="1280160" cy="365760"/>
          </a:xfrm>
          <a:prstGeom prst="rect">
            <a:avLst/>
          </a:prstGeom>
          <a:noFill/>
          <a:ln/>
        </p:spPr>
        <p:txBody>
          <a:bodyPr wrap="square" lIns="0" tIns="0" rIns="0" bIns="0" rtlCol="0" anchor="ctr"/>
          <a:lstStyle/>
          <a:p>
            <a:pPr indent="0" marL="0">
              <a:buNone/>
            </a:pPr>
            <a:r>
              <a:rPr lang="en-US" sz="1400" b="1" dirty="0">
                <a:solidFill>
                  <a:srgbClr val="10131A"/>
                </a:solidFill>
                <a:latin typeface="Calibri" pitchFamily="34" charset="0"/>
                <a:ea typeface="Calibri" pitchFamily="34" charset="-122"/>
                <a:cs typeface="Calibri" pitchFamily="34" charset="-120"/>
              </a:rPr>
              <a:t>1m 55s</a:t>
            </a:r>
            <a:endParaRPr lang="en-US" sz="1400" dirty="0"/>
          </a:p>
        </p:txBody>
      </p:sp>
      <p:sp>
        <p:nvSpPr>
          <p:cNvPr id="10" name="Text 8"/>
          <p:cNvSpPr txBox="1"/>
          <p:nvPr/>
        </p:nvSpPr>
        <p:spPr>
          <a:xfrm>
            <a:off x="640080" y="3931920"/>
            <a:ext cx="3108960" cy="365760"/>
          </a:xfrm>
          <a:prstGeom prst="rect">
            <a:avLst/>
          </a:prstGeom>
          <a:noFill/>
          <a:ln/>
        </p:spPr>
        <p:txBody>
          <a:bodyPr wrap="square" lIns="0" tIns="0" rIns="0" bIns="0" rtlCol="0" anchor="ctr"/>
          <a:lstStyle/>
          <a:p>
            <a:pPr indent="0" marL="0">
              <a:buNone/>
            </a:pPr>
            <a:r>
              <a:rPr lang="en-US" sz="1400" dirty="0">
                <a:solidFill>
                  <a:srgbClr val="10131A"/>
                </a:solidFill>
                <a:latin typeface="Calibri" pitchFamily="34" charset="0"/>
                <a:ea typeface="Calibri" pitchFamily="34" charset="-122"/>
                <a:cs typeface="Calibri" pitchFamily="34" charset="-120"/>
              </a:rPr>
              <a:t>Atomized, five at a time</a:t>
            </a:r>
            <a:endParaRPr lang="en-US" sz="1400" dirty="0"/>
          </a:p>
        </p:txBody>
      </p:sp>
      <p:sp>
        <p:nvSpPr>
          <p:cNvPr id="11" name="Shape 9"/>
          <p:cNvSpPr/>
          <p:nvPr/>
        </p:nvSpPr>
        <p:spPr>
          <a:xfrm>
            <a:off x="3840480" y="3986784"/>
            <a:ext cx="2417197" cy="310896"/>
          </a:xfrm>
          <a:prstGeom prst="roundRect">
            <a:avLst>
              <a:gd name="adj" fmla="val 11765"/>
            </a:avLst>
          </a:prstGeom>
          <a:solidFill>
            <a:srgbClr val="0B7A44"/>
          </a:solidFill>
          <a:ln w="12700">
            <a:solidFill>
              <a:srgbClr val="0B7A44"/>
            </a:solidFill>
            <a:prstDash val="solid"/>
          </a:ln>
        </p:spPr>
      </p:sp>
      <p:sp>
        <p:nvSpPr>
          <p:cNvPr id="12" name="Text 10"/>
          <p:cNvSpPr txBox="1"/>
          <p:nvPr/>
        </p:nvSpPr>
        <p:spPr>
          <a:xfrm>
            <a:off x="6349117" y="3931920"/>
            <a:ext cx="1280160" cy="365760"/>
          </a:xfrm>
          <a:prstGeom prst="rect">
            <a:avLst/>
          </a:prstGeom>
          <a:noFill/>
          <a:ln/>
        </p:spPr>
        <p:txBody>
          <a:bodyPr wrap="square" lIns="0" tIns="0" rIns="0" bIns="0" rtlCol="0" anchor="ctr"/>
          <a:lstStyle/>
          <a:p>
            <a:pPr indent="0" marL="0">
              <a:buNone/>
            </a:pPr>
            <a:r>
              <a:rPr lang="en-US" sz="1400" b="1" dirty="0">
                <a:solidFill>
                  <a:srgbClr val="10131A"/>
                </a:solidFill>
                <a:latin typeface="Calibri" pitchFamily="34" charset="0"/>
                <a:ea typeface="Calibri" pitchFamily="34" charset="-122"/>
                <a:cs typeface="Calibri" pitchFamily="34" charset="-120"/>
              </a:rPr>
              <a:t>40s</a:t>
            </a:r>
            <a:endParaRPr lang="en-US" sz="1400" dirty="0"/>
          </a:p>
        </p:txBody>
      </p:sp>
      <p:sp>
        <p:nvSpPr>
          <p:cNvPr id="13" name="Shape 11"/>
          <p:cNvSpPr/>
          <p:nvPr/>
        </p:nvSpPr>
        <p:spPr>
          <a:xfrm>
            <a:off x="640080" y="4983480"/>
            <a:ext cx="10881360" cy="1051560"/>
          </a:xfrm>
          <a:prstGeom prst="roundRect">
            <a:avLst>
              <a:gd name="adj" fmla="val 6087"/>
            </a:avLst>
          </a:prstGeom>
          <a:solidFill>
            <a:srgbClr val="FFF7E6"/>
          </a:solidFill>
          <a:ln w="12700">
            <a:solidFill>
              <a:srgbClr val="F5A524"/>
            </a:solidFill>
            <a:prstDash val="solid"/>
          </a:ln>
        </p:spPr>
      </p:sp>
      <p:sp>
        <p:nvSpPr>
          <p:cNvPr id="14" name="Text 12"/>
          <p:cNvSpPr txBox="1"/>
          <p:nvPr/>
        </p:nvSpPr>
        <p:spPr>
          <a:xfrm>
            <a:off x="914400" y="5138928"/>
            <a:ext cx="10332720" cy="777240"/>
          </a:xfrm>
          <a:prstGeom prst="rect">
            <a:avLst/>
          </a:prstGeom>
          <a:noFill/>
          <a:ln/>
        </p:spPr>
        <p:txBody>
          <a:bodyPr wrap="square" lIns="0" tIns="0" rIns="0" bIns="0" rtlCol="0" anchor="ctr"/>
          <a:lstStyle/>
          <a:p>
            <a:pPr indent="0" marL="0">
              <a:buNone/>
            </a:pPr>
            <a:r>
              <a:rPr lang="en-US" sz="1400" dirty="0">
                <a:solidFill>
                  <a:srgbClr val="5B4308"/>
                </a:solidFill>
                <a:latin typeface="Calibri" pitchFamily="34" charset="0"/>
                <a:ea typeface="Calibri" pitchFamily="34" charset="-122"/>
                <a:cs typeface="Calibri" pitchFamily="34" charset="-120"/>
              </a:rPr>
              <a:t>Every atomized target boots its own Cypress. Ten specs through the atomizer, run serially, cost 22 seconds more than not splitting at all. Atomization is not a speedup — it is what makes a speedup possible.</a:t>
            </a:r>
            <a:endParaRPr lang="en-US" sz="1400" dirty="0"/>
          </a:p>
        </p:txBody>
      </p:sp>
    </p:spTree>
  </p:cSld>
  <p:clrMapOvr>
    <a:masterClrMapping/>
  </p:clrMapOvr>
</p:sld>
</file>

<file path=ppt/slides/slide10.xml><?xml version="1.0" encoding="utf-8"?>
<p:sld xmlns:a="http://schemas.openxmlformats.org/drawingml/2006/main" xmlns:r="http://schemas.openxmlformats.org/officeDocument/2006/relationships" xmlns:p="http://schemas.openxmlformats.org/presentationml/2006/main">
  <p:cSld name="Slide 10">
    <p:bg>
      <p:bgPr>
        <a:solidFill>
          <a:srgbClr val="10131A"/>
        </a:solidFill>
      </p:bgPr>
    </p:bg>
    <p:spTree>
      <p:nvGrpSpPr>
        <p:cNvPr id="1" name=""/>
        <p:cNvGrpSpPr/>
        <p:nvPr/>
      </p:nvGrpSpPr>
      <p:grpSpPr>
        <a:xfrm>
          <a:off x="0" y="0"/>
          <a:ext cx="0" cy="0"/>
          <a:chOff x="0" y="0"/>
          <a:chExt cx="0" cy="0"/>
        </a:xfrm>
      </p:grpSpPr>
      <p:sp>
        <p:nvSpPr>
          <p:cNvPr id="2" name="Text 0"/>
          <p:cNvSpPr txBox="1"/>
          <p:nvPr/>
        </p:nvSpPr>
        <p:spPr>
          <a:xfrm>
            <a:off x="640080" y="411480"/>
            <a:ext cx="10881360" cy="274320"/>
          </a:xfrm>
          <a:prstGeom prst="rect">
            <a:avLst/>
          </a:prstGeom>
          <a:noFill/>
          <a:ln/>
        </p:spPr>
        <p:txBody>
          <a:bodyPr wrap="square" lIns="0" tIns="0" rIns="0" bIns="0" rtlCol="0" anchor="ctr"/>
          <a:lstStyle/>
          <a:p>
            <a:pPr indent="0" marL="0">
              <a:buNone/>
            </a:pPr>
            <a:r>
              <a:rPr lang="en-US" sz="1200" b="1" spc="250" kern="0" dirty="0">
                <a:solidFill>
                  <a:srgbClr val="4ADE80"/>
                </a:solidFill>
                <a:latin typeface="Calibri" pitchFamily="34" charset="0"/>
                <a:ea typeface="Calibri" pitchFamily="34" charset="-122"/>
                <a:cs typeface="Calibri" pitchFamily="34" charset="-120"/>
              </a:rPr>
              <a:t>SECTION 05 · THE CACHE</a:t>
            </a:r>
            <a:endParaRPr lang="en-US" sz="1200" dirty="0"/>
          </a:p>
        </p:txBody>
      </p:sp>
      <p:sp>
        <p:nvSpPr>
          <p:cNvPr id="3" name="Text 1"/>
          <p:cNvSpPr txBox="1"/>
          <p:nvPr/>
        </p:nvSpPr>
        <p:spPr>
          <a:xfrm>
            <a:off x="640080" y="749808"/>
            <a:ext cx="10881360" cy="731520"/>
          </a:xfrm>
          <a:prstGeom prst="rect">
            <a:avLst/>
          </a:prstGeom>
          <a:noFill/>
          <a:ln/>
        </p:spPr>
        <p:txBody>
          <a:bodyPr wrap="square" lIns="0" tIns="0" rIns="0" bIns="0" rtlCol="0" anchor="ctr"/>
          <a:lstStyle/>
          <a:p>
            <a:pPr indent="0" marL="0">
              <a:buNone/>
            </a:pPr>
            <a:r>
              <a:rPr lang="en-US" sz="3800" b="1" dirty="0">
                <a:solidFill>
                  <a:srgbClr val="FFFFFF"/>
                </a:solidFill>
                <a:latin typeface="Cambria" pitchFamily="34" charset="0"/>
                <a:ea typeface="Cambria" pitchFamily="34" charset="-122"/>
                <a:cs typeface="Cambria" pitchFamily="34" charset="-120"/>
              </a:rPr>
              <a:t>Run it again. Nothing runs.</a:t>
            </a:r>
            <a:endParaRPr lang="en-US" sz="3800" dirty="0"/>
          </a:p>
        </p:txBody>
      </p:sp>
      <p:sp>
        <p:nvSpPr>
          <p:cNvPr id="4" name="Shape 2"/>
          <p:cNvSpPr/>
          <p:nvPr/>
        </p:nvSpPr>
        <p:spPr>
          <a:xfrm>
            <a:off x="640080" y="1783080"/>
            <a:ext cx="10881360" cy="1700784"/>
          </a:xfrm>
          <a:prstGeom prst="roundRect">
            <a:avLst>
              <a:gd name="adj" fmla="val 3226"/>
            </a:avLst>
          </a:prstGeom>
          <a:solidFill>
            <a:srgbClr val="0A0D13"/>
          </a:solidFill>
          <a:ln w="12700">
            <a:solidFill>
              <a:srgbClr val="2C3340"/>
            </a:solidFill>
            <a:prstDash val="solid"/>
          </a:ln>
        </p:spPr>
      </p:sp>
      <p:sp>
        <p:nvSpPr>
          <p:cNvPr id="5" name="Text 3"/>
          <p:cNvSpPr txBox="1"/>
          <p:nvPr/>
        </p:nvSpPr>
        <p:spPr>
          <a:xfrm>
            <a:off x="868680" y="1984248"/>
            <a:ext cx="10424160" cy="1298448"/>
          </a:xfrm>
          <a:prstGeom prst="rect">
            <a:avLst/>
          </a:prstGeom>
          <a:noFill/>
          <a:ln/>
        </p:spPr>
        <p:txBody>
          <a:bodyPr wrap="square" lIns="0" tIns="0" rIns="0" bIns="0" rtlCol="0" anchor="t"/>
          <a:lstStyle/>
          <a:p>
            <a:pPr indent="0" marL="0">
              <a:lnSpc>
                <a:spcPct val="125000"/>
              </a:lnSpc>
              <a:buNone/>
            </a:pPr>
            <a:r>
              <a:rPr lang="en-US" sz="1600" dirty="0">
                <a:solidFill>
                  <a:srgbClr val="8A94A6"/>
                </a:solidFill>
                <a:latin typeface="Courier New" pitchFamily="34" charset="0"/>
                <a:ea typeface="Courier New" pitchFamily="34" charset="-122"/>
                <a:cs typeface="Courier New" pitchFamily="34" charset="-120"/>
              </a:rPr>
              <a:t>node tools/shard-e2e.mjs --parallel=5    # again, unchanged</a:t>
            </a:r>
            <a:endParaRPr lang="en-US" sz="1600" dirty="0"/>
          </a:p>
          <a:p>
            <a:pPr indent="0" marL="0">
              <a:lnSpc>
                <a:spcPct val="125000"/>
              </a:lnSpc>
              <a:buNone/>
            </a:pPr>
            <a:endParaRPr lang="en-US" sz="1600" dirty="0"/>
          </a:p>
          <a:p>
            <a:pPr indent="0" marL="0">
              <a:lnSpc>
                <a:spcPct val="125000"/>
              </a:lnSpc>
              <a:buNone/>
            </a:pPr>
            <a:r>
              <a:rPr lang="en-US" sz="1600" b="1" dirty="0">
                <a:solidFill>
                  <a:srgbClr val="4ADE80"/>
                </a:solidFill>
                <a:latin typeface="Courier New" pitchFamily="34" charset="0"/>
                <a:ea typeface="Courier New" pitchFamily="34" charset="-122"/>
                <a:cs typeface="Courier New" pitchFamily="34" charset="-120"/>
              </a:rPr>
              <a:t>Run duration:  160ms</a:t>
            </a:r>
            <a:endParaRPr lang="en-US" sz="1600" dirty="0"/>
          </a:p>
          <a:p>
            <a:pPr indent="0" marL="0">
              <a:lnSpc>
                <a:spcPct val="125000"/>
              </a:lnSpc>
              <a:buNone/>
            </a:pPr>
            <a:r>
              <a:rPr lang="en-US" sz="1600" b="1" dirty="0">
                <a:solidFill>
                  <a:srgbClr val="4ADE80"/>
                </a:solidFill>
                <a:latin typeface="Courier New" pitchFamily="34" charset="0"/>
                <a:ea typeface="Courier New" pitchFamily="34" charset="-122"/>
                <a:cs typeface="Courier New" pitchFamily="34" charset="-120"/>
              </a:rPr>
              <a:t>Cache:         11/12 hit (92%)</a:t>
            </a:r>
            <a:endParaRPr lang="en-US" sz="1600" dirty="0"/>
          </a:p>
        </p:txBody>
      </p:sp>
      <p:sp>
        <p:nvSpPr>
          <p:cNvPr id="6" name="Text 4"/>
          <p:cNvSpPr txBox="1"/>
          <p:nvPr/>
        </p:nvSpPr>
        <p:spPr>
          <a:xfrm>
            <a:off x="640080" y="3703320"/>
            <a:ext cx="5120640" cy="822960"/>
          </a:xfrm>
          <a:prstGeom prst="rect">
            <a:avLst/>
          </a:prstGeom>
          <a:noFill/>
          <a:ln/>
        </p:spPr>
        <p:txBody>
          <a:bodyPr wrap="square" lIns="0" tIns="0" rIns="0" bIns="0" rtlCol="0" anchor="ctr"/>
          <a:lstStyle/>
          <a:p>
            <a:pPr indent="0" marL="0">
              <a:buNone/>
            </a:pPr>
            <a:r>
              <a:rPr lang="en-US" sz="4400" b="1" dirty="0">
                <a:solidFill>
                  <a:srgbClr val="4ADE80"/>
                </a:solidFill>
                <a:latin typeface="Cambria" pitchFamily="34" charset="0"/>
                <a:ea typeface="Cambria" pitchFamily="34" charset="-122"/>
                <a:cs typeface="Cambria" pitchFamily="34" charset="-120"/>
              </a:rPr>
              <a:t>40s → 0.16s</a:t>
            </a:r>
            <a:endParaRPr lang="en-US" sz="4400" dirty="0"/>
          </a:p>
        </p:txBody>
      </p:sp>
      <p:sp>
        <p:nvSpPr>
          <p:cNvPr id="7" name="Text 5"/>
          <p:cNvSpPr txBox="1"/>
          <p:nvPr/>
        </p:nvSpPr>
        <p:spPr>
          <a:xfrm>
            <a:off x="5943600" y="3794760"/>
            <a:ext cx="5577840" cy="2651760"/>
          </a:xfrm>
          <a:prstGeom prst="rect">
            <a:avLst/>
          </a:prstGeom>
          <a:noFill/>
          <a:ln/>
        </p:spPr>
        <p:txBody>
          <a:bodyPr wrap="square" lIns="0" tIns="0" rIns="0" bIns="0" rtlCol="0" anchor="t"/>
          <a:lstStyle/>
          <a:p>
            <a:pPr marL="342900" indent="-342900">
              <a:spcAft>
                <a:spcPts val="1000"/>
              </a:spcAft>
              <a:buSzPct val="100000"/>
              <a:buChar char="•"/>
            </a:pPr>
            <a:r>
              <a:rPr lang="en-US" sz="1500" dirty="0">
                <a:solidFill>
                  <a:srgbClr val="C3CAD6"/>
                </a:solidFill>
                <a:latin typeface="Calibri" pitchFamily="34" charset="0"/>
                <a:ea typeface="Calibri" pitchFamily="34" charset="-122"/>
                <a:cs typeface="Calibri" pitchFamily="34" charset="-120"/>
              </a:rPr>
              <a:t>Nx hashed each task: the spec file, the app source it depends on, the Cypress version</a:t>
            </a:r>
            <a:endParaRPr lang="en-US" sz="1500" dirty="0"/>
          </a:p>
          <a:p>
            <a:pPr marL="342900" indent="-342900">
              <a:spcAft>
                <a:spcPts val="1000"/>
              </a:spcAft>
              <a:buSzPct val="100000"/>
              <a:buChar char="•"/>
            </a:pPr>
            <a:r>
              <a:rPr lang="en-US" sz="1500" dirty="0">
                <a:solidFill>
                  <a:srgbClr val="C3CAD6"/>
                </a:solidFill>
                <a:latin typeface="Calibri" pitchFamily="34" charset="0"/>
                <a:ea typeface="Calibri" pitchFamily="34" charset="-122"/>
                <a:cs typeface="Calibri" pitchFamily="34" charset="-120"/>
              </a:rPr>
              <a:t>Same hash, so the stored result is replayed instead of recomputed</a:t>
            </a:r>
            <a:endParaRPr lang="en-US" sz="1500" dirty="0"/>
          </a:p>
          <a:p>
            <a:pPr marL="342900" indent="-342900">
              <a:spcAft>
                <a:spcPts val="1000"/>
              </a:spcAft>
              <a:buSzPct val="100000"/>
              <a:buChar char="•"/>
            </a:pPr>
            <a:r>
              <a:rPr lang="en-US" sz="1500" dirty="0">
                <a:solidFill>
                  <a:srgbClr val="C3CAD6"/>
                </a:solidFill>
                <a:latin typeface="Calibri" pitchFamily="34" charset="0"/>
                <a:ea typeface="Calibri" pitchFamily="34" charset="-122"/>
                <a:cs typeface="Calibri" pitchFamily="34" charset="-120"/>
              </a:rPr>
              <a:t>This is per-machine and on disk in .nx/cache — no account, no network</a:t>
            </a:r>
            <a:endParaRPr lang="en-US" sz="1500" dirty="0"/>
          </a:p>
        </p:txBody>
      </p:sp>
    </p:spTree>
  </p:cSld>
  <p:clrMapOvr>
    <a:masterClrMapping/>
  </p:clrMapOvr>
</p:sld>
</file>

<file path=ppt/slides/slide11.xml><?xml version="1.0" encoding="utf-8"?>
<p:sld xmlns:a="http://schemas.openxmlformats.org/drawingml/2006/main" xmlns:r="http://schemas.openxmlformats.org/officeDocument/2006/relationships" xmlns:p="http://schemas.openxmlformats.org/presentationml/2006/main">
  <p:cSld name="Slide 11">
    <p:bg>
      <p:bgPr>
        <a:solidFill>
          <a:srgbClr val="10131A"/>
        </a:solidFill>
      </p:bgPr>
    </p:bg>
    <p:spTree>
      <p:nvGrpSpPr>
        <p:cNvPr id="1" name=""/>
        <p:cNvGrpSpPr/>
        <p:nvPr/>
      </p:nvGrpSpPr>
      <p:grpSpPr>
        <a:xfrm>
          <a:off x="0" y="0"/>
          <a:ext cx="0" cy="0"/>
          <a:chOff x="0" y="0"/>
          <a:chExt cx="0" cy="0"/>
        </a:xfrm>
      </p:grpSpPr>
      <p:sp>
        <p:nvSpPr>
          <p:cNvPr id="2" name="Text 0"/>
          <p:cNvSpPr txBox="1"/>
          <p:nvPr/>
        </p:nvSpPr>
        <p:spPr>
          <a:xfrm>
            <a:off x="640080" y="411480"/>
            <a:ext cx="10881360" cy="274320"/>
          </a:xfrm>
          <a:prstGeom prst="rect">
            <a:avLst/>
          </a:prstGeom>
          <a:noFill/>
          <a:ln/>
        </p:spPr>
        <p:txBody>
          <a:bodyPr wrap="square" lIns="0" tIns="0" rIns="0" bIns="0" rtlCol="0" anchor="ctr"/>
          <a:lstStyle/>
          <a:p>
            <a:pPr indent="0" marL="0">
              <a:buNone/>
            </a:pPr>
            <a:r>
              <a:rPr lang="en-US" sz="1200" b="1" spc="250" kern="0" dirty="0">
                <a:solidFill>
                  <a:srgbClr val="FB7185"/>
                </a:solidFill>
                <a:latin typeface="Calibri" pitchFamily="34" charset="0"/>
                <a:ea typeface="Calibri" pitchFamily="34" charset="-122"/>
                <a:cs typeface="Calibri" pitchFamily="34" charset="-120"/>
              </a:rPr>
              <a:t>SECTION 05 · THE PAYOFF</a:t>
            </a:r>
            <a:endParaRPr lang="en-US" sz="1200" dirty="0"/>
          </a:p>
        </p:txBody>
      </p:sp>
      <p:sp>
        <p:nvSpPr>
          <p:cNvPr id="3" name="Text 1"/>
          <p:cNvSpPr txBox="1"/>
          <p:nvPr/>
        </p:nvSpPr>
        <p:spPr>
          <a:xfrm>
            <a:off x="640080" y="749808"/>
            <a:ext cx="10881360" cy="731520"/>
          </a:xfrm>
          <a:prstGeom prst="rect">
            <a:avLst/>
          </a:prstGeom>
          <a:noFill/>
          <a:ln/>
        </p:spPr>
        <p:txBody>
          <a:bodyPr wrap="square" lIns="0" tIns="0" rIns="0" bIns="0" rtlCol="0" anchor="ctr"/>
          <a:lstStyle/>
          <a:p>
            <a:pPr indent="0" marL="0">
              <a:buNone/>
            </a:pPr>
            <a:r>
              <a:rPr lang="en-US" sz="3800" b="1" dirty="0">
                <a:solidFill>
                  <a:srgbClr val="FFFFFF"/>
                </a:solidFill>
                <a:latin typeface="Cambria" pitchFamily="34" charset="0"/>
                <a:ea typeface="Cambria" pitchFamily="34" charset="-122"/>
                <a:cs typeface="Cambria" pitchFamily="34" charset="-120"/>
              </a:rPr>
              <a:t>A retry only runs what failed</a:t>
            </a:r>
            <a:endParaRPr lang="en-US" sz="3800" dirty="0"/>
          </a:p>
        </p:txBody>
      </p:sp>
      <p:sp>
        <p:nvSpPr>
          <p:cNvPr id="4" name="Text 2"/>
          <p:cNvSpPr txBox="1"/>
          <p:nvPr/>
        </p:nvSpPr>
        <p:spPr>
          <a:xfrm>
            <a:off x="640080" y="1691640"/>
            <a:ext cx="10881360" cy="411480"/>
          </a:xfrm>
          <a:prstGeom prst="rect">
            <a:avLst/>
          </a:prstGeom>
          <a:noFill/>
          <a:ln/>
        </p:spPr>
        <p:txBody>
          <a:bodyPr wrap="square" lIns="0" tIns="0" rIns="0" bIns="0" rtlCol="0" anchor="ctr"/>
          <a:lstStyle/>
          <a:p>
            <a:pPr indent="0" marL="0">
              <a:buNone/>
            </a:pPr>
            <a:r>
              <a:rPr lang="en-US" sz="2400" b="1" dirty="0">
                <a:solidFill>
                  <a:srgbClr val="FB7185"/>
                </a:solidFill>
                <a:latin typeface="Cambria" pitchFamily="34" charset="0"/>
                <a:ea typeface="Cambria" pitchFamily="34" charset="-122"/>
                <a:cs typeface="Cambria" pitchFamily="34" charset="-120"/>
              </a:rPr>
              <a:t>Nx never caches a failed task.</a:t>
            </a:r>
            <a:endParaRPr lang="en-US" sz="2400" dirty="0"/>
          </a:p>
        </p:txBody>
      </p:sp>
      <p:sp>
        <p:nvSpPr>
          <p:cNvPr id="5" name="Shape 3"/>
          <p:cNvSpPr/>
          <p:nvPr/>
        </p:nvSpPr>
        <p:spPr>
          <a:xfrm>
            <a:off x="640080" y="2240280"/>
            <a:ext cx="2057400" cy="621792"/>
          </a:xfrm>
          <a:prstGeom prst="roundRect">
            <a:avLst>
              <a:gd name="adj" fmla="val 8824"/>
            </a:avLst>
          </a:prstGeom>
          <a:solidFill>
            <a:srgbClr val="10251A"/>
          </a:solidFill>
          <a:ln w="15240">
            <a:solidFill>
              <a:srgbClr val="4ADE80"/>
            </a:solidFill>
            <a:prstDash val="solid"/>
          </a:ln>
        </p:spPr>
      </p:sp>
      <p:sp>
        <p:nvSpPr>
          <p:cNvPr id="6" name="Text 4"/>
          <p:cNvSpPr txBox="1"/>
          <p:nvPr/>
        </p:nvSpPr>
        <p:spPr>
          <a:xfrm>
            <a:off x="777240" y="2295144"/>
            <a:ext cx="1783080" cy="237744"/>
          </a:xfrm>
          <a:prstGeom prst="rect">
            <a:avLst/>
          </a:prstGeom>
          <a:noFill/>
          <a:ln/>
        </p:spPr>
        <p:txBody>
          <a:bodyPr wrap="square" lIns="0" tIns="0" rIns="0" bIns="0" rtlCol="0" anchor="ctr"/>
          <a:lstStyle/>
          <a:p>
            <a:pPr indent="0" marL="0">
              <a:buNone/>
            </a:pPr>
            <a:r>
              <a:rPr lang="en-US" sz="900" b="1" spc="150" kern="0" dirty="0">
                <a:solidFill>
                  <a:srgbClr val="4ADE80"/>
                </a:solidFill>
                <a:latin typeface="Calibri" pitchFamily="34" charset="0"/>
                <a:ea typeface="Calibri" pitchFamily="34" charset="-122"/>
                <a:cs typeface="Calibri" pitchFamily="34" charset="-120"/>
              </a:rPr>
              <a:t>CACHED</a:t>
            </a:r>
            <a:endParaRPr lang="en-US" sz="900" dirty="0"/>
          </a:p>
        </p:txBody>
      </p:sp>
      <p:sp>
        <p:nvSpPr>
          <p:cNvPr id="7" name="Text 5"/>
          <p:cNvSpPr txBox="1"/>
          <p:nvPr/>
        </p:nvSpPr>
        <p:spPr>
          <a:xfrm>
            <a:off x="777240" y="2532888"/>
            <a:ext cx="1783080" cy="274320"/>
          </a:xfrm>
          <a:prstGeom prst="rect">
            <a:avLst/>
          </a:prstGeom>
          <a:noFill/>
          <a:ln/>
        </p:spPr>
        <p:txBody>
          <a:bodyPr wrap="square" lIns="0" tIns="0" rIns="0" bIns="0" rtlCol="0" anchor="ctr"/>
          <a:lstStyle/>
          <a:p>
            <a:pPr indent="0" marL="0">
              <a:buNone/>
            </a:pPr>
            <a:r>
              <a:rPr lang="en-US" sz="1000" dirty="0">
                <a:solidFill>
                  <a:srgbClr val="FFFFFF"/>
                </a:solidFill>
                <a:latin typeface="Courier New" pitchFamily="34" charset="0"/>
                <a:ea typeface="Courier New" pitchFamily="34" charset="-122"/>
                <a:cs typeface="Courier New" pitchFamily="34" charset="-120"/>
              </a:rPr>
              <a:t>catalog</a:t>
            </a:r>
            <a:endParaRPr lang="en-US" sz="1000" dirty="0"/>
          </a:p>
        </p:txBody>
      </p:sp>
      <p:sp>
        <p:nvSpPr>
          <p:cNvPr id="8" name="Shape 6"/>
          <p:cNvSpPr/>
          <p:nvPr/>
        </p:nvSpPr>
        <p:spPr>
          <a:xfrm>
            <a:off x="2852928" y="2240280"/>
            <a:ext cx="2057400" cy="621792"/>
          </a:xfrm>
          <a:prstGeom prst="roundRect">
            <a:avLst>
              <a:gd name="adj" fmla="val 8824"/>
            </a:avLst>
          </a:prstGeom>
          <a:solidFill>
            <a:srgbClr val="10251A"/>
          </a:solidFill>
          <a:ln w="15240">
            <a:solidFill>
              <a:srgbClr val="4ADE80"/>
            </a:solidFill>
            <a:prstDash val="solid"/>
          </a:ln>
        </p:spPr>
      </p:sp>
      <p:sp>
        <p:nvSpPr>
          <p:cNvPr id="9" name="Text 7"/>
          <p:cNvSpPr txBox="1"/>
          <p:nvPr/>
        </p:nvSpPr>
        <p:spPr>
          <a:xfrm>
            <a:off x="2990088" y="2295144"/>
            <a:ext cx="1783080" cy="237744"/>
          </a:xfrm>
          <a:prstGeom prst="rect">
            <a:avLst/>
          </a:prstGeom>
          <a:noFill/>
          <a:ln/>
        </p:spPr>
        <p:txBody>
          <a:bodyPr wrap="square" lIns="0" tIns="0" rIns="0" bIns="0" rtlCol="0" anchor="ctr"/>
          <a:lstStyle/>
          <a:p>
            <a:pPr indent="0" marL="0">
              <a:buNone/>
            </a:pPr>
            <a:r>
              <a:rPr lang="en-US" sz="900" b="1" spc="150" kern="0" dirty="0">
                <a:solidFill>
                  <a:srgbClr val="4ADE80"/>
                </a:solidFill>
                <a:latin typeface="Calibri" pitchFamily="34" charset="0"/>
                <a:ea typeface="Calibri" pitchFamily="34" charset="-122"/>
                <a:cs typeface="Calibri" pitchFamily="34" charset="-120"/>
              </a:rPr>
              <a:t>CACHED</a:t>
            </a:r>
            <a:endParaRPr lang="en-US" sz="900" dirty="0"/>
          </a:p>
        </p:txBody>
      </p:sp>
      <p:sp>
        <p:nvSpPr>
          <p:cNvPr id="10" name="Text 8"/>
          <p:cNvSpPr txBox="1"/>
          <p:nvPr/>
        </p:nvSpPr>
        <p:spPr>
          <a:xfrm>
            <a:off x="2990088" y="2532888"/>
            <a:ext cx="1783080" cy="274320"/>
          </a:xfrm>
          <a:prstGeom prst="rect">
            <a:avLst/>
          </a:prstGeom>
          <a:noFill/>
          <a:ln/>
        </p:spPr>
        <p:txBody>
          <a:bodyPr wrap="square" lIns="0" tIns="0" rIns="0" bIns="0" rtlCol="0" anchor="ctr"/>
          <a:lstStyle/>
          <a:p>
            <a:pPr indent="0" marL="0">
              <a:buNone/>
            </a:pPr>
            <a:r>
              <a:rPr lang="en-US" sz="1000" dirty="0">
                <a:solidFill>
                  <a:srgbClr val="FFFFFF"/>
                </a:solidFill>
                <a:latin typeface="Courier New" pitchFamily="34" charset="0"/>
                <a:ea typeface="Courier New" pitchFamily="34" charset="-122"/>
                <a:cs typeface="Courier New" pitchFamily="34" charset="-120"/>
              </a:rPr>
              <a:t>search</a:t>
            </a:r>
            <a:endParaRPr lang="en-US" sz="1000" dirty="0"/>
          </a:p>
        </p:txBody>
      </p:sp>
      <p:sp>
        <p:nvSpPr>
          <p:cNvPr id="11" name="Shape 9"/>
          <p:cNvSpPr/>
          <p:nvPr/>
        </p:nvSpPr>
        <p:spPr>
          <a:xfrm>
            <a:off x="5065776" y="2240280"/>
            <a:ext cx="2057400" cy="621792"/>
          </a:xfrm>
          <a:prstGeom prst="roundRect">
            <a:avLst>
              <a:gd name="adj" fmla="val 8824"/>
            </a:avLst>
          </a:prstGeom>
          <a:solidFill>
            <a:srgbClr val="10251A"/>
          </a:solidFill>
          <a:ln w="15240">
            <a:solidFill>
              <a:srgbClr val="4ADE80"/>
            </a:solidFill>
            <a:prstDash val="solid"/>
          </a:ln>
        </p:spPr>
      </p:sp>
      <p:sp>
        <p:nvSpPr>
          <p:cNvPr id="12" name="Text 10"/>
          <p:cNvSpPr txBox="1"/>
          <p:nvPr/>
        </p:nvSpPr>
        <p:spPr>
          <a:xfrm>
            <a:off x="5202936" y="2295144"/>
            <a:ext cx="1783080" cy="237744"/>
          </a:xfrm>
          <a:prstGeom prst="rect">
            <a:avLst/>
          </a:prstGeom>
          <a:noFill/>
          <a:ln/>
        </p:spPr>
        <p:txBody>
          <a:bodyPr wrap="square" lIns="0" tIns="0" rIns="0" bIns="0" rtlCol="0" anchor="ctr"/>
          <a:lstStyle/>
          <a:p>
            <a:pPr indent="0" marL="0">
              <a:buNone/>
            </a:pPr>
            <a:r>
              <a:rPr lang="en-US" sz="900" b="1" spc="150" kern="0" dirty="0">
                <a:solidFill>
                  <a:srgbClr val="4ADE80"/>
                </a:solidFill>
                <a:latin typeface="Calibri" pitchFamily="34" charset="0"/>
                <a:ea typeface="Calibri" pitchFamily="34" charset="-122"/>
                <a:cs typeface="Calibri" pitchFamily="34" charset="-120"/>
              </a:rPr>
              <a:t>CACHED</a:t>
            </a:r>
            <a:endParaRPr lang="en-US" sz="900" dirty="0"/>
          </a:p>
        </p:txBody>
      </p:sp>
      <p:sp>
        <p:nvSpPr>
          <p:cNvPr id="13" name="Text 11"/>
          <p:cNvSpPr txBox="1"/>
          <p:nvPr/>
        </p:nvSpPr>
        <p:spPr>
          <a:xfrm>
            <a:off x="5202936" y="2532888"/>
            <a:ext cx="1783080" cy="274320"/>
          </a:xfrm>
          <a:prstGeom prst="rect">
            <a:avLst/>
          </a:prstGeom>
          <a:noFill/>
          <a:ln/>
        </p:spPr>
        <p:txBody>
          <a:bodyPr wrap="square" lIns="0" tIns="0" rIns="0" bIns="0" rtlCol="0" anchor="ctr"/>
          <a:lstStyle/>
          <a:p>
            <a:pPr indent="0" marL="0">
              <a:buNone/>
            </a:pPr>
            <a:r>
              <a:rPr lang="en-US" sz="1000" dirty="0">
                <a:solidFill>
                  <a:srgbClr val="FFFFFF"/>
                </a:solidFill>
                <a:latin typeface="Courier New" pitchFamily="34" charset="0"/>
                <a:ea typeface="Courier New" pitchFamily="34" charset="-122"/>
                <a:cs typeface="Courier New" pitchFamily="34" charset="-120"/>
              </a:rPr>
              <a:t>filters</a:t>
            </a:r>
            <a:endParaRPr lang="en-US" sz="1000" dirty="0"/>
          </a:p>
        </p:txBody>
      </p:sp>
      <p:sp>
        <p:nvSpPr>
          <p:cNvPr id="14" name="Shape 12"/>
          <p:cNvSpPr/>
          <p:nvPr/>
        </p:nvSpPr>
        <p:spPr>
          <a:xfrm>
            <a:off x="7278624" y="2240280"/>
            <a:ext cx="2057400" cy="621792"/>
          </a:xfrm>
          <a:prstGeom prst="roundRect">
            <a:avLst>
              <a:gd name="adj" fmla="val 8824"/>
            </a:avLst>
          </a:prstGeom>
          <a:solidFill>
            <a:srgbClr val="10251A"/>
          </a:solidFill>
          <a:ln w="15240">
            <a:solidFill>
              <a:srgbClr val="4ADE80"/>
            </a:solidFill>
            <a:prstDash val="solid"/>
          </a:ln>
        </p:spPr>
      </p:sp>
      <p:sp>
        <p:nvSpPr>
          <p:cNvPr id="15" name="Text 13"/>
          <p:cNvSpPr txBox="1"/>
          <p:nvPr/>
        </p:nvSpPr>
        <p:spPr>
          <a:xfrm>
            <a:off x="7415784" y="2295144"/>
            <a:ext cx="1783080" cy="237744"/>
          </a:xfrm>
          <a:prstGeom prst="rect">
            <a:avLst/>
          </a:prstGeom>
          <a:noFill/>
          <a:ln/>
        </p:spPr>
        <p:txBody>
          <a:bodyPr wrap="square" lIns="0" tIns="0" rIns="0" bIns="0" rtlCol="0" anchor="ctr"/>
          <a:lstStyle/>
          <a:p>
            <a:pPr indent="0" marL="0">
              <a:buNone/>
            </a:pPr>
            <a:r>
              <a:rPr lang="en-US" sz="900" b="1" spc="150" kern="0" dirty="0">
                <a:solidFill>
                  <a:srgbClr val="4ADE80"/>
                </a:solidFill>
                <a:latin typeface="Calibri" pitchFamily="34" charset="0"/>
                <a:ea typeface="Calibri" pitchFamily="34" charset="-122"/>
                <a:cs typeface="Calibri" pitchFamily="34" charset="-120"/>
              </a:rPr>
              <a:t>CACHED</a:t>
            </a:r>
            <a:endParaRPr lang="en-US" sz="900" dirty="0"/>
          </a:p>
        </p:txBody>
      </p:sp>
      <p:sp>
        <p:nvSpPr>
          <p:cNvPr id="16" name="Text 14"/>
          <p:cNvSpPr txBox="1"/>
          <p:nvPr/>
        </p:nvSpPr>
        <p:spPr>
          <a:xfrm>
            <a:off x="7415784" y="2532888"/>
            <a:ext cx="1783080" cy="274320"/>
          </a:xfrm>
          <a:prstGeom prst="rect">
            <a:avLst/>
          </a:prstGeom>
          <a:noFill/>
          <a:ln/>
        </p:spPr>
        <p:txBody>
          <a:bodyPr wrap="square" lIns="0" tIns="0" rIns="0" bIns="0" rtlCol="0" anchor="ctr"/>
          <a:lstStyle/>
          <a:p>
            <a:pPr indent="0" marL="0">
              <a:buNone/>
            </a:pPr>
            <a:r>
              <a:rPr lang="en-US" sz="1000" dirty="0">
                <a:solidFill>
                  <a:srgbClr val="FFFFFF"/>
                </a:solidFill>
                <a:latin typeface="Courier New" pitchFamily="34" charset="0"/>
                <a:ea typeface="Courier New" pitchFamily="34" charset="-122"/>
                <a:cs typeface="Courier New" pitchFamily="34" charset="-120"/>
              </a:rPr>
              <a:t>product-detail</a:t>
            </a:r>
            <a:endParaRPr lang="en-US" sz="1000" dirty="0"/>
          </a:p>
        </p:txBody>
      </p:sp>
      <p:sp>
        <p:nvSpPr>
          <p:cNvPr id="17" name="Shape 15"/>
          <p:cNvSpPr/>
          <p:nvPr/>
        </p:nvSpPr>
        <p:spPr>
          <a:xfrm>
            <a:off x="9491472" y="2240280"/>
            <a:ext cx="2057400" cy="621792"/>
          </a:xfrm>
          <a:prstGeom prst="roundRect">
            <a:avLst>
              <a:gd name="adj" fmla="val 8824"/>
            </a:avLst>
          </a:prstGeom>
          <a:solidFill>
            <a:srgbClr val="10251A"/>
          </a:solidFill>
          <a:ln w="15240">
            <a:solidFill>
              <a:srgbClr val="4ADE80"/>
            </a:solidFill>
            <a:prstDash val="solid"/>
          </a:ln>
        </p:spPr>
      </p:sp>
      <p:sp>
        <p:nvSpPr>
          <p:cNvPr id="18" name="Text 16"/>
          <p:cNvSpPr txBox="1"/>
          <p:nvPr/>
        </p:nvSpPr>
        <p:spPr>
          <a:xfrm>
            <a:off x="9628632" y="2295144"/>
            <a:ext cx="1783080" cy="237744"/>
          </a:xfrm>
          <a:prstGeom prst="rect">
            <a:avLst/>
          </a:prstGeom>
          <a:noFill/>
          <a:ln/>
        </p:spPr>
        <p:txBody>
          <a:bodyPr wrap="square" lIns="0" tIns="0" rIns="0" bIns="0" rtlCol="0" anchor="ctr"/>
          <a:lstStyle/>
          <a:p>
            <a:pPr indent="0" marL="0">
              <a:buNone/>
            </a:pPr>
            <a:r>
              <a:rPr lang="en-US" sz="900" b="1" spc="150" kern="0" dirty="0">
                <a:solidFill>
                  <a:srgbClr val="4ADE80"/>
                </a:solidFill>
                <a:latin typeface="Calibri" pitchFamily="34" charset="0"/>
                <a:ea typeface="Calibri" pitchFamily="34" charset="-122"/>
                <a:cs typeface="Calibri" pitchFamily="34" charset="-120"/>
              </a:rPr>
              <a:t>CACHED</a:t>
            </a:r>
            <a:endParaRPr lang="en-US" sz="900" dirty="0"/>
          </a:p>
        </p:txBody>
      </p:sp>
      <p:sp>
        <p:nvSpPr>
          <p:cNvPr id="19" name="Text 17"/>
          <p:cNvSpPr txBox="1"/>
          <p:nvPr/>
        </p:nvSpPr>
        <p:spPr>
          <a:xfrm>
            <a:off x="9628632" y="2532888"/>
            <a:ext cx="1783080" cy="274320"/>
          </a:xfrm>
          <a:prstGeom prst="rect">
            <a:avLst/>
          </a:prstGeom>
          <a:noFill/>
          <a:ln/>
        </p:spPr>
        <p:txBody>
          <a:bodyPr wrap="square" lIns="0" tIns="0" rIns="0" bIns="0" rtlCol="0" anchor="ctr"/>
          <a:lstStyle/>
          <a:p>
            <a:pPr indent="0" marL="0">
              <a:buNone/>
            </a:pPr>
            <a:r>
              <a:rPr lang="en-US" sz="1000" dirty="0">
                <a:solidFill>
                  <a:srgbClr val="FFFFFF"/>
                </a:solidFill>
                <a:latin typeface="Courier New" pitchFamily="34" charset="0"/>
                <a:ea typeface="Courier New" pitchFamily="34" charset="-122"/>
                <a:cs typeface="Courier New" pitchFamily="34" charset="-120"/>
              </a:rPr>
              <a:t>cart-add</a:t>
            </a:r>
            <a:endParaRPr lang="en-US" sz="1000" dirty="0"/>
          </a:p>
        </p:txBody>
      </p:sp>
      <p:sp>
        <p:nvSpPr>
          <p:cNvPr id="20" name="Shape 18"/>
          <p:cNvSpPr/>
          <p:nvPr/>
        </p:nvSpPr>
        <p:spPr>
          <a:xfrm>
            <a:off x="640080" y="3017520"/>
            <a:ext cx="2057400" cy="621792"/>
          </a:xfrm>
          <a:prstGeom prst="roundRect">
            <a:avLst>
              <a:gd name="adj" fmla="val 8824"/>
            </a:avLst>
          </a:prstGeom>
          <a:solidFill>
            <a:srgbClr val="2A1116"/>
          </a:solidFill>
          <a:ln w="15240">
            <a:solidFill>
              <a:srgbClr val="FB7185"/>
            </a:solidFill>
            <a:prstDash val="solid"/>
          </a:ln>
        </p:spPr>
      </p:sp>
      <p:sp>
        <p:nvSpPr>
          <p:cNvPr id="21" name="Text 19"/>
          <p:cNvSpPr txBox="1"/>
          <p:nvPr/>
        </p:nvSpPr>
        <p:spPr>
          <a:xfrm>
            <a:off x="777240" y="3072384"/>
            <a:ext cx="1783080" cy="237744"/>
          </a:xfrm>
          <a:prstGeom prst="rect">
            <a:avLst/>
          </a:prstGeom>
          <a:noFill/>
          <a:ln/>
        </p:spPr>
        <p:txBody>
          <a:bodyPr wrap="square" lIns="0" tIns="0" rIns="0" bIns="0" rtlCol="0" anchor="ctr"/>
          <a:lstStyle/>
          <a:p>
            <a:pPr indent="0" marL="0">
              <a:buNone/>
            </a:pPr>
            <a:r>
              <a:rPr lang="en-US" sz="900" b="1" spc="150" kern="0" dirty="0">
                <a:solidFill>
                  <a:srgbClr val="FB7185"/>
                </a:solidFill>
                <a:latin typeface="Calibri" pitchFamily="34" charset="0"/>
                <a:ea typeface="Calibri" pitchFamily="34" charset="-122"/>
                <a:cs typeface="Calibri" pitchFamily="34" charset="-120"/>
              </a:rPr>
              <a:t>RE-RAN</a:t>
            </a:r>
            <a:endParaRPr lang="en-US" sz="900" dirty="0"/>
          </a:p>
        </p:txBody>
      </p:sp>
      <p:sp>
        <p:nvSpPr>
          <p:cNvPr id="22" name="Text 20"/>
          <p:cNvSpPr txBox="1"/>
          <p:nvPr/>
        </p:nvSpPr>
        <p:spPr>
          <a:xfrm>
            <a:off x="777240" y="3310128"/>
            <a:ext cx="1783080" cy="274320"/>
          </a:xfrm>
          <a:prstGeom prst="rect">
            <a:avLst/>
          </a:prstGeom>
          <a:noFill/>
          <a:ln/>
        </p:spPr>
        <p:txBody>
          <a:bodyPr wrap="square" lIns="0" tIns="0" rIns="0" bIns="0" rtlCol="0" anchor="ctr"/>
          <a:lstStyle/>
          <a:p>
            <a:pPr indent="0" marL="0">
              <a:buNone/>
            </a:pPr>
            <a:r>
              <a:rPr lang="en-US" sz="1000" dirty="0">
                <a:solidFill>
                  <a:srgbClr val="FFFFFF"/>
                </a:solidFill>
                <a:latin typeface="Courier New" pitchFamily="34" charset="0"/>
                <a:ea typeface="Courier New" pitchFamily="34" charset="-122"/>
                <a:cs typeface="Courier New" pitchFamily="34" charset="-120"/>
              </a:rPr>
              <a:t>cart-totals</a:t>
            </a:r>
            <a:endParaRPr lang="en-US" sz="1000" dirty="0"/>
          </a:p>
        </p:txBody>
      </p:sp>
      <p:sp>
        <p:nvSpPr>
          <p:cNvPr id="23" name="Shape 21"/>
          <p:cNvSpPr/>
          <p:nvPr/>
        </p:nvSpPr>
        <p:spPr>
          <a:xfrm>
            <a:off x="2852928" y="3017520"/>
            <a:ext cx="2057400" cy="621792"/>
          </a:xfrm>
          <a:prstGeom prst="roundRect">
            <a:avLst>
              <a:gd name="adj" fmla="val 8824"/>
            </a:avLst>
          </a:prstGeom>
          <a:solidFill>
            <a:srgbClr val="10251A"/>
          </a:solidFill>
          <a:ln w="15240">
            <a:solidFill>
              <a:srgbClr val="4ADE80"/>
            </a:solidFill>
            <a:prstDash val="solid"/>
          </a:ln>
        </p:spPr>
      </p:sp>
      <p:sp>
        <p:nvSpPr>
          <p:cNvPr id="24" name="Text 22"/>
          <p:cNvSpPr txBox="1"/>
          <p:nvPr/>
        </p:nvSpPr>
        <p:spPr>
          <a:xfrm>
            <a:off x="2990088" y="3072384"/>
            <a:ext cx="1783080" cy="237744"/>
          </a:xfrm>
          <a:prstGeom prst="rect">
            <a:avLst/>
          </a:prstGeom>
          <a:noFill/>
          <a:ln/>
        </p:spPr>
        <p:txBody>
          <a:bodyPr wrap="square" lIns="0" tIns="0" rIns="0" bIns="0" rtlCol="0" anchor="ctr"/>
          <a:lstStyle/>
          <a:p>
            <a:pPr indent="0" marL="0">
              <a:buNone/>
            </a:pPr>
            <a:r>
              <a:rPr lang="en-US" sz="900" b="1" spc="150" kern="0" dirty="0">
                <a:solidFill>
                  <a:srgbClr val="4ADE80"/>
                </a:solidFill>
                <a:latin typeface="Calibri" pitchFamily="34" charset="0"/>
                <a:ea typeface="Calibri" pitchFamily="34" charset="-122"/>
                <a:cs typeface="Calibri" pitchFamily="34" charset="-120"/>
              </a:rPr>
              <a:t>CACHED</a:t>
            </a:r>
            <a:endParaRPr lang="en-US" sz="900" dirty="0"/>
          </a:p>
        </p:txBody>
      </p:sp>
      <p:sp>
        <p:nvSpPr>
          <p:cNvPr id="25" name="Text 23"/>
          <p:cNvSpPr txBox="1"/>
          <p:nvPr/>
        </p:nvSpPr>
        <p:spPr>
          <a:xfrm>
            <a:off x="2990088" y="3310128"/>
            <a:ext cx="1783080" cy="274320"/>
          </a:xfrm>
          <a:prstGeom prst="rect">
            <a:avLst/>
          </a:prstGeom>
          <a:noFill/>
          <a:ln/>
        </p:spPr>
        <p:txBody>
          <a:bodyPr wrap="square" lIns="0" tIns="0" rIns="0" bIns="0" rtlCol="0" anchor="ctr"/>
          <a:lstStyle/>
          <a:p>
            <a:pPr indent="0" marL="0">
              <a:buNone/>
            </a:pPr>
            <a:r>
              <a:rPr lang="en-US" sz="1000" dirty="0">
                <a:solidFill>
                  <a:srgbClr val="FFFFFF"/>
                </a:solidFill>
                <a:latin typeface="Courier New" pitchFamily="34" charset="0"/>
                <a:ea typeface="Courier New" pitchFamily="34" charset="-122"/>
                <a:cs typeface="Courier New" pitchFamily="34" charset="-120"/>
              </a:rPr>
              <a:t>login</a:t>
            </a:r>
            <a:endParaRPr lang="en-US" sz="1000" dirty="0"/>
          </a:p>
        </p:txBody>
      </p:sp>
      <p:sp>
        <p:nvSpPr>
          <p:cNvPr id="26" name="Shape 24"/>
          <p:cNvSpPr/>
          <p:nvPr/>
        </p:nvSpPr>
        <p:spPr>
          <a:xfrm>
            <a:off x="5065776" y="3017520"/>
            <a:ext cx="2057400" cy="621792"/>
          </a:xfrm>
          <a:prstGeom prst="roundRect">
            <a:avLst>
              <a:gd name="adj" fmla="val 8824"/>
            </a:avLst>
          </a:prstGeom>
          <a:solidFill>
            <a:srgbClr val="10251A"/>
          </a:solidFill>
          <a:ln w="15240">
            <a:solidFill>
              <a:srgbClr val="4ADE80"/>
            </a:solidFill>
            <a:prstDash val="solid"/>
          </a:ln>
        </p:spPr>
      </p:sp>
      <p:sp>
        <p:nvSpPr>
          <p:cNvPr id="27" name="Text 25"/>
          <p:cNvSpPr txBox="1"/>
          <p:nvPr/>
        </p:nvSpPr>
        <p:spPr>
          <a:xfrm>
            <a:off x="5202936" y="3072384"/>
            <a:ext cx="1783080" cy="237744"/>
          </a:xfrm>
          <a:prstGeom prst="rect">
            <a:avLst/>
          </a:prstGeom>
          <a:noFill/>
          <a:ln/>
        </p:spPr>
        <p:txBody>
          <a:bodyPr wrap="square" lIns="0" tIns="0" rIns="0" bIns="0" rtlCol="0" anchor="ctr"/>
          <a:lstStyle/>
          <a:p>
            <a:pPr indent="0" marL="0">
              <a:buNone/>
            </a:pPr>
            <a:r>
              <a:rPr lang="en-US" sz="900" b="1" spc="150" kern="0" dirty="0">
                <a:solidFill>
                  <a:srgbClr val="4ADE80"/>
                </a:solidFill>
                <a:latin typeface="Calibri" pitchFamily="34" charset="0"/>
                <a:ea typeface="Calibri" pitchFamily="34" charset="-122"/>
                <a:cs typeface="Calibri" pitchFamily="34" charset="-120"/>
              </a:rPr>
              <a:t>CACHED</a:t>
            </a:r>
            <a:endParaRPr lang="en-US" sz="900" dirty="0"/>
          </a:p>
        </p:txBody>
      </p:sp>
      <p:sp>
        <p:nvSpPr>
          <p:cNvPr id="28" name="Text 26"/>
          <p:cNvSpPr txBox="1"/>
          <p:nvPr/>
        </p:nvSpPr>
        <p:spPr>
          <a:xfrm>
            <a:off x="5202936" y="3310128"/>
            <a:ext cx="1783080" cy="274320"/>
          </a:xfrm>
          <a:prstGeom prst="rect">
            <a:avLst/>
          </a:prstGeom>
          <a:noFill/>
          <a:ln/>
        </p:spPr>
        <p:txBody>
          <a:bodyPr wrap="square" lIns="0" tIns="0" rIns="0" bIns="0" rtlCol="0" anchor="ctr"/>
          <a:lstStyle/>
          <a:p>
            <a:pPr indent="0" marL="0">
              <a:buNone/>
            </a:pPr>
            <a:r>
              <a:rPr lang="en-US" sz="1000" dirty="0">
                <a:solidFill>
                  <a:srgbClr val="FFFFFF"/>
                </a:solidFill>
                <a:latin typeface="Courier New" pitchFamily="34" charset="0"/>
                <a:ea typeface="Courier New" pitchFamily="34" charset="-122"/>
                <a:cs typeface="Courier New" pitchFamily="34" charset="-120"/>
              </a:rPr>
              <a:t>checkout-validation</a:t>
            </a:r>
            <a:endParaRPr lang="en-US" sz="1000" dirty="0"/>
          </a:p>
        </p:txBody>
      </p:sp>
      <p:sp>
        <p:nvSpPr>
          <p:cNvPr id="29" name="Shape 27"/>
          <p:cNvSpPr/>
          <p:nvPr/>
        </p:nvSpPr>
        <p:spPr>
          <a:xfrm>
            <a:off x="7278624" y="3017520"/>
            <a:ext cx="2057400" cy="621792"/>
          </a:xfrm>
          <a:prstGeom prst="roundRect">
            <a:avLst>
              <a:gd name="adj" fmla="val 8824"/>
            </a:avLst>
          </a:prstGeom>
          <a:solidFill>
            <a:srgbClr val="2A1116"/>
          </a:solidFill>
          <a:ln w="15240">
            <a:solidFill>
              <a:srgbClr val="FB7185"/>
            </a:solidFill>
            <a:prstDash val="solid"/>
          </a:ln>
        </p:spPr>
      </p:sp>
      <p:sp>
        <p:nvSpPr>
          <p:cNvPr id="30" name="Text 28"/>
          <p:cNvSpPr txBox="1"/>
          <p:nvPr/>
        </p:nvSpPr>
        <p:spPr>
          <a:xfrm>
            <a:off x="7415784" y="3072384"/>
            <a:ext cx="1783080" cy="237744"/>
          </a:xfrm>
          <a:prstGeom prst="rect">
            <a:avLst/>
          </a:prstGeom>
          <a:noFill/>
          <a:ln/>
        </p:spPr>
        <p:txBody>
          <a:bodyPr wrap="square" lIns="0" tIns="0" rIns="0" bIns="0" rtlCol="0" anchor="ctr"/>
          <a:lstStyle/>
          <a:p>
            <a:pPr indent="0" marL="0">
              <a:buNone/>
            </a:pPr>
            <a:r>
              <a:rPr lang="en-US" sz="900" b="1" spc="150" kern="0" dirty="0">
                <a:solidFill>
                  <a:srgbClr val="FB7185"/>
                </a:solidFill>
                <a:latin typeface="Calibri" pitchFamily="34" charset="0"/>
                <a:ea typeface="Calibri" pitchFamily="34" charset="-122"/>
                <a:cs typeface="Calibri" pitchFamily="34" charset="-120"/>
              </a:rPr>
              <a:t>RE-RAN</a:t>
            </a:r>
            <a:endParaRPr lang="en-US" sz="900" dirty="0"/>
          </a:p>
        </p:txBody>
      </p:sp>
      <p:sp>
        <p:nvSpPr>
          <p:cNvPr id="31" name="Text 29"/>
          <p:cNvSpPr txBox="1"/>
          <p:nvPr/>
        </p:nvSpPr>
        <p:spPr>
          <a:xfrm>
            <a:off x="7415784" y="3310128"/>
            <a:ext cx="1783080" cy="274320"/>
          </a:xfrm>
          <a:prstGeom prst="rect">
            <a:avLst/>
          </a:prstGeom>
          <a:noFill/>
          <a:ln/>
        </p:spPr>
        <p:txBody>
          <a:bodyPr wrap="square" lIns="0" tIns="0" rIns="0" bIns="0" rtlCol="0" anchor="ctr"/>
          <a:lstStyle/>
          <a:p>
            <a:pPr indent="0" marL="0">
              <a:buNone/>
            </a:pPr>
            <a:r>
              <a:rPr lang="en-US" sz="1000" dirty="0">
                <a:solidFill>
                  <a:srgbClr val="FFFFFF"/>
                </a:solidFill>
                <a:latin typeface="Courier New" pitchFamily="34" charset="0"/>
                <a:ea typeface="Courier New" pitchFamily="34" charset="-122"/>
                <a:cs typeface="Courier New" pitchFamily="34" charset="-120"/>
              </a:rPr>
              <a:t>checkout-happy-path</a:t>
            </a:r>
            <a:endParaRPr lang="en-US" sz="1000" dirty="0"/>
          </a:p>
        </p:txBody>
      </p:sp>
      <p:sp>
        <p:nvSpPr>
          <p:cNvPr id="32" name="Shape 30"/>
          <p:cNvSpPr/>
          <p:nvPr/>
        </p:nvSpPr>
        <p:spPr>
          <a:xfrm>
            <a:off x="9491472" y="3017520"/>
            <a:ext cx="2057400" cy="621792"/>
          </a:xfrm>
          <a:prstGeom prst="roundRect">
            <a:avLst>
              <a:gd name="adj" fmla="val 8824"/>
            </a:avLst>
          </a:prstGeom>
          <a:solidFill>
            <a:srgbClr val="10251A"/>
          </a:solidFill>
          <a:ln w="15240">
            <a:solidFill>
              <a:srgbClr val="4ADE80"/>
            </a:solidFill>
            <a:prstDash val="solid"/>
          </a:ln>
        </p:spPr>
      </p:sp>
      <p:sp>
        <p:nvSpPr>
          <p:cNvPr id="33" name="Text 31"/>
          <p:cNvSpPr txBox="1"/>
          <p:nvPr/>
        </p:nvSpPr>
        <p:spPr>
          <a:xfrm>
            <a:off x="9628632" y="3072384"/>
            <a:ext cx="1783080" cy="237744"/>
          </a:xfrm>
          <a:prstGeom prst="rect">
            <a:avLst/>
          </a:prstGeom>
          <a:noFill/>
          <a:ln/>
        </p:spPr>
        <p:txBody>
          <a:bodyPr wrap="square" lIns="0" tIns="0" rIns="0" bIns="0" rtlCol="0" anchor="ctr"/>
          <a:lstStyle/>
          <a:p>
            <a:pPr indent="0" marL="0">
              <a:buNone/>
            </a:pPr>
            <a:r>
              <a:rPr lang="en-US" sz="900" b="1" spc="150" kern="0" dirty="0">
                <a:solidFill>
                  <a:srgbClr val="4ADE80"/>
                </a:solidFill>
                <a:latin typeface="Calibri" pitchFamily="34" charset="0"/>
                <a:ea typeface="Calibri" pitchFamily="34" charset="-122"/>
                <a:cs typeface="Calibri" pitchFamily="34" charset="-120"/>
              </a:rPr>
              <a:t>CACHED</a:t>
            </a:r>
            <a:endParaRPr lang="en-US" sz="900" dirty="0"/>
          </a:p>
        </p:txBody>
      </p:sp>
      <p:sp>
        <p:nvSpPr>
          <p:cNvPr id="34" name="Text 32"/>
          <p:cNvSpPr txBox="1"/>
          <p:nvPr/>
        </p:nvSpPr>
        <p:spPr>
          <a:xfrm>
            <a:off x="9628632" y="3310128"/>
            <a:ext cx="1783080" cy="274320"/>
          </a:xfrm>
          <a:prstGeom prst="rect">
            <a:avLst/>
          </a:prstGeom>
          <a:noFill/>
          <a:ln/>
        </p:spPr>
        <p:txBody>
          <a:bodyPr wrap="square" lIns="0" tIns="0" rIns="0" bIns="0" rtlCol="0" anchor="ctr"/>
          <a:lstStyle/>
          <a:p>
            <a:pPr indent="0" marL="0">
              <a:buNone/>
            </a:pPr>
            <a:r>
              <a:rPr lang="en-US" sz="1000" dirty="0">
                <a:solidFill>
                  <a:srgbClr val="FFFFFF"/>
                </a:solidFill>
                <a:latin typeface="Courier New" pitchFamily="34" charset="0"/>
                <a:ea typeface="Courier New" pitchFamily="34" charset="-122"/>
                <a:cs typeface="Courier New" pitchFamily="34" charset="-120"/>
              </a:rPr>
              <a:t>orders</a:t>
            </a:r>
            <a:endParaRPr lang="en-US" sz="1000" dirty="0"/>
          </a:p>
        </p:txBody>
      </p:sp>
      <p:sp>
        <p:nvSpPr>
          <p:cNvPr id="35" name="Text 33"/>
          <p:cNvSpPr txBox="1"/>
          <p:nvPr/>
        </p:nvSpPr>
        <p:spPr>
          <a:xfrm>
            <a:off x="640080" y="3977640"/>
            <a:ext cx="10881360" cy="548640"/>
          </a:xfrm>
          <a:prstGeom prst="rect">
            <a:avLst/>
          </a:prstGeom>
          <a:noFill/>
          <a:ln/>
        </p:spPr>
        <p:txBody>
          <a:bodyPr wrap="square" lIns="0" tIns="0" rIns="0" bIns="0" rtlCol="0" anchor="ctr"/>
          <a:lstStyle/>
          <a:p>
            <a:pPr indent="0" marL="0">
              <a:buNone/>
            </a:pPr>
            <a:r>
              <a:rPr lang="en-US" sz="1500" dirty="0">
                <a:solidFill>
                  <a:srgbClr val="C3CAD6"/>
                </a:solidFill>
                <a:latin typeface="Calibri" pitchFamily="34" charset="0"/>
                <a:ea typeface="Calibri" pitchFamily="34" charset="-122"/>
                <a:cs typeface="Calibri" pitchFamily="34" charset="-120"/>
              </a:rPr>
              <a:t>No test-name bookkeeping. No --only-failures flag. No plugin. A cache that stores successes gives you failure-only retries for free — locally and on CI.</a:t>
            </a:r>
            <a:endParaRPr lang="en-US" sz="1500" dirty="0"/>
          </a:p>
        </p:txBody>
      </p:sp>
      <p:sp>
        <p:nvSpPr>
          <p:cNvPr id="36" name="Shape 34"/>
          <p:cNvSpPr/>
          <p:nvPr/>
        </p:nvSpPr>
        <p:spPr>
          <a:xfrm>
            <a:off x="640080" y="4709160"/>
            <a:ext cx="3429000" cy="1463040"/>
          </a:xfrm>
          <a:prstGeom prst="roundRect">
            <a:avLst>
              <a:gd name="adj" fmla="val 4375"/>
            </a:avLst>
          </a:prstGeom>
          <a:solidFill>
            <a:srgbClr val="1B2029"/>
          </a:solidFill>
          <a:ln w="12700">
            <a:solidFill>
              <a:srgbClr val="2C3340"/>
            </a:solidFill>
            <a:prstDash val="solid"/>
          </a:ln>
        </p:spPr>
      </p:sp>
      <p:sp>
        <p:nvSpPr>
          <p:cNvPr id="37" name="Text 35"/>
          <p:cNvSpPr txBox="1"/>
          <p:nvPr/>
        </p:nvSpPr>
        <p:spPr>
          <a:xfrm>
            <a:off x="841248" y="4892040"/>
            <a:ext cx="3026664" cy="685800"/>
          </a:xfrm>
          <a:prstGeom prst="rect">
            <a:avLst/>
          </a:prstGeom>
          <a:noFill/>
          <a:ln/>
        </p:spPr>
        <p:txBody>
          <a:bodyPr wrap="square" lIns="0" tIns="0" rIns="0" bIns="0" rtlCol="0" anchor="ctr"/>
          <a:lstStyle/>
          <a:p>
            <a:pPr indent="0" marL="0">
              <a:buNone/>
            </a:pPr>
            <a:r>
              <a:rPr lang="en-US" sz="4000" b="1" dirty="0">
                <a:solidFill>
                  <a:srgbClr val="F5A524"/>
                </a:solidFill>
                <a:latin typeface="Cambria" pitchFamily="34" charset="0"/>
                <a:ea typeface="Cambria" pitchFamily="34" charset="-122"/>
                <a:cs typeface="Cambria" pitchFamily="34" charset="-120"/>
              </a:rPr>
              <a:t>37s</a:t>
            </a:r>
            <a:endParaRPr lang="en-US" sz="4000" dirty="0"/>
          </a:p>
        </p:txBody>
      </p:sp>
      <p:sp>
        <p:nvSpPr>
          <p:cNvPr id="38" name="Text 36"/>
          <p:cNvSpPr txBox="1"/>
          <p:nvPr/>
        </p:nvSpPr>
        <p:spPr>
          <a:xfrm>
            <a:off x="841248" y="5605272"/>
            <a:ext cx="3026664" cy="320040"/>
          </a:xfrm>
          <a:prstGeom prst="rect">
            <a:avLst/>
          </a:prstGeom>
          <a:noFill/>
          <a:ln/>
        </p:spPr>
        <p:txBody>
          <a:bodyPr wrap="square" lIns="0" tIns="0" rIns="0" bIns="0" rtlCol="0" anchor="ctr"/>
          <a:lstStyle/>
          <a:p>
            <a:pPr indent="0" marL="0">
              <a:buNone/>
            </a:pPr>
            <a:r>
              <a:rPr lang="en-US" sz="1300" dirty="0">
                <a:solidFill>
                  <a:srgbClr val="C3CAD6"/>
                </a:solidFill>
                <a:latin typeface="Calibri" pitchFamily="34" charset="0"/>
                <a:ea typeface="Calibri" pitchFamily="34" charset="-122"/>
                <a:cs typeface="Calibri" pitchFamily="34" charset="-120"/>
              </a:rPr>
              <a:t>First run, 2 specs fail</a:t>
            </a:r>
            <a:endParaRPr lang="en-US" sz="1300" dirty="0"/>
          </a:p>
        </p:txBody>
      </p:sp>
      <p:sp>
        <p:nvSpPr>
          <p:cNvPr id="39" name="Shape 37"/>
          <p:cNvSpPr/>
          <p:nvPr/>
        </p:nvSpPr>
        <p:spPr>
          <a:xfrm>
            <a:off x="4343400" y="4709160"/>
            <a:ext cx="3429000" cy="1463040"/>
          </a:xfrm>
          <a:prstGeom prst="roundRect">
            <a:avLst>
              <a:gd name="adj" fmla="val 4375"/>
            </a:avLst>
          </a:prstGeom>
          <a:solidFill>
            <a:srgbClr val="1B2029"/>
          </a:solidFill>
          <a:ln w="12700">
            <a:solidFill>
              <a:srgbClr val="2C3340"/>
            </a:solidFill>
            <a:prstDash val="solid"/>
          </a:ln>
        </p:spPr>
      </p:sp>
      <p:sp>
        <p:nvSpPr>
          <p:cNvPr id="40" name="Text 38"/>
          <p:cNvSpPr txBox="1"/>
          <p:nvPr/>
        </p:nvSpPr>
        <p:spPr>
          <a:xfrm>
            <a:off x="4544568" y="4892040"/>
            <a:ext cx="3026664" cy="685800"/>
          </a:xfrm>
          <a:prstGeom prst="rect">
            <a:avLst/>
          </a:prstGeom>
          <a:noFill/>
          <a:ln/>
        </p:spPr>
        <p:txBody>
          <a:bodyPr wrap="square" lIns="0" tIns="0" rIns="0" bIns="0" rtlCol="0" anchor="ctr"/>
          <a:lstStyle/>
          <a:p>
            <a:pPr indent="0" marL="0">
              <a:buNone/>
            </a:pPr>
            <a:r>
              <a:rPr lang="en-US" sz="4000" b="1" dirty="0">
                <a:solidFill>
                  <a:srgbClr val="4ADE80"/>
                </a:solidFill>
                <a:latin typeface="Cambria" pitchFamily="34" charset="0"/>
                <a:ea typeface="Cambria" pitchFamily="34" charset="-122"/>
                <a:cs typeface="Cambria" pitchFamily="34" charset="-120"/>
              </a:rPr>
              <a:t>28s</a:t>
            </a:r>
            <a:endParaRPr lang="en-US" sz="4000" dirty="0"/>
          </a:p>
        </p:txBody>
      </p:sp>
      <p:sp>
        <p:nvSpPr>
          <p:cNvPr id="41" name="Text 39"/>
          <p:cNvSpPr txBox="1"/>
          <p:nvPr/>
        </p:nvSpPr>
        <p:spPr>
          <a:xfrm>
            <a:off x="4544568" y="5605272"/>
            <a:ext cx="3026664" cy="320040"/>
          </a:xfrm>
          <a:prstGeom prst="rect">
            <a:avLst/>
          </a:prstGeom>
          <a:noFill/>
          <a:ln/>
        </p:spPr>
        <p:txBody>
          <a:bodyPr wrap="square" lIns="0" tIns="0" rIns="0" bIns="0" rtlCol="0" anchor="ctr"/>
          <a:lstStyle/>
          <a:p>
            <a:pPr indent="0" marL="0">
              <a:buNone/>
            </a:pPr>
            <a:r>
              <a:rPr lang="en-US" sz="1300" dirty="0">
                <a:solidFill>
                  <a:srgbClr val="C3CAD6"/>
                </a:solidFill>
                <a:latin typeface="Calibri" pitchFamily="34" charset="0"/>
                <a:ea typeface="Calibri" pitchFamily="34" charset="-122"/>
                <a:cs typeface="Calibri" pitchFamily="34" charset="-120"/>
              </a:rPr>
              <a:t>Retry: 9 of 10 replayed</a:t>
            </a:r>
            <a:endParaRPr lang="en-US" sz="1300" dirty="0"/>
          </a:p>
        </p:txBody>
      </p:sp>
      <p:sp>
        <p:nvSpPr>
          <p:cNvPr id="42" name="Shape 40"/>
          <p:cNvSpPr/>
          <p:nvPr/>
        </p:nvSpPr>
        <p:spPr>
          <a:xfrm>
            <a:off x="8046720" y="4709160"/>
            <a:ext cx="3429000" cy="1463040"/>
          </a:xfrm>
          <a:prstGeom prst="roundRect">
            <a:avLst>
              <a:gd name="adj" fmla="val 4375"/>
            </a:avLst>
          </a:prstGeom>
          <a:solidFill>
            <a:srgbClr val="1B2029"/>
          </a:solidFill>
          <a:ln w="12700">
            <a:solidFill>
              <a:srgbClr val="2C3340"/>
            </a:solidFill>
            <a:prstDash val="solid"/>
          </a:ln>
        </p:spPr>
      </p:sp>
      <p:sp>
        <p:nvSpPr>
          <p:cNvPr id="43" name="Text 41"/>
          <p:cNvSpPr txBox="1"/>
          <p:nvPr/>
        </p:nvSpPr>
        <p:spPr>
          <a:xfrm>
            <a:off x="8247888" y="4892040"/>
            <a:ext cx="3026664" cy="685800"/>
          </a:xfrm>
          <a:prstGeom prst="rect">
            <a:avLst/>
          </a:prstGeom>
          <a:noFill/>
          <a:ln/>
        </p:spPr>
        <p:txBody>
          <a:bodyPr wrap="square" lIns="0" tIns="0" rIns="0" bIns="0" rtlCol="0" anchor="ctr"/>
          <a:lstStyle/>
          <a:p>
            <a:pPr indent="0" marL="0">
              <a:buNone/>
            </a:pPr>
            <a:r>
              <a:rPr lang="en-US" sz="4000" b="1" dirty="0">
                <a:solidFill>
                  <a:srgbClr val="FB7185"/>
                </a:solidFill>
                <a:latin typeface="Cambria" pitchFamily="34" charset="0"/>
                <a:ea typeface="Cambria" pitchFamily="34" charset="-122"/>
                <a:cs typeface="Cambria" pitchFamily="34" charset="-120"/>
              </a:rPr>
              <a:t>2</a:t>
            </a:r>
            <a:endParaRPr lang="en-US" sz="4000" dirty="0"/>
          </a:p>
        </p:txBody>
      </p:sp>
      <p:sp>
        <p:nvSpPr>
          <p:cNvPr id="44" name="Text 42"/>
          <p:cNvSpPr txBox="1"/>
          <p:nvPr/>
        </p:nvSpPr>
        <p:spPr>
          <a:xfrm>
            <a:off x="8247888" y="5605272"/>
            <a:ext cx="3026664" cy="320040"/>
          </a:xfrm>
          <a:prstGeom prst="rect">
            <a:avLst/>
          </a:prstGeom>
          <a:noFill/>
          <a:ln/>
        </p:spPr>
        <p:txBody>
          <a:bodyPr wrap="square" lIns="0" tIns="0" rIns="0" bIns="0" rtlCol="0" anchor="ctr"/>
          <a:lstStyle/>
          <a:p>
            <a:pPr indent="0" marL="0">
              <a:buNone/>
            </a:pPr>
            <a:r>
              <a:rPr lang="en-US" sz="1300" dirty="0">
                <a:solidFill>
                  <a:srgbClr val="C3CAD6"/>
                </a:solidFill>
                <a:latin typeface="Calibri" pitchFamily="34" charset="0"/>
                <a:ea typeface="Calibri" pitchFamily="34" charset="-122"/>
                <a:cs typeface="Calibri" pitchFamily="34" charset="-120"/>
              </a:rPr>
              <a:t>Specs that actually ran</a:t>
            </a:r>
            <a:endParaRPr lang="en-US" sz="1300" dirty="0"/>
          </a:p>
        </p:txBody>
      </p:sp>
    </p:spTree>
  </p:cSld>
  <p:clrMapOvr>
    <a:masterClrMapping/>
  </p:clrMapOvr>
</p:sld>
</file>

<file path=ppt/slides/slide12.xml><?xml version="1.0" encoding="utf-8"?>
<p:sld xmlns:a="http://schemas.openxmlformats.org/drawingml/2006/main" xmlns:r="http://schemas.openxmlformats.org/officeDocument/2006/relationships" xmlns:p="http://schemas.openxmlformats.org/presentationml/2006/main">
  <p:cSld name="Slide 12">
    <p:bg>
      <p:bgPr>
        <a:solidFill>
          <a:srgbClr val="F7F8FA"/>
        </a:solidFill>
      </p:bgPr>
    </p:bg>
    <p:spTree>
      <p:nvGrpSpPr>
        <p:cNvPr id="1" name=""/>
        <p:cNvGrpSpPr/>
        <p:nvPr/>
      </p:nvGrpSpPr>
      <p:grpSpPr>
        <a:xfrm>
          <a:off x="0" y="0"/>
          <a:ext cx="0" cy="0"/>
          <a:chOff x="0" y="0"/>
          <a:chExt cx="0" cy="0"/>
        </a:xfrm>
      </p:grpSpPr>
      <p:sp>
        <p:nvSpPr>
          <p:cNvPr id="2" name="Text 0"/>
          <p:cNvSpPr txBox="1"/>
          <p:nvPr/>
        </p:nvSpPr>
        <p:spPr>
          <a:xfrm>
            <a:off x="640080" y="411480"/>
            <a:ext cx="10881360" cy="274320"/>
          </a:xfrm>
          <a:prstGeom prst="rect">
            <a:avLst/>
          </a:prstGeom>
          <a:noFill/>
          <a:ln/>
        </p:spPr>
        <p:txBody>
          <a:bodyPr wrap="square" lIns="0" tIns="0" rIns="0" bIns="0" rtlCol="0" anchor="ctr"/>
          <a:lstStyle/>
          <a:p>
            <a:pPr indent="0" marL="0">
              <a:buNone/>
            </a:pPr>
            <a:r>
              <a:rPr lang="en-US" sz="1200" b="1" spc="250" kern="0" dirty="0">
                <a:solidFill>
                  <a:srgbClr val="0B7A44"/>
                </a:solidFill>
                <a:latin typeface="Calibri" pitchFamily="34" charset="0"/>
                <a:ea typeface="Calibri" pitchFamily="34" charset="-122"/>
                <a:cs typeface="Calibri" pitchFamily="34" charset="-120"/>
              </a:rPr>
              <a:t>SECTION 05 · THE BIT THAT SURPRISES PEOPLE</a:t>
            </a:r>
            <a:endParaRPr lang="en-US" sz="1200" dirty="0"/>
          </a:p>
        </p:txBody>
      </p:sp>
      <p:sp>
        <p:nvSpPr>
          <p:cNvPr id="3" name="Text 1"/>
          <p:cNvSpPr txBox="1"/>
          <p:nvPr/>
        </p:nvSpPr>
        <p:spPr>
          <a:xfrm>
            <a:off x="640080" y="749808"/>
            <a:ext cx="10881360" cy="731520"/>
          </a:xfrm>
          <a:prstGeom prst="rect">
            <a:avLst/>
          </a:prstGeom>
          <a:noFill/>
          <a:ln/>
        </p:spPr>
        <p:txBody>
          <a:bodyPr wrap="square" lIns="0" tIns="0" rIns="0" bIns="0" rtlCol="0" anchor="ctr"/>
          <a:lstStyle/>
          <a:p>
            <a:pPr indent="0" marL="0">
              <a:buNone/>
            </a:pPr>
            <a:r>
              <a:rPr lang="en-US" sz="3800" b="1" dirty="0">
                <a:solidFill>
                  <a:srgbClr val="10131A"/>
                </a:solidFill>
                <a:latin typeface="Cambria" pitchFamily="34" charset="0"/>
                <a:ea typeface="Cambria" pitchFamily="34" charset="-122"/>
                <a:cs typeface="Cambria" pitchFamily="34" charset="-120"/>
              </a:rPr>
              <a:t>The cache is content-addressed</a:t>
            </a:r>
            <a:endParaRPr lang="en-US" sz="3800" dirty="0"/>
          </a:p>
        </p:txBody>
      </p:sp>
      <p:sp>
        <p:nvSpPr>
          <p:cNvPr id="4" name="Shape 2"/>
          <p:cNvSpPr/>
          <p:nvPr/>
        </p:nvSpPr>
        <p:spPr>
          <a:xfrm>
            <a:off x="640080" y="2011680"/>
            <a:ext cx="3429000" cy="2148840"/>
          </a:xfrm>
          <a:prstGeom prst="roundRect">
            <a:avLst>
              <a:gd name="adj" fmla="val 2979"/>
            </a:avLst>
          </a:prstGeom>
          <a:solidFill>
            <a:srgbClr val="FFFFFF"/>
          </a:solidFill>
          <a:ln w="12700">
            <a:solidFill>
              <a:srgbClr val="DFE4EC"/>
            </a:solidFill>
            <a:prstDash val="solid"/>
          </a:ln>
        </p:spPr>
      </p:sp>
      <p:sp>
        <p:nvSpPr>
          <p:cNvPr id="5" name="Text 3"/>
          <p:cNvSpPr txBox="1"/>
          <p:nvPr/>
        </p:nvSpPr>
        <p:spPr>
          <a:xfrm>
            <a:off x="868680" y="2194560"/>
            <a:ext cx="457200" cy="365760"/>
          </a:xfrm>
          <a:prstGeom prst="rect">
            <a:avLst/>
          </a:prstGeom>
          <a:noFill/>
          <a:ln/>
        </p:spPr>
        <p:txBody>
          <a:bodyPr wrap="square" lIns="0" tIns="0" rIns="0" bIns="0" rtlCol="0" anchor="ctr"/>
          <a:lstStyle/>
          <a:p>
            <a:pPr indent="0" marL="0">
              <a:buNone/>
            </a:pPr>
            <a:r>
              <a:rPr lang="en-US" sz="1800" b="1" dirty="0">
                <a:solidFill>
                  <a:srgbClr val="0B7A44"/>
                </a:solidFill>
                <a:latin typeface="Courier New" pitchFamily="34" charset="0"/>
                <a:ea typeface="Courier New" pitchFamily="34" charset="-122"/>
                <a:cs typeface="Courier New" pitchFamily="34" charset="-120"/>
              </a:rPr>
              <a:t>1</a:t>
            </a:r>
            <a:endParaRPr lang="en-US" sz="1800" dirty="0"/>
          </a:p>
        </p:txBody>
      </p:sp>
      <p:sp>
        <p:nvSpPr>
          <p:cNvPr id="6" name="Text 4"/>
          <p:cNvSpPr txBox="1"/>
          <p:nvPr/>
        </p:nvSpPr>
        <p:spPr>
          <a:xfrm>
            <a:off x="868680" y="2606040"/>
            <a:ext cx="2971800" cy="365760"/>
          </a:xfrm>
          <a:prstGeom prst="rect">
            <a:avLst/>
          </a:prstGeom>
          <a:noFill/>
          <a:ln/>
        </p:spPr>
        <p:txBody>
          <a:bodyPr wrap="square" lIns="0" tIns="0" rIns="0" bIns="0" rtlCol="0" anchor="ctr"/>
          <a:lstStyle/>
          <a:p>
            <a:pPr indent="0" marL="0">
              <a:buNone/>
            </a:pPr>
            <a:r>
              <a:rPr lang="en-US" sz="1700" b="1" dirty="0">
                <a:solidFill>
                  <a:srgbClr val="10131A"/>
                </a:solidFill>
                <a:latin typeface="Calibri" pitchFamily="34" charset="0"/>
                <a:ea typeface="Calibri" pitchFamily="34" charset="-122"/>
                <a:cs typeface="Calibri" pitchFamily="34" charset="-120"/>
              </a:rPr>
              <a:t>Green suite</a:t>
            </a:r>
            <a:endParaRPr lang="en-US" sz="1700" dirty="0"/>
          </a:p>
        </p:txBody>
      </p:sp>
      <p:sp>
        <p:nvSpPr>
          <p:cNvPr id="7" name="Text 5"/>
          <p:cNvSpPr txBox="1"/>
          <p:nvPr/>
        </p:nvSpPr>
        <p:spPr>
          <a:xfrm>
            <a:off x="868680" y="3017520"/>
            <a:ext cx="2971800" cy="320040"/>
          </a:xfrm>
          <a:prstGeom prst="rect">
            <a:avLst/>
          </a:prstGeom>
          <a:noFill/>
          <a:ln/>
        </p:spPr>
        <p:txBody>
          <a:bodyPr wrap="square" lIns="0" tIns="0" rIns="0" bIns="0" rtlCol="0" anchor="ctr"/>
          <a:lstStyle/>
          <a:p>
            <a:pPr indent="0" marL="0">
              <a:buNone/>
            </a:pPr>
            <a:r>
              <a:rPr lang="en-US" sz="1300" dirty="0">
                <a:solidFill>
                  <a:srgbClr val="55607A"/>
                </a:solidFill>
                <a:latin typeface="Courier New" pitchFamily="34" charset="0"/>
                <a:ea typeface="Courier New" pitchFamily="34" charset="-122"/>
                <a:cs typeface="Courier New" pitchFamily="34" charset="-120"/>
              </a:rPr>
              <a:t>hash A</a:t>
            </a:r>
            <a:endParaRPr lang="en-US" sz="1300" dirty="0"/>
          </a:p>
        </p:txBody>
      </p:sp>
      <p:sp>
        <p:nvSpPr>
          <p:cNvPr id="8" name="Text 6"/>
          <p:cNvSpPr txBox="1"/>
          <p:nvPr/>
        </p:nvSpPr>
        <p:spPr>
          <a:xfrm>
            <a:off x="868680" y="3401568"/>
            <a:ext cx="2971800" cy="548640"/>
          </a:xfrm>
          <a:prstGeom prst="rect">
            <a:avLst/>
          </a:prstGeom>
          <a:noFill/>
          <a:ln/>
        </p:spPr>
        <p:txBody>
          <a:bodyPr wrap="square" lIns="0" tIns="0" rIns="0" bIns="0" rtlCol="0" anchor="ctr"/>
          <a:lstStyle/>
          <a:p>
            <a:pPr indent="0" marL="0">
              <a:buNone/>
            </a:pPr>
            <a:r>
              <a:rPr lang="en-US" sz="1300" b="1" dirty="0">
                <a:solidFill>
                  <a:srgbClr val="0B7A44"/>
                </a:solidFill>
                <a:latin typeface="Calibri" pitchFamily="34" charset="0"/>
                <a:ea typeface="Calibri" pitchFamily="34" charset="-122"/>
                <a:cs typeface="Calibri" pitchFamily="34" charset="-120"/>
              </a:rPr>
              <a:t>cached</a:t>
            </a:r>
            <a:endParaRPr lang="en-US" sz="1300" dirty="0"/>
          </a:p>
        </p:txBody>
      </p:sp>
      <p:sp>
        <p:nvSpPr>
          <p:cNvPr id="9" name="Shape 7"/>
          <p:cNvSpPr/>
          <p:nvPr/>
        </p:nvSpPr>
        <p:spPr>
          <a:xfrm>
            <a:off x="4343400" y="2011680"/>
            <a:ext cx="3429000" cy="2148840"/>
          </a:xfrm>
          <a:prstGeom prst="roundRect">
            <a:avLst>
              <a:gd name="adj" fmla="val 2979"/>
            </a:avLst>
          </a:prstGeom>
          <a:solidFill>
            <a:srgbClr val="FFFFFF"/>
          </a:solidFill>
          <a:ln w="12700">
            <a:solidFill>
              <a:srgbClr val="DFE4EC"/>
            </a:solidFill>
            <a:prstDash val="solid"/>
          </a:ln>
        </p:spPr>
      </p:sp>
      <p:sp>
        <p:nvSpPr>
          <p:cNvPr id="10" name="Text 8"/>
          <p:cNvSpPr txBox="1"/>
          <p:nvPr/>
        </p:nvSpPr>
        <p:spPr>
          <a:xfrm>
            <a:off x="4572000" y="2194560"/>
            <a:ext cx="457200" cy="365760"/>
          </a:xfrm>
          <a:prstGeom prst="rect">
            <a:avLst/>
          </a:prstGeom>
          <a:noFill/>
          <a:ln/>
        </p:spPr>
        <p:txBody>
          <a:bodyPr wrap="square" lIns="0" tIns="0" rIns="0" bIns="0" rtlCol="0" anchor="ctr"/>
          <a:lstStyle/>
          <a:p>
            <a:pPr indent="0" marL="0">
              <a:buNone/>
            </a:pPr>
            <a:r>
              <a:rPr lang="en-US" sz="1800" b="1" dirty="0">
                <a:solidFill>
                  <a:srgbClr val="FB7185"/>
                </a:solidFill>
                <a:latin typeface="Courier New" pitchFamily="34" charset="0"/>
                <a:ea typeface="Courier New" pitchFamily="34" charset="-122"/>
                <a:cs typeface="Courier New" pitchFamily="34" charset="-120"/>
              </a:rPr>
              <a:t>2</a:t>
            </a:r>
            <a:endParaRPr lang="en-US" sz="1800" dirty="0"/>
          </a:p>
        </p:txBody>
      </p:sp>
      <p:sp>
        <p:nvSpPr>
          <p:cNvPr id="11" name="Text 9"/>
          <p:cNvSpPr txBox="1"/>
          <p:nvPr/>
        </p:nvSpPr>
        <p:spPr>
          <a:xfrm>
            <a:off x="4572000" y="2606040"/>
            <a:ext cx="2971800" cy="365760"/>
          </a:xfrm>
          <a:prstGeom prst="rect">
            <a:avLst/>
          </a:prstGeom>
          <a:noFill/>
          <a:ln/>
        </p:spPr>
        <p:txBody>
          <a:bodyPr wrap="square" lIns="0" tIns="0" rIns="0" bIns="0" rtlCol="0" anchor="ctr"/>
          <a:lstStyle/>
          <a:p>
            <a:pPr indent="0" marL="0">
              <a:buNone/>
            </a:pPr>
            <a:r>
              <a:rPr lang="en-US" sz="1700" b="1" dirty="0">
                <a:solidFill>
                  <a:srgbClr val="10131A"/>
                </a:solidFill>
                <a:latin typeface="Calibri" pitchFamily="34" charset="0"/>
                <a:ea typeface="Calibri" pitchFamily="34" charset="-122"/>
                <a:cs typeface="Calibri" pitchFamily="34" charset="-120"/>
              </a:rPr>
              <a:t>Seed the bug</a:t>
            </a:r>
            <a:endParaRPr lang="en-US" sz="1700" dirty="0"/>
          </a:p>
        </p:txBody>
      </p:sp>
      <p:sp>
        <p:nvSpPr>
          <p:cNvPr id="12" name="Text 10"/>
          <p:cNvSpPr txBox="1"/>
          <p:nvPr/>
        </p:nvSpPr>
        <p:spPr>
          <a:xfrm>
            <a:off x="4572000" y="3017520"/>
            <a:ext cx="2971800" cy="320040"/>
          </a:xfrm>
          <a:prstGeom prst="rect">
            <a:avLst/>
          </a:prstGeom>
          <a:noFill/>
          <a:ln/>
        </p:spPr>
        <p:txBody>
          <a:bodyPr wrap="square" lIns="0" tIns="0" rIns="0" bIns="0" rtlCol="0" anchor="ctr"/>
          <a:lstStyle/>
          <a:p>
            <a:pPr indent="0" marL="0">
              <a:buNone/>
            </a:pPr>
            <a:r>
              <a:rPr lang="en-US" sz="1300" dirty="0">
                <a:solidFill>
                  <a:srgbClr val="55607A"/>
                </a:solidFill>
                <a:latin typeface="Courier New" pitchFamily="34" charset="0"/>
                <a:ea typeface="Courier New" pitchFamily="34" charset="-122"/>
                <a:cs typeface="Courier New" pitchFamily="34" charset="-120"/>
              </a:rPr>
              <a:t>hash B</a:t>
            </a:r>
            <a:endParaRPr lang="en-US" sz="1300" dirty="0"/>
          </a:p>
        </p:txBody>
      </p:sp>
      <p:sp>
        <p:nvSpPr>
          <p:cNvPr id="13" name="Text 11"/>
          <p:cNvSpPr txBox="1"/>
          <p:nvPr/>
        </p:nvSpPr>
        <p:spPr>
          <a:xfrm>
            <a:off x="4572000" y="3401568"/>
            <a:ext cx="2971800" cy="548640"/>
          </a:xfrm>
          <a:prstGeom prst="rect">
            <a:avLst/>
          </a:prstGeom>
          <a:noFill/>
          <a:ln/>
        </p:spPr>
        <p:txBody>
          <a:bodyPr wrap="square" lIns="0" tIns="0" rIns="0" bIns="0" rtlCol="0" anchor="ctr"/>
          <a:lstStyle/>
          <a:p>
            <a:pPr indent="0" marL="0">
              <a:buNone/>
            </a:pPr>
            <a:r>
              <a:rPr lang="en-US" sz="1300" b="1" dirty="0">
                <a:solidFill>
                  <a:srgbClr val="FB7185"/>
                </a:solidFill>
                <a:latin typeface="Calibri" pitchFamily="34" charset="0"/>
                <a:ea typeface="Calibri" pitchFamily="34" charset="-122"/>
                <a:cs typeface="Calibri" pitchFamily="34" charset="-120"/>
              </a:rPr>
              <a:t>2 fail, 8 cached at B</a:t>
            </a:r>
            <a:endParaRPr lang="en-US" sz="1300" dirty="0"/>
          </a:p>
        </p:txBody>
      </p:sp>
      <p:sp>
        <p:nvSpPr>
          <p:cNvPr id="14" name="Shape 12"/>
          <p:cNvSpPr/>
          <p:nvPr/>
        </p:nvSpPr>
        <p:spPr>
          <a:xfrm>
            <a:off x="8046720" y="2011680"/>
            <a:ext cx="3429000" cy="2148840"/>
          </a:xfrm>
          <a:prstGeom prst="roundRect">
            <a:avLst>
              <a:gd name="adj" fmla="val 2979"/>
            </a:avLst>
          </a:prstGeom>
          <a:solidFill>
            <a:srgbClr val="FFFFFF"/>
          </a:solidFill>
          <a:ln w="12700">
            <a:solidFill>
              <a:srgbClr val="DFE4EC"/>
            </a:solidFill>
            <a:prstDash val="solid"/>
          </a:ln>
        </p:spPr>
      </p:sp>
      <p:sp>
        <p:nvSpPr>
          <p:cNvPr id="15" name="Text 13"/>
          <p:cNvSpPr txBox="1"/>
          <p:nvPr/>
        </p:nvSpPr>
        <p:spPr>
          <a:xfrm>
            <a:off x="8275320" y="2194560"/>
            <a:ext cx="457200" cy="365760"/>
          </a:xfrm>
          <a:prstGeom prst="rect">
            <a:avLst/>
          </a:prstGeom>
          <a:noFill/>
          <a:ln/>
        </p:spPr>
        <p:txBody>
          <a:bodyPr wrap="square" lIns="0" tIns="0" rIns="0" bIns="0" rtlCol="0" anchor="ctr"/>
          <a:lstStyle/>
          <a:p>
            <a:pPr indent="0" marL="0">
              <a:buNone/>
            </a:pPr>
            <a:r>
              <a:rPr lang="en-US" sz="1800" b="1" dirty="0">
                <a:solidFill>
                  <a:srgbClr val="0B7A44"/>
                </a:solidFill>
                <a:latin typeface="Courier New" pitchFamily="34" charset="0"/>
                <a:ea typeface="Courier New" pitchFamily="34" charset="-122"/>
                <a:cs typeface="Courier New" pitchFamily="34" charset="-120"/>
              </a:rPr>
              <a:t>3</a:t>
            </a:r>
            <a:endParaRPr lang="en-US" sz="1800" dirty="0"/>
          </a:p>
        </p:txBody>
      </p:sp>
      <p:sp>
        <p:nvSpPr>
          <p:cNvPr id="16" name="Text 14"/>
          <p:cNvSpPr txBox="1"/>
          <p:nvPr/>
        </p:nvSpPr>
        <p:spPr>
          <a:xfrm>
            <a:off x="8275320" y="2606040"/>
            <a:ext cx="2971800" cy="365760"/>
          </a:xfrm>
          <a:prstGeom prst="rect">
            <a:avLst/>
          </a:prstGeom>
          <a:noFill/>
          <a:ln/>
        </p:spPr>
        <p:txBody>
          <a:bodyPr wrap="square" lIns="0" tIns="0" rIns="0" bIns="0" rtlCol="0" anchor="ctr"/>
          <a:lstStyle/>
          <a:p>
            <a:pPr indent="0" marL="0">
              <a:buNone/>
            </a:pPr>
            <a:r>
              <a:rPr lang="en-US" sz="1700" b="1" dirty="0">
                <a:solidFill>
                  <a:srgbClr val="10131A"/>
                </a:solidFill>
                <a:latin typeface="Calibri" pitchFamily="34" charset="0"/>
                <a:ea typeface="Calibri" pitchFamily="34" charset="-122"/>
                <a:cs typeface="Calibri" pitchFamily="34" charset="-120"/>
              </a:rPr>
              <a:t>Revert the bug</a:t>
            </a:r>
            <a:endParaRPr lang="en-US" sz="1700" dirty="0"/>
          </a:p>
        </p:txBody>
      </p:sp>
      <p:sp>
        <p:nvSpPr>
          <p:cNvPr id="17" name="Text 15"/>
          <p:cNvSpPr txBox="1"/>
          <p:nvPr/>
        </p:nvSpPr>
        <p:spPr>
          <a:xfrm>
            <a:off x="8275320" y="3017520"/>
            <a:ext cx="2971800" cy="320040"/>
          </a:xfrm>
          <a:prstGeom prst="rect">
            <a:avLst/>
          </a:prstGeom>
          <a:noFill/>
          <a:ln/>
        </p:spPr>
        <p:txBody>
          <a:bodyPr wrap="square" lIns="0" tIns="0" rIns="0" bIns="0" rtlCol="0" anchor="ctr"/>
          <a:lstStyle/>
          <a:p>
            <a:pPr indent="0" marL="0">
              <a:buNone/>
            </a:pPr>
            <a:r>
              <a:rPr lang="en-US" sz="1300" dirty="0">
                <a:solidFill>
                  <a:srgbClr val="55607A"/>
                </a:solidFill>
                <a:latin typeface="Courier New" pitchFamily="34" charset="0"/>
                <a:ea typeface="Courier New" pitchFamily="34" charset="-122"/>
                <a:cs typeface="Courier New" pitchFamily="34" charset="-120"/>
              </a:rPr>
              <a:t>hash A again</a:t>
            </a:r>
            <a:endParaRPr lang="en-US" sz="1300" dirty="0"/>
          </a:p>
        </p:txBody>
      </p:sp>
      <p:sp>
        <p:nvSpPr>
          <p:cNvPr id="18" name="Text 16"/>
          <p:cNvSpPr txBox="1"/>
          <p:nvPr/>
        </p:nvSpPr>
        <p:spPr>
          <a:xfrm>
            <a:off x="8275320" y="3401568"/>
            <a:ext cx="2971800" cy="548640"/>
          </a:xfrm>
          <a:prstGeom prst="rect">
            <a:avLst/>
          </a:prstGeom>
          <a:noFill/>
          <a:ln/>
        </p:spPr>
        <p:txBody>
          <a:bodyPr wrap="square" lIns="0" tIns="0" rIns="0" bIns="0" rtlCol="0" anchor="ctr"/>
          <a:lstStyle/>
          <a:p>
            <a:pPr indent="0" marL="0">
              <a:buNone/>
            </a:pPr>
            <a:r>
              <a:rPr lang="en-US" sz="1300" b="1" dirty="0">
                <a:solidFill>
                  <a:srgbClr val="0B7A44"/>
                </a:solidFill>
                <a:latin typeface="Calibri" pitchFamily="34" charset="0"/>
                <a:ea typeface="Calibri" pitchFamily="34" charset="-122"/>
                <a:cs typeface="Calibri" pitchFamily="34" charset="-120"/>
              </a:rPr>
              <a:t>all 10 replay — 226ms</a:t>
            </a:r>
            <a:endParaRPr lang="en-US" sz="1300" dirty="0"/>
          </a:p>
        </p:txBody>
      </p:sp>
      <p:sp>
        <p:nvSpPr>
          <p:cNvPr id="19" name="Text 17"/>
          <p:cNvSpPr txBox="1"/>
          <p:nvPr/>
        </p:nvSpPr>
        <p:spPr>
          <a:xfrm>
            <a:off x="640080" y="4434840"/>
            <a:ext cx="10881360" cy="548640"/>
          </a:xfrm>
          <a:prstGeom prst="rect">
            <a:avLst/>
          </a:prstGeom>
          <a:noFill/>
          <a:ln/>
        </p:spPr>
        <p:txBody>
          <a:bodyPr wrap="square" lIns="0" tIns="0" rIns="0" bIns="0" rtlCol="0" anchor="ctr"/>
          <a:lstStyle/>
          <a:p>
            <a:pPr indent="0" marL="0">
              <a:buNone/>
            </a:pPr>
            <a:r>
              <a:rPr lang="en-US" sz="1500" dirty="0">
                <a:solidFill>
                  <a:srgbClr val="55607A"/>
                </a:solidFill>
                <a:latin typeface="Calibri" pitchFamily="34" charset="0"/>
                <a:ea typeface="Calibri" pitchFamily="34" charset="-122"/>
                <a:cs typeface="Calibri" pitchFamily="34" charset="-120"/>
              </a:rPr>
              <a:t>Undoing a change gives you your old results back. Nothing re-runs, because Nx already knows the answer for that exact input.</a:t>
            </a:r>
            <a:endParaRPr lang="en-US" sz="1500" dirty="0"/>
          </a:p>
        </p:txBody>
      </p:sp>
      <p:sp>
        <p:nvSpPr>
          <p:cNvPr id="20" name="Shape 18"/>
          <p:cNvSpPr/>
          <p:nvPr/>
        </p:nvSpPr>
        <p:spPr>
          <a:xfrm>
            <a:off x="640080" y="5074920"/>
            <a:ext cx="10881360" cy="914400"/>
          </a:xfrm>
          <a:prstGeom prst="roundRect">
            <a:avLst>
              <a:gd name="adj" fmla="val 7000"/>
            </a:avLst>
          </a:prstGeom>
          <a:solidFill>
            <a:srgbClr val="F0F5FF"/>
          </a:solidFill>
          <a:ln w="12700">
            <a:solidFill>
              <a:srgbClr val="9CC0F5"/>
            </a:solidFill>
            <a:prstDash val="solid"/>
          </a:ln>
        </p:spPr>
      </p:sp>
      <p:sp>
        <p:nvSpPr>
          <p:cNvPr id="21" name="Text 19"/>
          <p:cNvSpPr txBox="1"/>
          <p:nvPr/>
        </p:nvSpPr>
        <p:spPr>
          <a:xfrm>
            <a:off x="914400" y="5257800"/>
            <a:ext cx="10332720" cy="594360"/>
          </a:xfrm>
          <a:prstGeom prst="rect">
            <a:avLst/>
          </a:prstGeom>
          <a:noFill/>
          <a:ln/>
        </p:spPr>
        <p:txBody>
          <a:bodyPr wrap="square" lIns="0" tIns="0" rIns="0" bIns="0" rtlCol="0" anchor="ctr"/>
          <a:lstStyle/>
          <a:p>
            <a:pPr indent="0" marL="0">
              <a:buNone/>
            </a:pPr>
            <a:r>
              <a:rPr lang="en-US" sz="1400" dirty="0">
                <a:solidFill>
                  <a:srgbClr val="1D3F73"/>
                </a:solidFill>
                <a:latin typeface="Calibri" pitchFamily="34" charset="0"/>
                <a:ea typeface="Calibri" pitchFamily="34" charset="-122"/>
                <a:cs typeface="Calibri" pitchFamily="34" charset="-120"/>
              </a:rPr>
              <a:t>The flip side: touch a shared component and all ten specs invalidate — correctly. Failure-only retries work between retries of the same commit, not across a code change.</a:t>
            </a:r>
            <a:endParaRPr lang="en-US" sz="1400" dirty="0"/>
          </a:p>
        </p:txBody>
      </p:sp>
    </p:spTree>
  </p:cSld>
  <p:clrMapOvr>
    <a:masterClrMapping/>
  </p:clrMapOvr>
</p:sld>
</file>

<file path=ppt/slides/slide13.xml><?xml version="1.0" encoding="utf-8"?>
<p:sld xmlns:a="http://schemas.openxmlformats.org/drawingml/2006/main" xmlns:r="http://schemas.openxmlformats.org/officeDocument/2006/relationships" xmlns:p="http://schemas.openxmlformats.org/presentationml/2006/main">
  <p:cSld name="Slide 13">
    <p:bg>
      <p:bgPr>
        <a:solidFill>
          <a:srgbClr val="10131A"/>
        </a:solidFill>
      </p:bgPr>
    </p:bg>
    <p:spTree>
      <p:nvGrpSpPr>
        <p:cNvPr id="1" name=""/>
        <p:cNvGrpSpPr/>
        <p:nvPr/>
      </p:nvGrpSpPr>
      <p:grpSpPr>
        <a:xfrm>
          <a:off x="0" y="0"/>
          <a:ext cx="0" cy="0"/>
          <a:chOff x="0" y="0"/>
          <a:chExt cx="0" cy="0"/>
        </a:xfrm>
      </p:grpSpPr>
      <p:sp>
        <p:nvSpPr>
          <p:cNvPr id="2" name="Text 0"/>
          <p:cNvSpPr txBox="1"/>
          <p:nvPr/>
        </p:nvSpPr>
        <p:spPr>
          <a:xfrm>
            <a:off x="640080" y="411480"/>
            <a:ext cx="10881360" cy="274320"/>
          </a:xfrm>
          <a:prstGeom prst="rect">
            <a:avLst/>
          </a:prstGeom>
          <a:noFill/>
          <a:ln/>
        </p:spPr>
        <p:txBody>
          <a:bodyPr wrap="square" lIns="0" tIns="0" rIns="0" bIns="0" rtlCol="0" anchor="ctr"/>
          <a:lstStyle/>
          <a:p>
            <a:pPr indent="0" marL="0">
              <a:buNone/>
            </a:pPr>
            <a:r>
              <a:rPr lang="en-US" sz="1200" b="1" spc="250" kern="0" dirty="0">
                <a:solidFill>
                  <a:srgbClr val="4ADE80"/>
                </a:solidFill>
                <a:latin typeface="Calibri" pitchFamily="34" charset="0"/>
                <a:ea typeface="Calibri" pitchFamily="34" charset="-122"/>
                <a:cs typeface="Calibri" pitchFamily="34" charset="-120"/>
              </a:rPr>
              <a:t>SECTION 06 · DISTRIBUTION</a:t>
            </a:r>
            <a:endParaRPr lang="en-US" sz="1200" dirty="0"/>
          </a:p>
        </p:txBody>
      </p:sp>
      <p:sp>
        <p:nvSpPr>
          <p:cNvPr id="3" name="Text 1"/>
          <p:cNvSpPr txBox="1"/>
          <p:nvPr/>
        </p:nvSpPr>
        <p:spPr>
          <a:xfrm>
            <a:off x="640080" y="749808"/>
            <a:ext cx="10881360" cy="731520"/>
          </a:xfrm>
          <a:prstGeom prst="rect">
            <a:avLst/>
          </a:prstGeom>
          <a:noFill/>
          <a:ln/>
        </p:spPr>
        <p:txBody>
          <a:bodyPr wrap="square" lIns="0" tIns="0" rIns="0" bIns="0" rtlCol="0" anchor="ctr"/>
          <a:lstStyle/>
          <a:p>
            <a:pPr indent="0" marL="0">
              <a:buNone/>
            </a:pPr>
            <a:r>
              <a:rPr lang="en-US" sz="3800" b="1" dirty="0">
                <a:solidFill>
                  <a:srgbClr val="FFFFFF"/>
                </a:solidFill>
                <a:latin typeface="Cambria" pitchFamily="34" charset="0"/>
                <a:ea typeface="Cambria" pitchFamily="34" charset="-122"/>
                <a:cs typeface="Cambria" pitchFamily="34" charset="-120"/>
              </a:rPr>
              <a:t>A matrix instead of a subscription</a:t>
            </a:r>
            <a:endParaRPr lang="en-US" sz="3800" dirty="0"/>
          </a:p>
        </p:txBody>
      </p:sp>
      <p:sp>
        <p:nvSpPr>
          <p:cNvPr id="4" name="Shape 2"/>
          <p:cNvSpPr/>
          <p:nvPr/>
        </p:nvSpPr>
        <p:spPr>
          <a:xfrm>
            <a:off x="640080" y="1783080"/>
            <a:ext cx="7223760" cy="2011680"/>
          </a:xfrm>
          <a:prstGeom prst="roundRect">
            <a:avLst>
              <a:gd name="adj" fmla="val 2727"/>
            </a:avLst>
          </a:prstGeom>
          <a:solidFill>
            <a:srgbClr val="0A0D13"/>
          </a:solidFill>
          <a:ln w="12700">
            <a:solidFill>
              <a:srgbClr val="2C3340"/>
            </a:solidFill>
            <a:prstDash val="solid"/>
          </a:ln>
        </p:spPr>
      </p:sp>
      <p:sp>
        <p:nvSpPr>
          <p:cNvPr id="5" name="Text 3"/>
          <p:cNvSpPr txBox="1"/>
          <p:nvPr/>
        </p:nvSpPr>
        <p:spPr>
          <a:xfrm>
            <a:off x="868680" y="1984248"/>
            <a:ext cx="6766560" cy="1609344"/>
          </a:xfrm>
          <a:prstGeom prst="rect">
            <a:avLst/>
          </a:prstGeom>
          <a:noFill/>
          <a:ln/>
        </p:spPr>
        <p:txBody>
          <a:bodyPr wrap="square" lIns="0" tIns="0" rIns="0" bIns="0" rtlCol="0" anchor="t"/>
          <a:lstStyle/>
          <a:p>
            <a:pPr indent="0" marL="0">
              <a:lnSpc>
                <a:spcPct val="125000"/>
              </a:lnSpc>
              <a:buNone/>
            </a:pPr>
            <a:r>
              <a:rPr lang="en-US" sz="1200" dirty="0">
                <a:solidFill>
                  <a:srgbClr val="7DD3FC"/>
                </a:solidFill>
                <a:latin typeface="Courier New" pitchFamily="34" charset="0"/>
                <a:ea typeface="Courier New" pitchFamily="34" charset="-122"/>
                <a:cs typeface="Courier New" pitchFamily="34" charset="-120"/>
              </a:rPr>
              <a:t>strategy:</a:t>
            </a:r>
            <a:endParaRPr lang="en-US" sz="1200" dirty="0"/>
          </a:p>
          <a:p>
            <a:pPr indent="0" marL="0">
              <a:lnSpc>
                <a:spcPct val="125000"/>
              </a:lnSpc>
              <a:buNone/>
            </a:pPr>
            <a:r>
              <a:rPr lang="en-US" sz="1200" dirty="0">
                <a:solidFill>
                  <a:srgbClr val="FFFFFF"/>
                </a:solidFill>
                <a:latin typeface="Courier New" pitchFamily="34" charset="0"/>
                <a:ea typeface="Courier New" pitchFamily="34" charset="-122"/>
                <a:cs typeface="Courier New" pitchFamily="34" charset="-120"/>
              </a:rPr>
              <a:t>  matrix: { shard: [1, 2, 3] }</a:t>
            </a:r>
            <a:endParaRPr lang="en-US" sz="1200" dirty="0"/>
          </a:p>
          <a:p>
            <a:pPr indent="0" marL="0">
              <a:lnSpc>
                <a:spcPct val="125000"/>
              </a:lnSpc>
              <a:buNone/>
            </a:pPr>
            <a:r>
              <a:rPr lang="en-US" sz="1200" dirty="0">
                <a:solidFill>
                  <a:srgbClr val="7DD3FC"/>
                </a:solidFill>
                <a:latin typeface="Courier New" pitchFamily="34" charset="0"/>
                <a:ea typeface="Courier New" pitchFamily="34" charset="-122"/>
                <a:cs typeface="Courier New" pitchFamily="34" charset="-120"/>
              </a:rPr>
              <a:t>steps:</a:t>
            </a:r>
            <a:endParaRPr lang="en-US" sz="1200" dirty="0"/>
          </a:p>
          <a:p>
            <a:pPr indent="0" marL="0">
              <a:lnSpc>
                <a:spcPct val="125000"/>
              </a:lnSpc>
              <a:buNone/>
            </a:pPr>
            <a:r>
              <a:rPr lang="en-US" sz="1200" dirty="0">
                <a:solidFill>
                  <a:srgbClr val="8A94A6"/>
                </a:solidFill>
                <a:latin typeface="Courier New" pitchFamily="34" charset="0"/>
                <a:ea typeface="Courier New" pitchFamily="34" charset="-122"/>
                <a:cs typeface="Courier New" pitchFamily="34" charset="-120"/>
              </a:rPr>
              <a:t>  - uses: actions/cache@v4          # .nx/cache, per shard</a:t>
            </a:r>
            <a:endParaRPr lang="en-US" sz="1200" dirty="0"/>
          </a:p>
          <a:p>
            <a:pPr indent="0" marL="0">
              <a:lnSpc>
                <a:spcPct val="125000"/>
              </a:lnSpc>
              <a:buNone/>
            </a:pPr>
            <a:r>
              <a:rPr lang="en-US" sz="1200" dirty="0">
                <a:solidFill>
                  <a:srgbClr val="4ADE80"/>
                </a:solidFill>
                <a:latin typeface="Courier New" pitchFamily="34" charset="0"/>
                <a:ea typeface="Courier New" pitchFamily="34" charset="-122"/>
                <a:cs typeface="Courier New" pitchFamily="34" charset="-120"/>
              </a:rPr>
              <a:t>  - run: node tools/shard-e2e.mjs --shard=${{ matrix.shard }}/3</a:t>
            </a:r>
            <a:endParaRPr lang="en-US" sz="1200" dirty="0"/>
          </a:p>
        </p:txBody>
      </p:sp>
      <p:sp>
        <p:nvSpPr>
          <p:cNvPr id="6" name="Text 4"/>
          <p:cNvSpPr txBox="1"/>
          <p:nvPr/>
        </p:nvSpPr>
        <p:spPr>
          <a:xfrm>
            <a:off x="8046720" y="1783080"/>
            <a:ext cx="3474720" cy="2194560"/>
          </a:xfrm>
          <a:prstGeom prst="rect">
            <a:avLst/>
          </a:prstGeom>
          <a:noFill/>
          <a:ln/>
        </p:spPr>
        <p:txBody>
          <a:bodyPr wrap="square" lIns="0" tIns="0" rIns="0" bIns="0" rtlCol="0" anchor="t"/>
          <a:lstStyle/>
          <a:p>
            <a:pPr marL="342900" indent="-342900">
              <a:spcAft>
                <a:spcPts val="1000"/>
              </a:spcAft>
              <a:buSzPct val="100000"/>
              <a:buChar char="•"/>
            </a:pPr>
            <a:r>
              <a:rPr lang="en-US" sz="1300" dirty="0">
                <a:solidFill>
                  <a:srgbClr val="C3CAD6"/>
                </a:solidFill>
                <a:latin typeface="Calibri" pitchFamily="34" charset="0"/>
                <a:ea typeface="Calibri" pitchFamily="34" charset="-122"/>
                <a:cs typeface="Calibri" pitchFamily="34" charset="-120"/>
              </a:rPr>
              <a:t>Discovery is the same; only the slice differs</a:t>
            </a:r>
            <a:endParaRPr lang="en-US" sz="1300" dirty="0"/>
          </a:p>
          <a:p>
            <a:pPr marL="342900" indent="-342900">
              <a:spcAft>
                <a:spcPts val="1000"/>
              </a:spcAft>
              <a:buSzPct val="100000"/>
              <a:buChar char="•"/>
            </a:pPr>
            <a:r>
              <a:rPr lang="en-US" sz="1300" dirty="0">
                <a:solidFill>
                  <a:srgbClr val="C3CAD6"/>
                </a:solidFill>
                <a:latin typeface="Calibri" pitchFamily="34" charset="0"/>
                <a:ea typeface="Calibri" pitchFamily="34" charset="-122"/>
                <a:cs typeface="Calibri" pitchFamily="34" charset="-120"/>
              </a:rPr>
              <a:t>Round-robin, not contiguous blocks — adjacent specs cost alike</a:t>
            </a:r>
            <a:endParaRPr lang="en-US" sz="1300" dirty="0"/>
          </a:p>
          <a:p>
            <a:pPr marL="342900" indent="-342900">
              <a:spcAft>
                <a:spcPts val="1000"/>
              </a:spcAft>
              <a:buSzPct val="100000"/>
              <a:buChar char="•"/>
            </a:pPr>
            <a:r>
              <a:rPr lang="en-US" sz="1300" dirty="0">
                <a:solidFill>
                  <a:srgbClr val="C3CAD6"/>
                </a:solidFill>
                <a:latin typeface="Calibri" pitchFamily="34" charset="0"/>
                <a:ea typeface="Calibri" pitchFamily="34" charset="-122"/>
                <a:cs typeface="Calibri" pitchFamily="34" charset="-120"/>
              </a:rPr>
              <a:t>Restore .nx/cache per shard so a re-run of a red job is cheap</a:t>
            </a:r>
            <a:endParaRPr lang="en-US" sz="1300" dirty="0"/>
          </a:p>
        </p:txBody>
      </p:sp>
      <p:sp>
        <p:nvSpPr>
          <p:cNvPr id="7" name="Text 5"/>
          <p:cNvSpPr txBox="1"/>
          <p:nvPr/>
        </p:nvSpPr>
        <p:spPr>
          <a:xfrm>
            <a:off x="640080" y="3931920"/>
            <a:ext cx="10881360" cy="365760"/>
          </a:xfrm>
          <a:prstGeom prst="rect">
            <a:avLst/>
          </a:prstGeom>
          <a:noFill/>
          <a:ln/>
        </p:spPr>
        <p:txBody>
          <a:bodyPr wrap="square" lIns="0" tIns="0" rIns="0" bIns="0" rtlCol="0" anchor="ctr"/>
          <a:lstStyle/>
          <a:p>
            <a:pPr indent="0" marL="0">
              <a:buNone/>
            </a:pPr>
            <a:r>
              <a:rPr lang="en-US" sz="1600" b="1" dirty="0">
                <a:solidFill>
                  <a:srgbClr val="F5A524"/>
                </a:solidFill>
                <a:latin typeface="Calibri" pitchFamily="34" charset="0"/>
                <a:ea typeface="Calibri" pitchFamily="34" charset="-122"/>
                <a:cs typeface="Calibri" pitchFamily="34" charset="-120"/>
              </a:rPr>
              <a:t>What Nx Cloud still buys you</a:t>
            </a:r>
            <a:endParaRPr lang="en-US" sz="1600" dirty="0"/>
          </a:p>
        </p:txBody>
      </p:sp>
      <p:sp>
        <p:nvSpPr>
          <p:cNvPr id="8" name="Shape 6"/>
          <p:cNvSpPr/>
          <p:nvPr/>
        </p:nvSpPr>
        <p:spPr>
          <a:xfrm>
            <a:off x="640080" y="4389120"/>
            <a:ext cx="3429000" cy="1371600"/>
          </a:xfrm>
          <a:prstGeom prst="roundRect">
            <a:avLst>
              <a:gd name="adj" fmla="val 4667"/>
            </a:avLst>
          </a:prstGeom>
          <a:solidFill>
            <a:srgbClr val="1B2029"/>
          </a:solidFill>
          <a:ln w="12700">
            <a:solidFill>
              <a:srgbClr val="2C3340"/>
            </a:solidFill>
            <a:prstDash val="solid"/>
          </a:ln>
        </p:spPr>
      </p:sp>
      <p:sp>
        <p:nvSpPr>
          <p:cNvPr id="9" name="Text 7"/>
          <p:cNvSpPr txBox="1"/>
          <p:nvPr/>
        </p:nvSpPr>
        <p:spPr>
          <a:xfrm>
            <a:off x="841248" y="4553712"/>
            <a:ext cx="3017520" cy="320040"/>
          </a:xfrm>
          <a:prstGeom prst="rect">
            <a:avLst/>
          </a:prstGeom>
          <a:noFill/>
          <a:ln/>
        </p:spPr>
        <p:txBody>
          <a:bodyPr wrap="square" lIns="0" tIns="0" rIns="0" bIns="0" rtlCol="0" anchor="ctr"/>
          <a:lstStyle/>
          <a:p>
            <a:pPr indent="0" marL="0">
              <a:buNone/>
            </a:pPr>
            <a:r>
              <a:rPr lang="en-US" sz="1400" b="1" dirty="0">
                <a:solidFill>
                  <a:srgbClr val="FFFFFF"/>
                </a:solidFill>
                <a:latin typeface="Calibri" pitchFamily="34" charset="0"/>
                <a:ea typeface="Calibri" pitchFamily="34" charset="-122"/>
                <a:cs typeface="Calibri" pitchFamily="34" charset="-120"/>
              </a:rPr>
              <a:t>Dynamic distribution</a:t>
            </a:r>
            <a:endParaRPr lang="en-US" sz="1400" dirty="0"/>
          </a:p>
        </p:txBody>
      </p:sp>
      <p:sp>
        <p:nvSpPr>
          <p:cNvPr id="10" name="Text 8"/>
          <p:cNvSpPr txBox="1"/>
          <p:nvPr/>
        </p:nvSpPr>
        <p:spPr>
          <a:xfrm>
            <a:off x="841248" y="4901184"/>
            <a:ext cx="3017520" cy="777240"/>
          </a:xfrm>
          <a:prstGeom prst="rect">
            <a:avLst/>
          </a:prstGeom>
          <a:noFill/>
          <a:ln/>
        </p:spPr>
        <p:txBody>
          <a:bodyPr wrap="square" lIns="0" tIns="0" rIns="0" bIns="0" rtlCol="0" anchor="t"/>
          <a:lstStyle/>
          <a:p>
            <a:pPr indent="0" marL="0">
              <a:buNone/>
            </a:pPr>
            <a:r>
              <a:rPr lang="en-US" sz="1200" dirty="0">
                <a:solidFill>
                  <a:srgbClr val="8A94A6"/>
                </a:solidFill>
                <a:latin typeface="Calibri" pitchFamily="34" charset="0"/>
                <a:ea typeface="Calibri" pitchFamily="34" charset="-122"/>
                <a:cs typeface="Calibri" pitchFamily="34" charset="-120"/>
              </a:rPr>
              <a:t>Splits by measured duration, not by count, and rebalances itself.</a:t>
            </a:r>
            <a:endParaRPr lang="en-US" sz="1200" dirty="0"/>
          </a:p>
        </p:txBody>
      </p:sp>
      <p:sp>
        <p:nvSpPr>
          <p:cNvPr id="11" name="Shape 9"/>
          <p:cNvSpPr/>
          <p:nvPr/>
        </p:nvSpPr>
        <p:spPr>
          <a:xfrm>
            <a:off x="4343400" y="4389120"/>
            <a:ext cx="3429000" cy="1371600"/>
          </a:xfrm>
          <a:prstGeom prst="roundRect">
            <a:avLst>
              <a:gd name="adj" fmla="val 4667"/>
            </a:avLst>
          </a:prstGeom>
          <a:solidFill>
            <a:srgbClr val="1B2029"/>
          </a:solidFill>
          <a:ln w="12700">
            <a:solidFill>
              <a:srgbClr val="2C3340"/>
            </a:solidFill>
            <a:prstDash val="solid"/>
          </a:ln>
        </p:spPr>
      </p:sp>
      <p:sp>
        <p:nvSpPr>
          <p:cNvPr id="12" name="Text 10"/>
          <p:cNvSpPr txBox="1"/>
          <p:nvPr/>
        </p:nvSpPr>
        <p:spPr>
          <a:xfrm>
            <a:off x="4544568" y="4553712"/>
            <a:ext cx="3017520" cy="320040"/>
          </a:xfrm>
          <a:prstGeom prst="rect">
            <a:avLst/>
          </a:prstGeom>
          <a:noFill/>
          <a:ln/>
        </p:spPr>
        <p:txBody>
          <a:bodyPr wrap="square" lIns="0" tIns="0" rIns="0" bIns="0" rtlCol="0" anchor="ctr"/>
          <a:lstStyle/>
          <a:p>
            <a:pPr indent="0" marL="0">
              <a:buNone/>
            </a:pPr>
            <a:r>
              <a:rPr lang="en-US" sz="1400" b="1" dirty="0">
                <a:solidFill>
                  <a:srgbClr val="FFFFFF"/>
                </a:solidFill>
                <a:latin typeface="Calibri" pitchFamily="34" charset="0"/>
                <a:ea typeface="Calibri" pitchFamily="34" charset="-122"/>
                <a:cs typeface="Calibri" pitchFamily="34" charset="-120"/>
              </a:rPr>
              <a:t>A shared remote cache</a:t>
            </a:r>
            <a:endParaRPr lang="en-US" sz="1400" dirty="0"/>
          </a:p>
        </p:txBody>
      </p:sp>
      <p:sp>
        <p:nvSpPr>
          <p:cNvPr id="13" name="Text 11"/>
          <p:cNvSpPr txBox="1"/>
          <p:nvPr/>
        </p:nvSpPr>
        <p:spPr>
          <a:xfrm>
            <a:off x="4544568" y="4901184"/>
            <a:ext cx="3017520" cy="777240"/>
          </a:xfrm>
          <a:prstGeom prst="rect">
            <a:avLst/>
          </a:prstGeom>
          <a:noFill/>
          <a:ln/>
        </p:spPr>
        <p:txBody>
          <a:bodyPr wrap="square" lIns="0" tIns="0" rIns="0" bIns="0" rtlCol="0" anchor="t"/>
          <a:lstStyle/>
          <a:p>
            <a:pPr indent="0" marL="0">
              <a:buNone/>
            </a:pPr>
            <a:r>
              <a:rPr lang="en-US" sz="1200" dirty="0">
                <a:solidFill>
                  <a:srgbClr val="8A94A6"/>
                </a:solidFill>
                <a:latin typeface="Calibri" pitchFamily="34" charset="0"/>
                <a:ea typeface="Calibri" pitchFamily="34" charset="-122"/>
                <a:cs typeface="Calibri" pitchFamily="34" charset="-120"/>
              </a:rPr>
              <a:t>Your hit helps your teammates and CI. Here the cache is per-machine.</a:t>
            </a:r>
            <a:endParaRPr lang="en-US" sz="1200" dirty="0"/>
          </a:p>
        </p:txBody>
      </p:sp>
      <p:sp>
        <p:nvSpPr>
          <p:cNvPr id="14" name="Shape 12"/>
          <p:cNvSpPr/>
          <p:nvPr/>
        </p:nvSpPr>
        <p:spPr>
          <a:xfrm>
            <a:off x="8046720" y="4389120"/>
            <a:ext cx="3429000" cy="1371600"/>
          </a:xfrm>
          <a:prstGeom prst="roundRect">
            <a:avLst>
              <a:gd name="adj" fmla="val 4667"/>
            </a:avLst>
          </a:prstGeom>
          <a:solidFill>
            <a:srgbClr val="1B2029"/>
          </a:solidFill>
          <a:ln w="12700">
            <a:solidFill>
              <a:srgbClr val="2C3340"/>
            </a:solidFill>
            <a:prstDash val="solid"/>
          </a:ln>
        </p:spPr>
      </p:sp>
      <p:sp>
        <p:nvSpPr>
          <p:cNvPr id="15" name="Text 13"/>
          <p:cNvSpPr txBox="1"/>
          <p:nvPr/>
        </p:nvSpPr>
        <p:spPr>
          <a:xfrm>
            <a:off x="8247888" y="4553712"/>
            <a:ext cx="3017520" cy="320040"/>
          </a:xfrm>
          <a:prstGeom prst="rect">
            <a:avLst/>
          </a:prstGeom>
          <a:noFill/>
          <a:ln/>
        </p:spPr>
        <p:txBody>
          <a:bodyPr wrap="square" lIns="0" tIns="0" rIns="0" bIns="0" rtlCol="0" anchor="ctr"/>
          <a:lstStyle/>
          <a:p>
            <a:pPr indent="0" marL="0">
              <a:buNone/>
            </a:pPr>
            <a:r>
              <a:rPr lang="en-US" sz="1400" b="1" dirty="0">
                <a:solidFill>
                  <a:srgbClr val="FFFFFF"/>
                </a:solidFill>
                <a:latin typeface="Calibri" pitchFamily="34" charset="0"/>
                <a:ea typeface="Calibri" pitchFamily="34" charset="-122"/>
                <a:cs typeface="Calibri" pitchFamily="34" charset="-120"/>
              </a:rPr>
              <a:t>Flaky detection</a:t>
            </a:r>
            <a:endParaRPr lang="en-US" sz="1400" dirty="0"/>
          </a:p>
        </p:txBody>
      </p:sp>
      <p:sp>
        <p:nvSpPr>
          <p:cNvPr id="16" name="Text 14"/>
          <p:cNvSpPr txBox="1"/>
          <p:nvPr/>
        </p:nvSpPr>
        <p:spPr>
          <a:xfrm>
            <a:off x="8247888" y="4901184"/>
            <a:ext cx="3017520" cy="777240"/>
          </a:xfrm>
          <a:prstGeom prst="rect">
            <a:avLst/>
          </a:prstGeom>
          <a:noFill/>
          <a:ln/>
        </p:spPr>
        <p:txBody>
          <a:bodyPr wrap="square" lIns="0" tIns="0" rIns="0" bIns="0" rtlCol="0" anchor="t"/>
          <a:lstStyle/>
          <a:p>
            <a:pPr indent="0" marL="0">
              <a:buNone/>
            </a:pPr>
            <a:r>
              <a:rPr lang="en-US" sz="1200" dirty="0">
                <a:solidFill>
                  <a:srgbClr val="8A94A6"/>
                </a:solidFill>
                <a:latin typeface="Calibri" pitchFamily="34" charset="0"/>
                <a:ea typeface="Calibri" pitchFamily="34" charset="-122"/>
                <a:cs typeface="Calibri" pitchFamily="34" charset="-120"/>
              </a:rPr>
              <a:t>Across the org, with automatic re-runs.</a:t>
            </a:r>
            <a:endParaRPr lang="en-US" sz="1200" dirty="0"/>
          </a:p>
        </p:txBody>
      </p:sp>
    </p:spTree>
  </p:cSld>
  <p:clrMapOvr>
    <a:masterClrMapping/>
  </p:clrMapOvr>
</p:sld>
</file>

<file path=ppt/slides/slide14.xml><?xml version="1.0" encoding="utf-8"?>
<p:sld xmlns:a="http://schemas.openxmlformats.org/drawingml/2006/main" xmlns:r="http://schemas.openxmlformats.org/officeDocument/2006/relationships" xmlns:p="http://schemas.openxmlformats.org/presentationml/2006/main">
  <p:cSld name="Slide 14">
    <p:bg>
      <p:bgPr>
        <a:solidFill>
          <a:srgbClr val="F7F8FA"/>
        </a:solidFill>
      </p:bgPr>
    </p:bg>
    <p:spTree>
      <p:nvGrpSpPr>
        <p:cNvPr id="1" name=""/>
        <p:cNvGrpSpPr/>
        <p:nvPr/>
      </p:nvGrpSpPr>
      <p:grpSpPr>
        <a:xfrm>
          <a:off x="0" y="0"/>
          <a:ext cx="0" cy="0"/>
          <a:chOff x="0" y="0"/>
          <a:chExt cx="0" cy="0"/>
        </a:xfrm>
      </p:grpSpPr>
      <p:sp>
        <p:nvSpPr>
          <p:cNvPr id="2" name="Text 0"/>
          <p:cNvSpPr txBox="1"/>
          <p:nvPr/>
        </p:nvSpPr>
        <p:spPr>
          <a:xfrm>
            <a:off x="640080" y="411480"/>
            <a:ext cx="10881360" cy="274320"/>
          </a:xfrm>
          <a:prstGeom prst="rect">
            <a:avLst/>
          </a:prstGeom>
          <a:noFill/>
          <a:ln/>
        </p:spPr>
        <p:txBody>
          <a:bodyPr wrap="square" lIns="0" tIns="0" rIns="0" bIns="0" rtlCol="0" anchor="ctr"/>
          <a:lstStyle/>
          <a:p>
            <a:pPr indent="0" marL="0">
              <a:buNone/>
            </a:pPr>
            <a:r>
              <a:rPr lang="en-US" sz="1200" b="1" spc="250" kern="0" dirty="0">
                <a:solidFill>
                  <a:srgbClr val="B45309"/>
                </a:solidFill>
                <a:latin typeface="Calibri" pitchFamily="34" charset="0"/>
                <a:ea typeface="Calibri" pitchFamily="34" charset="-122"/>
                <a:cs typeface="Calibri" pitchFamily="34" charset="-120"/>
              </a:rPr>
              <a:t>BEFORE YOU TRY THIS AT WORK</a:t>
            </a:r>
            <a:endParaRPr lang="en-US" sz="1200" dirty="0"/>
          </a:p>
        </p:txBody>
      </p:sp>
      <p:sp>
        <p:nvSpPr>
          <p:cNvPr id="3" name="Text 1"/>
          <p:cNvSpPr txBox="1"/>
          <p:nvPr/>
        </p:nvSpPr>
        <p:spPr>
          <a:xfrm>
            <a:off x="640080" y="749808"/>
            <a:ext cx="10881360" cy="731520"/>
          </a:xfrm>
          <a:prstGeom prst="rect">
            <a:avLst/>
          </a:prstGeom>
          <a:noFill/>
          <a:ln/>
        </p:spPr>
        <p:txBody>
          <a:bodyPr wrap="square" lIns="0" tIns="0" rIns="0" bIns="0" rtlCol="0" anchor="ctr"/>
          <a:lstStyle/>
          <a:p>
            <a:pPr indent="0" marL="0">
              <a:buNone/>
            </a:pPr>
            <a:r>
              <a:rPr lang="en-US" sz="3800" b="1" dirty="0">
                <a:solidFill>
                  <a:srgbClr val="10131A"/>
                </a:solidFill>
                <a:latin typeface="Cambria" pitchFamily="34" charset="0"/>
                <a:ea typeface="Cambria" pitchFamily="34" charset="-122"/>
                <a:cs typeface="Cambria" pitchFamily="34" charset="-120"/>
              </a:rPr>
              <a:t>Six things that will bite you</a:t>
            </a:r>
            <a:endParaRPr lang="en-US" sz="3800" dirty="0"/>
          </a:p>
        </p:txBody>
      </p:sp>
      <p:sp>
        <p:nvSpPr>
          <p:cNvPr id="4" name="Shape 2"/>
          <p:cNvSpPr/>
          <p:nvPr/>
        </p:nvSpPr>
        <p:spPr>
          <a:xfrm>
            <a:off x="640080" y="1929384"/>
            <a:ext cx="365760" cy="365760"/>
          </a:xfrm>
          <a:prstGeom prst="ellipse">
            <a:avLst/>
          </a:prstGeom>
          <a:solidFill>
            <a:srgbClr val="B45309"/>
          </a:solidFill>
          <a:ln/>
        </p:spPr>
      </p:sp>
      <p:sp>
        <p:nvSpPr>
          <p:cNvPr id="5" name="Text 3"/>
          <p:cNvSpPr txBox="1"/>
          <p:nvPr/>
        </p:nvSpPr>
        <p:spPr>
          <a:xfrm>
            <a:off x="640080" y="1929384"/>
            <a:ext cx="365760" cy="365760"/>
          </a:xfrm>
          <a:prstGeom prst="rect">
            <a:avLst/>
          </a:prstGeom>
          <a:noFill/>
          <a:ln/>
        </p:spPr>
        <p:txBody>
          <a:bodyPr wrap="square" lIns="0" tIns="0" rIns="0" bIns="0" rtlCol="0" anchor="ctr"/>
          <a:lstStyle/>
          <a:p>
            <a:pPr algn="ctr" indent="0" marL="0">
              <a:buNone/>
            </a:pPr>
            <a:r>
              <a:rPr lang="en-US" sz="1400" b="1" dirty="0">
                <a:solidFill>
                  <a:srgbClr val="FFFFFF"/>
                </a:solidFill>
                <a:latin typeface="Calibri" pitchFamily="34" charset="0"/>
                <a:ea typeface="Calibri" pitchFamily="34" charset="-122"/>
                <a:cs typeface="Calibri" pitchFamily="34" charset="-120"/>
              </a:rPr>
              <a:t>1</a:t>
            </a:r>
            <a:endParaRPr lang="en-US" sz="1400" dirty="0"/>
          </a:p>
        </p:txBody>
      </p:sp>
      <p:sp>
        <p:nvSpPr>
          <p:cNvPr id="6" name="Text 4"/>
          <p:cNvSpPr txBox="1"/>
          <p:nvPr/>
        </p:nvSpPr>
        <p:spPr>
          <a:xfrm>
            <a:off x="1188720" y="1874520"/>
            <a:ext cx="4023360" cy="365760"/>
          </a:xfrm>
          <a:prstGeom prst="rect">
            <a:avLst/>
          </a:prstGeom>
          <a:noFill/>
          <a:ln/>
        </p:spPr>
        <p:txBody>
          <a:bodyPr wrap="square" lIns="0" tIns="0" rIns="0" bIns="0" rtlCol="0" anchor="ctr"/>
          <a:lstStyle/>
          <a:p>
            <a:pPr indent="0" marL="0">
              <a:buNone/>
            </a:pPr>
            <a:r>
              <a:rPr lang="en-US" sz="1600" b="1" dirty="0">
                <a:solidFill>
                  <a:srgbClr val="10131A"/>
                </a:solidFill>
                <a:latin typeface="Calibri" pitchFamily="34" charset="0"/>
                <a:ea typeface="Calibri" pitchFamily="34" charset="-122"/>
                <a:cs typeface="Calibri" pitchFamily="34" charset="-120"/>
              </a:rPr>
              <a:t>Per-task startup tax</a:t>
            </a:r>
            <a:endParaRPr lang="en-US" sz="1600" dirty="0"/>
          </a:p>
        </p:txBody>
      </p:sp>
      <p:sp>
        <p:nvSpPr>
          <p:cNvPr id="7" name="Text 5"/>
          <p:cNvSpPr txBox="1"/>
          <p:nvPr/>
        </p:nvSpPr>
        <p:spPr>
          <a:xfrm>
            <a:off x="5303520" y="1874520"/>
            <a:ext cx="6217920" cy="457200"/>
          </a:xfrm>
          <a:prstGeom prst="rect">
            <a:avLst/>
          </a:prstGeom>
          <a:noFill/>
          <a:ln/>
        </p:spPr>
        <p:txBody>
          <a:bodyPr wrap="square" lIns="0" tIns="0" rIns="0" bIns="0" rtlCol="0" anchor="ctr"/>
          <a:lstStyle/>
          <a:p>
            <a:pPr indent="0" marL="0">
              <a:buNone/>
            </a:pPr>
            <a:r>
              <a:rPr lang="en-US" sz="1400" dirty="0">
                <a:solidFill>
                  <a:srgbClr val="55607A"/>
                </a:solidFill>
                <a:latin typeface="Calibri" pitchFamily="34" charset="0"/>
                <a:ea typeface="Calibri" pitchFamily="34" charset="-122"/>
                <a:cs typeface="Calibri" pitchFamily="34" charset="-120"/>
              </a:rPr>
              <a:t>Each atomized target boots Cypress. Parallelism has to beat it.</a:t>
            </a:r>
            <a:endParaRPr lang="en-US" sz="1400" dirty="0"/>
          </a:p>
        </p:txBody>
      </p:sp>
      <p:sp>
        <p:nvSpPr>
          <p:cNvPr id="8" name="Shape 6"/>
          <p:cNvSpPr/>
          <p:nvPr/>
        </p:nvSpPr>
        <p:spPr>
          <a:xfrm>
            <a:off x="640080" y="2706624"/>
            <a:ext cx="365760" cy="365760"/>
          </a:xfrm>
          <a:prstGeom prst="ellipse">
            <a:avLst/>
          </a:prstGeom>
          <a:solidFill>
            <a:srgbClr val="B45309"/>
          </a:solidFill>
          <a:ln/>
        </p:spPr>
      </p:sp>
      <p:sp>
        <p:nvSpPr>
          <p:cNvPr id="9" name="Text 7"/>
          <p:cNvSpPr txBox="1"/>
          <p:nvPr/>
        </p:nvSpPr>
        <p:spPr>
          <a:xfrm>
            <a:off x="640080" y="2706624"/>
            <a:ext cx="365760" cy="365760"/>
          </a:xfrm>
          <a:prstGeom prst="rect">
            <a:avLst/>
          </a:prstGeom>
          <a:noFill/>
          <a:ln/>
        </p:spPr>
        <p:txBody>
          <a:bodyPr wrap="square" lIns="0" tIns="0" rIns="0" bIns="0" rtlCol="0" anchor="ctr"/>
          <a:lstStyle/>
          <a:p>
            <a:pPr algn="ctr" indent="0" marL="0">
              <a:buNone/>
            </a:pPr>
            <a:r>
              <a:rPr lang="en-US" sz="1400" b="1" dirty="0">
                <a:solidFill>
                  <a:srgbClr val="FFFFFF"/>
                </a:solidFill>
                <a:latin typeface="Calibri" pitchFamily="34" charset="0"/>
                <a:ea typeface="Calibri" pitchFamily="34" charset="-122"/>
                <a:cs typeface="Calibri" pitchFamily="34" charset="-120"/>
              </a:rPr>
              <a:t>2</a:t>
            </a:r>
            <a:endParaRPr lang="en-US" sz="1400" dirty="0"/>
          </a:p>
        </p:txBody>
      </p:sp>
      <p:sp>
        <p:nvSpPr>
          <p:cNvPr id="10" name="Text 8"/>
          <p:cNvSpPr txBox="1"/>
          <p:nvPr/>
        </p:nvSpPr>
        <p:spPr>
          <a:xfrm>
            <a:off x="1188720" y="2651760"/>
            <a:ext cx="4023360" cy="365760"/>
          </a:xfrm>
          <a:prstGeom prst="rect">
            <a:avLst/>
          </a:prstGeom>
          <a:noFill/>
          <a:ln/>
        </p:spPr>
        <p:txBody>
          <a:bodyPr wrap="square" lIns="0" tIns="0" rIns="0" bIns="0" rtlCol="0" anchor="ctr"/>
          <a:lstStyle/>
          <a:p>
            <a:pPr indent="0" marL="0">
              <a:buNone/>
            </a:pPr>
            <a:r>
              <a:rPr lang="en-US" sz="1600" b="1" dirty="0">
                <a:solidFill>
                  <a:srgbClr val="10131A"/>
                </a:solidFill>
                <a:latin typeface="Calibri" pitchFamily="34" charset="0"/>
                <a:ea typeface="Calibri" pitchFamily="34" charset="-122"/>
                <a:cs typeface="Calibri" pitchFamily="34" charset="-120"/>
              </a:rPr>
              <a:t>e2e-ci is gated on Nx 23</a:t>
            </a:r>
            <a:endParaRPr lang="en-US" sz="1600" dirty="0"/>
          </a:p>
        </p:txBody>
      </p:sp>
      <p:sp>
        <p:nvSpPr>
          <p:cNvPr id="11" name="Text 9"/>
          <p:cNvSpPr txBox="1"/>
          <p:nvPr/>
        </p:nvSpPr>
        <p:spPr>
          <a:xfrm>
            <a:off x="5303520" y="2651760"/>
            <a:ext cx="6217920" cy="457200"/>
          </a:xfrm>
          <a:prstGeom prst="rect">
            <a:avLst/>
          </a:prstGeom>
          <a:noFill/>
          <a:ln/>
        </p:spPr>
        <p:txBody>
          <a:bodyPr wrap="square" lIns="0" tIns="0" rIns="0" bIns="0" rtlCol="0" anchor="ctr"/>
          <a:lstStyle/>
          <a:p>
            <a:pPr indent="0" marL="0">
              <a:buNone/>
            </a:pPr>
            <a:r>
              <a:rPr lang="en-US" sz="1400" dirty="0">
                <a:solidFill>
                  <a:srgbClr val="55607A"/>
                </a:solidFill>
                <a:latin typeface="Calibri" pitchFamily="34" charset="0"/>
                <a:ea typeface="Calibri" pitchFamily="34" charset="-122"/>
                <a:cs typeface="Calibri" pitchFamily="34" charset="-120"/>
              </a:rPr>
              <a:t>The wrapper needs Nx Cloud. The leaf targets do not.</a:t>
            </a:r>
            <a:endParaRPr lang="en-US" sz="1400" dirty="0"/>
          </a:p>
        </p:txBody>
      </p:sp>
      <p:sp>
        <p:nvSpPr>
          <p:cNvPr id="12" name="Shape 10"/>
          <p:cNvSpPr/>
          <p:nvPr/>
        </p:nvSpPr>
        <p:spPr>
          <a:xfrm>
            <a:off x="640080" y="3483864"/>
            <a:ext cx="365760" cy="365760"/>
          </a:xfrm>
          <a:prstGeom prst="ellipse">
            <a:avLst/>
          </a:prstGeom>
          <a:solidFill>
            <a:srgbClr val="B45309"/>
          </a:solidFill>
          <a:ln/>
        </p:spPr>
      </p:sp>
      <p:sp>
        <p:nvSpPr>
          <p:cNvPr id="13" name="Text 11"/>
          <p:cNvSpPr txBox="1"/>
          <p:nvPr/>
        </p:nvSpPr>
        <p:spPr>
          <a:xfrm>
            <a:off x="640080" y="3483864"/>
            <a:ext cx="365760" cy="365760"/>
          </a:xfrm>
          <a:prstGeom prst="rect">
            <a:avLst/>
          </a:prstGeom>
          <a:noFill/>
          <a:ln/>
        </p:spPr>
        <p:txBody>
          <a:bodyPr wrap="square" lIns="0" tIns="0" rIns="0" bIns="0" rtlCol="0" anchor="ctr"/>
          <a:lstStyle/>
          <a:p>
            <a:pPr algn="ctr" indent="0" marL="0">
              <a:buNone/>
            </a:pPr>
            <a:r>
              <a:rPr lang="en-US" sz="1400" b="1" dirty="0">
                <a:solidFill>
                  <a:srgbClr val="FFFFFF"/>
                </a:solidFill>
                <a:latin typeface="Calibri" pitchFamily="34" charset="0"/>
                <a:ea typeface="Calibri" pitchFamily="34" charset="-122"/>
                <a:cs typeface="Calibri" pitchFamily="34" charset="-120"/>
              </a:rPr>
              <a:t>3</a:t>
            </a:r>
            <a:endParaRPr lang="en-US" sz="1400" dirty="0"/>
          </a:p>
        </p:txBody>
      </p:sp>
      <p:sp>
        <p:nvSpPr>
          <p:cNvPr id="14" name="Text 12"/>
          <p:cNvSpPr txBox="1"/>
          <p:nvPr/>
        </p:nvSpPr>
        <p:spPr>
          <a:xfrm>
            <a:off x="1188720" y="3429000"/>
            <a:ext cx="4023360" cy="365760"/>
          </a:xfrm>
          <a:prstGeom prst="rect">
            <a:avLst/>
          </a:prstGeom>
          <a:noFill/>
          <a:ln/>
        </p:spPr>
        <p:txBody>
          <a:bodyPr wrap="square" lIns="0" tIns="0" rIns="0" bIns="0" rtlCol="0" anchor="ctr"/>
          <a:lstStyle/>
          <a:p>
            <a:pPr indent="0" marL="0">
              <a:buNone/>
            </a:pPr>
            <a:r>
              <a:rPr lang="en-US" sz="1600" b="1" dirty="0">
                <a:solidFill>
                  <a:srgbClr val="10131A"/>
                </a:solidFill>
                <a:latin typeface="Calibri" pitchFamily="34" charset="0"/>
                <a:ea typeface="Calibri" pitchFamily="34" charset="-122"/>
                <a:cs typeface="Calibri" pitchFamily="34" charset="-120"/>
              </a:rPr>
              <a:t>The cache is not in .nx/cache</a:t>
            </a:r>
            <a:endParaRPr lang="en-US" sz="1600" dirty="0"/>
          </a:p>
        </p:txBody>
      </p:sp>
      <p:sp>
        <p:nvSpPr>
          <p:cNvPr id="15" name="Text 13"/>
          <p:cNvSpPr txBox="1"/>
          <p:nvPr/>
        </p:nvSpPr>
        <p:spPr>
          <a:xfrm>
            <a:off x="5303520" y="3429000"/>
            <a:ext cx="6217920" cy="457200"/>
          </a:xfrm>
          <a:prstGeom prst="rect">
            <a:avLst/>
          </a:prstGeom>
          <a:noFill/>
          <a:ln/>
        </p:spPr>
        <p:txBody>
          <a:bodyPr wrap="square" lIns="0" tIns="0" rIns="0" bIns="0" rtlCol="0" anchor="ctr"/>
          <a:lstStyle/>
          <a:p>
            <a:pPr indent="0" marL="0">
              <a:buNone/>
            </a:pPr>
            <a:r>
              <a:rPr lang="en-US" sz="1400" dirty="0">
                <a:solidFill>
                  <a:srgbClr val="55607A"/>
                </a:solidFill>
                <a:latin typeface="Calibri" pitchFamily="34" charset="0"/>
                <a:ea typeface="Calibri" pitchFamily="34" charset="-122"/>
                <a:cs typeface="Calibri" pitchFamily="34" charset="-120"/>
              </a:rPr>
              <a:t>Nx 23 puts it in ~/.nx/&lt;hash&gt;/cache. Every CI recipe online caches the wrong path.</a:t>
            </a:r>
            <a:endParaRPr lang="en-US" sz="1400" dirty="0"/>
          </a:p>
        </p:txBody>
      </p:sp>
      <p:sp>
        <p:nvSpPr>
          <p:cNvPr id="16" name="Shape 14"/>
          <p:cNvSpPr/>
          <p:nvPr/>
        </p:nvSpPr>
        <p:spPr>
          <a:xfrm>
            <a:off x="640080" y="4261104"/>
            <a:ext cx="365760" cy="365760"/>
          </a:xfrm>
          <a:prstGeom prst="ellipse">
            <a:avLst/>
          </a:prstGeom>
          <a:solidFill>
            <a:srgbClr val="B45309"/>
          </a:solidFill>
          <a:ln/>
        </p:spPr>
      </p:sp>
      <p:sp>
        <p:nvSpPr>
          <p:cNvPr id="17" name="Text 15"/>
          <p:cNvSpPr txBox="1"/>
          <p:nvPr/>
        </p:nvSpPr>
        <p:spPr>
          <a:xfrm>
            <a:off x="640080" y="4261104"/>
            <a:ext cx="365760" cy="365760"/>
          </a:xfrm>
          <a:prstGeom prst="rect">
            <a:avLst/>
          </a:prstGeom>
          <a:noFill/>
          <a:ln/>
        </p:spPr>
        <p:txBody>
          <a:bodyPr wrap="square" lIns="0" tIns="0" rIns="0" bIns="0" rtlCol="0" anchor="ctr"/>
          <a:lstStyle/>
          <a:p>
            <a:pPr algn="ctr" indent="0" marL="0">
              <a:buNone/>
            </a:pPr>
            <a:r>
              <a:rPr lang="en-US" sz="1400" b="1" dirty="0">
                <a:solidFill>
                  <a:srgbClr val="FFFFFF"/>
                </a:solidFill>
                <a:latin typeface="Calibri" pitchFamily="34" charset="0"/>
                <a:ea typeface="Calibri" pitchFamily="34" charset="-122"/>
                <a:cs typeface="Calibri" pitchFamily="34" charset="-120"/>
              </a:rPr>
              <a:t>4</a:t>
            </a:r>
            <a:endParaRPr lang="en-US" sz="1400" dirty="0"/>
          </a:p>
        </p:txBody>
      </p:sp>
      <p:sp>
        <p:nvSpPr>
          <p:cNvPr id="18" name="Text 16"/>
          <p:cNvSpPr txBox="1"/>
          <p:nvPr/>
        </p:nvSpPr>
        <p:spPr>
          <a:xfrm>
            <a:off x="1188720" y="4206240"/>
            <a:ext cx="4023360" cy="365760"/>
          </a:xfrm>
          <a:prstGeom prst="rect">
            <a:avLst/>
          </a:prstGeom>
          <a:noFill/>
          <a:ln/>
        </p:spPr>
        <p:txBody>
          <a:bodyPr wrap="square" lIns="0" tIns="0" rIns="0" bIns="0" rtlCol="0" anchor="ctr"/>
          <a:lstStyle/>
          <a:p>
            <a:pPr indent="0" marL="0">
              <a:buNone/>
            </a:pPr>
            <a:r>
              <a:rPr lang="en-US" sz="1600" b="1" dirty="0">
                <a:solidFill>
                  <a:srgbClr val="10131A"/>
                </a:solidFill>
                <a:latin typeface="Calibri" pitchFamily="34" charset="0"/>
                <a:ea typeface="Calibri" pitchFamily="34" charset="-122"/>
                <a:cs typeface="Calibri" pitchFamily="34" charset="-120"/>
              </a:rPr>
              <a:t>Parallel Cypress fights over :99</a:t>
            </a:r>
            <a:endParaRPr lang="en-US" sz="1600" dirty="0"/>
          </a:p>
        </p:txBody>
      </p:sp>
      <p:sp>
        <p:nvSpPr>
          <p:cNvPr id="19" name="Text 17"/>
          <p:cNvSpPr txBox="1"/>
          <p:nvPr/>
        </p:nvSpPr>
        <p:spPr>
          <a:xfrm>
            <a:off x="5303520" y="4206240"/>
            <a:ext cx="6217920" cy="457200"/>
          </a:xfrm>
          <a:prstGeom prst="rect">
            <a:avLst/>
          </a:prstGeom>
          <a:noFill/>
          <a:ln/>
        </p:spPr>
        <p:txBody>
          <a:bodyPr wrap="square" lIns="0" tIns="0" rIns="0" bIns="0" rtlCol="0" anchor="ctr"/>
          <a:lstStyle/>
          <a:p>
            <a:pPr indent="0" marL="0">
              <a:buNone/>
            </a:pPr>
            <a:r>
              <a:rPr lang="en-US" sz="1400" dirty="0">
                <a:solidFill>
                  <a:srgbClr val="55607A"/>
                </a:solidFill>
                <a:latin typeface="Calibri" pitchFamily="34" charset="0"/>
                <a:ea typeface="Calibri" pitchFamily="34" charset="-122"/>
                <a:cs typeface="Calibri" pitchFamily="34" charset="-120"/>
              </a:rPr>
              <a:t>Each process spawns its own Xvfb. Start one and export DISPLAY.</a:t>
            </a:r>
            <a:endParaRPr lang="en-US" sz="1400" dirty="0"/>
          </a:p>
        </p:txBody>
      </p:sp>
      <p:sp>
        <p:nvSpPr>
          <p:cNvPr id="20" name="Shape 18"/>
          <p:cNvSpPr/>
          <p:nvPr/>
        </p:nvSpPr>
        <p:spPr>
          <a:xfrm>
            <a:off x="640080" y="5038344"/>
            <a:ext cx="365760" cy="365760"/>
          </a:xfrm>
          <a:prstGeom prst="ellipse">
            <a:avLst/>
          </a:prstGeom>
          <a:solidFill>
            <a:srgbClr val="B45309"/>
          </a:solidFill>
          <a:ln/>
        </p:spPr>
      </p:sp>
      <p:sp>
        <p:nvSpPr>
          <p:cNvPr id="21" name="Text 19"/>
          <p:cNvSpPr txBox="1"/>
          <p:nvPr/>
        </p:nvSpPr>
        <p:spPr>
          <a:xfrm>
            <a:off x="640080" y="5038344"/>
            <a:ext cx="365760" cy="365760"/>
          </a:xfrm>
          <a:prstGeom prst="rect">
            <a:avLst/>
          </a:prstGeom>
          <a:noFill/>
          <a:ln/>
        </p:spPr>
        <p:txBody>
          <a:bodyPr wrap="square" lIns="0" tIns="0" rIns="0" bIns="0" rtlCol="0" anchor="ctr"/>
          <a:lstStyle/>
          <a:p>
            <a:pPr algn="ctr" indent="0" marL="0">
              <a:buNone/>
            </a:pPr>
            <a:r>
              <a:rPr lang="en-US" sz="1400" b="1" dirty="0">
                <a:solidFill>
                  <a:srgbClr val="FFFFFF"/>
                </a:solidFill>
                <a:latin typeface="Calibri" pitchFamily="34" charset="0"/>
                <a:ea typeface="Calibri" pitchFamily="34" charset="-122"/>
                <a:cs typeface="Calibri" pitchFamily="34" charset="-120"/>
              </a:rPr>
              <a:t>5</a:t>
            </a:r>
            <a:endParaRPr lang="en-US" sz="1400" dirty="0"/>
          </a:p>
        </p:txBody>
      </p:sp>
      <p:sp>
        <p:nvSpPr>
          <p:cNvPr id="22" name="Text 20"/>
          <p:cNvSpPr txBox="1"/>
          <p:nvPr/>
        </p:nvSpPr>
        <p:spPr>
          <a:xfrm>
            <a:off x="1188720" y="4983480"/>
            <a:ext cx="4023360" cy="365760"/>
          </a:xfrm>
          <a:prstGeom prst="rect">
            <a:avLst/>
          </a:prstGeom>
          <a:noFill/>
          <a:ln/>
        </p:spPr>
        <p:txBody>
          <a:bodyPr wrap="square" lIns="0" tIns="0" rIns="0" bIns="0" rtlCol="0" anchor="ctr"/>
          <a:lstStyle/>
          <a:p>
            <a:pPr indent="0" marL="0">
              <a:buNone/>
            </a:pPr>
            <a:r>
              <a:rPr lang="en-US" sz="1600" b="1" dirty="0">
                <a:solidFill>
                  <a:srgbClr val="10131A"/>
                </a:solidFill>
                <a:latin typeface="Calibri" pitchFamily="34" charset="0"/>
                <a:ea typeface="Calibri" pitchFamily="34" charset="-122"/>
                <a:cs typeface="Calibri" pitchFamily="34" charset="-120"/>
              </a:rPr>
              <a:t>Cache the Cypress binary</a:t>
            </a:r>
            <a:endParaRPr lang="en-US" sz="1600" dirty="0"/>
          </a:p>
        </p:txBody>
      </p:sp>
      <p:sp>
        <p:nvSpPr>
          <p:cNvPr id="23" name="Text 21"/>
          <p:cNvSpPr txBox="1"/>
          <p:nvPr/>
        </p:nvSpPr>
        <p:spPr>
          <a:xfrm>
            <a:off x="5303520" y="4983480"/>
            <a:ext cx="6217920" cy="457200"/>
          </a:xfrm>
          <a:prstGeom prst="rect">
            <a:avLst/>
          </a:prstGeom>
          <a:noFill/>
          <a:ln/>
        </p:spPr>
        <p:txBody>
          <a:bodyPr wrap="square" lIns="0" tIns="0" rIns="0" bIns="0" rtlCol="0" anchor="ctr"/>
          <a:lstStyle/>
          <a:p>
            <a:pPr indent="0" marL="0">
              <a:buNone/>
            </a:pPr>
            <a:r>
              <a:rPr lang="en-US" sz="1400" dirty="0">
                <a:solidFill>
                  <a:srgbClr val="55607A"/>
                </a:solidFill>
                <a:latin typeface="Calibri" pitchFamily="34" charset="0"/>
                <a:ea typeface="Calibri" pitchFamily="34" charset="-122"/>
                <a:cs typeface="Calibri" pitchFamily="34" charset="-120"/>
              </a:rPr>
              <a:t>Otherwise every CI shard re-downloads ~200 MB.</a:t>
            </a:r>
            <a:endParaRPr lang="en-US" sz="1400" dirty="0"/>
          </a:p>
        </p:txBody>
      </p:sp>
      <p:sp>
        <p:nvSpPr>
          <p:cNvPr id="24" name="Shape 22"/>
          <p:cNvSpPr/>
          <p:nvPr/>
        </p:nvSpPr>
        <p:spPr>
          <a:xfrm>
            <a:off x="640080" y="5815584"/>
            <a:ext cx="365760" cy="365760"/>
          </a:xfrm>
          <a:prstGeom prst="ellipse">
            <a:avLst/>
          </a:prstGeom>
          <a:solidFill>
            <a:srgbClr val="B45309"/>
          </a:solidFill>
          <a:ln/>
        </p:spPr>
      </p:sp>
      <p:sp>
        <p:nvSpPr>
          <p:cNvPr id="25" name="Text 23"/>
          <p:cNvSpPr txBox="1"/>
          <p:nvPr/>
        </p:nvSpPr>
        <p:spPr>
          <a:xfrm>
            <a:off x="640080" y="5815584"/>
            <a:ext cx="365760" cy="365760"/>
          </a:xfrm>
          <a:prstGeom prst="rect">
            <a:avLst/>
          </a:prstGeom>
          <a:noFill/>
          <a:ln/>
        </p:spPr>
        <p:txBody>
          <a:bodyPr wrap="square" lIns="0" tIns="0" rIns="0" bIns="0" rtlCol="0" anchor="ctr"/>
          <a:lstStyle/>
          <a:p>
            <a:pPr algn="ctr" indent="0" marL="0">
              <a:buNone/>
            </a:pPr>
            <a:r>
              <a:rPr lang="en-US" sz="1400" b="1" dirty="0">
                <a:solidFill>
                  <a:srgbClr val="FFFFFF"/>
                </a:solidFill>
                <a:latin typeface="Calibri" pitchFamily="34" charset="0"/>
                <a:ea typeface="Calibri" pitchFamily="34" charset="-122"/>
                <a:cs typeface="Calibri" pitchFamily="34" charset="-120"/>
              </a:rPr>
              <a:t>6</a:t>
            </a:r>
            <a:endParaRPr lang="en-US" sz="1400" dirty="0"/>
          </a:p>
        </p:txBody>
      </p:sp>
      <p:sp>
        <p:nvSpPr>
          <p:cNvPr id="26" name="Text 24"/>
          <p:cNvSpPr txBox="1"/>
          <p:nvPr/>
        </p:nvSpPr>
        <p:spPr>
          <a:xfrm>
            <a:off x="1188720" y="5760720"/>
            <a:ext cx="4023360" cy="365760"/>
          </a:xfrm>
          <a:prstGeom prst="rect">
            <a:avLst/>
          </a:prstGeom>
          <a:noFill/>
          <a:ln/>
        </p:spPr>
        <p:txBody>
          <a:bodyPr wrap="square" lIns="0" tIns="0" rIns="0" bIns="0" rtlCol="0" anchor="ctr"/>
          <a:lstStyle/>
          <a:p>
            <a:pPr indent="0" marL="0">
              <a:buNone/>
            </a:pPr>
            <a:r>
              <a:rPr lang="en-US" sz="1600" b="1" dirty="0">
                <a:solidFill>
                  <a:srgbClr val="10131A"/>
                </a:solidFill>
                <a:latin typeface="Calibri" pitchFamily="34" charset="0"/>
                <a:ea typeface="Calibri" pitchFamily="34" charset="-122"/>
                <a:cs typeface="Calibri" pitchFamily="34" charset="-120"/>
              </a:rPr>
              <a:t>App changes invalidate everything</a:t>
            </a:r>
            <a:endParaRPr lang="en-US" sz="1600" dirty="0"/>
          </a:p>
        </p:txBody>
      </p:sp>
      <p:sp>
        <p:nvSpPr>
          <p:cNvPr id="27" name="Text 25"/>
          <p:cNvSpPr txBox="1"/>
          <p:nvPr/>
        </p:nvSpPr>
        <p:spPr>
          <a:xfrm>
            <a:off x="5303520" y="5760720"/>
            <a:ext cx="6217920" cy="457200"/>
          </a:xfrm>
          <a:prstGeom prst="rect">
            <a:avLst/>
          </a:prstGeom>
          <a:noFill/>
          <a:ln/>
        </p:spPr>
        <p:txBody>
          <a:bodyPr wrap="square" lIns="0" tIns="0" rIns="0" bIns="0" rtlCol="0" anchor="ctr"/>
          <a:lstStyle/>
          <a:p>
            <a:pPr indent="0" marL="0">
              <a:buNone/>
            </a:pPr>
            <a:r>
              <a:rPr lang="en-US" sz="1400" dirty="0">
                <a:solidFill>
                  <a:srgbClr val="55607A"/>
                </a:solidFill>
                <a:latin typeface="Calibri" pitchFamily="34" charset="0"/>
                <a:ea typeface="Calibri" pitchFamily="34" charset="-122"/>
                <a:cs typeface="Calibri" pitchFamily="34" charset="-120"/>
              </a:rPr>
              <a:t>Correct, but it limits when failure-only retries help.</a:t>
            </a:r>
            <a:endParaRPr lang="en-US" sz="1400" dirty="0"/>
          </a:p>
        </p:txBody>
      </p:sp>
    </p:spTree>
  </p:cSld>
  <p:clrMapOvr>
    <a:masterClrMapping/>
  </p:clrMapOvr>
</p:sld>
</file>

<file path=ppt/slides/slide15.xml><?xml version="1.0" encoding="utf-8"?>
<p:sld xmlns:a="http://schemas.openxmlformats.org/drawingml/2006/main" xmlns:r="http://schemas.openxmlformats.org/officeDocument/2006/relationships" xmlns:p="http://schemas.openxmlformats.org/presentationml/2006/main">
  <p:cSld name="Slide 15">
    <p:bg>
      <p:bgPr>
        <a:solidFill>
          <a:srgbClr val="10131A"/>
        </a:solidFill>
      </p:bgPr>
    </p:bg>
    <p:spTree>
      <p:nvGrpSpPr>
        <p:cNvPr id="1" name=""/>
        <p:cNvGrpSpPr/>
        <p:nvPr/>
      </p:nvGrpSpPr>
      <p:grpSpPr>
        <a:xfrm>
          <a:off x="0" y="0"/>
          <a:ext cx="0" cy="0"/>
          <a:chOff x="0" y="0"/>
          <a:chExt cx="0" cy="0"/>
        </a:xfrm>
      </p:grpSpPr>
      <p:sp>
        <p:nvSpPr>
          <p:cNvPr id="2" name="Text 0"/>
          <p:cNvSpPr txBox="1"/>
          <p:nvPr/>
        </p:nvSpPr>
        <p:spPr>
          <a:xfrm>
            <a:off x="640080" y="411480"/>
            <a:ext cx="10881360" cy="274320"/>
          </a:xfrm>
          <a:prstGeom prst="rect">
            <a:avLst/>
          </a:prstGeom>
          <a:noFill/>
          <a:ln/>
        </p:spPr>
        <p:txBody>
          <a:bodyPr wrap="square" lIns="0" tIns="0" rIns="0" bIns="0" rtlCol="0" anchor="ctr"/>
          <a:lstStyle/>
          <a:p>
            <a:pPr indent="0" marL="0">
              <a:buNone/>
            </a:pPr>
            <a:r>
              <a:rPr lang="en-US" sz="1200" b="1" spc="250" kern="0" dirty="0">
                <a:solidFill>
                  <a:srgbClr val="4ADE80"/>
                </a:solidFill>
                <a:latin typeface="Calibri" pitchFamily="34" charset="0"/>
                <a:ea typeface="Calibri" pitchFamily="34" charset="-122"/>
                <a:cs typeface="Calibri" pitchFamily="34" charset="-120"/>
              </a:rPr>
              <a:t>TAKEAWAYS</a:t>
            </a:r>
            <a:endParaRPr lang="en-US" sz="1200" dirty="0"/>
          </a:p>
        </p:txBody>
      </p:sp>
      <p:sp>
        <p:nvSpPr>
          <p:cNvPr id="3" name="Text 1"/>
          <p:cNvSpPr txBox="1"/>
          <p:nvPr/>
        </p:nvSpPr>
        <p:spPr>
          <a:xfrm>
            <a:off x="640080" y="749808"/>
            <a:ext cx="10881360" cy="731520"/>
          </a:xfrm>
          <a:prstGeom prst="rect">
            <a:avLst/>
          </a:prstGeom>
          <a:noFill/>
          <a:ln/>
        </p:spPr>
        <p:txBody>
          <a:bodyPr wrap="square" lIns="0" tIns="0" rIns="0" bIns="0" rtlCol="0" anchor="ctr"/>
          <a:lstStyle/>
          <a:p>
            <a:pPr indent="0" marL="0">
              <a:buNone/>
            </a:pPr>
            <a:r>
              <a:rPr lang="en-US" sz="3800" b="1" dirty="0">
                <a:solidFill>
                  <a:srgbClr val="FFFFFF"/>
                </a:solidFill>
                <a:latin typeface="Cambria" pitchFamily="34" charset="0"/>
                <a:ea typeface="Cambria" pitchFamily="34" charset="-122"/>
                <a:cs typeface="Cambria" pitchFamily="34" charset="-120"/>
              </a:rPr>
              <a:t>Four things to take back</a:t>
            </a:r>
            <a:endParaRPr lang="en-US" sz="3800" dirty="0"/>
          </a:p>
        </p:txBody>
      </p:sp>
      <p:sp>
        <p:nvSpPr>
          <p:cNvPr id="4" name="Text 2"/>
          <p:cNvSpPr txBox="1"/>
          <p:nvPr/>
        </p:nvSpPr>
        <p:spPr>
          <a:xfrm>
            <a:off x="640080" y="1828800"/>
            <a:ext cx="777240" cy="411480"/>
          </a:xfrm>
          <a:prstGeom prst="rect">
            <a:avLst/>
          </a:prstGeom>
          <a:noFill/>
          <a:ln/>
        </p:spPr>
        <p:txBody>
          <a:bodyPr wrap="square" lIns="0" tIns="0" rIns="0" bIns="0" rtlCol="0" anchor="ctr"/>
          <a:lstStyle/>
          <a:p>
            <a:pPr indent="0" marL="0">
              <a:buNone/>
            </a:pPr>
            <a:r>
              <a:rPr lang="en-US" sz="2200" b="1" dirty="0">
                <a:solidFill>
                  <a:srgbClr val="4ADE80"/>
                </a:solidFill>
                <a:latin typeface="Courier New" pitchFamily="34" charset="0"/>
                <a:ea typeface="Courier New" pitchFamily="34" charset="-122"/>
                <a:cs typeface="Courier New" pitchFamily="34" charset="-120"/>
              </a:rPr>
              <a:t>01</a:t>
            </a:r>
            <a:endParaRPr lang="en-US" sz="2200" dirty="0"/>
          </a:p>
        </p:txBody>
      </p:sp>
      <p:sp>
        <p:nvSpPr>
          <p:cNvPr id="5" name="Text 3"/>
          <p:cNvSpPr txBox="1"/>
          <p:nvPr/>
        </p:nvSpPr>
        <p:spPr>
          <a:xfrm>
            <a:off x="1508760" y="1828800"/>
            <a:ext cx="10058400" cy="384048"/>
          </a:xfrm>
          <a:prstGeom prst="rect">
            <a:avLst/>
          </a:prstGeom>
          <a:noFill/>
          <a:ln/>
        </p:spPr>
        <p:txBody>
          <a:bodyPr wrap="square" lIns="0" tIns="0" rIns="0" bIns="0" rtlCol="0" anchor="ctr"/>
          <a:lstStyle/>
          <a:p>
            <a:pPr indent="0" marL="0">
              <a:buNone/>
            </a:pPr>
            <a:r>
              <a:rPr lang="en-US" sz="1900" b="1" dirty="0">
                <a:solidFill>
                  <a:srgbClr val="FFFFFF"/>
                </a:solidFill>
                <a:latin typeface="Calibri" pitchFamily="34" charset="0"/>
                <a:ea typeface="Calibri" pitchFamily="34" charset="-122"/>
                <a:cs typeface="Calibri" pitchFamily="34" charset="-120"/>
              </a:rPr>
              <a:t>Splitting is generated, not maintained</a:t>
            </a:r>
            <a:endParaRPr lang="en-US" sz="1900" dirty="0"/>
          </a:p>
        </p:txBody>
      </p:sp>
      <p:sp>
        <p:nvSpPr>
          <p:cNvPr id="6" name="Text 4"/>
          <p:cNvSpPr txBox="1"/>
          <p:nvPr/>
        </p:nvSpPr>
        <p:spPr>
          <a:xfrm>
            <a:off x="1508760" y="2231136"/>
            <a:ext cx="10058400" cy="384048"/>
          </a:xfrm>
          <a:prstGeom prst="rect">
            <a:avLst/>
          </a:prstGeom>
          <a:noFill/>
          <a:ln/>
        </p:spPr>
        <p:txBody>
          <a:bodyPr wrap="square" lIns="0" tIns="0" rIns="0" bIns="0" rtlCol="0" anchor="ctr"/>
          <a:lstStyle/>
          <a:p>
            <a:pPr indent="0" marL="0">
              <a:buNone/>
            </a:pPr>
            <a:r>
              <a:rPr lang="en-US" sz="1400" dirty="0">
                <a:solidFill>
                  <a:srgbClr val="8A94A6"/>
                </a:solidFill>
                <a:latin typeface="Calibri" pitchFamily="34" charset="0"/>
                <a:ea typeface="Calibri" pitchFamily="34" charset="-122"/>
                <a:cs typeface="Calibri" pitchFamily="34" charset="-120"/>
              </a:rPr>
              <a:t>One target per spec file, from one plugin entry in nx.json.</a:t>
            </a:r>
            <a:endParaRPr lang="en-US" sz="1400" dirty="0"/>
          </a:p>
        </p:txBody>
      </p:sp>
      <p:sp>
        <p:nvSpPr>
          <p:cNvPr id="7" name="Text 5"/>
          <p:cNvSpPr txBox="1"/>
          <p:nvPr/>
        </p:nvSpPr>
        <p:spPr>
          <a:xfrm>
            <a:off x="640080" y="2880360"/>
            <a:ext cx="777240" cy="411480"/>
          </a:xfrm>
          <a:prstGeom prst="rect">
            <a:avLst/>
          </a:prstGeom>
          <a:noFill/>
          <a:ln/>
        </p:spPr>
        <p:txBody>
          <a:bodyPr wrap="square" lIns="0" tIns="0" rIns="0" bIns="0" rtlCol="0" anchor="ctr"/>
          <a:lstStyle/>
          <a:p>
            <a:pPr indent="0" marL="0">
              <a:buNone/>
            </a:pPr>
            <a:r>
              <a:rPr lang="en-US" sz="2200" b="1" dirty="0">
                <a:solidFill>
                  <a:srgbClr val="4ADE80"/>
                </a:solidFill>
                <a:latin typeface="Courier New" pitchFamily="34" charset="0"/>
                <a:ea typeface="Courier New" pitchFamily="34" charset="-122"/>
                <a:cs typeface="Courier New" pitchFamily="34" charset="-120"/>
              </a:rPr>
              <a:t>02</a:t>
            </a:r>
            <a:endParaRPr lang="en-US" sz="2200" dirty="0"/>
          </a:p>
        </p:txBody>
      </p:sp>
      <p:sp>
        <p:nvSpPr>
          <p:cNvPr id="8" name="Text 6"/>
          <p:cNvSpPr txBox="1"/>
          <p:nvPr/>
        </p:nvSpPr>
        <p:spPr>
          <a:xfrm>
            <a:off x="1508760" y="2880360"/>
            <a:ext cx="10058400" cy="384048"/>
          </a:xfrm>
          <a:prstGeom prst="rect">
            <a:avLst/>
          </a:prstGeom>
          <a:noFill/>
          <a:ln/>
        </p:spPr>
        <p:txBody>
          <a:bodyPr wrap="square" lIns="0" tIns="0" rIns="0" bIns="0" rtlCol="0" anchor="ctr"/>
          <a:lstStyle/>
          <a:p>
            <a:pPr indent="0" marL="0">
              <a:buNone/>
            </a:pPr>
            <a:r>
              <a:rPr lang="en-US" sz="1900" b="1" dirty="0">
                <a:solidFill>
                  <a:srgbClr val="FFFFFF"/>
                </a:solidFill>
                <a:latin typeface="Calibri" pitchFamily="34" charset="0"/>
                <a:ea typeface="Calibri" pitchFamily="34" charset="-122"/>
                <a:cs typeface="Calibri" pitchFamily="34" charset="-120"/>
              </a:rPr>
              <a:t>Splitting alone is not a speedup</a:t>
            </a:r>
            <a:endParaRPr lang="en-US" sz="1900" dirty="0"/>
          </a:p>
        </p:txBody>
      </p:sp>
      <p:sp>
        <p:nvSpPr>
          <p:cNvPr id="9" name="Text 7"/>
          <p:cNvSpPr txBox="1"/>
          <p:nvPr/>
        </p:nvSpPr>
        <p:spPr>
          <a:xfrm>
            <a:off x="1508760" y="3282696"/>
            <a:ext cx="10058400" cy="384048"/>
          </a:xfrm>
          <a:prstGeom prst="rect">
            <a:avLst/>
          </a:prstGeom>
          <a:noFill/>
          <a:ln/>
        </p:spPr>
        <p:txBody>
          <a:bodyPr wrap="square" lIns="0" tIns="0" rIns="0" bIns="0" rtlCol="0" anchor="ctr"/>
          <a:lstStyle/>
          <a:p>
            <a:pPr indent="0" marL="0">
              <a:buNone/>
            </a:pPr>
            <a:r>
              <a:rPr lang="en-US" sz="1400" dirty="0">
                <a:solidFill>
                  <a:srgbClr val="8A94A6"/>
                </a:solidFill>
                <a:latin typeface="Calibri" pitchFamily="34" charset="0"/>
                <a:ea typeface="Calibri" pitchFamily="34" charset="-122"/>
                <a:cs typeface="Calibri" pitchFamily="34" charset="-120"/>
              </a:rPr>
              <a:t>It is the precondition for one. Concurrency has to beat the startup tax.</a:t>
            </a:r>
            <a:endParaRPr lang="en-US" sz="1400" dirty="0"/>
          </a:p>
        </p:txBody>
      </p:sp>
      <p:sp>
        <p:nvSpPr>
          <p:cNvPr id="10" name="Text 8"/>
          <p:cNvSpPr txBox="1"/>
          <p:nvPr/>
        </p:nvSpPr>
        <p:spPr>
          <a:xfrm>
            <a:off x="640080" y="3931920"/>
            <a:ext cx="777240" cy="411480"/>
          </a:xfrm>
          <a:prstGeom prst="rect">
            <a:avLst/>
          </a:prstGeom>
          <a:noFill/>
          <a:ln/>
        </p:spPr>
        <p:txBody>
          <a:bodyPr wrap="square" lIns="0" tIns="0" rIns="0" bIns="0" rtlCol="0" anchor="ctr"/>
          <a:lstStyle/>
          <a:p>
            <a:pPr indent="0" marL="0">
              <a:buNone/>
            </a:pPr>
            <a:r>
              <a:rPr lang="en-US" sz="2200" b="1" dirty="0">
                <a:solidFill>
                  <a:srgbClr val="4ADE80"/>
                </a:solidFill>
                <a:latin typeface="Courier New" pitchFamily="34" charset="0"/>
                <a:ea typeface="Courier New" pitchFamily="34" charset="-122"/>
                <a:cs typeface="Courier New" pitchFamily="34" charset="-120"/>
              </a:rPr>
              <a:t>03</a:t>
            </a:r>
            <a:endParaRPr lang="en-US" sz="2200" dirty="0"/>
          </a:p>
        </p:txBody>
      </p:sp>
      <p:sp>
        <p:nvSpPr>
          <p:cNvPr id="11" name="Text 9"/>
          <p:cNvSpPr txBox="1"/>
          <p:nvPr/>
        </p:nvSpPr>
        <p:spPr>
          <a:xfrm>
            <a:off x="1508760" y="3931920"/>
            <a:ext cx="10058400" cy="384048"/>
          </a:xfrm>
          <a:prstGeom prst="rect">
            <a:avLst/>
          </a:prstGeom>
          <a:noFill/>
          <a:ln/>
        </p:spPr>
        <p:txBody>
          <a:bodyPr wrap="square" lIns="0" tIns="0" rIns="0" bIns="0" rtlCol="0" anchor="ctr"/>
          <a:lstStyle/>
          <a:p>
            <a:pPr indent="0" marL="0">
              <a:buNone/>
            </a:pPr>
            <a:r>
              <a:rPr lang="en-US" sz="1900" b="1" dirty="0">
                <a:solidFill>
                  <a:srgbClr val="FFFFFF"/>
                </a:solidFill>
                <a:latin typeface="Calibri" pitchFamily="34" charset="0"/>
                <a:ea typeface="Calibri" pitchFamily="34" charset="-122"/>
                <a:cs typeface="Calibri" pitchFamily="34" charset="-120"/>
              </a:rPr>
              <a:t>The cache is the retry story</a:t>
            </a:r>
            <a:endParaRPr lang="en-US" sz="1900" dirty="0"/>
          </a:p>
        </p:txBody>
      </p:sp>
      <p:sp>
        <p:nvSpPr>
          <p:cNvPr id="12" name="Text 10"/>
          <p:cNvSpPr txBox="1"/>
          <p:nvPr/>
        </p:nvSpPr>
        <p:spPr>
          <a:xfrm>
            <a:off x="1508760" y="4334256"/>
            <a:ext cx="10058400" cy="384048"/>
          </a:xfrm>
          <a:prstGeom prst="rect">
            <a:avLst/>
          </a:prstGeom>
          <a:noFill/>
          <a:ln/>
        </p:spPr>
        <p:txBody>
          <a:bodyPr wrap="square" lIns="0" tIns="0" rIns="0" bIns="0" rtlCol="0" anchor="ctr"/>
          <a:lstStyle/>
          <a:p>
            <a:pPr indent="0" marL="0">
              <a:buNone/>
            </a:pPr>
            <a:r>
              <a:rPr lang="en-US" sz="1400" dirty="0">
                <a:solidFill>
                  <a:srgbClr val="8A94A6"/>
                </a:solidFill>
                <a:latin typeface="Calibri" pitchFamily="34" charset="0"/>
                <a:ea typeface="Calibri" pitchFamily="34" charset="-122"/>
                <a:cs typeface="Calibri" pitchFamily="34" charset="-120"/>
              </a:rPr>
              <a:t>Failed tasks are never cached, so a retry runs only the failures.</a:t>
            </a:r>
            <a:endParaRPr lang="en-US" sz="1400" dirty="0"/>
          </a:p>
        </p:txBody>
      </p:sp>
      <p:sp>
        <p:nvSpPr>
          <p:cNvPr id="13" name="Text 11"/>
          <p:cNvSpPr txBox="1"/>
          <p:nvPr/>
        </p:nvSpPr>
        <p:spPr>
          <a:xfrm>
            <a:off x="640080" y="4983480"/>
            <a:ext cx="777240" cy="411480"/>
          </a:xfrm>
          <a:prstGeom prst="rect">
            <a:avLst/>
          </a:prstGeom>
          <a:noFill/>
          <a:ln/>
        </p:spPr>
        <p:txBody>
          <a:bodyPr wrap="square" lIns="0" tIns="0" rIns="0" bIns="0" rtlCol="0" anchor="ctr"/>
          <a:lstStyle/>
          <a:p>
            <a:pPr indent="0" marL="0">
              <a:buNone/>
            </a:pPr>
            <a:r>
              <a:rPr lang="en-US" sz="2200" b="1" dirty="0">
                <a:solidFill>
                  <a:srgbClr val="4ADE80"/>
                </a:solidFill>
                <a:latin typeface="Courier New" pitchFamily="34" charset="0"/>
                <a:ea typeface="Courier New" pitchFamily="34" charset="-122"/>
                <a:cs typeface="Courier New" pitchFamily="34" charset="-120"/>
              </a:rPr>
              <a:t>04</a:t>
            </a:r>
            <a:endParaRPr lang="en-US" sz="2200" dirty="0"/>
          </a:p>
        </p:txBody>
      </p:sp>
      <p:sp>
        <p:nvSpPr>
          <p:cNvPr id="14" name="Text 12"/>
          <p:cNvSpPr txBox="1"/>
          <p:nvPr/>
        </p:nvSpPr>
        <p:spPr>
          <a:xfrm>
            <a:off x="1508760" y="4983480"/>
            <a:ext cx="10058400" cy="384048"/>
          </a:xfrm>
          <a:prstGeom prst="rect">
            <a:avLst/>
          </a:prstGeom>
          <a:noFill/>
          <a:ln/>
        </p:spPr>
        <p:txBody>
          <a:bodyPr wrap="square" lIns="0" tIns="0" rIns="0" bIns="0" rtlCol="0" anchor="ctr"/>
          <a:lstStyle/>
          <a:p>
            <a:pPr indent="0" marL="0">
              <a:buNone/>
            </a:pPr>
            <a:r>
              <a:rPr lang="en-US" sz="1900" b="1" dirty="0">
                <a:solidFill>
                  <a:srgbClr val="FFFFFF"/>
                </a:solidFill>
                <a:latin typeface="Calibri" pitchFamily="34" charset="0"/>
                <a:ea typeface="Calibri" pitchFamily="34" charset="-122"/>
                <a:cs typeface="Calibri" pitchFamily="34" charset="-120"/>
              </a:rPr>
              <a:t>None of this needs Nx Cloud</a:t>
            </a:r>
            <a:endParaRPr lang="en-US" sz="1900" dirty="0"/>
          </a:p>
        </p:txBody>
      </p:sp>
      <p:sp>
        <p:nvSpPr>
          <p:cNvPr id="15" name="Text 13"/>
          <p:cNvSpPr txBox="1"/>
          <p:nvPr/>
        </p:nvSpPr>
        <p:spPr>
          <a:xfrm>
            <a:off x="1508760" y="5385816"/>
            <a:ext cx="10058400" cy="384048"/>
          </a:xfrm>
          <a:prstGeom prst="rect">
            <a:avLst/>
          </a:prstGeom>
          <a:noFill/>
          <a:ln/>
        </p:spPr>
        <p:txBody>
          <a:bodyPr wrap="square" lIns="0" tIns="0" rIns="0" bIns="0" rtlCol="0" anchor="ctr"/>
          <a:lstStyle/>
          <a:p>
            <a:pPr indent="0" marL="0">
              <a:buNone/>
            </a:pPr>
            <a:r>
              <a:rPr lang="en-US" sz="1400" dirty="0">
                <a:solidFill>
                  <a:srgbClr val="8A94A6"/>
                </a:solidFill>
                <a:latin typeface="Calibri" pitchFamily="34" charset="0"/>
                <a:ea typeface="Calibri" pitchFamily="34" charset="-122"/>
                <a:cs typeface="Calibri" pitchFamily="34" charset="-120"/>
              </a:rPr>
              <a:t>The gate is on one convenience target. Discovery plus run-many gets around it.</a:t>
            </a:r>
            <a:endParaRPr lang="en-US" sz="1400" dirty="0"/>
          </a:p>
        </p:txBody>
      </p:sp>
    </p:spTree>
  </p:cSld>
  <p:clrMapOvr>
    <a:masterClrMapping/>
  </p:clrMapOvr>
</p:sld>
</file>

<file path=ppt/slides/slide16.xml><?xml version="1.0" encoding="utf-8"?>
<p:sld xmlns:a="http://schemas.openxmlformats.org/drawingml/2006/main" xmlns:r="http://schemas.openxmlformats.org/officeDocument/2006/relationships" xmlns:p="http://schemas.openxmlformats.org/presentationml/2006/main">
  <p:cSld name="Slide 16">
    <p:bg>
      <p:bgPr>
        <a:solidFill>
          <a:srgbClr val="10131A"/>
        </a:solidFill>
      </p:bgPr>
    </p:bg>
    <p:spTree>
      <p:nvGrpSpPr>
        <p:cNvPr id="1" name=""/>
        <p:cNvGrpSpPr/>
        <p:nvPr/>
      </p:nvGrpSpPr>
      <p:grpSpPr>
        <a:xfrm>
          <a:off x="0" y="0"/>
          <a:ext cx="0" cy="0"/>
          <a:chOff x="0" y="0"/>
          <a:chExt cx="0" cy="0"/>
        </a:xfrm>
      </p:grpSpPr>
      <p:sp>
        <p:nvSpPr>
          <p:cNvPr id="2" name="Text 0"/>
          <p:cNvSpPr txBox="1"/>
          <p:nvPr/>
        </p:nvSpPr>
        <p:spPr>
          <a:xfrm>
            <a:off x="640080" y="2286000"/>
            <a:ext cx="10881360" cy="914400"/>
          </a:xfrm>
          <a:prstGeom prst="rect">
            <a:avLst/>
          </a:prstGeom>
          <a:noFill/>
          <a:ln/>
        </p:spPr>
        <p:txBody>
          <a:bodyPr wrap="square" lIns="0" tIns="0" rIns="0" bIns="0" rtlCol="0" anchor="ctr"/>
          <a:lstStyle/>
          <a:p>
            <a:pPr indent="0" marL="0">
              <a:buNone/>
            </a:pPr>
            <a:r>
              <a:rPr lang="en-US" sz="5600" b="1" dirty="0">
                <a:solidFill>
                  <a:srgbClr val="FFFFFF"/>
                </a:solidFill>
                <a:latin typeface="Cambria" pitchFamily="34" charset="0"/>
                <a:ea typeface="Cambria" pitchFamily="34" charset="-122"/>
                <a:cs typeface="Cambria" pitchFamily="34" charset="-120"/>
              </a:rPr>
              <a:t>Questions</a:t>
            </a:r>
            <a:endParaRPr lang="en-US" sz="5600" dirty="0"/>
          </a:p>
        </p:txBody>
      </p:sp>
      <p:sp>
        <p:nvSpPr>
          <p:cNvPr id="3" name="Text 1"/>
          <p:cNvSpPr txBox="1"/>
          <p:nvPr/>
        </p:nvSpPr>
        <p:spPr>
          <a:xfrm>
            <a:off x="640080" y="3383280"/>
            <a:ext cx="10881360" cy="365760"/>
          </a:xfrm>
          <a:prstGeom prst="rect">
            <a:avLst/>
          </a:prstGeom>
          <a:noFill/>
          <a:ln/>
        </p:spPr>
        <p:txBody>
          <a:bodyPr wrap="square" lIns="0" tIns="0" rIns="0" bIns="0" rtlCol="0" anchor="ctr"/>
          <a:lstStyle/>
          <a:p>
            <a:pPr indent="0" marL="0">
              <a:buNone/>
            </a:pPr>
            <a:r>
              <a:rPr lang="en-US" sz="1700" dirty="0">
                <a:solidFill>
                  <a:srgbClr val="C3CAD6"/>
                </a:solidFill>
                <a:latin typeface="Calibri" pitchFamily="34" charset="0"/>
                <a:ea typeface="Calibri" pitchFamily="34" charset="-122"/>
                <a:cs typeface="Calibri" pitchFamily="34" charset="-120"/>
              </a:rPr>
              <a:t>Clone it and run the demo yourself:</a:t>
            </a:r>
            <a:endParaRPr lang="en-US" sz="1700" dirty="0"/>
          </a:p>
        </p:txBody>
      </p:sp>
      <p:sp>
        <p:nvSpPr>
          <p:cNvPr id="4" name="Shape 2"/>
          <p:cNvSpPr/>
          <p:nvPr/>
        </p:nvSpPr>
        <p:spPr>
          <a:xfrm>
            <a:off x="640080" y="3886200"/>
            <a:ext cx="8229600" cy="1389888"/>
          </a:xfrm>
          <a:prstGeom prst="roundRect">
            <a:avLst>
              <a:gd name="adj" fmla="val 3947"/>
            </a:avLst>
          </a:prstGeom>
          <a:solidFill>
            <a:srgbClr val="0A0D13"/>
          </a:solidFill>
          <a:ln w="12700">
            <a:solidFill>
              <a:srgbClr val="2C3340"/>
            </a:solidFill>
            <a:prstDash val="solid"/>
          </a:ln>
        </p:spPr>
      </p:sp>
      <p:sp>
        <p:nvSpPr>
          <p:cNvPr id="5" name="Text 3"/>
          <p:cNvSpPr txBox="1"/>
          <p:nvPr/>
        </p:nvSpPr>
        <p:spPr>
          <a:xfrm>
            <a:off x="868680" y="4087368"/>
            <a:ext cx="7772400" cy="987552"/>
          </a:xfrm>
          <a:prstGeom prst="rect">
            <a:avLst/>
          </a:prstGeom>
          <a:noFill/>
          <a:ln/>
        </p:spPr>
        <p:txBody>
          <a:bodyPr wrap="square" lIns="0" tIns="0" rIns="0" bIns="0" rtlCol="0" anchor="t"/>
          <a:lstStyle/>
          <a:p>
            <a:pPr indent="0" marL="0">
              <a:lnSpc>
                <a:spcPct val="125000"/>
              </a:lnSpc>
              <a:buNone/>
            </a:pPr>
            <a:r>
              <a:rPr lang="en-US" sz="1500" dirty="0">
                <a:solidFill>
                  <a:srgbClr val="4ADE80"/>
                </a:solidFill>
                <a:latin typeface="Courier New" pitchFamily="34" charset="0"/>
                <a:ea typeface="Courier New" pitchFamily="34" charset="-122"/>
                <a:cs typeface="Courier New" pitchFamily="34" charset="-120"/>
              </a:rPr>
              <a:t>git clone github.com/radzivil/nx-scaling-e2e-tests-with-atomizer</a:t>
            </a:r>
            <a:endParaRPr lang="en-US" sz="1500" dirty="0"/>
          </a:p>
          <a:p>
            <a:pPr indent="0" marL="0">
              <a:lnSpc>
                <a:spcPct val="125000"/>
              </a:lnSpc>
              <a:buNone/>
            </a:pPr>
            <a:r>
              <a:rPr lang="en-US" sz="1500" dirty="0">
                <a:solidFill>
                  <a:srgbClr val="4ADE80"/>
                </a:solidFill>
                <a:latin typeface="Courier New" pitchFamily="34" charset="0"/>
                <a:ea typeface="Courier New" pitchFamily="34" charset="-122"/>
                <a:cs typeface="Courier New" pitchFamily="34" charset="-120"/>
              </a:rPr>
              <a:t>npm ci &amp;&amp; npx cypress install</a:t>
            </a:r>
            <a:endParaRPr lang="en-US" sz="1500" dirty="0"/>
          </a:p>
          <a:p>
            <a:pPr indent="0" marL="0">
              <a:lnSpc>
                <a:spcPct val="125000"/>
              </a:lnSpc>
              <a:buNone/>
            </a:pPr>
            <a:r>
              <a:rPr lang="en-US" sz="1500" b="1" dirty="0">
                <a:solidFill>
                  <a:srgbClr val="FFFFFF"/>
                </a:solidFill>
                <a:latin typeface="Courier New" pitchFamily="34" charset="0"/>
                <a:ea typeface="Courier New" pitchFamily="34" charset="-122"/>
                <a:cs typeface="Courier New" pitchFamily="34" charset="-120"/>
              </a:rPr>
              <a:t>node tools/shard-e2e.mjs --parallel=5</a:t>
            </a:r>
            <a:endParaRPr lang="en-US" sz="1500" dirty="0"/>
          </a:p>
        </p:txBody>
      </p:sp>
      <p:sp>
        <p:nvSpPr>
          <p:cNvPr id="6" name="Text 4"/>
          <p:cNvSpPr txBox="1"/>
          <p:nvPr/>
        </p:nvSpPr>
        <p:spPr>
          <a:xfrm>
            <a:off x="640080" y="5760720"/>
            <a:ext cx="5486400" cy="320040"/>
          </a:xfrm>
          <a:prstGeom prst="rect">
            <a:avLst/>
          </a:prstGeom>
          <a:noFill/>
          <a:ln/>
        </p:spPr>
        <p:txBody>
          <a:bodyPr wrap="square" lIns="0" tIns="0" rIns="0" bIns="0" rtlCol="0" anchor="ctr"/>
          <a:lstStyle/>
          <a:p>
            <a:pPr indent="0" marL="0">
              <a:buNone/>
            </a:pPr>
            <a:r>
              <a:rPr lang="en-US" sz="1500" b="1" dirty="0">
                <a:solidFill>
                  <a:srgbClr val="8A94A6"/>
                </a:solidFill>
                <a:latin typeface="Calibri" pitchFamily="34" charset="0"/>
                <a:ea typeface="Calibri" pitchFamily="34" charset="-122"/>
                <a:cs typeface="Calibri" pitchFamily="34" charset="-120"/>
              </a:rPr>
              <a:t>Vladimir Radzivil</a:t>
            </a:r>
            <a:endParaRPr lang="en-US" sz="1500" dirty="0"/>
          </a:p>
        </p:txBody>
      </p:sp>
    </p:spTree>
  </p:cSld>
  <p:clrMapOvr>
    <a:masterClrMapping/>
  </p:clrMapOvr>
</p:sld>
</file>

<file path=ppt/theme/theme1.xml><?xml version="1.0" encoding="utf-8"?>
<a:theme xmlns:a="http://schemas.openxmlformats.org/drawingml/2006/main" name="Office Theme">
  <a:themeElements>
    <a:clrScheme name="Office">
      <a:dk1>
        <a:sysClr val="windowText" lastClr="000000"/>
      </a:dk1>
      <a:lt1>
        <a:sysClr val="window" lastClr="FFFFFF"/>
      </a:lt1>
      <a:dk2>
        <a:srgbClr val="44546A"/>
      </a:dk2>
      <a:lt2>
        <a:srgbClr val="E7E6E6"/>
      </a:lt2>
      <a:accent1>
        <a:srgbClr val="4472C4"/>
      </a:accent1>
      <a:accent2>
        <a:srgbClr val="ED7D31"/>
      </a:accent2>
      <a:accent3>
        <a:srgbClr val="A5A5A5"/>
      </a:accent3>
      <a:accent4>
        <a:srgbClr val="FFC000"/>
      </a:accent4>
      <a:accent5>
        <a:srgbClr val="5B9BD5"/>
      </a:accent5>
      <a:accent6>
        <a:srgbClr val="70AD47"/>
      </a:accent6>
      <a:hlink>
        <a:srgbClr val="0563C1"/>
      </a:hlink>
      <a:folHlink>
        <a:srgbClr val="954F72"/>
      </a:folHlink>
    </a:clrScheme>
    <a:fontScheme name="Office">
      <a:majorFont>
        <a:latin typeface="Calibri Light" panose="020F0302020204030204"/>
        <a:ea typeface=""/>
        <a:cs typeface=""/>
        <a:font script="Jpan" typeface="游ゴシック Light"/>
        <a:font script="Hang" typeface="맑은 고딕"/>
        <a:font script="Hans" typeface="等线 Light"/>
        <a:font script="Hant" typeface="新細明體"/>
        <a:font script="Arab" typeface="Times New Roman"/>
        <a:font script="Hebr" typeface="Times New Roman"/>
        <a:font script="Thai" typeface="Angsana New"/>
        <a:font script="Ethi" typeface="Nyala"/>
        <a:font script="Beng" typeface="Vrinda"/>
        <a:font script="Gujr" typeface="Shruti"/>
        <a:font script="Khmr" typeface="MoolBoran"/>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Times New Roman"/>
        <a:font script="Uigh" typeface="Microsoft Uighur"/>
        <a:font script="Geor" typeface="Sylfaen"/>
        <a:font script="Armn" typeface="Arial"/>
        <a:font script="Bugi" typeface="Leelawadee UI"/>
        <a:font script="Bopo" typeface="Microsoft JhengHei"/>
        <a:font script="Java" typeface="Javanese Text"/>
        <a:font script="Lisu" typeface="Segoe UI"/>
        <a:font script="Mymr" typeface="Myanmar Text"/>
        <a:font script="Nkoo" typeface="Ebrima"/>
        <a:font script="Olck" typeface="Nirmala UI"/>
        <a:font script="Osma" typeface="Ebrima"/>
        <a:font script="Phag" typeface="Phagspa"/>
        <a:font script="Syrn" typeface="Estrangelo Edessa"/>
        <a:font script="Syrj" typeface="Estrangelo Edessa"/>
        <a:font script="Syre" typeface="Estrangelo Edessa"/>
        <a:font script="Sora" typeface="Nirmala UI"/>
        <a:font script="Tale" typeface="Microsoft Tai Le"/>
        <a:font script="Talu" typeface="Microsoft New Tai Lue"/>
        <a:font script="Tfng" typeface="Ebrima"/>
      </a:majorFont>
      <a:minorFont>
        <a:latin typeface="Calibri" panose="020F0502020204030204"/>
        <a:ea typeface=""/>
        <a:cs typeface=""/>
        <a:font script="Jpan" typeface="游ゴシック"/>
        <a:font script="Hang" typeface="맑은 고딕"/>
        <a:font script="Hans" typeface="等线"/>
        <a:font script="Hant" typeface="新細明體"/>
        <a:font script="Arab" typeface="Arial"/>
        <a:font script="Hebr" typeface="Arial"/>
        <a:font script="Thai" typeface="Cordia New"/>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Arial"/>
        <a:font script="Uigh" typeface="Microsoft Uighur"/>
        <a:font script="Geor" typeface="Sylfaen"/>
        <a:font script="Armn" typeface="Arial"/>
        <a:font script="Bugi" typeface="Leelawadee UI"/>
        <a:font script="Bopo" typeface="Microsoft JhengHei"/>
        <a:font script="Java" typeface="Javanese Text"/>
        <a:font script="Lisu" typeface="Segoe UI"/>
        <a:font script="Mymr" typeface="Myanmar Text"/>
        <a:font script="Nkoo" typeface="Ebrima"/>
        <a:font script="Olck" typeface="Nirmala UI"/>
        <a:font script="Osma" typeface="Ebrima"/>
        <a:font script="Phag" typeface="Phagspa"/>
        <a:font script="Syrn" typeface="Estrangelo Edessa"/>
        <a:font script="Syrj" typeface="Estrangelo Edessa"/>
        <a:font script="Syre" typeface="Estrangelo Edessa"/>
        <a:font script="Sora" typeface="Nirmala UI"/>
        <a:font script="Tale" typeface="Microsoft Tai Le"/>
        <a:font script="Talu" typeface="Microsoft New Tai Lue"/>
        <a:font script="Tfng" typeface="Ebrima"/>
      </a:minorFont>
    </a:fontScheme>
    <a:fmtScheme name="Office">
      <a:fillStyleLst>
        <a:solidFill>
          <a:schemeClr val="phClr"/>
        </a:solidFill>
        <a:gradFill rotWithShape="1">
          <a:gsLst>
            <a:gs pos="0">
              <a:schemeClr val="phClr">
                <a:lumMod val="110000"/>
                <a:satMod val="105000"/>
                <a:tint val="67000"/>
              </a:schemeClr>
            </a:gs>
            <a:gs pos="50000">
              <a:schemeClr val="phClr">
                <a:lumMod val="105000"/>
                <a:satMod val="103000"/>
                <a:tint val="73000"/>
              </a:schemeClr>
            </a:gs>
            <a:gs pos="100000">
              <a:schemeClr val="phClr">
                <a:lumMod val="105000"/>
                <a:satMod val="109000"/>
                <a:tint val="81000"/>
              </a:schemeClr>
            </a:gs>
          </a:gsLst>
          <a:lin ang="5400000" scaled="0"/>
        </a:gradFill>
        <a:gradFill rotWithShape="1">
          <a:gsLst>
            <a:gs pos="0">
              <a:schemeClr val="phClr">
                <a:satMod val="103000"/>
                <a:lumMod val="102000"/>
                <a:tint val="94000"/>
              </a:schemeClr>
            </a:gs>
            <a:gs pos="50000">
              <a:schemeClr val="phClr">
                <a:satMod val="110000"/>
                <a:lumMod val="100000"/>
                <a:shade val="100000"/>
              </a:schemeClr>
            </a:gs>
            <a:gs pos="100000">
              <a:schemeClr val="phClr">
                <a:lumMod val="99000"/>
                <a:satMod val="120000"/>
                <a:shade val="78000"/>
              </a:schemeClr>
            </a:gs>
          </a:gsLst>
          <a:lin ang="5400000" scaled="0"/>
        </a:gradFill>
      </a:fillStyleLst>
      <a:lnStyleLst>
        <a:ln w="6350" cap="flat" cmpd="sng" algn="ctr">
          <a:solidFill>
            <a:schemeClr val="phClr"/>
          </a:solidFill>
          <a:prstDash val="solid"/>
          <a:miter lim="800000"/>
        </a:ln>
        <a:ln w="12700" cap="flat" cmpd="sng" algn="ctr">
          <a:solidFill>
            <a:schemeClr val="phClr"/>
          </a:solidFill>
          <a:prstDash val="solid"/>
          <a:miter lim="800000"/>
        </a:ln>
        <a:ln w="19050" cap="flat" cmpd="sng" algn="ctr">
          <a:solidFill>
            <a:schemeClr val="phClr"/>
          </a:solidFill>
          <a:prstDash val="solid"/>
          <a:miter lim="800000"/>
        </a:ln>
      </a:lnStyleLst>
      <a:effectStyleLst>
        <a:effectStyle>
          <a:effectLst/>
        </a:effectStyle>
        <a:effectStyle>
          <a:effectLst/>
        </a:effectStyle>
        <a:effectStyle>
          <a:effectLst>
            <a:outerShdw blurRad="57150" dist="19050" dir="5400000" algn="ctr" rotWithShape="0">
              <a:srgbClr val="000000">
                <a:alpha val="63000"/>
              </a:srgbClr>
            </a:outerShdw>
          </a:effectLst>
        </a:effectStyle>
      </a:effectStyleLst>
      <a:bgFillStyleLst>
        <a:solidFill>
          <a:schemeClr val="phClr"/>
        </a:solidFill>
        <a:solidFill>
          <a:schemeClr val="phClr">
            <a:tint val="95000"/>
            <a:satMod val="170000"/>
          </a:schemeClr>
        </a:solidFill>
        <a:gradFill rotWithShape="1">
          <a:gsLst>
            <a:gs pos="0">
              <a:schemeClr val="phClr">
                <a:tint val="93000"/>
                <a:satMod val="150000"/>
                <a:shade val="98000"/>
                <a:lumMod val="102000"/>
              </a:schemeClr>
            </a:gs>
            <a:gs pos="50000">
              <a:schemeClr val="phClr">
                <a:tint val="98000"/>
                <a:satMod val="130000"/>
                <a:shade val="90000"/>
                <a:lumMod val="103000"/>
              </a:schemeClr>
            </a:gs>
            <a:gs pos="100000">
              <a:schemeClr val="phClr">
                <a:shade val="63000"/>
                <a:satMod val="120000"/>
              </a:schemeClr>
            </a:gs>
          </a:gsLst>
          <a:lin ang="5400000" scaled="0"/>
        </a:gradFill>
      </a:bgFillStyleLst>
    </a:fmtScheme>
  </a:themeElements>
  <a:objectDefaults/>
  <a:extraClrSchemeLst/>
  <a:extLst>
    <a:ext uri="{05A4C25C-085E-4340-85A3-A5531E510DB2}">
      <thm15:themeFamily xmlns:thm15="http://schemas.microsoft.com/office/thememl/2012/main" name="Office Theme" id="{62F939B6-93AF-4DB8-9C6B-D6C7DFDC589F}" vid="{4A3C46E8-61CC-4603-A589-7422A47A8E4A}"/>
    </a:ext>
  </a:extLst>
</a:theme>
</file>

<file path=docProps/app.xml><?xml version="1.0" encoding="utf-8"?>
<Properties xmlns="http://schemas.openxmlformats.org/officeDocument/2006/extended-properties" xmlns:vt="http://schemas.openxmlformats.org/officeDocument/2006/docPropsVTypes">
  <TotalTime>0</TotalTime>
  <Words>0</Words>
  <Application>Microsoft Office PowerPoint</Application>
  <PresentationFormat>On-screen Show (16:9)</PresentationFormat>
  <Paragraphs>0</Paragraphs>
  <Slides>16</Slides>
  <Notes>16</Notes>
  <HiddenSlides>0</HiddenSlides>
  <MMClips>0</MMClips>
  <ScaleCrop>false</ScaleCrop>
  <HeadingPairs>
    <vt:vector size="6" baseType="variant">
      <vt:variant>
        <vt:lpstr>Fonts Used</vt:lpstr>
      </vt:variant>
      <vt:variant>
        <vt:i4>2</vt:i4>
      </vt:variant>
      <vt:variant>
        <vt:lpstr>Theme</vt:lpstr>
      </vt:variant>
      <vt:variant>
        <vt:i4>1</vt:i4>
      </vt:variant>
      <vt:variant>
        <vt:lpstr>Slide Titles</vt:lpstr>
      </vt:variant>
      <vt:variant>
        <vt:i4>16</vt:i4>
      </vt:variant>
    </vt:vector>
  </HeadingPairs>
  <TitlesOfParts>
    <vt:vector size="19" baseType="lpstr">
      <vt:lpstr>Arial</vt:lpstr>
      <vt:lpstr>Calibri</vt:lpstr>
      <vt:lpstr>Office Theme</vt:lpstr>
      <vt:lpstr>Slide 1</vt:lpstr>
      <vt:lpstr>Slide 2</vt:lpstr>
      <vt:lpstr>Slide 3</vt:lpstr>
      <vt:lpstr>Slide 4</vt:lpstr>
      <vt:lpstr>Slide 5</vt:lpstr>
      <vt:lpstr>Slide 6</vt:lpstr>
      <vt:lpstr>Slide 7</vt:lpstr>
      <vt:lpstr>Slide 8</vt:lpstr>
      <vt:lpstr>Slide 9</vt:lpstr>
      <vt:lpstr>Slide 10</vt:lpstr>
      <vt:lpstr>Slide 11</vt:lpstr>
      <vt:lpstr>Slide 12</vt:lpstr>
      <vt:lpstr>Slide 13</vt:lpstr>
      <vt:lpstr>Slide 14</vt:lpstr>
      <vt:lpstr>Slide 15</vt:lpstr>
      <vt:lpstr>Slide 16</vt:lpstr>
    </vt:vector>
  </TitlesOfParts>
  <Company>PptxGenJS</Company>
  <LinksUpToDate>false</LinksUpToDate>
  <SharedDoc>false</SharedDoc>
  <HyperlinksChanged>false</HyperlinksChanged>
  <AppVersion>16.0000</AppVersion>
</Properties>
</file>

<file path=docProps/core.xml><?xml version="1.0" encoding="utf-8"?>
<cp:coreProperties xmlns:cp="http://schemas.openxmlformats.org/package/2006/metadata/core-properties" xmlns:dc="http://purl.org/dc/elements/1.1/" xmlns:dcterms="http://purl.org/dc/terms/" xmlns:dcmitype="http://purl.org/dc/dcmitype/" xmlns:xsi="http://www.w3.org/2001/XMLSchema-instance">
  <dc:title>Scaling E2E Tests the Smart Way with Nx</dc:title>
  <dc:subject>PptxGenJS Presentation</dc:subject>
  <dc:creator>Vladimir Radzivil</dc:creator>
  <cp:lastModifiedBy>Vladimir Radzivil</cp:lastModifiedBy>
  <cp:revision>1</cp:revision>
  <dcterms:created xsi:type="dcterms:W3CDTF">2026-09-07T02:56:09Z</dcterms:created>
  <dcterms:modified xsi:type="dcterms:W3CDTF">2026-09-07T02:56:09Z</dcterms:modified>
</cp:coreProperties>
</file>