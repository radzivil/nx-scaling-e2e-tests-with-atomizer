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on who you are, then move. The QR stays useful all talk — people scan it while you set up the demo. Everything in this deck was measured on the repo linked at the end; nothing needs an Nx Cloud account.
BEFORE YOU PRESENT
  $ cd ~/IdeaProjects/nx-scaling-e2e-tests-with-atomizer
  $ npm ci &amp;&amp; npx cypress install
  $ npm run demo:status      → expect buggyDiscount: false
  $ npx nx reset             → cold cache, so the first number is honest
  Keep a terminal in the repo root on a second screen or a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quiet part: every other talk today has AI in the title. This one earns attention by being the unglamorous thing that makes the glamorous thing safe. The last line sets up the next slide, so land it and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Point at 05 and 06 as the parts worth staying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it, then actually wait for the hands. Nearly everyone puts one up, which is the point — this is not a niche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question, same room. The hands thin out and someone usually laughs. Do not rush past that laugh, it is the whole talk in one reaction.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question kills it. Almost nobody gates a merge on a suite they cannot trust. Now reveal the line at the bottom and move — you have earned the next ten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argument for caring, in one comparison. Do not oversell AI — the only claim is that the ratio moved: generation got cheap, verification did not, so verification is where the leverage is now. Ten minutes is not arbitrary; it is roughly what an isolated change costs once affected plus caching plus per-app runners are all doing their job, and it is what the real project landed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not content — keep it under a minute. Two things to point at. One: the libs are shared unevenly, formatting by shop and admin, ui by admin and docs, which is what makes the affected demo land later. Two: thirty spec files but only three runnable tasks, because nx e2e is one Cypress process per app. That three is the number the atomizer turns into thirty. Have `nx graph` open in a tab if you would rather show the real thing.
DEMO — show the real graph
  $ npx nx graph
  Opens a browser. Click shop, then ui, to show what depends on what.
  Ctrl+C when done. `npx nx graph --print` if the projector hates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if the timing works, otherwise show the recording. The number to sit with is 4m20s on a toy repo with 30 specs — the audience can extrapolate to their own suite faster than you can do it for them.
DEMO — the un-atomized baseline
  $ npx nx e2e shop-e2e
  ~1m 33s for ONE app. Start it, keep talking, come back to it.
  All three serially is 4m 20s — quote that, do not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promise slide — everything after it is delivery. Read the four out loud; they map one-to-one onto the rest of the talk, in order. The closing line is the hook: people expect this to be a paid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"generated". Nobody maintains this list — that is the difference from hand-rolled spec sharding.
DEMO — what the atomizer generated
  $ npm run e2e:targets
  30 targets across 3 projects. Point out the names are file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Piping through `npm run e2e:targets` gives a cleaner list if the JSON is too wide for the screen.
DEMO — where the targets come from
  $ npx nx show project shop-e2e --json
  (wide — use `npm run e2e:targets` if the JSON does not fit the screen)
  $ grep -A8 "cypress/plugin" nx.json
  Nine lines of config generate all thirty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did not exist last time — Nx 23 added the guard. Do not rush to the workaround: sit on the third bullet. For a lot of the room this is not a technical problem at all, it is a purchase order they are not going to win this quarter. The good news lands on the next slide.
DEMO — hit the gate, then walk around it
  $ npx nx run-many -t e2e-ci --parallel=5
  Fails, listing all three e2e-ci tasks. Read it out loud.
  $ npx nx run "shop-e2e:e2e-ci--src/e2e/catalog.cy.ts"
  Same plugin, one leaf target, green. ~25s from cold because it builds the
  app and starts preview first; a couple of seconds once those are cached.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script is twenty lines and does two things: ask Nx for the target list, hand it to run-many. Do not hand-roll a process pool — you lose the cache and the usual first attempt swallows exit codes. The amber box buys you credibility for the cache claims coming next, so do not rush it.
DEMO — parallel on one machine
  $ npx nx reset
  $ node tools/run-e2e.mjs --project=shop-e2e --parallel=5
  ~40-46s across runs, against the 1m 33s baseline from earlier.
  Whole workspace if you have time: node tools/run-e2e.mjs --parallel=5  (~2m 06s)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Sharding by index is the answer people expect, so say why it is the wrong default here and keep it for the case it is good at: one app big enough to dominate. The cross-product point is real — this repo has two login.cy.ts files and the runner refuses the selection rather than quietly running both.
DEMO — the same thing on CI
  $ gh run list --limit 5
  $ gh run view --web
  One job per app, and the matrix is generated from the graph:
  $ sed -n "1,40p" .github/workflows/e2e.yml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 up-arrow and enter. The whole point is that it returns before you finish the sentence.
DEMO — run it again
  $ node tools/run-e2e.mjs --project=shop-e2e --parallel=5
  Up-arrow, enter. Back in ~0.2s with 11/12 cache hits.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37→28: the two seeded failures are the two slowest specs and each still boots Cypress. The saving scales with how many specs pass — on 200 specs with 3 failures it is enormous.
DEMO — the money moment
  $ npm run demo:break
  $ node tools/run-e2e.mjs --project=shop-e2e --parallel=5   → ~40s, 2 fail
  $ node tools/run-e2e.mjs --project=shop-e2e --parallel=5   → ~28s, 9/10 cached
  Nothing changed between those two. Only the failures re-executed.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the "everything re-runs" version instead, run nx reset before this step. Best real example from this repo: a commit that touched only the slide deck restored the previous commit's cache and reported 33/36 hits and a 119ms run — the single-machine CI job went from 3m44s to 35s without anyone planning it. Inputs, not commits.
DEMO — undo it
  $ npm run demo:fix
  $ node tools/run-e2e.mjs --project=shop-e2e --parallel=5
  ~0.2s. Reverting restored the old input hash, so the old results came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is 4m20s to 55s, but do not skip rung 2. Rung 3 is one flag and gets most of the win; rung 4 needs CI to have a matrix. Tell them to climb only as far as their pain justifies. Re-measure with npm run e2e:benchmark before the talk — rung 3 varied between 2m11s and 2m32s on repeats.
DO NOT RUN THIS LIVE
  $ npm run e2e:benchmark
  ~15 minutes — it runs every rung from a cold cache.
  Run it the morning of the talk and read the numbers off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npm run e2e:affected on a clean tree exits green instantly, then touch libs/ui and watch two apps light up. The last row is the one that lands — most CI runs on most days are documentation and config.
DEMO — let the graph choose
  $ npm run e2e:affected                                    → nothing affected, instant
  $ echo "/* demo */" &gt;&gt; libs/ui/src/styles.css
  $ node tools/e2e-targets.mjs --affected --projects-json   → ["admin-e2e","docs-e2e"]
  $ git checkout -- libs/ui/src/styles.css
  Discovery is instant. Only run the full affected suite (~1m 22s) if you have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story: the suite was already stable-ish, about a thousand tests. We read all of them, deleted a lot that tested nothing, and added more that tested something — ending near 1,500 with 85% coverage. The 48 to 25 minutes is a full rebuild; the number people actually feel day to day is under ten minutes for a change in one app. That is the affected graph doing the work, and it shows up on the invoice.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realistic ask is not "rebuild your CI this week". It is "clone it, let your agent read it, and run the benchmark". Step three matters most — the numbers in this deck are from my laptop and my suite, and the only ones that will convince their team are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for the whole close. Put it up before the first question so the QR is on screen for the entire Q&amp;A — that is when people actually scan it. The recap is there for the room to read, not for you to read out. If nobody opens, the honest prompts are the Nx Cloud gate, Playwright instead of Cypress, and what the cache does and does not do for flaky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 past this unless someone asks. The gotchas slide behind it is the one people photograph.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slide to leave up during questions. Items 3 and 4 both bit this repo on its first CI run — worth telling as war stories rather than reading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31A"/>
        </a:solidFill>
      </p:bgPr>
    </p:bg>
    <p:spTree>
      <p:nvGrpSpPr>
        <p:cNvPr id="1" name=""/>
        <p:cNvGrpSpPr/>
        <p:nvPr/>
      </p:nvGrpSpPr>
      <p:grpSpPr>
        <a:xfrm>
          <a:off x="0" y="0"/>
          <a:ext cx="0" cy="0"/>
          <a:chOff x="0" y="0"/>
          <a:chExt cx="0" cy="0"/>
        </a:xfrm>
      </p:grpSpPr>
      <p:sp>
        <p:nvSpPr>
          <p:cNvPr id="2" name="Text 0"/>
          <p:cNvSpPr txBox="1"/>
          <p:nvPr/>
        </p:nvSpPr>
        <p:spPr>
          <a:xfrm>
            <a:off x="640080" y="1417320"/>
            <a:ext cx="7863840" cy="86868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Scaling E2E Tests</a:t>
            </a:r>
            <a:endParaRPr lang="en-US" sz="5000" dirty="0"/>
          </a:p>
        </p:txBody>
      </p:sp>
      <p:sp>
        <p:nvSpPr>
          <p:cNvPr id="3" name="Text 1"/>
          <p:cNvSpPr txBox="1"/>
          <p:nvPr/>
        </p:nvSpPr>
        <p:spPr>
          <a:xfrm>
            <a:off x="640080" y="2212848"/>
            <a:ext cx="7863840" cy="868680"/>
          </a:xfrm>
          <a:prstGeom prst="rect">
            <a:avLst/>
          </a:prstGeom>
          <a:noFill/>
          <a:ln/>
        </p:spPr>
        <p:txBody>
          <a:bodyPr wrap="square" lIns="0" tIns="0" rIns="0" bIns="0" rtlCol="0" anchor="ctr"/>
          <a:lstStyle/>
          <a:p>
            <a:pPr indent="0" marL="0">
              <a:buNone/>
            </a:pPr>
            <a:r>
              <a:rPr lang="en-US" sz="5000" b="1" dirty="0">
                <a:solidFill>
                  <a:srgbClr val="4ADE80"/>
                </a:solidFill>
                <a:latin typeface="Cambria" pitchFamily="34" charset="0"/>
                <a:ea typeface="Cambria" pitchFamily="34" charset="-122"/>
                <a:cs typeface="Cambria" pitchFamily="34" charset="-120"/>
              </a:rPr>
              <a:t>the Smart Way with Nx</a:t>
            </a:r>
            <a:endParaRPr lang="en-US" sz="5000" dirty="0"/>
          </a:p>
        </p:txBody>
      </p:sp>
      <p:sp>
        <p:nvSpPr>
          <p:cNvPr id="4" name="Text 2"/>
          <p:cNvSpPr txBox="1"/>
          <p:nvPr/>
        </p:nvSpPr>
        <p:spPr>
          <a:xfrm>
            <a:off x="640080" y="3200400"/>
            <a:ext cx="7863840" cy="411480"/>
          </a:xfrm>
          <a:prstGeom prst="rect">
            <a:avLst/>
          </a:prstGeom>
          <a:noFill/>
          <a:ln/>
        </p:spPr>
        <p:txBody>
          <a:bodyPr wrap="square" lIns="0" tIns="0" rIns="0" bIns="0" rtlCol="0" anchor="ctr"/>
          <a:lstStyle/>
          <a:p>
            <a:pPr indent="0" marL="0">
              <a:buNone/>
            </a:pPr>
            <a:r>
              <a:rPr lang="en-US" sz="1700" dirty="0">
                <a:solidFill>
                  <a:srgbClr val="C3CAD6"/>
                </a:solidFill>
                <a:latin typeface="Calibri" pitchFamily="34" charset="0"/>
                <a:ea typeface="Calibri" pitchFamily="34" charset="-122"/>
                <a:cs typeface="Calibri" pitchFamily="34" charset="-120"/>
              </a:rPr>
              <a:t>Atomizing, parallelising and caching a Cypress suite — without Nx Cloud</a:t>
            </a:r>
            <a:endParaRPr lang="en-US" sz="1700" dirty="0"/>
          </a:p>
        </p:txBody>
      </p:sp>
      <p:sp>
        <p:nvSpPr>
          <p:cNvPr id="5" name="Shape 3"/>
          <p:cNvSpPr/>
          <p:nvPr/>
        </p:nvSpPr>
        <p:spPr>
          <a:xfrm>
            <a:off x="640080" y="3977640"/>
            <a:ext cx="1005840" cy="32004"/>
          </a:xfrm>
          <a:prstGeom prst="rect">
            <a:avLst/>
          </a:prstGeom>
          <a:solidFill>
            <a:srgbClr val="4ADE80"/>
          </a:solidFill>
          <a:ln w="12700">
            <a:solidFill>
              <a:srgbClr val="333333"/>
            </a:solidFill>
            <a:prstDash val="solid"/>
          </a:ln>
        </p:spPr>
      </p:sp>
      <p:pic>
        <p:nvPicPr>
          <p:cNvPr id="6" name="Image 0" descr="/Users/vra/IdeaProjects/nx-scaling-e2e-tests-with-atomizer/talk/assets/avatar.jpg">    </p:cNvPr>
          <p:cNvPicPr>
            <a:picLocks noChangeAspect="1"/>
          </p:cNvPicPr>
          <p:nvPr/>
        </p:nvPicPr>
        <p:blipFill>
          <a:blip r:embed="rId1"/>
          <a:stretch>
            <a:fillRect/>
          </a:stretch>
        </p:blipFill>
        <p:spPr>
          <a:xfrm>
            <a:off x="640080" y="4224528"/>
            <a:ext cx="1234440" cy="1234440"/>
          </a:xfrm>
          <a:prstGeom prst="ellipse">
            <a:avLst/>
          </a:prstGeom>
        </p:spPr>
      </p:pic>
      <p:sp>
        <p:nvSpPr>
          <p:cNvPr id="7" name="Text 4"/>
          <p:cNvSpPr txBox="1"/>
          <p:nvPr/>
        </p:nvSpPr>
        <p:spPr>
          <a:xfrm>
            <a:off x="2148840" y="4416552"/>
            <a:ext cx="630936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Vladimir Radzivil</a:t>
            </a:r>
            <a:endParaRPr lang="en-US" sz="2200" dirty="0"/>
          </a:p>
        </p:txBody>
      </p:sp>
      <p:sp>
        <p:nvSpPr>
          <p:cNvPr id="8" name="Text 5"/>
          <p:cNvSpPr txBox="1"/>
          <p:nvPr/>
        </p:nvSpPr>
        <p:spPr>
          <a:xfrm>
            <a:off x="2148840" y="4828032"/>
            <a:ext cx="6309360" cy="365760"/>
          </a:xfrm>
          <a:prstGeom prst="rect">
            <a:avLst/>
          </a:prstGeom>
          <a:noFill/>
          <a:ln/>
        </p:spPr>
        <p:txBody>
          <a:bodyPr wrap="square" lIns="0" tIns="0" rIns="0" bIns="0" rtlCol="0" anchor="ctr"/>
          <a:lstStyle/>
          <a:p>
            <a:pPr indent="0" marL="0">
              <a:buNone/>
            </a:pPr>
            <a:r>
              <a:rPr lang="en-US" sz="1500" dirty="0">
                <a:solidFill>
                  <a:srgbClr val="C3CAD6"/>
                </a:solidFill>
                <a:latin typeface="Calibri" pitchFamily="34" charset="0"/>
                <a:ea typeface="Calibri" pitchFamily="34" charset="-122"/>
                <a:cs typeface="Calibri" pitchFamily="34" charset="-120"/>
              </a:rPr>
              <a:t>Principal Consultant &amp; Partner, Zühlke</a:t>
            </a:r>
            <a:endParaRPr lang="en-US" sz="1500" dirty="0"/>
          </a:p>
        </p:txBody>
      </p:sp>
      <p:sp>
        <p:nvSpPr>
          <p:cNvPr id="9" name="Shape 6"/>
          <p:cNvSpPr/>
          <p:nvPr/>
        </p:nvSpPr>
        <p:spPr>
          <a:xfrm>
            <a:off x="8869680" y="2011680"/>
            <a:ext cx="2286000" cy="2286000"/>
          </a:xfrm>
          <a:prstGeom prst="roundRect">
            <a:avLst>
              <a:gd name="adj" fmla="val 2400"/>
            </a:avLst>
          </a:prstGeom>
          <a:solidFill>
            <a:srgbClr val="FFFFFF"/>
          </a:solidFill>
          <a:ln w="12700">
            <a:solidFill>
              <a:srgbClr val="333333"/>
            </a:solidFill>
            <a:prstDash val="solid"/>
          </a:ln>
        </p:spPr>
      </p:sp>
      <p:pic>
        <p:nvPicPr>
          <p:cNvPr id="10" name="Image 1" descr="/Users/vra/IdeaProjects/nx-scaling-e2e-tests-with-atomizer/talk/assets/qr-linkedin.png">    </p:cNvPr>
          <p:cNvPicPr>
            <a:picLocks noChangeAspect="1"/>
          </p:cNvPicPr>
          <p:nvPr/>
        </p:nvPicPr>
        <p:blipFill>
          <a:blip r:embed="rId2"/>
          <a:stretch>
            <a:fillRect/>
          </a:stretch>
        </p:blipFill>
        <p:spPr>
          <a:xfrm>
            <a:off x="8988552" y="2130552"/>
            <a:ext cx="2048256" cy="2048256"/>
          </a:xfrm>
          <a:prstGeom prst="rect">
            <a:avLst/>
          </a:prstGeom>
        </p:spPr>
      </p:pic>
      <p:sp>
        <p:nvSpPr>
          <p:cNvPr id="11" name="Text 7"/>
          <p:cNvSpPr txBox="1"/>
          <p:nvPr/>
        </p:nvSpPr>
        <p:spPr>
          <a:xfrm>
            <a:off x="8869680" y="4425696"/>
            <a:ext cx="2286000" cy="320040"/>
          </a:xfrm>
          <a:prstGeom prst="rect">
            <a:avLst/>
          </a:prstGeom>
          <a:noFill/>
          <a:ln/>
        </p:spPr>
        <p:txBody>
          <a:bodyPr wrap="square" lIns="0" tIns="0" rIns="0" bIns="0" rtlCol="0" anchor="ctr"/>
          <a:lstStyle/>
          <a:p>
            <a:pPr algn="ctr" indent="0" marL="0">
              <a:buNone/>
            </a:pPr>
            <a:r>
              <a:rPr lang="en-US" sz="1200" dirty="0">
                <a:solidFill>
                  <a:srgbClr val="8A94A6"/>
                </a:solidFill>
                <a:latin typeface="Calibri" pitchFamily="34" charset="0"/>
                <a:ea typeface="Calibri" pitchFamily="34" charset="-122"/>
                <a:cs typeface="Calibri" pitchFamily="34" charset="-120"/>
              </a:rPr>
              <a:t>Connect on LinkedIn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0B7A44"/>
                </a:solidFill>
                <a:latin typeface="Calibri" pitchFamily="34" charset="0"/>
                <a:ea typeface="Calibri" pitchFamily="34" charset="-122"/>
                <a:cs typeface="Calibri" pitchFamily="34" charset="-120"/>
              </a:rPr>
              <a:t>WHY THIS TOPIC</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10131A"/>
                </a:solidFill>
                <a:latin typeface="Cambria" pitchFamily="34" charset="0"/>
                <a:ea typeface="Cambria" pitchFamily="34" charset="-122"/>
                <a:cs typeface="Cambria" pitchFamily="34" charset="-120"/>
              </a:rPr>
              <a:t>This one is not about AI</a:t>
            </a:r>
            <a:endParaRPr lang="en-US" sz="3800" dirty="0"/>
          </a:p>
        </p:txBody>
      </p:sp>
      <p:sp>
        <p:nvSpPr>
          <p:cNvPr id="4" name="Shape 2"/>
          <p:cNvSpPr/>
          <p:nvPr/>
        </p:nvSpPr>
        <p:spPr>
          <a:xfrm>
            <a:off x="640080" y="2011680"/>
            <a:ext cx="45720" cy="749808"/>
          </a:xfrm>
          <a:prstGeom prst="rect">
            <a:avLst/>
          </a:prstGeom>
          <a:solidFill>
            <a:srgbClr val="0B7A44"/>
          </a:solidFill>
          <a:ln w="12700">
            <a:solidFill>
              <a:srgbClr val="333333"/>
            </a:solidFill>
            <a:prstDash val="solid"/>
          </a:ln>
        </p:spPr>
      </p:sp>
      <p:sp>
        <p:nvSpPr>
          <p:cNvPr id="5" name="Text 3"/>
          <p:cNvSpPr txBox="1"/>
          <p:nvPr/>
        </p:nvSpPr>
        <p:spPr>
          <a:xfrm>
            <a:off x="914400" y="1965960"/>
            <a:ext cx="10607040" cy="384048"/>
          </a:xfrm>
          <a:prstGeom prst="rect">
            <a:avLst/>
          </a:prstGeom>
          <a:noFill/>
          <a:ln/>
        </p:spPr>
        <p:txBody>
          <a:bodyPr wrap="square" lIns="0" tIns="0" rIns="0" bIns="0" rtlCol="0" anchor="ctr"/>
          <a:lstStyle/>
          <a:p>
            <a:pPr indent="0" marL="0">
              <a:buNone/>
            </a:pPr>
            <a:r>
              <a:rPr lang="en-US" sz="1900" b="1" dirty="0">
                <a:solidFill>
                  <a:srgbClr val="10131A"/>
                </a:solidFill>
                <a:latin typeface="Calibri" pitchFamily="34" charset="0"/>
                <a:ea typeface="Calibri" pitchFamily="34" charset="-122"/>
                <a:cs typeface="Calibri" pitchFamily="34" charset="-120"/>
              </a:rPr>
              <a:t>It is engineering</a:t>
            </a:r>
            <a:endParaRPr lang="en-US" sz="1900" dirty="0"/>
          </a:p>
        </p:txBody>
      </p:sp>
      <p:sp>
        <p:nvSpPr>
          <p:cNvPr id="6" name="Text 4"/>
          <p:cNvSpPr txBox="1"/>
          <p:nvPr/>
        </p:nvSpPr>
        <p:spPr>
          <a:xfrm>
            <a:off x="914400" y="2368296"/>
            <a:ext cx="10607040" cy="384048"/>
          </a:xfrm>
          <a:prstGeom prst="rect">
            <a:avLst/>
          </a:prstGeom>
          <a:noFill/>
          <a:ln/>
        </p:spPr>
        <p:txBody>
          <a:bodyPr wrap="square" lIns="0" tIns="0" rIns="0" bIns="0" rtlCol="0" anchor="ctr"/>
          <a:lstStyle/>
          <a:p>
            <a:pPr indent="0" marL="0">
              <a:buNone/>
            </a:pPr>
            <a:r>
              <a:rPr lang="en-US" sz="1400" dirty="0">
                <a:solidFill>
                  <a:srgbClr val="5C6675"/>
                </a:solidFill>
                <a:latin typeface="Calibri" pitchFamily="34" charset="0"/>
                <a:ea typeface="Calibri" pitchFamily="34" charset="-122"/>
                <a:cs typeface="Calibri" pitchFamily="34" charset="-120"/>
              </a:rPr>
              <a:t>Configuration and a task graph. No model, no prompt, no vendor.</a:t>
            </a:r>
            <a:endParaRPr lang="en-US" sz="1400" dirty="0"/>
          </a:p>
        </p:txBody>
      </p:sp>
      <p:sp>
        <p:nvSpPr>
          <p:cNvPr id="7" name="Shape 5"/>
          <p:cNvSpPr/>
          <p:nvPr/>
        </p:nvSpPr>
        <p:spPr>
          <a:xfrm>
            <a:off x="640080" y="3035808"/>
            <a:ext cx="45720" cy="749808"/>
          </a:xfrm>
          <a:prstGeom prst="rect">
            <a:avLst/>
          </a:prstGeom>
          <a:solidFill>
            <a:srgbClr val="0B7A44"/>
          </a:solidFill>
          <a:ln w="12700">
            <a:solidFill>
              <a:srgbClr val="333333"/>
            </a:solidFill>
            <a:prstDash val="solid"/>
          </a:ln>
        </p:spPr>
      </p:sp>
      <p:sp>
        <p:nvSpPr>
          <p:cNvPr id="8" name="Text 6"/>
          <p:cNvSpPr txBox="1"/>
          <p:nvPr/>
        </p:nvSpPr>
        <p:spPr>
          <a:xfrm>
            <a:off x="914400" y="2990088"/>
            <a:ext cx="10607040" cy="384048"/>
          </a:xfrm>
          <a:prstGeom prst="rect">
            <a:avLst/>
          </a:prstGeom>
          <a:noFill/>
          <a:ln/>
        </p:spPr>
        <p:txBody>
          <a:bodyPr wrap="square" lIns="0" tIns="0" rIns="0" bIns="0" rtlCol="0" anchor="ctr"/>
          <a:lstStyle/>
          <a:p>
            <a:pPr indent="0" marL="0">
              <a:buNone/>
            </a:pPr>
            <a:r>
              <a:rPr lang="en-US" sz="1900" b="1" dirty="0">
                <a:solidFill>
                  <a:srgbClr val="10131A"/>
                </a:solidFill>
                <a:latin typeface="Calibri" pitchFamily="34" charset="0"/>
                <a:ea typeface="Calibri" pitchFamily="34" charset="-122"/>
                <a:cs typeface="Calibri" pitchFamily="34" charset="-120"/>
              </a:rPr>
              <a:t>It is from a real project</a:t>
            </a:r>
            <a:endParaRPr lang="en-US" sz="1900" dirty="0"/>
          </a:p>
        </p:txBody>
      </p:sp>
      <p:sp>
        <p:nvSpPr>
          <p:cNvPr id="9" name="Text 7"/>
          <p:cNvSpPr txBox="1"/>
          <p:nvPr/>
        </p:nvSpPr>
        <p:spPr>
          <a:xfrm>
            <a:off x="914400" y="3392424"/>
            <a:ext cx="10607040" cy="384048"/>
          </a:xfrm>
          <a:prstGeom prst="rect">
            <a:avLst/>
          </a:prstGeom>
          <a:noFill/>
          <a:ln/>
        </p:spPr>
        <p:txBody>
          <a:bodyPr wrap="square" lIns="0" tIns="0" rIns="0" bIns="0" rtlCol="0" anchor="ctr"/>
          <a:lstStyle/>
          <a:p>
            <a:pPr indent="0" marL="0">
              <a:buNone/>
            </a:pPr>
            <a:r>
              <a:rPr lang="en-US" sz="1400" dirty="0">
                <a:solidFill>
                  <a:srgbClr val="5C6675"/>
                </a:solidFill>
                <a:latin typeface="Calibri" pitchFamily="34" charset="0"/>
                <a:ea typeface="Calibri" pitchFamily="34" charset="-122"/>
                <a:cs typeface="Calibri" pitchFamily="34" charset="-120"/>
              </a:rPr>
              <a:t>Fifteen applications, a suite that had grown past what one machine could run.</a:t>
            </a:r>
            <a:endParaRPr lang="en-US" sz="1400" dirty="0"/>
          </a:p>
        </p:txBody>
      </p:sp>
      <p:sp>
        <p:nvSpPr>
          <p:cNvPr id="10" name="Shape 8"/>
          <p:cNvSpPr/>
          <p:nvPr/>
        </p:nvSpPr>
        <p:spPr>
          <a:xfrm>
            <a:off x="640080" y="4059936"/>
            <a:ext cx="45720" cy="749808"/>
          </a:xfrm>
          <a:prstGeom prst="rect">
            <a:avLst/>
          </a:prstGeom>
          <a:solidFill>
            <a:srgbClr val="0B7A44"/>
          </a:solidFill>
          <a:ln w="12700">
            <a:solidFill>
              <a:srgbClr val="333333"/>
            </a:solidFill>
            <a:prstDash val="solid"/>
          </a:ln>
        </p:spPr>
      </p:sp>
      <p:sp>
        <p:nvSpPr>
          <p:cNvPr id="11" name="Text 9"/>
          <p:cNvSpPr txBox="1"/>
          <p:nvPr/>
        </p:nvSpPr>
        <p:spPr>
          <a:xfrm>
            <a:off x="914400" y="4014216"/>
            <a:ext cx="10607040" cy="384048"/>
          </a:xfrm>
          <a:prstGeom prst="rect">
            <a:avLst/>
          </a:prstGeom>
          <a:noFill/>
          <a:ln/>
        </p:spPr>
        <p:txBody>
          <a:bodyPr wrap="square" lIns="0" tIns="0" rIns="0" bIns="0" rtlCol="0" anchor="ctr"/>
          <a:lstStyle/>
          <a:p>
            <a:pPr indent="0" marL="0">
              <a:buNone/>
            </a:pPr>
            <a:r>
              <a:rPr lang="en-US" sz="1900" b="1" dirty="0">
                <a:solidFill>
                  <a:srgbClr val="10131A"/>
                </a:solidFill>
                <a:latin typeface="Calibri" pitchFamily="34" charset="0"/>
                <a:ea typeface="Calibri" pitchFamily="34" charset="-122"/>
                <a:cs typeface="Calibri" pitchFamily="34" charset="-120"/>
              </a:rPr>
              <a:t>It applies to most teams</a:t>
            </a:r>
            <a:endParaRPr lang="en-US" sz="1900" dirty="0"/>
          </a:p>
        </p:txBody>
      </p:sp>
      <p:sp>
        <p:nvSpPr>
          <p:cNvPr id="12" name="Text 10"/>
          <p:cNvSpPr txBox="1"/>
          <p:nvPr/>
        </p:nvSpPr>
        <p:spPr>
          <a:xfrm>
            <a:off x="914400" y="4416552"/>
            <a:ext cx="10607040" cy="384048"/>
          </a:xfrm>
          <a:prstGeom prst="rect">
            <a:avLst/>
          </a:prstGeom>
          <a:noFill/>
          <a:ln/>
        </p:spPr>
        <p:txBody>
          <a:bodyPr wrap="square" lIns="0" tIns="0" rIns="0" bIns="0" rtlCol="0" anchor="ctr"/>
          <a:lstStyle/>
          <a:p>
            <a:pPr indent="0" marL="0">
              <a:buNone/>
            </a:pPr>
            <a:r>
              <a:rPr lang="en-US" sz="1400" dirty="0">
                <a:solidFill>
                  <a:srgbClr val="5C6675"/>
                </a:solidFill>
                <a:latin typeface="Calibri" pitchFamily="34" charset="0"/>
                <a:ea typeface="Calibri" pitchFamily="34" charset="-122"/>
                <a:cs typeface="Calibri" pitchFamily="34" charset="-120"/>
              </a:rPr>
              <a:t>If you have e2e tests and a monorepo, you already have the preconditions.</a:t>
            </a:r>
            <a:endParaRPr lang="en-US" sz="1400" dirty="0"/>
          </a:p>
        </p:txBody>
      </p:sp>
      <p:sp>
        <p:nvSpPr>
          <p:cNvPr id="13" name="Shape 11"/>
          <p:cNvSpPr/>
          <p:nvPr/>
        </p:nvSpPr>
        <p:spPr>
          <a:xfrm>
            <a:off x="640080" y="5084064"/>
            <a:ext cx="45720" cy="749808"/>
          </a:xfrm>
          <a:prstGeom prst="rect">
            <a:avLst/>
          </a:prstGeom>
          <a:solidFill>
            <a:srgbClr val="0B7A44"/>
          </a:solidFill>
          <a:ln w="12700">
            <a:solidFill>
              <a:srgbClr val="333333"/>
            </a:solidFill>
            <a:prstDash val="solid"/>
          </a:ln>
        </p:spPr>
      </p:sp>
      <p:sp>
        <p:nvSpPr>
          <p:cNvPr id="14" name="Text 12"/>
          <p:cNvSpPr txBox="1"/>
          <p:nvPr/>
        </p:nvSpPr>
        <p:spPr>
          <a:xfrm>
            <a:off x="914400" y="5038344"/>
            <a:ext cx="10607040" cy="384048"/>
          </a:xfrm>
          <a:prstGeom prst="rect">
            <a:avLst/>
          </a:prstGeom>
          <a:noFill/>
          <a:ln/>
        </p:spPr>
        <p:txBody>
          <a:bodyPr wrap="square" lIns="0" tIns="0" rIns="0" bIns="0" rtlCol="0" anchor="ctr"/>
          <a:lstStyle/>
          <a:p>
            <a:pPr indent="0" marL="0">
              <a:buNone/>
            </a:pPr>
            <a:r>
              <a:rPr lang="en-US" sz="1900" b="1" dirty="0">
                <a:solidFill>
                  <a:srgbClr val="10131A"/>
                </a:solidFill>
                <a:latin typeface="Calibri" pitchFamily="34" charset="0"/>
                <a:ea typeface="Calibri" pitchFamily="34" charset="-122"/>
                <a:cs typeface="Calibri" pitchFamily="34" charset="-120"/>
              </a:rPr>
              <a:t>You can use it today</a:t>
            </a:r>
            <a:endParaRPr lang="en-US" sz="1900" dirty="0"/>
          </a:p>
        </p:txBody>
      </p:sp>
      <p:sp>
        <p:nvSpPr>
          <p:cNvPr id="15" name="Text 13"/>
          <p:cNvSpPr txBox="1"/>
          <p:nvPr/>
        </p:nvSpPr>
        <p:spPr>
          <a:xfrm>
            <a:off x="914400" y="5440680"/>
            <a:ext cx="10607040" cy="384048"/>
          </a:xfrm>
          <a:prstGeom prst="rect">
            <a:avLst/>
          </a:prstGeom>
          <a:noFill/>
          <a:ln/>
        </p:spPr>
        <p:txBody>
          <a:bodyPr wrap="square" lIns="0" tIns="0" rIns="0" bIns="0" rtlCol="0" anchor="ctr"/>
          <a:lstStyle/>
          <a:p>
            <a:pPr indent="0" marL="0">
              <a:buNone/>
            </a:pPr>
            <a:r>
              <a:rPr lang="en-US" sz="1400" dirty="0">
                <a:solidFill>
                  <a:srgbClr val="5C6675"/>
                </a:solidFill>
                <a:latin typeface="Calibri" pitchFamily="34" charset="0"/>
                <a:ea typeface="Calibri" pitchFamily="34" charset="-122"/>
                <a:cs typeface="Calibri" pitchFamily="34" charset="-120"/>
              </a:rPr>
              <a:t>Everything here is in the open-source plugin you probably already depend on.</a:t>
            </a:r>
            <a:endParaRPr lang="en-US" sz="1400" dirty="0"/>
          </a:p>
        </p:txBody>
      </p:sp>
      <p:sp>
        <p:nvSpPr>
          <p:cNvPr id="16" name="Text 14"/>
          <p:cNvSpPr txBox="1"/>
          <p:nvPr/>
        </p:nvSpPr>
        <p:spPr>
          <a:xfrm>
            <a:off x="640080" y="6172200"/>
            <a:ext cx="10881360" cy="411480"/>
          </a:xfrm>
          <a:prstGeom prst="rect">
            <a:avLst/>
          </a:prstGeom>
          <a:noFill/>
          <a:ln/>
        </p:spPr>
        <p:txBody>
          <a:bodyPr wrap="square" lIns="0" tIns="0" rIns="0" bIns="0" rtlCol="0" anchor="ctr"/>
          <a:lstStyle/>
          <a:p>
            <a:pPr indent="0" marL="0">
              <a:buNone/>
            </a:pPr>
            <a:r>
              <a:rPr lang="en-US" sz="1600" i="1" dirty="0">
                <a:solidFill>
                  <a:srgbClr val="0B7A44"/>
                </a:solidFill>
                <a:latin typeface="Calibri" pitchFamily="34" charset="0"/>
                <a:ea typeface="Calibri" pitchFamily="34" charset="-122"/>
                <a:cs typeface="Calibri" pitchFamily="34" charset="-120"/>
              </a:rPr>
              <a:t>Change got cheap this year. Confidence did not.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31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4ADE80"/>
                </a:solidFill>
                <a:latin typeface="Calibri" pitchFamily="34" charset="0"/>
                <a:ea typeface="Calibri" pitchFamily="34" charset="-122"/>
                <a:cs typeface="Calibri" pitchFamily="34" charset="-120"/>
              </a:rPr>
              <a:t>AGENDA</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Where this goes</a:t>
            </a:r>
            <a:endParaRPr lang="en-US" sz="3800" dirty="0"/>
          </a:p>
        </p:txBody>
      </p:sp>
      <p:sp>
        <p:nvSpPr>
          <p:cNvPr id="4" name="Text 2"/>
          <p:cNvSpPr txBox="1"/>
          <p:nvPr/>
        </p:nvSpPr>
        <p:spPr>
          <a:xfrm>
            <a:off x="640080" y="1828800"/>
            <a:ext cx="640080" cy="457200"/>
          </a:xfrm>
          <a:prstGeom prst="rect">
            <a:avLst/>
          </a:prstGeom>
          <a:noFill/>
          <a:ln/>
        </p:spPr>
        <p:txBody>
          <a:bodyPr wrap="square" lIns="0" tIns="0" rIns="0" bIns="0" rtlCol="0" anchor="ctr"/>
          <a:lstStyle/>
          <a:p>
            <a:pPr indent="0" marL="0">
              <a:buNone/>
            </a:pPr>
            <a:r>
              <a:rPr lang="en-US" sz="2000" b="1" dirty="0">
                <a:solidFill>
                  <a:srgbClr val="4ADE80"/>
                </a:solidFill>
                <a:latin typeface="Courier New" pitchFamily="34" charset="0"/>
                <a:ea typeface="Courier New" pitchFamily="34" charset="-122"/>
                <a:cs typeface="Courier New" pitchFamily="34" charset="-120"/>
              </a:rPr>
              <a:t>01</a:t>
            </a:r>
            <a:endParaRPr lang="en-US" sz="2000" dirty="0"/>
          </a:p>
        </p:txBody>
      </p:sp>
      <p:sp>
        <p:nvSpPr>
          <p:cNvPr id="5" name="Text 3"/>
          <p:cNvSpPr txBox="1"/>
          <p:nvPr/>
        </p:nvSpPr>
        <p:spPr>
          <a:xfrm>
            <a:off x="1325880" y="1828800"/>
            <a:ext cx="4480560" cy="34747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The problem</a:t>
            </a:r>
            <a:endParaRPr lang="en-US" sz="1800" dirty="0"/>
          </a:p>
        </p:txBody>
      </p:sp>
      <p:sp>
        <p:nvSpPr>
          <p:cNvPr id="6" name="Text 4"/>
          <p:cNvSpPr txBox="1"/>
          <p:nvPr/>
        </p:nvSpPr>
        <p:spPr>
          <a:xfrm>
            <a:off x="1325880" y="2176272"/>
            <a:ext cx="4480560" cy="457200"/>
          </a:xfrm>
          <a:prstGeom prst="rect">
            <a:avLst/>
          </a:prstGeom>
          <a:noFill/>
          <a:ln/>
        </p:spPr>
        <p:txBody>
          <a:bodyPr wrap="square" lIns="0" tIns="0" rIns="0" bIns="0" rtlCol="0" anchor="ctr"/>
          <a:lstStyle/>
          <a:p>
            <a:pPr indent="0" marL="0">
              <a:buNone/>
            </a:pPr>
            <a:r>
              <a:rPr lang="en-US" sz="1300" dirty="0">
                <a:solidFill>
                  <a:srgbClr val="8A94A6"/>
                </a:solidFill>
                <a:latin typeface="Calibri" pitchFamily="34" charset="0"/>
                <a:ea typeface="Calibri" pitchFamily="34" charset="-122"/>
                <a:cs typeface="Calibri" pitchFamily="34" charset="-120"/>
              </a:rPr>
              <a:t>E2E is the slowest signal you have</a:t>
            </a:r>
            <a:endParaRPr lang="en-US" sz="1300" dirty="0"/>
          </a:p>
        </p:txBody>
      </p:sp>
      <p:sp>
        <p:nvSpPr>
          <p:cNvPr id="7" name="Text 5"/>
          <p:cNvSpPr txBox="1"/>
          <p:nvPr/>
        </p:nvSpPr>
        <p:spPr>
          <a:xfrm>
            <a:off x="6263640" y="1828800"/>
            <a:ext cx="640080" cy="457200"/>
          </a:xfrm>
          <a:prstGeom prst="rect">
            <a:avLst/>
          </a:prstGeom>
          <a:noFill/>
          <a:ln/>
        </p:spPr>
        <p:txBody>
          <a:bodyPr wrap="square" lIns="0" tIns="0" rIns="0" bIns="0" rtlCol="0" anchor="ctr"/>
          <a:lstStyle/>
          <a:p>
            <a:pPr indent="0" marL="0">
              <a:buNone/>
            </a:pPr>
            <a:r>
              <a:rPr lang="en-US" sz="2000" b="1" dirty="0">
                <a:solidFill>
                  <a:srgbClr val="4ADE80"/>
                </a:solidFill>
                <a:latin typeface="Courier New" pitchFamily="34" charset="0"/>
                <a:ea typeface="Courier New" pitchFamily="34" charset="-122"/>
                <a:cs typeface="Courier New" pitchFamily="34" charset="-120"/>
              </a:rPr>
              <a:t>02</a:t>
            </a:r>
            <a:endParaRPr lang="en-US" sz="2000" dirty="0"/>
          </a:p>
        </p:txBody>
      </p:sp>
      <p:sp>
        <p:nvSpPr>
          <p:cNvPr id="8" name="Text 6"/>
          <p:cNvSpPr txBox="1"/>
          <p:nvPr/>
        </p:nvSpPr>
        <p:spPr>
          <a:xfrm>
            <a:off x="6949440" y="1828800"/>
            <a:ext cx="4480560" cy="34747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The atomizer</a:t>
            </a:r>
            <a:endParaRPr lang="en-US" sz="1800" dirty="0"/>
          </a:p>
        </p:txBody>
      </p:sp>
      <p:sp>
        <p:nvSpPr>
          <p:cNvPr id="9" name="Text 7"/>
          <p:cNvSpPr txBox="1"/>
          <p:nvPr/>
        </p:nvSpPr>
        <p:spPr>
          <a:xfrm>
            <a:off x="6949440" y="2176272"/>
            <a:ext cx="4480560" cy="457200"/>
          </a:xfrm>
          <a:prstGeom prst="rect">
            <a:avLst/>
          </a:prstGeom>
          <a:noFill/>
          <a:ln/>
        </p:spPr>
        <p:txBody>
          <a:bodyPr wrap="square" lIns="0" tIns="0" rIns="0" bIns="0" rtlCol="0" anchor="ctr"/>
          <a:lstStyle/>
          <a:p>
            <a:pPr indent="0" marL="0">
              <a:buNone/>
            </a:pPr>
            <a:r>
              <a:rPr lang="en-US" sz="1300" dirty="0">
                <a:solidFill>
                  <a:srgbClr val="8A94A6"/>
                </a:solidFill>
                <a:latin typeface="Calibri" pitchFamily="34" charset="0"/>
                <a:ea typeface="Calibri" pitchFamily="34" charset="-122"/>
                <a:cs typeface="Calibri" pitchFamily="34" charset="-120"/>
              </a:rPr>
              <a:t>One target per spec file, generated for you</a:t>
            </a:r>
            <a:endParaRPr lang="en-US" sz="1300" dirty="0"/>
          </a:p>
        </p:txBody>
      </p:sp>
      <p:sp>
        <p:nvSpPr>
          <p:cNvPr id="10" name="Text 8"/>
          <p:cNvSpPr txBox="1"/>
          <p:nvPr/>
        </p:nvSpPr>
        <p:spPr>
          <a:xfrm>
            <a:off x="640080" y="3063240"/>
            <a:ext cx="640080" cy="457200"/>
          </a:xfrm>
          <a:prstGeom prst="rect">
            <a:avLst/>
          </a:prstGeom>
          <a:noFill/>
          <a:ln/>
        </p:spPr>
        <p:txBody>
          <a:bodyPr wrap="square" lIns="0" tIns="0" rIns="0" bIns="0" rtlCol="0" anchor="ctr"/>
          <a:lstStyle/>
          <a:p>
            <a:pPr indent="0" marL="0">
              <a:buNone/>
            </a:pPr>
            <a:r>
              <a:rPr lang="en-US" sz="2000" b="1" dirty="0">
                <a:solidFill>
                  <a:srgbClr val="4ADE80"/>
                </a:solidFill>
                <a:latin typeface="Courier New" pitchFamily="34" charset="0"/>
                <a:ea typeface="Courier New" pitchFamily="34" charset="-122"/>
                <a:cs typeface="Courier New" pitchFamily="34" charset="-120"/>
              </a:rPr>
              <a:t>03</a:t>
            </a:r>
            <a:endParaRPr lang="en-US" sz="2000" dirty="0"/>
          </a:p>
        </p:txBody>
      </p:sp>
      <p:sp>
        <p:nvSpPr>
          <p:cNvPr id="11" name="Text 9"/>
          <p:cNvSpPr txBox="1"/>
          <p:nvPr/>
        </p:nvSpPr>
        <p:spPr>
          <a:xfrm>
            <a:off x="1325880" y="3063240"/>
            <a:ext cx="4480560" cy="34747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The catch</a:t>
            </a:r>
            <a:endParaRPr lang="en-US" sz="1800" dirty="0"/>
          </a:p>
        </p:txBody>
      </p:sp>
      <p:sp>
        <p:nvSpPr>
          <p:cNvPr id="12" name="Text 10"/>
          <p:cNvSpPr txBox="1"/>
          <p:nvPr/>
        </p:nvSpPr>
        <p:spPr>
          <a:xfrm>
            <a:off x="1325880" y="3410712"/>
            <a:ext cx="4480560" cy="457200"/>
          </a:xfrm>
          <a:prstGeom prst="rect">
            <a:avLst/>
          </a:prstGeom>
          <a:noFill/>
          <a:ln/>
        </p:spPr>
        <p:txBody>
          <a:bodyPr wrap="square" lIns="0" tIns="0" rIns="0" bIns="0" rtlCol="0" anchor="ctr"/>
          <a:lstStyle/>
          <a:p>
            <a:pPr indent="0" marL="0">
              <a:buNone/>
            </a:pPr>
            <a:r>
              <a:rPr lang="en-US" sz="1300" dirty="0">
                <a:solidFill>
                  <a:srgbClr val="8A94A6"/>
                </a:solidFill>
                <a:latin typeface="Calibri" pitchFamily="34" charset="0"/>
                <a:ea typeface="Calibri" pitchFamily="34" charset="-122"/>
                <a:cs typeface="Calibri" pitchFamily="34" charset="-120"/>
              </a:rPr>
              <a:t>Nx 23 gates the wrapper task behind Nx Cloud</a:t>
            </a:r>
            <a:endParaRPr lang="en-US" sz="1300" dirty="0"/>
          </a:p>
        </p:txBody>
      </p:sp>
      <p:sp>
        <p:nvSpPr>
          <p:cNvPr id="13" name="Text 11"/>
          <p:cNvSpPr txBox="1"/>
          <p:nvPr/>
        </p:nvSpPr>
        <p:spPr>
          <a:xfrm>
            <a:off x="6263640" y="3063240"/>
            <a:ext cx="640080" cy="457200"/>
          </a:xfrm>
          <a:prstGeom prst="rect">
            <a:avLst/>
          </a:prstGeom>
          <a:noFill/>
          <a:ln/>
        </p:spPr>
        <p:txBody>
          <a:bodyPr wrap="square" lIns="0" tIns="0" rIns="0" bIns="0" rtlCol="0" anchor="ctr"/>
          <a:lstStyle/>
          <a:p>
            <a:pPr indent="0" marL="0">
              <a:buNone/>
            </a:pPr>
            <a:r>
              <a:rPr lang="en-US" sz="2000" b="1" dirty="0">
                <a:solidFill>
                  <a:srgbClr val="4ADE80"/>
                </a:solidFill>
                <a:latin typeface="Courier New" pitchFamily="34" charset="0"/>
                <a:ea typeface="Courier New" pitchFamily="34" charset="-122"/>
                <a:cs typeface="Courier New" pitchFamily="34" charset="-120"/>
              </a:rPr>
              <a:t>04</a:t>
            </a:r>
            <a:endParaRPr lang="en-US" sz="2000" dirty="0"/>
          </a:p>
        </p:txBody>
      </p:sp>
      <p:sp>
        <p:nvSpPr>
          <p:cNvPr id="14" name="Text 12"/>
          <p:cNvSpPr txBox="1"/>
          <p:nvPr/>
        </p:nvSpPr>
        <p:spPr>
          <a:xfrm>
            <a:off x="6949440" y="3063240"/>
            <a:ext cx="4480560" cy="34747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Parallel, no cloud</a:t>
            </a:r>
            <a:endParaRPr lang="en-US" sz="1800" dirty="0"/>
          </a:p>
        </p:txBody>
      </p:sp>
      <p:sp>
        <p:nvSpPr>
          <p:cNvPr id="15" name="Text 13"/>
          <p:cNvSpPr txBox="1"/>
          <p:nvPr/>
        </p:nvSpPr>
        <p:spPr>
          <a:xfrm>
            <a:off x="6949440" y="3410712"/>
            <a:ext cx="4480560" cy="457200"/>
          </a:xfrm>
          <a:prstGeom prst="rect">
            <a:avLst/>
          </a:prstGeom>
          <a:noFill/>
          <a:ln/>
        </p:spPr>
        <p:txBody>
          <a:bodyPr wrap="square" lIns="0" tIns="0" rIns="0" bIns="0" rtlCol="0" anchor="ctr"/>
          <a:lstStyle/>
          <a:p>
            <a:pPr indent="0" marL="0">
              <a:buNone/>
            </a:pPr>
            <a:r>
              <a:rPr lang="en-US" sz="1300" dirty="0">
                <a:solidFill>
                  <a:srgbClr val="8A94A6"/>
                </a:solidFill>
                <a:latin typeface="Calibri" pitchFamily="34" charset="0"/>
                <a:ea typeface="Calibri" pitchFamily="34" charset="-122"/>
                <a:cs typeface="Calibri" pitchFamily="34" charset="-120"/>
              </a:rPr>
              <a:t>The same command locally and on CI</a:t>
            </a:r>
            <a:endParaRPr lang="en-US" sz="1300" dirty="0"/>
          </a:p>
        </p:txBody>
      </p:sp>
      <p:sp>
        <p:nvSpPr>
          <p:cNvPr id="16" name="Text 14"/>
          <p:cNvSpPr txBox="1"/>
          <p:nvPr/>
        </p:nvSpPr>
        <p:spPr>
          <a:xfrm>
            <a:off x="640080" y="4297680"/>
            <a:ext cx="640080" cy="457200"/>
          </a:xfrm>
          <a:prstGeom prst="rect">
            <a:avLst/>
          </a:prstGeom>
          <a:noFill/>
          <a:ln/>
        </p:spPr>
        <p:txBody>
          <a:bodyPr wrap="square" lIns="0" tIns="0" rIns="0" bIns="0" rtlCol="0" anchor="ctr"/>
          <a:lstStyle/>
          <a:p>
            <a:pPr indent="0" marL="0">
              <a:buNone/>
            </a:pPr>
            <a:r>
              <a:rPr lang="en-US" sz="2000" b="1" dirty="0">
                <a:solidFill>
                  <a:srgbClr val="4ADE80"/>
                </a:solidFill>
                <a:latin typeface="Courier New" pitchFamily="34" charset="0"/>
                <a:ea typeface="Courier New" pitchFamily="34" charset="-122"/>
                <a:cs typeface="Courier New" pitchFamily="34" charset="-120"/>
              </a:rPr>
              <a:t>05</a:t>
            </a:r>
            <a:endParaRPr lang="en-US" sz="2000" dirty="0"/>
          </a:p>
        </p:txBody>
      </p:sp>
      <p:sp>
        <p:nvSpPr>
          <p:cNvPr id="17" name="Text 15"/>
          <p:cNvSpPr txBox="1"/>
          <p:nvPr/>
        </p:nvSpPr>
        <p:spPr>
          <a:xfrm>
            <a:off x="1325880" y="4297680"/>
            <a:ext cx="4480560" cy="34747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The cache</a:t>
            </a:r>
            <a:endParaRPr lang="en-US" sz="1800" dirty="0"/>
          </a:p>
        </p:txBody>
      </p:sp>
      <p:sp>
        <p:nvSpPr>
          <p:cNvPr id="18" name="Text 16"/>
          <p:cNvSpPr txBox="1"/>
          <p:nvPr/>
        </p:nvSpPr>
        <p:spPr>
          <a:xfrm>
            <a:off x="1325880" y="4645152"/>
            <a:ext cx="4480560" cy="457200"/>
          </a:xfrm>
          <a:prstGeom prst="rect">
            <a:avLst/>
          </a:prstGeom>
          <a:noFill/>
          <a:ln/>
        </p:spPr>
        <p:txBody>
          <a:bodyPr wrap="square" lIns="0" tIns="0" rIns="0" bIns="0" rtlCol="0" anchor="ctr"/>
          <a:lstStyle/>
          <a:p>
            <a:pPr indent="0" marL="0">
              <a:buNone/>
            </a:pPr>
            <a:r>
              <a:rPr lang="en-US" sz="1300" dirty="0">
                <a:solidFill>
                  <a:srgbClr val="8A94A6"/>
                </a:solidFill>
                <a:latin typeface="Calibri" pitchFamily="34" charset="0"/>
                <a:ea typeface="Calibri" pitchFamily="34" charset="-122"/>
                <a:cs typeface="Calibri" pitchFamily="34" charset="-120"/>
              </a:rPr>
              <a:t>Why a re-run only executes the failures</a:t>
            </a:r>
            <a:endParaRPr lang="en-US" sz="1300" dirty="0"/>
          </a:p>
        </p:txBody>
      </p:sp>
      <p:sp>
        <p:nvSpPr>
          <p:cNvPr id="19" name="Text 17"/>
          <p:cNvSpPr txBox="1"/>
          <p:nvPr/>
        </p:nvSpPr>
        <p:spPr>
          <a:xfrm>
            <a:off x="6263640" y="4297680"/>
            <a:ext cx="640080" cy="457200"/>
          </a:xfrm>
          <a:prstGeom prst="rect">
            <a:avLst/>
          </a:prstGeom>
          <a:noFill/>
          <a:ln/>
        </p:spPr>
        <p:txBody>
          <a:bodyPr wrap="square" lIns="0" tIns="0" rIns="0" bIns="0" rtlCol="0" anchor="ctr"/>
          <a:lstStyle/>
          <a:p>
            <a:pPr indent="0" marL="0">
              <a:buNone/>
            </a:pPr>
            <a:r>
              <a:rPr lang="en-US" sz="2000" b="1" dirty="0">
                <a:solidFill>
                  <a:srgbClr val="4ADE80"/>
                </a:solidFill>
                <a:latin typeface="Courier New" pitchFamily="34" charset="0"/>
                <a:ea typeface="Courier New" pitchFamily="34" charset="-122"/>
                <a:cs typeface="Courier New" pitchFamily="34" charset="-120"/>
              </a:rPr>
              <a:t>06</a:t>
            </a:r>
            <a:endParaRPr lang="en-US" sz="2000" dirty="0"/>
          </a:p>
        </p:txBody>
      </p:sp>
      <p:sp>
        <p:nvSpPr>
          <p:cNvPr id="20" name="Text 18"/>
          <p:cNvSpPr txBox="1"/>
          <p:nvPr/>
        </p:nvSpPr>
        <p:spPr>
          <a:xfrm>
            <a:off x="6949440" y="4297680"/>
            <a:ext cx="4480560" cy="34747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Scale</a:t>
            </a:r>
            <a:endParaRPr lang="en-US" sz="1800" dirty="0"/>
          </a:p>
        </p:txBody>
      </p:sp>
      <p:sp>
        <p:nvSpPr>
          <p:cNvPr id="21" name="Text 19"/>
          <p:cNvSpPr txBox="1"/>
          <p:nvPr/>
        </p:nvSpPr>
        <p:spPr>
          <a:xfrm>
            <a:off x="6949440" y="4645152"/>
            <a:ext cx="4480560" cy="457200"/>
          </a:xfrm>
          <a:prstGeom prst="rect">
            <a:avLst/>
          </a:prstGeom>
          <a:noFill/>
          <a:ln/>
        </p:spPr>
        <p:txBody>
          <a:bodyPr wrap="square" lIns="0" tIns="0" rIns="0" bIns="0" rtlCol="0" anchor="ctr"/>
          <a:lstStyle/>
          <a:p>
            <a:pPr indent="0" marL="0">
              <a:buNone/>
            </a:pPr>
            <a:r>
              <a:rPr lang="en-US" sz="1300" dirty="0">
                <a:solidFill>
                  <a:srgbClr val="8A94A6"/>
                </a:solidFill>
                <a:latin typeface="Calibri" pitchFamily="34" charset="0"/>
                <a:ea typeface="Calibri" pitchFamily="34" charset="-122"/>
                <a:cs typeface="Calibri" pitchFamily="34" charset="-120"/>
              </a:rPr>
              <a:t>Three apps, 30 targets, and what it did on a real project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B45309"/>
                </a:solidFill>
                <a:latin typeface="Calibri" pitchFamily="34" charset="0"/>
                <a:ea typeface="Calibri" pitchFamily="34" charset="-122"/>
                <a:cs typeface="Calibri" pitchFamily="34" charset="-120"/>
              </a:rPr>
              <a:t>SECTION 01 · THE PROBLEM</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10131A"/>
                </a:solidFill>
                <a:latin typeface="Cambria" pitchFamily="34" charset="0"/>
                <a:ea typeface="Cambria" pitchFamily="34" charset="-122"/>
                <a:cs typeface="Cambria" pitchFamily="34" charset="-120"/>
              </a:rPr>
              <a:t>A few questions for the room</a:t>
            </a:r>
            <a:endParaRPr lang="en-US" sz="3800" dirty="0"/>
          </a:p>
        </p:txBody>
      </p:sp>
      <p:sp>
        <p:nvSpPr>
          <p:cNvPr id="4" name="Shape 2"/>
          <p:cNvSpPr/>
          <p:nvPr/>
        </p:nvSpPr>
        <p:spPr>
          <a:xfrm>
            <a:off x="640080" y="2011680"/>
            <a:ext cx="3429000" cy="2331720"/>
          </a:xfrm>
          <a:prstGeom prst="roundRect">
            <a:avLst>
              <a:gd name="adj" fmla="val 3529"/>
            </a:avLst>
          </a:prstGeom>
          <a:solidFill>
            <a:srgbClr val="FFFFFF"/>
          </a:solidFill>
          <a:ln w="12700">
            <a:solidFill>
              <a:srgbClr val="E2E6ED"/>
            </a:solidFill>
            <a:prstDash val="solid"/>
          </a:ln>
        </p:spPr>
      </p:sp>
      <p:sp>
        <p:nvSpPr>
          <p:cNvPr id="5" name="Shape 3"/>
          <p:cNvSpPr/>
          <p:nvPr/>
        </p:nvSpPr>
        <p:spPr>
          <a:xfrm>
            <a:off x="868680" y="2240280"/>
            <a:ext cx="566928" cy="566928"/>
          </a:xfrm>
          <a:prstGeom prst="ellipse">
            <a:avLst/>
          </a:prstGeom>
          <a:solidFill>
            <a:srgbClr val="DCF5E7"/>
          </a:solidFill>
          <a:ln w="12700">
            <a:solidFill>
              <a:srgbClr val="333333"/>
            </a:solidFill>
            <a:prstDash val="solid"/>
          </a:ln>
        </p:spPr>
      </p:sp>
      <p:sp>
        <p:nvSpPr>
          <p:cNvPr id="6" name="Text 4"/>
          <p:cNvSpPr txBox="1"/>
          <p:nvPr/>
        </p:nvSpPr>
        <p:spPr>
          <a:xfrm>
            <a:off x="868680" y="2240280"/>
            <a:ext cx="566928" cy="566928"/>
          </a:xfrm>
          <a:prstGeom prst="rect">
            <a:avLst/>
          </a:prstGeom>
          <a:noFill/>
          <a:ln/>
        </p:spPr>
        <p:txBody>
          <a:bodyPr wrap="square" lIns="0" tIns="0" rIns="0" bIns="0" rtlCol="0" anchor="ctr"/>
          <a:lstStyle/>
          <a:p>
            <a:pPr algn="ctr" indent="0" marL="0">
              <a:buNone/>
            </a:pPr>
            <a:r>
              <a:rPr lang="en-US" sz="2000" b="1" dirty="0">
                <a:solidFill>
                  <a:srgbClr val="14603C"/>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868680" y="2971800"/>
            <a:ext cx="2971800" cy="822960"/>
          </a:xfrm>
          <a:prstGeom prst="rect">
            <a:avLst/>
          </a:prstGeom>
          <a:noFill/>
          <a:ln/>
        </p:spPr>
        <p:txBody>
          <a:bodyPr wrap="square" lIns="0" tIns="0" rIns="0" bIns="0" rtlCol="0" anchor="t"/>
          <a:lstStyle/>
          <a:p>
            <a:pPr indent="0" marL="0">
              <a:buNone/>
            </a:pPr>
            <a:r>
              <a:rPr lang="en-US" sz="1900" b="1" dirty="0">
                <a:solidFill>
                  <a:srgbClr val="10131A"/>
                </a:solidFill>
                <a:latin typeface="Calibri" pitchFamily="34" charset="0"/>
                <a:ea typeface="Calibri" pitchFamily="34" charset="-122"/>
                <a:cs typeface="Calibri" pitchFamily="34" charset="-120"/>
              </a:rPr>
              <a:t>Who runs E2E tests?</a:t>
            </a:r>
            <a:endParaRPr lang="en-US" sz="1900" dirty="0"/>
          </a:p>
        </p:txBody>
      </p:sp>
      <p:sp>
        <p:nvSpPr>
          <p:cNvPr id="8" name="Text 6"/>
          <p:cNvSpPr txBox="1"/>
          <p:nvPr/>
        </p:nvSpPr>
        <p:spPr>
          <a:xfrm>
            <a:off x="868680" y="3794760"/>
            <a:ext cx="2971800" cy="411480"/>
          </a:xfrm>
          <a:prstGeom prst="rect">
            <a:avLst/>
          </a:prstGeom>
          <a:noFill/>
          <a:ln/>
        </p:spPr>
        <p:txBody>
          <a:bodyPr wrap="square" lIns="0" tIns="0" rIns="0" bIns="0" rtlCol="0" anchor="ctr"/>
          <a:lstStyle/>
          <a:p>
            <a:pPr indent="0" marL="0">
              <a:buNone/>
            </a:pPr>
            <a:r>
              <a:rPr lang="en-US" sz="1300" i="1" dirty="0">
                <a:solidFill>
                  <a:srgbClr val="8A94A6"/>
                </a:solidFill>
                <a:latin typeface="Calibri" pitchFamily="34" charset="0"/>
                <a:ea typeface="Calibri" pitchFamily="34" charset="-122"/>
                <a:cs typeface="Calibri" pitchFamily="34" charset="-120"/>
              </a:rPr>
              <a:t>Most hands go up.</a:t>
            </a:r>
            <a:endParaRPr lang="en-US" sz="1300" dirty="0"/>
          </a:p>
        </p:txBody>
      </p:sp>
      <p:sp>
        <p:nvSpPr>
          <p:cNvPr id="9" name="Shape 7"/>
          <p:cNvSpPr/>
          <p:nvPr/>
        </p:nvSpPr>
        <p:spPr>
          <a:xfrm>
            <a:off x="4343400" y="2011680"/>
            <a:ext cx="3429000" cy="2331720"/>
          </a:xfrm>
          <a:prstGeom prst="roundRect">
            <a:avLst>
              <a:gd name="adj" fmla="val 3529"/>
            </a:avLst>
          </a:prstGeom>
          <a:solidFill>
            <a:srgbClr val="F2F4F7"/>
          </a:solidFill>
          <a:ln w="12700">
            <a:solidFill>
              <a:srgbClr val="DDE3EA"/>
            </a:solidFill>
            <a:prstDash val="dash"/>
          </a:ln>
        </p:spPr>
      </p:sp>
      <p:sp>
        <p:nvSpPr>
          <p:cNvPr id="10" name="Text 8"/>
          <p:cNvSpPr txBox="1"/>
          <p:nvPr/>
        </p:nvSpPr>
        <p:spPr>
          <a:xfrm>
            <a:off x="4343400" y="2011680"/>
            <a:ext cx="3429000" cy="2331720"/>
          </a:xfrm>
          <a:prstGeom prst="rect">
            <a:avLst/>
          </a:prstGeom>
          <a:noFill/>
          <a:ln/>
        </p:spPr>
        <p:txBody>
          <a:bodyPr wrap="square" lIns="0" tIns="0" rIns="0" bIns="0" rtlCol="0" anchor="ctr"/>
          <a:lstStyle/>
          <a:p>
            <a:pPr algn="ctr" indent="0" marL="0">
              <a:buNone/>
            </a:pPr>
            <a:r>
              <a:rPr lang="en-US" sz="4000" b="1" dirty="0">
                <a:solidFill>
                  <a:srgbClr val="D8DEE7"/>
                </a:solidFill>
                <a:latin typeface="Cambria" pitchFamily="34" charset="0"/>
                <a:ea typeface="Cambria" pitchFamily="34" charset="-122"/>
                <a:cs typeface="Cambria" pitchFamily="34" charset="-120"/>
              </a:rPr>
              <a:t>2</a:t>
            </a:r>
            <a:endParaRPr lang="en-US" sz="4000" dirty="0"/>
          </a:p>
        </p:txBody>
      </p:sp>
      <p:sp>
        <p:nvSpPr>
          <p:cNvPr id="11" name="Shape 9"/>
          <p:cNvSpPr/>
          <p:nvPr/>
        </p:nvSpPr>
        <p:spPr>
          <a:xfrm>
            <a:off x="8046720" y="2011680"/>
            <a:ext cx="3429000" cy="2331720"/>
          </a:xfrm>
          <a:prstGeom prst="roundRect">
            <a:avLst>
              <a:gd name="adj" fmla="val 3529"/>
            </a:avLst>
          </a:prstGeom>
          <a:solidFill>
            <a:srgbClr val="F2F4F7"/>
          </a:solidFill>
          <a:ln w="12700">
            <a:solidFill>
              <a:srgbClr val="DDE3EA"/>
            </a:solidFill>
            <a:prstDash val="dash"/>
          </a:ln>
        </p:spPr>
      </p:sp>
      <p:sp>
        <p:nvSpPr>
          <p:cNvPr id="12" name="Text 10"/>
          <p:cNvSpPr txBox="1"/>
          <p:nvPr/>
        </p:nvSpPr>
        <p:spPr>
          <a:xfrm>
            <a:off x="8046720" y="2011680"/>
            <a:ext cx="3429000" cy="2331720"/>
          </a:xfrm>
          <a:prstGeom prst="rect">
            <a:avLst/>
          </a:prstGeom>
          <a:noFill/>
          <a:ln/>
        </p:spPr>
        <p:txBody>
          <a:bodyPr wrap="square" lIns="0" tIns="0" rIns="0" bIns="0" rtlCol="0" anchor="ctr"/>
          <a:lstStyle/>
          <a:p>
            <a:pPr algn="ctr" indent="0" marL="0">
              <a:buNone/>
            </a:pPr>
            <a:r>
              <a:rPr lang="en-US" sz="4000" b="1" dirty="0">
                <a:solidFill>
                  <a:srgbClr val="D8DEE7"/>
                </a:solidFill>
                <a:latin typeface="Cambria" pitchFamily="34" charset="0"/>
                <a:ea typeface="Cambria" pitchFamily="34" charset="-122"/>
                <a:cs typeface="Cambria" pitchFamily="34" charset="-120"/>
              </a:rPr>
              <a:t>3</a:t>
            </a:r>
            <a:endParaRPr lang="en-US" sz="4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B45309"/>
                </a:solidFill>
                <a:latin typeface="Calibri" pitchFamily="34" charset="0"/>
                <a:ea typeface="Calibri" pitchFamily="34" charset="-122"/>
                <a:cs typeface="Calibri" pitchFamily="34" charset="-120"/>
              </a:rPr>
              <a:t>SECTION 01 · THE PROBLEM</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10131A"/>
                </a:solidFill>
                <a:latin typeface="Cambria" pitchFamily="34" charset="0"/>
                <a:ea typeface="Cambria" pitchFamily="34" charset="-122"/>
                <a:cs typeface="Cambria" pitchFamily="34" charset="-120"/>
              </a:rPr>
              <a:t>A few questions for the room</a:t>
            </a:r>
            <a:endParaRPr lang="en-US" sz="3800" dirty="0"/>
          </a:p>
        </p:txBody>
      </p:sp>
      <p:sp>
        <p:nvSpPr>
          <p:cNvPr id="4" name="Shape 2"/>
          <p:cNvSpPr/>
          <p:nvPr/>
        </p:nvSpPr>
        <p:spPr>
          <a:xfrm>
            <a:off x="640080" y="2011680"/>
            <a:ext cx="3429000" cy="2331720"/>
          </a:xfrm>
          <a:prstGeom prst="roundRect">
            <a:avLst>
              <a:gd name="adj" fmla="val 3529"/>
            </a:avLst>
          </a:prstGeom>
          <a:solidFill>
            <a:srgbClr val="FFFFFF"/>
          </a:solidFill>
          <a:ln w="12700">
            <a:solidFill>
              <a:srgbClr val="E2E6ED"/>
            </a:solidFill>
            <a:prstDash val="solid"/>
          </a:ln>
        </p:spPr>
      </p:sp>
      <p:sp>
        <p:nvSpPr>
          <p:cNvPr id="5" name="Shape 3"/>
          <p:cNvSpPr/>
          <p:nvPr/>
        </p:nvSpPr>
        <p:spPr>
          <a:xfrm>
            <a:off x="868680" y="2240280"/>
            <a:ext cx="566928" cy="566928"/>
          </a:xfrm>
          <a:prstGeom prst="ellipse">
            <a:avLst/>
          </a:prstGeom>
          <a:solidFill>
            <a:srgbClr val="DCF5E7"/>
          </a:solidFill>
          <a:ln w="12700">
            <a:solidFill>
              <a:srgbClr val="333333"/>
            </a:solidFill>
            <a:prstDash val="solid"/>
          </a:ln>
        </p:spPr>
      </p:sp>
      <p:sp>
        <p:nvSpPr>
          <p:cNvPr id="6" name="Text 4"/>
          <p:cNvSpPr txBox="1"/>
          <p:nvPr/>
        </p:nvSpPr>
        <p:spPr>
          <a:xfrm>
            <a:off x="868680" y="2240280"/>
            <a:ext cx="566928" cy="566928"/>
          </a:xfrm>
          <a:prstGeom prst="rect">
            <a:avLst/>
          </a:prstGeom>
          <a:noFill/>
          <a:ln/>
        </p:spPr>
        <p:txBody>
          <a:bodyPr wrap="square" lIns="0" tIns="0" rIns="0" bIns="0" rtlCol="0" anchor="ctr"/>
          <a:lstStyle/>
          <a:p>
            <a:pPr algn="ctr" indent="0" marL="0">
              <a:buNone/>
            </a:pPr>
            <a:r>
              <a:rPr lang="en-US" sz="2000" b="1" dirty="0">
                <a:solidFill>
                  <a:srgbClr val="14603C"/>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868680" y="2971800"/>
            <a:ext cx="2971800" cy="822960"/>
          </a:xfrm>
          <a:prstGeom prst="rect">
            <a:avLst/>
          </a:prstGeom>
          <a:noFill/>
          <a:ln/>
        </p:spPr>
        <p:txBody>
          <a:bodyPr wrap="square" lIns="0" tIns="0" rIns="0" bIns="0" rtlCol="0" anchor="t"/>
          <a:lstStyle/>
          <a:p>
            <a:pPr indent="0" marL="0">
              <a:buNone/>
            </a:pPr>
            <a:r>
              <a:rPr lang="en-US" sz="1900" b="1" dirty="0">
                <a:solidFill>
                  <a:srgbClr val="10131A"/>
                </a:solidFill>
                <a:latin typeface="Calibri" pitchFamily="34" charset="0"/>
                <a:ea typeface="Calibri" pitchFamily="34" charset="-122"/>
                <a:cs typeface="Calibri" pitchFamily="34" charset="-120"/>
              </a:rPr>
              <a:t>Who runs E2E tests?</a:t>
            </a:r>
            <a:endParaRPr lang="en-US" sz="1900" dirty="0"/>
          </a:p>
        </p:txBody>
      </p:sp>
      <p:sp>
        <p:nvSpPr>
          <p:cNvPr id="8" name="Text 6"/>
          <p:cNvSpPr txBox="1"/>
          <p:nvPr/>
        </p:nvSpPr>
        <p:spPr>
          <a:xfrm>
            <a:off x="868680" y="3794760"/>
            <a:ext cx="2971800" cy="411480"/>
          </a:xfrm>
          <a:prstGeom prst="rect">
            <a:avLst/>
          </a:prstGeom>
          <a:noFill/>
          <a:ln/>
        </p:spPr>
        <p:txBody>
          <a:bodyPr wrap="square" lIns="0" tIns="0" rIns="0" bIns="0" rtlCol="0" anchor="ctr"/>
          <a:lstStyle/>
          <a:p>
            <a:pPr indent="0" marL="0">
              <a:buNone/>
            </a:pPr>
            <a:r>
              <a:rPr lang="en-US" sz="1300" i="1" dirty="0">
                <a:solidFill>
                  <a:srgbClr val="8A94A6"/>
                </a:solidFill>
                <a:latin typeface="Calibri" pitchFamily="34" charset="0"/>
                <a:ea typeface="Calibri" pitchFamily="34" charset="-122"/>
                <a:cs typeface="Calibri" pitchFamily="34" charset="-120"/>
              </a:rPr>
              <a:t>Most hands go up.</a:t>
            </a:r>
            <a:endParaRPr lang="en-US" sz="1300" dirty="0"/>
          </a:p>
        </p:txBody>
      </p:sp>
      <p:sp>
        <p:nvSpPr>
          <p:cNvPr id="9" name="Shape 7"/>
          <p:cNvSpPr/>
          <p:nvPr/>
        </p:nvSpPr>
        <p:spPr>
          <a:xfrm>
            <a:off x="4343400" y="2011680"/>
            <a:ext cx="3429000" cy="2331720"/>
          </a:xfrm>
          <a:prstGeom prst="roundRect">
            <a:avLst>
              <a:gd name="adj" fmla="val 3529"/>
            </a:avLst>
          </a:prstGeom>
          <a:solidFill>
            <a:srgbClr val="FFFFFF"/>
          </a:solidFill>
          <a:ln w="12700">
            <a:solidFill>
              <a:srgbClr val="E2E6ED"/>
            </a:solidFill>
            <a:prstDash val="solid"/>
          </a:ln>
        </p:spPr>
      </p:sp>
      <p:sp>
        <p:nvSpPr>
          <p:cNvPr id="10" name="Shape 8"/>
          <p:cNvSpPr/>
          <p:nvPr/>
        </p:nvSpPr>
        <p:spPr>
          <a:xfrm>
            <a:off x="4572000" y="2240280"/>
            <a:ext cx="566928" cy="566928"/>
          </a:xfrm>
          <a:prstGeom prst="ellipse">
            <a:avLst/>
          </a:prstGeom>
          <a:solidFill>
            <a:srgbClr val="DCF5E7"/>
          </a:solidFill>
          <a:ln w="12700">
            <a:solidFill>
              <a:srgbClr val="333333"/>
            </a:solidFill>
            <a:prstDash val="solid"/>
          </a:ln>
        </p:spPr>
      </p:sp>
      <p:sp>
        <p:nvSpPr>
          <p:cNvPr id="11" name="Text 9"/>
          <p:cNvSpPr txBox="1"/>
          <p:nvPr/>
        </p:nvSpPr>
        <p:spPr>
          <a:xfrm>
            <a:off x="4572000" y="2240280"/>
            <a:ext cx="566928" cy="566928"/>
          </a:xfrm>
          <a:prstGeom prst="rect">
            <a:avLst/>
          </a:prstGeom>
          <a:noFill/>
          <a:ln/>
        </p:spPr>
        <p:txBody>
          <a:bodyPr wrap="square" lIns="0" tIns="0" rIns="0" bIns="0" rtlCol="0" anchor="ctr"/>
          <a:lstStyle/>
          <a:p>
            <a:pPr algn="ctr" indent="0" marL="0">
              <a:buNone/>
            </a:pPr>
            <a:r>
              <a:rPr lang="en-US" sz="2000" b="1" dirty="0">
                <a:solidFill>
                  <a:srgbClr val="14603C"/>
                </a:solidFill>
                <a:latin typeface="Calibri" pitchFamily="34" charset="0"/>
                <a:ea typeface="Calibri" pitchFamily="34" charset="-122"/>
                <a:cs typeface="Calibri" pitchFamily="34" charset="-120"/>
              </a:rPr>
              <a:t>2</a:t>
            </a:r>
            <a:endParaRPr lang="en-US" sz="2000" dirty="0"/>
          </a:p>
        </p:txBody>
      </p:sp>
      <p:sp>
        <p:nvSpPr>
          <p:cNvPr id="12" name="Text 10"/>
          <p:cNvSpPr txBox="1"/>
          <p:nvPr/>
        </p:nvSpPr>
        <p:spPr>
          <a:xfrm>
            <a:off x="4572000" y="2971800"/>
            <a:ext cx="2971800" cy="822960"/>
          </a:xfrm>
          <a:prstGeom prst="rect">
            <a:avLst/>
          </a:prstGeom>
          <a:noFill/>
          <a:ln/>
        </p:spPr>
        <p:txBody>
          <a:bodyPr wrap="square" lIns="0" tIns="0" rIns="0" bIns="0" rtlCol="0" anchor="t"/>
          <a:lstStyle/>
          <a:p>
            <a:pPr indent="0" marL="0">
              <a:buNone/>
            </a:pPr>
            <a:r>
              <a:rPr lang="en-US" sz="1900" b="1" dirty="0">
                <a:solidFill>
                  <a:srgbClr val="10131A"/>
                </a:solidFill>
                <a:latin typeface="Calibri" pitchFamily="34" charset="0"/>
                <a:ea typeface="Calibri" pitchFamily="34" charset="-122"/>
                <a:cs typeface="Calibri" pitchFamily="34" charset="-120"/>
              </a:rPr>
              <a:t>Whose suite is green right now?</a:t>
            </a:r>
            <a:endParaRPr lang="en-US" sz="1900" dirty="0"/>
          </a:p>
        </p:txBody>
      </p:sp>
      <p:sp>
        <p:nvSpPr>
          <p:cNvPr id="13" name="Text 11"/>
          <p:cNvSpPr txBox="1"/>
          <p:nvPr/>
        </p:nvSpPr>
        <p:spPr>
          <a:xfrm>
            <a:off x="4572000" y="3794760"/>
            <a:ext cx="2971800" cy="411480"/>
          </a:xfrm>
          <a:prstGeom prst="rect">
            <a:avLst/>
          </a:prstGeom>
          <a:noFill/>
          <a:ln/>
        </p:spPr>
        <p:txBody>
          <a:bodyPr wrap="square" lIns="0" tIns="0" rIns="0" bIns="0" rtlCol="0" anchor="ctr"/>
          <a:lstStyle/>
          <a:p>
            <a:pPr indent="0" marL="0">
              <a:buNone/>
            </a:pPr>
            <a:r>
              <a:rPr lang="en-US" sz="1300" i="1" dirty="0">
                <a:solidFill>
                  <a:srgbClr val="8A94A6"/>
                </a:solidFill>
                <a:latin typeface="Calibri" pitchFamily="34" charset="0"/>
                <a:ea typeface="Calibri" pitchFamily="34" charset="-122"/>
                <a:cs typeface="Calibri" pitchFamily="34" charset="-120"/>
              </a:rPr>
              <a:t>Fewer hands. Some laughter.</a:t>
            </a:r>
            <a:endParaRPr lang="en-US" sz="1300" dirty="0"/>
          </a:p>
        </p:txBody>
      </p:sp>
      <p:sp>
        <p:nvSpPr>
          <p:cNvPr id="14" name="Shape 12"/>
          <p:cNvSpPr/>
          <p:nvPr/>
        </p:nvSpPr>
        <p:spPr>
          <a:xfrm>
            <a:off x="8046720" y="2011680"/>
            <a:ext cx="3429000" cy="2331720"/>
          </a:xfrm>
          <a:prstGeom prst="roundRect">
            <a:avLst>
              <a:gd name="adj" fmla="val 3529"/>
            </a:avLst>
          </a:prstGeom>
          <a:solidFill>
            <a:srgbClr val="F2F4F7"/>
          </a:solidFill>
          <a:ln w="12700">
            <a:solidFill>
              <a:srgbClr val="DDE3EA"/>
            </a:solidFill>
            <a:prstDash val="dash"/>
          </a:ln>
        </p:spPr>
      </p:sp>
      <p:sp>
        <p:nvSpPr>
          <p:cNvPr id="15" name="Text 13"/>
          <p:cNvSpPr txBox="1"/>
          <p:nvPr/>
        </p:nvSpPr>
        <p:spPr>
          <a:xfrm>
            <a:off x="8046720" y="2011680"/>
            <a:ext cx="3429000" cy="2331720"/>
          </a:xfrm>
          <a:prstGeom prst="rect">
            <a:avLst/>
          </a:prstGeom>
          <a:noFill/>
          <a:ln/>
        </p:spPr>
        <p:txBody>
          <a:bodyPr wrap="square" lIns="0" tIns="0" rIns="0" bIns="0" rtlCol="0" anchor="ctr"/>
          <a:lstStyle/>
          <a:p>
            <a:pPr algn="ctr" indent="0" marL="0">
              <a:buNone/>
            </a:pPr>
            <a:r>
              <a:rPr lang="en-US" sz="4000" b="1" dirty="0">
                <a:solidFill>
                  <a:srgbClr val="D8DEE7"/>
                </a:solidFill>
                <a:latin typeface="Cambria" pitchFamily="34" charset="0"/>
                <a:ea typeface="Cambria" pitchFamily="34" charset="-122"/>
                <a:cs typeface="Cambria" pitchFamily="34" charset="-120"/>
              </a:rPr>
              <a:t>3</a:t>
            </a:r>
            <a:endParaRPr lang="en-US" sz="4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B45309"/>
                </a:solidFill>
                <a:latin typeface="Calibri" pitchFamily="34" charset="0"/>
                <a:ea typeface="Calibri" pitchFamily="34" charset="-122"/>
                <a:cs typeface="Calibri" pitchFamily="34" charset="-120"/>
              </a:rPr>
              <a:t>SECTION 01 · THE PROBLEM</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10131A"/>
                </a:solidFill>
                <a:latin typeface="Cambria" pitchFamily="34" charset="0"/>
                <a:ea typeface="Cambria" pitchFamily="34" charset="-122"/>
                <a:cs typeface="Cambria" pitchFamily="34" charset="-120"/>
              </a:rPr>
              <a:t>A few questions for the room</a:t>
            </a:r>
            <a:endParaRPr lang="en-US" sz="3800" dirty="0"/>
          </a:p>
        </p:txBody>
      </p:sp>
      <p:sp>
        <p:nvSpPr>
          <p:cNvPr id="4" name="Shape 2"/>
          <p:cNvSpPr/>
          <p:nvPr/>
        </p:nvSpPr>
        <p:spPr>
          <a:xfrm>
            <a:off x="640080" y="2011680"/>
            <a:ext cx="3429000" cy="2331720"/>
          </a:xfrm>
          <a:prstGeom prst="roundRect">
            <a:avLst>
              <a:gd name="adj" fmla="val 3529"/>
            </a:avLst>
          </a:prstGeom>
          <a:solidFill>
            <a:srgbClr val="FFFFFF"/>
          </a:solidFill>
          <a:ln w="12700">
            <a:solidFill>
              <a:srgbClr val="E2E6ED"/>
            </a:solidFill>
            <a:prstDash val="solid"/>
          </a:ln>
        </p:spPr>
      </p:sp>
      <p:sp>
        <p:nvSpPr>
          <p:cNvPr id="5" name="Shape 3"/>
          <p:cNvSpPr/>
          <p:nvPr/>
        </p:nvSpPr>
        <p:spPr>
          <a:xfrm>
            <a:off x="868680" y="2240280"/>
            <a:ext cx="566928" cy="566928"/>
          </a:xfrm>
          <a:prstGeom prst="ellipse">
            <a:avLst/>
          </a:prstGeom>
          <a:solidFill>
            <a:srgbClr val="DCF5E7"/>
          </a:solidFill>
          <a:ln w="12700">
            <a:solidFill>
              <a:srgbClr val="333333"/>
            </a:solidFill>
            <a:prstDash val="solid"/>
          </a:ln>
        </p:spPr>
      </p:sp>
      <p:sp>
        <p:nvSpPr>
          <p:cNvPr id="6" name="Text 4"/>
          <p:cNvSpPr txBox="1"/>
          <p:nvPr/>
        </p:nvSpPr>
        <p:spPr>
          <a:xfrm>
            <a:off x="868680" y="2240280"/>
            <a:ext cx="566928" cy="566928"/>
          </a:xfrm>
          <a:prstGeom prst="rect">
            <a:avLst/>
          </a:prstGeom>
          <a:noFill/>
          <a:ln/>
        </p:spPr>
        <p:txBody>
          <a:bodyPr wrap="square" lIns="0" tIns="0" rIns="0" bIns="0" rtlCol="0" anchor="ctr"/>
          <a:lstStyle/>
          <a:p>
            <a:pPr algn="ctr" indent="0" marL="0">
              <a:buNone/>
            </a:pPr>
            <a:r>
              <a:rPr lang="en-US" sz="2000" b="1" dirty="0">
                <a:solidFill>
                  <a:srgbClr val="14603C"/>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868680" y="2971800"/>
            <a:ext cx="2971800" cy="822960"/>
          </a:xfrm>
          <a:prstGeom prst="rect">
            <a:avLst/>
          </a:prstGeom>
          <a:noFill/>
          <a:ln/>
        </p:spPr>
        <p:txBody>
          <a:bodyPr wrap="square" lIns="0" tIns="0" rIns="0" bIns="0" rtlCol="0" anchor="t"/>
          <a:lstStyle/>
          <a:p>
            <a:pPr indent="0" marL="0">
              <a:buNone/>
            </a:pPr>
            <a:r>
              <a:rPr lang="en-US" sz="1900" b="1" dirty="0">
                <a:solidFill>
                  <a:srgbClr val="10131A"/>
                </a:solidFill>
                <a:latin typeface="Calibri" pitchFamily="34" charset="0"/>
                <a:ea typeface="Calibri" pitchFamily="34" charset="-122"/>
                <a:cs typeface="Calibri" pitchFamily="34" charset="-120"/>
              </a:rPr>
              <a:t>Who runs E2E tests?</a:t>
            </a:r>
            <a:endParaRPr lang="en-US" sz="1900" dirty="0"/>
          </a:p>
        </p:txBody>
      </p:sp>
      <p:sp>
        <p:nvSpPr>
          <p:cNvPr id="8" name="Text 6"/>
          <p:cNvSpPr txBox="1"/>
          <p:nvPr/>
        </p:nvSpPr>
        <p:spPr>
          <a:xfrm>
            <a:off x="868680" y="3794760"/>
            <a:ext cx="2971800" cy="411480"/>
          </a:xfrm>
          <a:prstGeom prst="rect">
            <a:avLst/>
          </a:prstGeom>
          <a:noFill/>
          <a:ln/>
        </p:spPr>
        <p:txBody>
          <a:bodyPr wrap="square" lIns="0" tIns="0" rIns="0" bIns="0" rtlCol="0" anchor="ctr"/>
          <a:lstStyle/>
          <a:p>
            <a:pPr indent="0" marL="0">
              <a:buNone/>
            </a:pPr>
            <a:r>
              <a:rPr lang="en-US" sz="1300" i="1" dirty="0">
                <a:solidFill>
                  <a:srgbClr val="8A94A6"/>
                </a:solidFill>
                <a:latin typeface="Calibri" pitchFamily="34" charset="0"/>
                <a:ea typeface="Calibri" pitchFamily="34" charset="-122"/>
                <a:cs typeface="Calibri" pitchFamily="34" charset="-120"/>
              </a:rPr>
              <a:t>Most hands go up.</a:t>
            </a:r>
            <a:endParaRPr lang="en-US" sz="1300" dirty="0"/>
          </a:p>
        </p:txBody>
      </p:sp>
      <p:sp>
        <p:nvSpPr>
          <p:cNvPr id="9" name="Shape 7"/>
          <p:cNvSpPr/>
          <p:nvPr/>
        </p:nvSpPr>
        <p:spPr>
          <a:xfrm>
            <a:off x="4343400" y="2011680"/>
            <a:ext cx="3429000" cy="2331720"/>
          </a:xfrm>
          <a:prstGeom prst="roundRect">
            <a:avLst>
              <a:gd name="adj" fmla="val 3529"/>
            </a:avLst>
          </a:prstGeom>
          <a:solidFill>
            <a:srgbClr val="FFFFFF"/>
          </a:solidFill>
          <a:ln w="12700">
            <a:solidFill>
              <a:srgbClr val="E2E6ED"/>
            </a:solidFill>
            <a:prstDash val="solid"/>
          </a:ln>
        </p:spPr>
      </p:sp>
      <p:sp>
        <p:nvSpPr>
          <p:cNvPr id="10" name="Shape 8"/>
          <p:cNvSpPr/>
          <p:nvPr/>
        </p:nvSpPr>
        <p:spPr>
          <a:xfrm>
            <a:off x="4572000" y="2240280"/>
            <a:ext cx="566928" cy="566928"/>
          </a:xfrm>
          <a:prstGeom prst="ellipse">
            <a:avLst/>
          </a:prstGeom>
          <a:solidFill>
            <a:srgbClr val="DCF5E7"/>
          </a:solidFill>
          <a:ln w="12700">
            <a:solidFill>
              <a:srgbClr val="333333"/>
            </a:solidFill>
            <a:prstDash val="solid"/>
          </a:ln>
        </p:spPr>
      </p:sp>
      <p:sp>
        <p:nvSpPr>
          <p:cNvPr id="11" name="Text 9"/>
          <p:cNvSpPr txBox="1"/>
          <p:nvPr/>
        </p:nvSpPr>
        <p:spPr>
          <a:xfrm>
            <a:off x="4572000" y="2240280"/>
            <a:ext cx="566928" cy="566928"/>
          </a:xfrm>
          <a:prstGeom prst="rect">
            <a:avLst/>
          </a:prstGeom>
          <a:noFill/>
          <a:ln/>
        </p:spPr>
        <p:txBody>
          <a:bodyPr wrap="square" lIns="0" tIns="0" rIns="0" bIns="0" rtlCol="0" anchor="ctr"/>
          <a:lstStyle/>
          <a:p>
            <a:pPr algn="ctr" indent="0" marL="0">
              <a:buNone/>
            </a:pPr>
            <a:r>
              <a:rPr lang="en-US" sz="2000" b="1" dirty="0">
                <a:solidFill>
                  <a:srgbClr val="14603C"/>
                </a:solidFill>
                <a:latin typeface="Calibri" pitchFamily="34" charset="0"/>
                <a:ea typeface="Calibri" pitchFamily="34" charset="-122"/>
                <a:cs typeface="Calibri" pitchFamily="34" charset="-120"/>
              </a:rPr>
              <a:t>2</a:t>
            </a:r>
            <a:endParaRPr lang="en-US" sz="2000" dirty="0"/>
          </a:p>
        </p:txBody>
      </p:sp>
      <p:sp>
        <p:nvSpPr>
          <p:cNvPr id="12" name="Text 10"/>
          <p:cNvSpPr txBox="1"/>
          <p:nvPr/>
        </p:nvSpPr>
        <p:spPr>
          <a:xfrm>
            <a:off x="4572000" y="2971800"/>
            <a:ext cx="2971800" cy="822960"/>
          </a:xfrm>
          <a:prstGeom prst="rect">
            <a:avLst/>
          </a:prstGeom>
          <a:noFill/>
          <a:ln/>
        </p:spPr>
        <p:txBody>
          <a:bodyPr wrap="square" lIns="0" tIns="0" rIns="0" bIns="0" rtlCol="0" anchor="t"/>
          <a:lstStyle/>
          <a:p>
            <a:pPr indent="0" marL="0">
              <a:buNone/>
            </a:pPr>
            <a:r>
              <a:rPr lang="en-US" sz="1900" b="1" dirty="0">
                <a:solidFill>
                  <a:srgbClr val="10131A"/>
                </a:solidFill>
                <a:latin typeface="Calibri" pitchFamily="34" charset="0"/>
                <a:ea typeface="Calibri" pitchFamily="34" charset="-122"/>
                <a:cs typeface="Calibri" pitchFamily="34" charset="-120"/>
              </a:rPr>
              <a:t>Whose suite is green right now?</a:t>
            </a:r>
            <a:endParaRPr lang="en-US" sz="1900" dirty="0"/>
          </a:p>
        </p:txBody>
      </p:sp>
      <p:sp>
        <p:nvSpPr>
          <p:cNvPr id="13" name="Text 11"/>
          <p:cNvSpPr txBox="1"/>
          <p:nvPr/>
        </p:nvSpPr>
        <p:spPr>
          <a:xfrm>
            <a:off x="4572000" y="3794760"/>
            <a:ext cx="2971800" cy="411480"/>
          </a:xfrm>
          <a:prstGeom prst="rect">
            <a:avLst/>
          </a:prstGeom>
          <a:noFill/>
          <a:ln/>
        </p:spPr>
        <p:txBody>
          <a:bodyPr wrap="square" lIns="0" tIns="0" rIns="0" bIns="0" rtlCol="0" anchor="ctr"/>
          <a:lstStyle/>
          <a:p>
            <a:pPr indent="0" marL="0">
              <a:buNone/>
            </a:pPr>
            <a:r>
              <a:rPr lang="en-US" sz="1300" i="1" dirty="0">
                <a:solidFill>
                  <a:srgbClr val="8A94A6"/>
                </a:solidFill>
                <a:latin typeface="Calibri" pitchFamily="34" charset="0"/>
                <a:ea typeface="Calibri" pitchFamily="34" charset="-122"/>
                <a:cs typeface="Calibri" pitchFamily="34" charset="-120"/>
              </a:rPr>
              <a:t>Fewer hands. Some laughter.</a:t>
            </a:r>
            <a:endParaRPr lang="en-US" sz="1300" dirty="0"/>
          </a:p>
        </p:txBody>
      </p:sp>
      <p:sp>
        <p:nvSpPr>
          <p:cNvPr id="14" name="Shape 12"/>
          <p:cNvSpPr/>
          <p:nvPr/>
        </p:nvSpPr>
        <p:spPr>
          <a:xfrm>
            <a:off x="8046720" y="2011680"/>
            <a:ext cx="3429000" cy="2331720"/>
          </a:xfrm>
          <a:prstGeom prst="roundRect">
            <a:avLst>
              <a:gd name="adj" fmla="val 3529"/>
            </a:avLst>
          </a:prstGeom>
          <a:solidFill>
            <a:srgbClr val="FFFFFF"/>
          </a:solidFill>
          <a:ln w="12700">
            <a:solidFill>
              <a:srgbClr val="E2E6ED"/>
            </a:solidFill>
            <a:prstDash val="solid"/>
          </a:ln>
        </p:spPr>
      </p:sp>
      <p:sp>
        <p:nvSpPr>
          <p:cNvPr id="15" name="Shape 13"/>
          <p:cNvSpPr/>
          <p:nvPr/>
        </p:nvSpPr>
        <p:spPr>
          <a:xfrm>
            <a:off x="8275320" y="2240280"/>
            <a:ext cx="566928" cy="566928"/>
          </a:xfrm>
          <a:prstGeom prst="ellipse">
            <a:avLst/>
          </a:prstGeom>
          <a:solidFill>
            <a:srgbClr val="FBE0E2"/>
          </a:solidFill>
          <a:ln w="12700">
            <a:solidFill>
              <a:srgbClr val="333333"/>
            </a:solidFill>
            <a:prstDash val="solid"/>
          </a:ln>
        </p:spPr>
      </p:sp>
      <p:sp>
        <p:nvSpPr>
          <p:cNvPr id="16" name="Text 14"/>
          <p:cNvSpPr txBox="1"/>
          <p:nvPr/>
        </p:nvSpPr>
        <p:spPr>
          <a:xfrm>
            <a:off x="8275320" y="2240280"/>
            <a:ext cx="566928" cy="566928"/>
          </a:xfrm>
          <a:prstGeom prst="rect">
            <a:avLst/>
          </a:prstGeom>
          <a:noFill/>
          <a:ln/>
        </p:spPr>
        <p:txBody>
          <a:bodyPr wrap="square" lIns="0" tIns="0" rIns="0" bIns="0" rtlCol="0" anchor="ctr"/>
          <a:lstStyle/>
          <a:p>
            <a:pPr algn="ctr" indent="0" marL="0">
              <a:buNone/>
            </a:pPr>
            <a:r>
              <a:rPr lang="en-US" sz="2000" b="1" dirty="0">
                <a:solidFill>
                  <a:srgbClr val="8D1B22"/>
                </a:solidFill>
                <a:latin typeface="Calibri" pitchFamily="34" charset="0"/>
                <a:ea typeface="Calibri" pitchFamily="34" charset="-122"/>
                <a:cs typeface="Calibri" pitchFamily="34" charset="-120"/>
              </a:rPr>
              <a:t>3</a:t>
            </a:r>
            <a:endParaRPr lang="en-US" sz="2000" dirty="0"/>
          </a:p>
        </p:txBody>
      </p:sp>
      <p:sp>
        <p:nvSpPr>
          <p:cNvPr id="17" name="Text 15"/>
          <p:cNvSpPr txBox="1"/>
          <p:nvPr/>
        </p:nvSpPr>
        <p:spPr>
          <a:xfrm>
            <a:off x="8275320" y="2971800"/>
            <a:ext cx="2971800" cy="822960"/>
          </a:xfrm>
          <a:prstGeom prst="rect">
            <a:avLst/>
          </a:prstGeom>
          <a:noFill/>
          <a:ln/>
        </p:spPr>
        <p:txBody>
          <a:bodyPr wrap="square" lIns="0" tIns="0" rIns="0" bIns="0" rtlCol="0" anchor="t"/>
          <a:lstStyle/>
          <a:p>
            <a:pPr indent="0" marL="0">
              <a:buNone/>
            </a:pPr>
            <a:r>
              <a:rPr lang="en-US" sz="1900" b="1" dirty="0">
                <a:solidFill>
                  <a:srgbClr val="10131A"/>
                </a:solidFill>
                <a:latin typeface="Calibri" pitchFamily="34" charset="0"/>
                <a:ea typeface="Calibri" pitchFamily="34" charset="-122"/>
                <a:cs typeface="Calibri" pitchFamily="34" charset="-120"/>
              </a:rPr>
              <a:t>Who blocks a PR on it?</a:t>
            </a:r>
            <a:endParaRPr lang="en-US" sz="1900" dirty="0"/>
          </a:p>
        </p:txBody>
      </p:sp>
      <p:sp>
        <p:nvSpPr>
          <p:cNvPr id="18" name="Text 16"/>
          <p:cNvSpPr txBox="1"/>
          <p:nvPr/>
        </p:nvSpPr>
        <p:spPr>
          <a:xfrm>
            <a:off x="8275320" y="3794760"/>
            <a:ext cx="2971800" cy="411480"/>
          </a:xfrm>
          <a:prstGeom prst="rect">
            <a:avLst/>
          </a:prstGeom>
          <a:noFill/>
          <a:ln/>
        </p:spPr>
        <p:txBody>
          <a:bodyPr wrap="square" lIns="0" tIns="0" rIns="0" bIns="0" rtlCol="0" anchor="ctr"/>
          <a:lstStyle/>
          <a:p>
            <a:pPr indent="0" marL="0">
              <a:buNone/>
            </a:pPr>
            <a:r>
              <a:rPr lang="en-US" sz="1300" i="1" dirty="0">
                <a:solidFill>
                  <a:srgbClr val="8A94A6"/>
                </a:solidFill>
                <a:latin typeface="Calibri" pitchFamily="34" charset="0"/>
                <a:ea typeface="Calibri" pitchFamily="34" charset="-122"/>
                <a:cs typeface="Calibri" pitchFamily="34" charset="-120"/>
              </a:rPr>
              <a:t>Almost none.</a:t>
            </a:r>
            <a:endParaRPr lang="en-US" sz="1300" dirty="0"/>
          </a:p>
        </p:txBody>
      </p:sp>
      <p:sp>
        <p:nvSpPr>
          <p:cNvPr id="19" name="Shape 17"/>
          <p:cNvSpPr/>
          <p:nvPr/>
        </p:nvSpPr>
        <p:spPr>
          <a:xfrm>
            <a:off x="640080" y="4800600"/>
            <a:ext cx="10881360" cy="1051560"/>
          </a:xfrm>
          <a:prstGeom prst="roundRect">
            <a:avLst>
              <a:gd name="adj" fmla="val 6087"/>
            </a:avLst>
          </a:prstGeom>
          <a:solidFill>
            <a:srgbClr val="FFF7E6"/>
          </a:solidFill>
          <a:ln w="12700">
            <a:solidFill>
              <a:srgbClr val="F5A524"/>
            </a:solidFill>
            <a:prstDash val="solid"/>
          </a:ln>
        </p:spPr>
      </p:sp>
      <p:sp>
        <p:nvSpPr>
          <p:cNvPr id="20" name="Text 18"/>
          <p:cNvSpPr txBox="1"/>
          <p:nvPr/>
        </p:nvSpPr>
        <p:spPr>
          <a:xfrm>
            <a:off x="914400" y="4983480"/>
            <a:ext cx="10332720" cy="731520"/>
          </a:xfrm>
          <a:prstGeom prst="rect">
            <a:avLst/>
          </a:prstGeom>
          <a:noFill/>
          <a:ln/>
        </p:spPr>
        <p:txBody>
          <a:bodyPr wrap="square" lIns="0" tIns="0" rIns="0" bIns="0" rtlCol="0" anchor="ctr"/>
          <a:lstStyle/>
          <a:p>
            <a:pPr indent="0" marL="0">
              <a:buNone/>
            </a:pPr>
            <a:r>
              <a:rPr lang="en-US" sz="1500" dirty="0">
                <a:solidFill>
                  <a:srgbClr val="5B4308"/>
                </a:solidFill>
                <a:latin typeface="Calibri" pitchFamily="34" charset="0"/>
                <a:ea typeface="Calibri" pitchFamily="34" charset="-122"/>
                <a:cs typeface="Calibri" pitchFamily="34" charset="-120"/>
              </a:rPr>
              <a:t>The distance between the first hand and the last one is this talk. Nobody blocks a merge on a suite that takes an hour and fails for reasons nobody trusts.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31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F5A524"/>
                </a:solidFill>
                <a:latin typeface="Calibri" pitchFamily="34" charset="0"/>
                <a:ea typeface="Calibri" pitchFamily="34" charset="-122"/>
                <a:cs typeface="Calibri" pitchFamily="34" charset="-120"/>
              </a:rPr>
              <a:t>SECTION 01 · WHY NOW</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Change got cheap. Confidence did not.</a:t>
            </a:r>
            <a:endParaRPr lang="en-US" sz="3800" dirty="0"/>
          </a:p>
        </p:txBody>
      </p:sp>
      <p:sp>
        <p:nvSpPr>
          <p:cNvPr id="4" name="Shape 2"/>
          <p:cNvSpPr/>
          <p:nvPr/>
        </p:nvSpPr>
        <p:spPr>
          <a:xfrm>
            <a:off x="640080" y="1783080"/>
            <a:ext cx="5257800" cy="1874520"/>
          </a:xfrm>
          <a:prstGeom prst="roundRect">
            <a:avLst>
              <a:gd name="adj" fmla="val 4390"/>
            </a:avLst>
          </a:prstGeom>
          <a:solidFill>
            <a:srgbClr val="1B2029"/>
          </a:solidFill>
          <a:ln w="19050">
            <a:solidFill>
              <a:srgbClr val="4ADE80"/>
            </a:solidFill>
            <a:prstDash val="solid"/>
          </a:ln>
        </p:spPr>
      </p:sp>
      <p:sp>
        <p:nvSpPr>
          <p:cNvPr id="5" name="Text 3"/>
          <p:cNvSpPr txBox="1"/>
          <p:nvPr/>
        </p:nvSpPr>
        <p:spPr>
          <a:xfrm>
            <a:off x="914400" y="1965960"/>
            <a:ext cx="470916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Writing the change</a:t>
            </a:r>
            <a:endParaRPr lang="en-US" sz="1800" dirty="0"/>
          </a:p>
        </p:txBody>
      </p:sp>
      <p:sp>
        <p:nvSpPr>
          <p:cNvPr id="6" name="Text 4"/>
          <p:cNvSpPr txBox="1"/>
          <p:nvPr/>
        </p:nvSpPr>
        <p:spPr>
          <a:xfrm>
            <a:off x="914400" y="2359152"/>
            <a:ext cx="4709160" cy="411480"/>
          </a:xfrm>
          <a:prstGeom prst="rect">
            <a:avLst/>
          </a:prstGeom>
          <a:noFill/>
          <a:ln/>
        </p:spPr>
        <p:txBody>
          <a:bodyPr wrap="square" lIns="0" tIns="0" rIns="0" bIns="0" rtlCol="0" anchor="ctr"/>
          <a:lstStyle/>
          <a:p>
            <a:pPr indent="0" marL="0">
              <a:buNone/>
            </a:pPr>
            <a:r>
              <a:rPr lang="en-US" sz="2400" b="1" spc="100" kern="0" dirty="0">
                <a:solidFill>
                  <a:srgbClr val="4ADE80"/>
                </a:solidFill>
                <a:latin typeface="Courier New" pitchFamily="34" charset="0"/>
                <a:ea typeface="Courier New" pitchFamily="34" charset="-122"/>
                <a:cs typeface="Courier New" pitchFamily="34" charset="-120"/>
              </a:rPr>
              <a:t>MINUTES</a:t>
            </a:r>
            <a:endParaRPr lang="en-US" sz="2400" dirty="0"/>
          </a:p>
        </p:txBody>
      </p:sp>
      <p:sp>
        <p:nvSpPr>
          <p:cNvPr id="7" name="Text 5"/>
          <p:cNvSpPr txBox="1"/>
          <p:nvPr/>
        </p:nvSpPr>
        <p:spPr>
          <a:xfrm>
            <a:off x="914400" y="2852928"/>
            <a:ext cx="4709160" cy="685800"/>
          </a:xfrm>
          <a:prstGeom prst="rect">
            <a:avLst/>
          </a:prstGeom>
          <a:noFill/>
          <a:ln/>
        </p:spPr>
        <p:txBody>
          <a:bodyPr wrap="square" lIns="0" tIns="0" rIns="0" bIns="0" rtlCol="0" anchor="ctr"/>
          <a:lstStyle/>
          <a:p>
            <a:pPr indent="0" marL="0">
              <a:buNone/>
            </a:pPr>
            <a:r>
              <a:rPr lang="en-US" sz="1300" dirty="0">
                <a:solidFill>
                  <a:srgbClr val="C3CAD6"/>
                </a:solidFill>
                <a:latin typeface="Calibri" pitchFamily="34" charset="0"/>
                <a:ea typeface="Calibri" pitchFamily="34" charset="-122"/>
                <a:cs typeface="Calibri" pitchFamily="34" charset="-120"/>
              </a:rPr>
              <a:t>AI writes it, reviews it, refactors it. That cost collapsed this year.</a:t>
            </a:r>
            <a:endParaRPr lang="en-US" sz="1300" dirty="0"/>
          </a:p>
        </p:txBody>
      </p:sp>
      <p:sp>
        <p:nvSpPr>
          <p:cNvPr id="8" name="Shape 6"/>
          <p:cNvSpPr/>
          <p:nvPr/>
        </p:nvSpPr>
        <p:spPr>
          <a:xfrm>
            <a:off x="6263640" y="1783080"/>
            <a:ext cx="5257800" cy="1874520"/>
          </a:xfrm>
          <a:prstGeom prst="roundRect">
            <a:avLst>
              <a:gd name="adj" fmla="val 4390"/>
            </a:avLst>
          </a:prstGeom>
          <a:solidFill>
            <a:srgbClr val="1B2029"/>
          </a:solidFill>
          <a:ln w="19050">
            <a:solidFill>
              <a:srgbClr val="FB7185"/>
            </a:solidFill>
            <a:prstDash val="solid"/>
          </a:ln>
        </p:spPr>
      </p:sp>
      <p:sp>
        <p:nvSpPr>
          <p:cNvPr id="9" name="Text 7"/>
          <p:cNvSpPr txBox="1"/>
          <p:nvPr/>
        </p:nvSpPr>
        <p:spPr>
          <a:xfrm>
            <a:off x="6537960" y="1965960"/>
            <a:ext cx="470916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Trusting the change</a:t>
            </a:r>
            <a:endParaRPr lang="en-US" sz="1800" dirty="0"/>
          </a:p>
        </p:txBody>
      </p:sp>
      <p:sp>
        <p:nvSpPr>
          <p:cNvPr id="10" name="Text 8"/>
          <p:cNvSpPr txBox="1"/>
          <p:nvPr/>
        </p:nvSpPr>
        <p:spPr>
          <a:xfrm>
            <a:off x="6537960" y="2359152"/>
            <a:ext cx="4709160" cy="411480"/>
          </a:xfrm>
          <a:prstGeom prst="rect">
            <a:avLst/>
          </a:prstGeom>
          <a:noFill/>
          <a:ln/>
        </p:spPr>
        <p:txBody>
          <a:bodyPr wrap="square" lIns="0" tIns="0" rIns="0" bIns="0" rtlCol="0" anchor="ctr"/>
          <a:lstStyle/>
          <a:p>
            <a:pPr indent="0" marL="0">
              <a:buNone/>
            </a:pPr>
            <a:r>
              <a:rPr lang="en-US" sz="2400" b="1" spc="100" kern="0" dirty="0">
                <a:solidFill>
                  <a:srgbClr val="FB7185"/>
                </a:solidFill>
                <a:latin typeface="Courier New" pitchFamily="34" charset="0"/>
                <a:ea typeface="Courier New" pitchFamily="34" charset="-122"/>
                <a:cs typeface="Courier New" pitchFamily="34" charset="-120"/>
              </a:rPr>
              <a:t>AN HOUR</a:t>
            </a:r>
            <a:endParaRPr lang="en-US" sz="2400" dirty="0"/>
          </a:p>
        </p:txBody>
      </p:sp>
      <p:sp>
        <p:nvSpPr>
          <p:cNvPr id="11" name="Text 9"/>
          <p:cNvSpPr txBox="1"/>
          <p:nvPr/>
        </p:nvSpPr>
        <p:spPr>
          <a:xfrm>
            <a:off x="6537960" y="2852928"/>
            <a:ext cx="4709160" cy="685800"/>
          </a:xfrm>
          <a:prstGeom prst="rect">
            <a:avLst/>
          </a:prstGeom>
          <a:noFill/>
          <a:ln/>
        </p:spPr>
        <p:txBody>
          <a:bodyPr wrap="square" lIns="0" tIns="0" rIns="0" bIns="0" rtlCol="0" anchor="ctr"/>
          <a:lstStyle/>
          <a:p>
            <a:pPr indent="0" marL="0">
              <a:buNone/>
            </a:pPr>
            <a:r>
              <a:rPr lang="en-US" sz="1300" dirty="0">
                <a:solidFill>
                  <a:srgbClr val="C3CAD6"/>
                </a:solidFill>
                <a:latin typeface="Calibri" pitchFamily="34" charset="0"/>
                <a:ea typeface="Calibri" pitchFamily="34" charset="-122"/>
                <a:cs typeface="Calibri" pitchFamily="34" charset="-120"/>
              </a:rPr>
              <a:t>Same suite, same nightly run, same shrug. That cost did not move.</a:t>
            </a:r>
            <a:endParaRPr lang="en-US" sz="1300" dirty="0"/>
          </a:p>
        </p:txBody>
      </p:sp>
      <p:sp>
        <p:nvSpPr>
          <p:cNvPr id="12" name="Text 10"/>
          <p:cNvSpPr txBox="1"/>
          <p:nvPr/>
        </p:nvSpPr>
        <p:spPr>
          <a:xfrm>
            <a:off x="640080" y="3931920"/>
            <a:ext cx="10881360" cy="365760"/>
          </a:xfrm>
          <a:prstGeom prst="rect">
            <a:avLst/>
          </a:prstGeom>
          <a:noFill/>
          <a:ln/>
        </p:spPr>
        <p:txBody>
          <a:bodyPr wrap="square" lIns="0" tIns="0" rIns="0" bIns="0" rtlCol="0" anchor="ctr"/>
          <a:lstStyle/>
          <a:p>
            <a:pPr indent="0" marL="0">
              <a:buNone/>
            </a:pPr>
            <a:r>
              <a:rPr lang="en-US" sz="1600" b="1" dirty="0">
                <a:solidFill>
                  <a:srgbClr val="F5A524"/>
                </a:solidFill>
                <a:latin typeface="Calibri" pitchFamily="34" charset="0"/>
                <a:ea typeface="Calibri" pitchFamily="34" charset="-122"/>
                <a:cs typeface="Calibri" pitchFamily="34" charset="-120"/>
              </a:rPr>
              <a:t>What it should cost instead</a:t>
            </a:r>
            <a:endParaRPr lang="en-US" sz="1600" dirty="0"/>
          </a:p>
        </p:txBody>
      </p:sp>
      <p:sp>
        <p:nvSpPr>
          <p:cNvPr id="13" name="Text 11"/>
          <p:cNvSpPr txBox="1"/>
          <p:nvPr/>
        </p:nvSpPr>
        <p:spPr>
          <a:xfrm>
            <a:off x="640080" y="4434840"/>
            <a:ext cx="3931920" cy="384048"/>
          </a:xfrm>
          <a:prstGeom prst="rect">
            <a:avLst/>
          </a:prstGeom>
          <a:noFill/>
          <a:ln/>
        </p:spPr>
        <p:txBody>
          <a:bodyPr wrap="square" lIns="0" tIns="0" rIns="0" bIns="0" rtlCol="0" anchor="ctr"/>
          <a:lstStyle/>
          <a:p>
            <a:pPr indent="0" marL="0">
              <a:buNone/>
            </a:pPr>
            <a:r>
              <a:rPr lang="en-US" sz="1400" dirty="0">
                <a:solidFill>
                  <a:srgbClr val="C3CAD6"/>
                </a:solidFill>
                <a:latin typeface="Calibri" pitchFamily="34" charset="0"/>
                <a:ea typeface="Calibri" pitchFamily="34" charset="-122"/>
                <a:cs typeface="Calibri" pitchFamily="34" charset="-120"/>
              </a:rPr>
              <a:t>Today — every change runs everything</a:t>
            </a:r>
            <a:endParaRPr lang="en-US" sz="1400" dirty="0"/>
          </a:p>
        </p:txBody>
      </p:sp>
      <p:sp>
        <p:nvSpPr>
          <p:cNvPr id="14" name="Shape 12"/>
          <p:cNvSpPr/>
          <p:nvPr/>
        </p:nvSpPr>
        <p:spPr>
          <a:xfrm>
            <a:off x="4754880" y="4498848"/>
            <a:ext cx="4937760" cy="274320"/>
          </a:xfrm>
          <a:prstGeom prst="roundRect">
            <a:avLst>
              <a:gd name="adj" fmla="val 13333"/>
            </a:avLst>
          </a:prstGeom>
          <a:solidFill>
            <a:srgbClr val="F5A524"/>
          </a:solidFill>
          <a:ln w="12700">
            <a:solidFill>
              <a:srgbClr val="333333"/>
            </a:solidFill>
            <a:prstDash val="solid"/>
          </a:ln>
        </p:spPr>
      </p:sp>
      <p:sp>
        <p:nvSpPr>
          <p:cNvPr id="15" name="Text 13"/>
          <p:cNvSpPr txBox="1"/>
          <p:nvPr/>
        </p:nvSpPr>
        <p:spPr>
          <a:xfrm>
            <a:off x="9829800" y="4434840"/>
            <a:ext cx="1463040" cy="384048"/>
          </a:xfrm>
          <a:prstGeom prst="rect">
            <a:avLst/>
          </a:prstGeom>
          <a:noFill/>
          <a:ln/>
        </p:spPr>
        <p:txBody>
          <a:bodyPr wrap="square" lIns="0" tIns="0" rIns="0" bIns="0" rtlCol="0" anchor="ctr"/>
          <a:lstStyle/>
          <a:p>
            <a:pPr indent="0" marL="0">
              <a:buNone/>
            </a:pPr>
            <a:r>
              <a:rPr lang="en-US" sz="1500" b="1" dirty="0">
                <a:solidFill>
                  <a:srgbClr val="F5A524"/>
                </a:solidFill>
                <a:latin typeface="Calibri" pitchFamily="34" charset="0"/>
                <a:ea typeface="Calibri" pitchFamily="34" charset="-122"/>
                <a:cs typeface="Calibri" pitchFamily="34" charset="-120"/>
              </a:rPr>
              <a:t>60 min</a:t>
            </a:r>
            <a:endParaRPr lang="en-US" sz="1500" dirty="0"/>
          </a:p>
        </p:txBody>
      </p:sp>
      <p:sp>
        <p:nvSpPr>
          <p:cNvPr id="16" name="Text 14"/>
          <p:cNvSpPr txBox="1"/>
          <p:nvPr/>
        </p:nvSpPr>
        <p:spPr>
          <a:xfrm>
            <a:off x="640080" y="5093208"/>
            <a:ext cx="3931920" cy="384048"/>
          </a:xfrm>
          <a:prstGeom prst="rect">
            <a:avLst/>
          </a:prstGeom>
          <a:noFill/>
          <a:ln/>
        </p:spPr>
        <p:txBody>
          <a:bodyPr wrap="square" lIns="0" tIns="0" rIns="0" bIns="0" rtlCol="0" anchor="ctr"/>
          <a:lstStyle/>
          <a:p>
            <a:pPr indent="0" marL="0">
              <a:buNone/>
            </a:pPr>
            <a:r>
              <a:rPr lang="en-US" sz="1400" dirty="0">
                <a:solidFill>
                  <a:srgbClr val="C3CAD6"/>
                </a:solidFill>
                <a:latin typeface="Calibri" pitchFamily="34" charset="0"/>
                <a:ea typeface="Calibri" pitchFamily="34" charset="-122"/>
                <a:cs typeface="Calibri" pitchFamily="34" charset="-120"/>
              </a:rPr>
              <a:t>Target — an isolated change</a:t>
            </a:r>
            <a:endParaRPr lang="en-US" sz="1400" dirty="0"/>
          </a:p>
        </p:txBody>
      </p:sp>
      <p:sp>
        <p:nvSpPr>
          <p:cNvPr id="17" name="Shape 15"/>
          <p:cNvSpPr/>
          <p:nvPr/>
        </p:nvSpPr>
        <p:spPr>
          <a:xfrm>
            <a:off x="4754880" y="5157216"/>
            <a:ext cx="822960" cy="274320"/>
          </a:xfrm>
          <a:prstGeom prst="roundRect">
            <a:avLst>
              <a:gd name="adj" fmla="val 13333"/>
            </a:avLst>
          </a:prstGeom>
          <a:solidFill>
            <a:srgbClr val="4ADE80"/>
          </a:solidFill>
          <a:ln w="12700">
            <a:solidFill>
              <a:srgbClr val="333333"/>
            </a:solidFill>
            <a:prstDash val="solid"/>
          </a:ln>
        </p:spPr>
      </p:sp>
      <p:sp>
        <p:nvSpPr>
          <p:cNvPr id="18" name="Text 16"/>
          <p:cNvSpPr txBox="1"/>
          <p:nvPr/>
        </p:nvSpPr>
        <p:spPr>
          <a:xfrm>
            <a:off x="5715000" y="5093208"/>
            <a:ext cx="1463040" cy="384048"/>
          </a:xfrm>
          <a:prstGeom prst="rect">
            <a:avLst/>
          </a:prstGeom>
          <a:noFill/>
          <a:ln/>
        </p:spPr>
        <p:txBody>
          <a:bodyPr wrap="square" lIns="0" tIns="0" rIns="0" bIns="0" rtlCol="0" anchor="ctr"/>
          <a:lstStyle/>
          <a:p>
            <a:pPr indent="0" marL="0">
              <a:buNone/>
            </a:pPr>
            <a:r>
              <a:rPr lang="en-US" sz="1500" b="1" dirty="0">
                <a:solidFill>
                  <a:srgbClr val="4ADE80"/>
                </a:solidFill>
                <a:latin typeface="Calibri" pitchFamily="34" charset="0"/>
                <a:ea typeface="Calibri" pitchFamily="34" charset="-122"/>
                <a:cs typeface="Calibri" pitchFamily="34" charset="-120"/>
              </a:rPr>
              <a:t>10 min</a:t>
            </a:r>
            <a:endParaRPr lang="en-US" sz="1500" dirty="0"/>
          </a:p>
        </p:txBody>
      </p:sp>
      <p:sp>
        <p:nvSpPr>
          <p:cNvPr id="19" name="Text 17"/>
          <p:cNvSpPr txBox="1"/>
          <p:nvPr/>
        </p:nvSpPr>
        <p:spPr>
          <a:xfrm>
            <a:off x="640080" y="5806440"/>
            <a:ext cx="10881360" cy="548640"/>
          </a:xfrm>
          <a:prstGeom prst="rect">
            <a:avLst/>
          </a:prstGeom>
          <a:noFill/>
          <a:ln/>
        </p:spPr>
        <p:txBody>
          <a:bodyPr wrap="square" lIns="0" tIns="0" rIns="0" bIns="0" rtlCol="0" anchor="ctr"/>
          <a:lstStyle/>
          <a:p>
            <a:pPr indent="0" marL="0">
              <a:buNone/>
            </a:pPr>
            <a:r>
              <a:rPr lang="en-US" sz="1500" dirty="0">
                <a:solidFill>
                  <a:srgbClr val="8A94A6"/>
                </a:solidFill>
                <a:latin typeface="Calibri" pitchFamily="34" charset="0"/>
                <a:ea typeface="Calibri" pitchFamily="34" charset="-122"/>
                <a:cs typeface="Calibri" pitchFamily="34" charset="-120"/>
              </a:rPr>
              <a:t>Ten minutes is a coffee. An hour is a context switch — so the suite moves to nightly, and nightly means nobody is gating on it.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0B7A44"/>
                </a:solidFill>
                <a:latin typeface="Calibri" pitchFamily="34" charset="0"/>
                <a:ea typeface="Calibri" pitchFamily="34" charset="-122"/>
                <a:cs typeface="Calibri" pitchFamily="34" charset="-120"/>
              </a:rPr>
              <a:t>SECTION 01 · THE EXAMPLE</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10131A"/>
                </a:solidFill>
                <a:latin typeface="Cambria" pitchFamily="34" charset="0"/>
                <a:ea typeface="Cambria" pitchFamily="34" charset="-122"/>
                <a:cs typeface="Cambria" pitchFamily="34" charset="-120"/>
              </a:rPr>
              <a:t>One repo, three apps, one graph</a:t>
            </a:r>
            <a:endParaRPr lang="en-US" sz="3800" dirty="0"/>
          </a:p>
        </p:txBody>
      </p:sp>
      <p:sp>
        <p:nvSpPr>
          <p:cNvPr id="4" name="Shape 2"/>
          <p:cNvSpPr/>
          <p:nvPr/>
        </p:nvSpPr>
        <p:spPr>
          <a:xfrm>
            <a:off x="640080" y="1572768"/>
            <a:ext cx="10881360" cy="841248"/>
          </a:xfrm>
          <a:prstGeom prst="roundRect">
            <a:avLst>
              <a:gd name="adj" fmla="val 8696"/>
            </a:avLst>
          </a:prstGeom>
          <a:solidFill>
            <a:srgbClr val="FFFFFF"/>
          </a:solidFill>
          <a:ln w="12700">
            <a:solidFill>
              <a:srgbClr val="E2E6ED"/>
            </a:solidFill>
            <a:prstDash val="solid"/>
          </a:ln>
        </p:spPr>
      </p:sp>
      <p:sp>
        <p:nvSpPr>
          <p:cNvPr id="5" name="Text 3"/>
          <p:cNvSpPr txBox="1"/>
          <p:nvPr/>
        </p:nvSpPr>
        <p:spPr>
          <a:xfrm>
            <a:off x="914400" y="1691640"/>
            <a:ext cx="10332720" cy="320040"/>
          </a:xfrm>
          <a:prstGeom prst="rect">
            <a:avLst/>
          </a:prstGeom>
          <a:noFill/>
          <a:ln/>
        </p:spPr>
        <p:txBody>
          <a:bodyPr wrap="square" lIns="0" tIns="0" rIns="0" bIns="0" rtlCol="0" anchor="ctr"/>
          <a:lstStyle/>
          <a:p>
            <a:pPr indent="0" marL="0">
              <a:buNone/>
            </a:pPr>
            <a:r>
              <a:rPr lang="en-US" sz="1500" b="1" dirty="0">
                <a:solidFill>
                  <a:srgbClr val="10131A"/>
                </a:solidFill>
                <a:latin typeface="Calibri" pitchFamily="34" charset="0"/>
                <a:ea typeface="Calibri" pitchFamily="34" charset="-122"/>
                <a:cs typeface="Calibri" pitchFamily="34" charset="-120"/>
              </a:rPr>
              <a:t>“A build system with smart caching and task orchestration.”</a:t>
            </a:r>
            <a:pPr indent="0" marL="0">
              <a:buNone/>
            </a:pPr>
            <a:r>
              <a:rPr lang="en-US" sz="1200" dirty="0">
                <a:solidFill>
                  <a:srgbClr val="8A94A6"/>
                </a:solidFill>
                <a:latin typeface="Calibri" pitchFamily="34" charset="0"/>
                <a:ea typeface="Calibri" pitchFamily="34" charset="-122"/>
                <a:cs typeface="Calibri" pitchFamily="34" charset="-120"/>
              </a:rPr>
              <a:t>   nx.dev</a:t>
            </a:r>
            <a:endParaRPr lang="en-US" sz="1500" dirty="0"/>
          </a:p>
        </p:txBody>
      </p:sp>
      <p:sp>
        <p:nvSpPr>
          <p:cNvPr id="6" name="Text 4"/>
          <p:cNvSpPr txBox="1"/>
          <p:nvPr/>
        </p:nvSpPr>
        <p:spPr>
          <a:xfrm>
            <a:off x="914400" y="2011680"/>
            <a:ext cx="10332720" cy="320040"/>
          </a:xfrm>
          <a:prstGeom prst="rect">
            <a:avLst/>
          </a:prstGeom>
          <a:noFill/>
          <a:ln/>
        </p:spPr>
        <p:txBody>
          <a:bodyPr wrap="square" lIns="0" tIns="0" rIns="0" bIns="0" rtlCol="0" anchor="ctr"/>
          <a:lstStyle/>
          <a:p>
            <a:pPr indent="0" marL="0">
              <a:buNone/>
            </a:pPr>
            <a:r>
              <a:rPr lang="en-US" sz="1300" dirty="0">
                <a:solidFill>
                  <a:srgbClr val="5C6675"/>
                </a:solidFill>
                <a:latin typeface="Calibri" pitchFamily="34" charset="0"/>
                <a:ea typeface="Calibri" pitchFamily="34" charset="-122"/>
                <a:cs typeface="Calibri" pitchFamily="34" charset="-120"/>
              </a:rPr>
              <a:t>It knows what depends on what, so it can skip work. It does not run your tests — Cypress still does that.</a:t>
            </a:r>
            <a:endParaRPr lang="en-US" sz="1300" dirty="0"/>
          </a:p>
        </p:txBody>
      </p:sp>
      <p:sp>
        <p:nvSpPr>
          <p:cNvPr id="7" name="Shape 5"/>
          <p:cNvSpPr/>
          <p:nvPr/>
        </p:nvSpPr>
        <p:spPr>
          <a:xfrm>
            <a:off x="2148840" y="3364992"/>
            <a:ext cx="1965960" cy="731520"/>
          </a:xfrm>
          <a:prstGeom prst="line">
            <a:avLst/>
          </a:prstGeom>
          <a:noFill/>
          <a:ln w="19050">
            <a:solidFill>
              <a:srgbClr val="B8C0CC"/>
            </a:solidFill>
            <a:prstDash val="solid"/>
          </a:ln>
        </p:spPr>
      </p:sp>
      <p:sp>
        <p:nvSpPr>
          <p:cNvPr id="8" name="Shape 6"/>
          <p:cNvSpPr/>
          <p:nvPr/>
        </p:nvSpPr>
        <p:spPr>
          <a:xfrm flipH="1">
            <a:off x="4114800" y="3364992"/>
            <a:ext cx="1965960" cy="731520"/>
          </a:xfrm>
          <a:prstGeom prst="line">
            <a:avLst/>
          </a:prstGeom>
          <a:noFill/>
          <a:ln w="19050">
            <a:solidFill>
              <a:srgbClr val="B8C0CC"/>
            </a:solidFill>
            <a:prstDash val="solid"/>
          </a:ln>
        </p:spPr>
      </p:sp>
      <p:sp>
        <p:nvSpPr>
          <p:cNvPr id="9" name="Shape 7"/>
          <p:cNvSpPr/>
          <p:nvPr/>
        </p:nvSpPr>
        <p:spPr>
          <a:xfrm>
            <a:off x="6080760" y="3364992"/>
            <a:ext cx="1965960" cy="731520"/>
          </a:xfrm>
          <a:prstGeom prst="line">
            <a:avLst/>
          </a:prstGeom>
          <a:noFill/>
          <a:ln w="19050">
            <a:solidFill>
              <a:srgbClr val="B8C0CC"/>
            </a:solidFill>
            <a:prstDash val="solid"/>
          </a:ln>
        </p:spPr>
      </p:sp>
      <p:sp>
        <p:nvSpPr>
          <p:cNvPr id="10" name="Shape 8"/>
          <p:cNvSpPr/>
          <p:nvPr/>
        </p:nvSpPr>
        <p:spPr>
          <a:xfrm flipH="1">
            <a:off x="8046720" y="3364992"/>
            <a:ext cx="1965960" cy="731520"/>
          </a:xfrm>
          <a:prstGeom prst="line">
            <a:avLst/>
          </a:prstGeom>
          <a:noFill/>
          <a:ln w="19050">
            <a:solidFill>
              <a:srgbClr val="B8C0CC"/>
            </a:solidFill>
            <a:prstDash val="solid"/>
          </a:ln>
        </p:spPr>
      </p:sp>
      <p:sp>
        <p:nvSpPr>
          <p:cNvPr id="11" name="Text 9"/>
          <p:cNvSpPr txBox="1"/>
          <p:nvPr/>
        </p:nvSpPr>
        <p:spPr>
          <a:xfrm>
            <a:off x="822960" y="2395728"/>
            <a:ext cx="2651760" cy="256032"/>
          </a:xfrm>
          <a:prstGeom prst="rect">
            <a:avLst/>
          </a:prstGeom>
          <a:noFill/>
          <a:ln/>
        </p:spPr>
        <p:txBody>
          <a:bodyPr wrap="square" lIns="0" tIns="0" rIns="0" bIns="0" rtlCol="0" anchor="ctr"/>
          <a:lstStyle/>
          <a:p>
            <a:pPr algn="ctr" indent="0" marL="0">
              <a:buNone/>
            </a:pPr>
            <a:r>
              <a:rPr lang="en-US" sz="1200" dirty="0">
                <a:solidFill>
                  <a:srgbClr val="8A94A6"/>
                </a:solidFill>
                <a:latin typeface="Calibri" pitchFamily="34" charset="0"/>
                <a:ea typeface="Calibri" pitchFamily="34" charset="-122"/>
                <a:cs typeface="Calibri" pitchFamily="34" charset="-120"/>
              </a:rPr>
              <a:t>10 specs</a:t>
            </a:r>
            <a:endParaRPr lang="en-US" sz="1200" dirty="0"/>
          </a:p>
        </p:txBody>
      </p:sp>
      <p:sp>
        <p:nvSpPr>
          <p:cNvPr id="12" name="Shape 10"/>
          <p:cNvSpPr/>
          <p:nvPr/>
        </p:nvSpPr>
        <p:spPr>
          <a:xfrm>
            <a:off x="822960" y="2679192"/>
            <a:ext cx="2651760" cy="685800"/>
          </a:xfrm>
          <a:prstGeom prst="roundRect">
            <a:avLst>
              <a:gd name="adj" fmla="val 10667"/>
            </a:avLst>
          </a:prstGeom>
          <a:solidFill>
            <a:srgbClr val="10131A"/>
          </a:solidFill>
          <a:ln w="12700">
            <a:solidFill>
              <a:srgbClr val="10131A"/>
            </a:solidFill>
            <a:prstDash val="solid"/>
          </a:ln>
        </p:spPr>
      </p:sp>
      <p:sp>
        <p:nvSpPr>
          <p:cNvPr id="13" name="Text 11"/>
          <p:cNvSpPr txBox="1"/>
          <p:nvPr/>
        </p:nvSpPr>
        <p:spPr>
          <a:xfrm>
            <a:off x="822960" y="2679192"/>
            <a:ext cx="2651760" cy="685800"/>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shop</a:t>
            </a:r>
            <a:endParaRPr lang="en-US" sz="1700" dirty="0"/>
          </a:p>
        </p:txBody>
      </p:sp>
      <p:sp>
        <p:nvSpPr>
          <p:cNvPr id="14" name="Text 12"/>
          <p:cNvSpPr txBox="1"/>
          <p:nvPr/>
        </p:nvSpPr>
        <p:spPr>
          <a:xfrm>
            <a:off x="4754880" y="2395728"/>
            <a:ext cx="2651760" cy="256032"/>
          </a:xfrm>
          <a:prstGeom prst="rect">
            <a:avLst/>
          </a:prstGeom>
          <a:noFill/>
          <a:ln/>
        </p:spPr>
        <p:txBody>
          <a:bodyPr wrap="square" lIns="0" tIns="0" rIns="0" bIns="0" rtlCol="0" anchor="ctr"/>
          <a:lstStyle/>
          <a:p>
            <a:pPr algn="ctr" indent="0" marL="0">
              <a:buNone/>
            </a:pPr>
            <a:r>
              <a:rPr lang="en-US" sz="1200" dirty="0">
                <a:solidFill>
                  <a:srgbClr val="8A94A6"/>
                </a:solidFill>
                <a:latin typeface="Calibri" pitchFamily="34" charset="0"/>
                <a:ea typeface="Calibri" pitchFamily="34" charset="-122"/>
                <a:cs typeface="Calibri" pitchFamily="34" charset="-120"/>
              </a:rPr>
              <a:t>10 specs</a:t>
            </a:r>
            <a:endParaRPr lang="en-US" sz="1200" dirty="0"/>
          </a:p>
        </p:txBody>
      </p:sp>
      <p:sp>
        <p:nvSpPr>
          <p:cNvPr id="15" name="Shape 13"/>
          <p:cNvSpPr/>
          <p:nvPr/>
        </p:nvSpPr>
        <p:spPr>
          <a:xfrm>
            <a:off x="4754880" y="2679192"/>
            <a:ext cx="2651760" cy="685800"/>
          </a:xfrm>
          <a:prstGeom prst="roundRect">
            <a:avLst>
              <a:gd name="adj" fmla="val 10667"/>
            </a:avLst>
          </a:prstGeom>
          <a:solidFill>
            <a:srgbClr val="10131A"/>
          </a:solidFill>
          <a:ln w="12700">
            <a:solidFill>
              <a:srgbClr val="10131A"/>
            </a:solidFill>
            <a:prstDash val="solid"/>
          </a:ln>
        </p:spPr>
      </p:sp>
      <p:sp>
        <p:nvSpPr>
          <p:cNvPr id="16" name="Text 14"/>
          <p:cNvSpPr txBox="1"/>
          <p:nvPr/>
        </p:nvSpPr>
        <p:spPr>
          <a:xfrm>
            <a:off x="4754880" y="2679192"/>
            <a:ext cx="2651760" cy="685800"/>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admin</a:t>
            </a:r>
            <a:endParaRPr lang="en-US" sz="1700" dirty="0"/>
          </a:p>
        </p:txBody>
      </p:sp>
      <p:sp>
        <p:nvSpPr>
          <p:cNvPr id="17" name="Text 15"/>
          <p:cNvSpPr txBox="1"/>
          <p:nvPr/>
        </p:nvSpPr>
        <p:spPr>
          <a:xfrm>
            <a:off x="8686800" y="2395728"/>
            <a:ext cx="2651760" cy="256032"/>
          </a:xfrm>
          <a:prstGeom prst="rect">
            <a:avLst/>
          </a:prstGeom>
          <a:noFill/>
          <a:ln/>
        </p:spPr>
        <p:txBody>
          <a:bodyPr wrap="square" lIns="0" tIns="0" rIns="0" bIns="0" rtlCol="0" anchor="ctr"/>
          <a:lstStyle/>
          <a:p>
            <a:pPr algn="ctr" indent="0" marL="0">
              <a:buNone/>
            </a:pPr>
            <a:r>
              <a:rPr lang="en-US" sz="1200" dirty="0">
                <a:solidFill>
                  <a:srgbClr val="8A94A6"/>
                </a:solidFill>
                <a:latin typeface="Calibri" pitchFamily="34" charset="0"/>
                <a:ea typeface="Calibri" pitchFamily="34" charset="-122"/>
                <a:cs typeface="Calibri" pitchFamily="34" charset="-120"/>
              </a:rPr>
              <a:t>10 specs</a:t>
            </a:r>
            <a:endParaRPr lang="en-US" sz="1200" dirty="0"/>
          </a:p>
        </p:txBody>
      </p:sp>
      <p:sp>
        <p:nvSpPr>
          <p:cNvPr id="18" name="Shape 16"/>
          <p:cNvSpPr/>
          <p:nvPr/>
        </p:nvSpPr>
        <p:spPr>
          <a:xfrm>
            <a:off x="8686800" y="2679192"/>
            <a:ext cx="2651760" cy="685800"/>
          </a:xfrm>
          <a:prstGeom prst="roundRect">
            <a:avLst>
              <a:gd name="adj" fmla="val 10667"/>
            </a:avLst>
          </a:prstGeom>
          <a:solidFill>
            <a:srgbClr val="10131A"/>
          </a:solidFill>
          <a:ln w="12700">
            <a:solidFill>
              <a:srgbClr val="10131A"/>
            </a:solidFill>
            <a:prstDash val="solid"/>
          </a:ln>
        </p:spPr>
      </p:sp>
      <p:sp>
        <p:nvSpPr>
          <p:cNvPr id="19" name="Text 17"/>
          <p:cNvSpPr txBox="1"/>
          <p:nvPr/>
        </p:nvSpPr>
        <p:spPr>
          <a:xfrm>
            <a:off x="8686800" y="2679192"/>
            <a:ext cx="2651760" cy="685800"/>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docs</a:t>
            </a:r>
            <a:endParaRPr lang="en-US" sz="1700" dirty="0"/>
          </a:p>
        </p:txBody>
      </p:sp>
      <p:sp>
        <p:nvSpPr>
          <p:cNvPr id="20" name="Shape 18"/>
          <p:cNvSpPr/>
          <p:nvPr/>
        </p:nvSpPr>
        <p:spPr>
          <a:xfrm>
            <a:off x="2788920" y="4096512"/>
            <a:ext cx="2651760" cy="640080"/>
          </a:xfrm>
          <a:prstGeom prst="roundRect">
            <a:avLst>
              <a:gd name="adj" fmla="val 11429"/>
            </a:avLst>
          </a:prstGeom>
          <a:solidFill>
            <a:srgbClr val="FFFFFF"/>
          </a:solidFill>
          <a:ln w="19050">
            <a:solidFill>
              <a:srgbClr val="0B7A44"/>
            </a:solidFill>
            <a:prstDash val="solid"/>
          </a:ln>
        </p:spPr>
      </p:sp>
      <p:sp>
        <p:nvSpPr>
          <p:cNvPr id="21" name="Text 19"/>
          <p:cNvSpPr txBox="1"/>
          <p:nvPr/>
        </p:nvSpPr>
        <p:spPr>
          <a:xfrm>
            <a:off x="2788920" y="4096512"/>
            <a:ext cx="2651760" cy="640080"/>
          </a:xfrm>
          <a:prstGeom prst="rect">
            <a:avLst/>
          </a:prstGeom>
          <a:noFill/>
          <a:ln/>
        </p:spPr>
        <p:txBody>
          <a:bodyPr wrap="square" lIns="0" tIns="0" rIns="0" bIns="0" rtlCol="0" anchor="ctr"/>
          <a:lstStyle/>
          <a:p>
            <a:pPr algn="ctr" indent="0" marL="0">
              <a:buNone/>
            </a:pPr>
            <a:r>
              <a:rPr lang="en-US" sz="1500" dirty="0">
                <a:solidFill>
                  <a:srgbClr val="0B7A44"/>
                </a:solidFill>
                <a:latin typeface="Courier New" pitchFamily="34" charset="0"/>
                <a:ea typeface="Courier New" pitchFamily="34" charset="-122"/>
                <a:cs typeface="Courier New" pitchFamily="34" charset="-120"/>
              </a:rPr>
              <a:t>formatting</a:t>
            </a:r>
            <a:endParaRPr lang="en-US" sz="1500" dirty="0"/>
          </a:p>
        </p:txBody>
      </p:sp>
      <p:sp>
        <p:nvSpPr>
          <p:cNvPr id="22" name="Shape 20"/>
          <p:cNvSpPr/>
          <p:nvPr/>
        </p:nvSpPr>
        <p:spPr>
          <a:xfrm>
            <a:off x="6720840" y="4096512"/>
            <a:ext cx="2651760" cy="640080"/>
          </a:xfrm>
          <a:prstGeom prst="roundRect">
            <a:avLst>
              <a:gd name="adj" fmla="val 11429"/>
            </a:avLst>
          </a:prstGeom>
          <a:solidFill>
            <a:srgbClr val="FFFFFF"/>
          </a:solidFill>
          <a:ln w="19050">
            <a:solidFill>
              <a:srgbClr val="0B7A44"/>
            </a:solidFill>
            <a:prstDash val="solid"/>
          </a:ln>
        </p:spPr>
      </p:sp>
      <p:sp>
        <p:nvSpPr>
          <p:cNvPr id="23" name="Text 21"/>
          <p:cNvSpPr txBox="1"/>
          <p:nvPr/>
        </p:nvSpPr>
        <p:spPr>
          <a:xfrm>
            <a:off x="6720840" y="4096512"/>
            <a:ext cx="2651760" cy="640080"/>
          </a:xfrm>
          <a:prstGeom prst="rect">
            <a:avLst/>
          </a:prstGeom>
          <a:noFill/>
          <a:ln/>
        </p:spPr>
        <p:txBody>
          <a:bodyPr wrap="square" lIns="0" tIns="0" rIns="0" bIns="0" rtlCol="0" anchor="ctr"/>
          <a:lstStyle/>
          <a:p>
            <a:pPr algn="ctr" indent="0" marL="0">
              <a:buNone/>
            </a:pPr>
            <a:r>
              <a:rPr lang="en-US" sz="1500" dirty="0">
                <a:solidFill>
                  <a:srgbClr val="0B7A44"/>
                </a:solidFill>
                <a:latin typeface="Courier New" pitchFamily="34" charset="0"/>
                <a:ea typeface="Courier New" pitchFamily="34" charset="-122"/>
                <a:cs typeface="Courier New" pitchFamily="34" charset="-120"/>
              </a:rPr>
              <a:t>ui</a:t>
            </a:r>
            <a:endParaRPr lang="en-US" sz="1500" dirty="0"/>
          </a:p>
        </p:txBody>
      </p:sp>
      <p:sp>
        <p:nvSpPr>
          <p:cNvPr id="24" name="Text 22"/>
          <p:cNvSpPr txBox="1"/>
          <p:nvPr/>
        </p:nvSpPr>
        <p:spPr>
          <a:xfrm>
            <a:off x="822960" y="4096512"/>
            <a:ext cx="1783080" cy="640080"/>
          </a:xfrm>
          <a:prstGeom prst="rect">
            <a:avLst/>
          </a:prstGeom>
          <a:noFill/>
          <a:ln/>
        </p:spPr>
        <p:txBody>
          <a:bodyPr wrap="square" lIns="0" tIns="0" rIns="0" bIns="0" rtlCol="0" anchor="ctr"/>
          <a:lstStyle/>
          <a:p>
            <a:pPr algn="r" indent="0" marL="0">
              <a:buNone/>
            </a:pPr>
            <a:r>
              <a:rPr lang="en-US" sz="1200" i="1" dirty="0">
                <a:solidFill>
                  <a:srgbClr val="8A94A6"/>
                </a:solidFill>
                <a:latin typeface="Calibri" pitchFamily="34" charset="0"/>
                <a:ea typeface="Calibri" pitchFamily="34" charset="-122"/>
                <a:cs typeface="Calibri" pitchFamily="34" charset="-120"/>
              </a:rPr>
              <a:t>shared libs</a:t>
            </a:r>
            <a:endParaRPr lang="en-US" sz="1200" dirty="0"/>
          </a:p>
        </p:txBody>
      </p:sp>
      <p:sp>
        <p:nvSpPr>
          <p:cNvPr id="25" name="Shape 23"/>
          <p:cNvSpPr/>
          <p:nvPr/>
        </p:nvSpPr>
        <p:spPr>
          <a:xfrm>
            <a:off x="640080" y="4983480"/>
            <a:ext cx="3429000" cy="1051560"/>
          </a:xfrm>
          <a:prstGeom prst="roundRect">
            <a:avLst>
              <a:gd name="adj" fmla="val 7826"/>
            </a:avLst>
          </a:prstGeom>
          <a:solidFill>
            <a:srgbClr val="FFFFFF"/>
          </a:solidFill>
          <a:ln w="12700">
            <a:solidFill>
              <a:srgbClr val="E2E6ED"/>
            </a:solidFill>
            <a:prstDash val="solid"/>
          </a:ln>
        </p:spPr>
      </p:sp>
      <p:sp>
        <p:nvSpPr>
          <p:cNvPr id="26" name="Text 24"/>
          <p:cNvSpPr txBox="1"/>
          <p:nvPr/>
        </p:nvSpPr>
        <p:spPr>
          <a:xfrm>
            <a:off x="868680" y="5120640"/>
            <a:ext cx="2971800" cy="548640"/>
          </a:xfrm>
          <a:prstGeom prst="rect">
            <a:avLst/>
          </a:prstGeom>
          <a:noFill/>
          <a:ln/>
        </p:spPr>
        <p:txBody>
          <a:bodyPr wrap="square" lIns="0" tIns="0" rIns="0" bIns="0" rtlCol="0" anchor="ctr"/>
          <a:lstStyle/>
          <a:p>
            <a:pPr indent="0" marL="0">
              <a:buNone/>
            </a:pPr>
            <a:r>
              <a:rPr lang="en-US" sz="3000" b="1" dirty="0">
                <a:solidFill>
                  <a:srgbClr val="0B7A44"/>
                </a:solidFill>
                <a:latin typeface="Cambria" pitchFamily="34" charset="0"/>
                <a:ea typeface="Cambria" pitchFamily="34" charset="-122"/>
                <a:cs typeface="Cambria" pitchFamily="34" charset="-120"/>
              </a:rPr>
              <a:t>30</a:t>
            </a:r>
            <a:endParaRPr lang="en-US" sz="3000" dirty="0"/>
          </a:p>
        </p:txBody>
      </p:sp>
      <p:sp>
        <p:nvSpPr>
          <p:cNvPr id="27" name="Text 25"/>
          <p:cNvSpPr txBox="1"/>
          <p:nvPr/>
        </p:nvSpPr>
        <p:spPr>
          <a:xfrm>
            <a:off x="868680" y="5650992"/>
            <a:ext cx="2971800" cy="301752"/>
          </a:xfrm>
          <a:prstGeom prst="rect">
            <a:avLst/>
          </a:prstGeom>
          <a:noFill/>
          <a:ln/>
        </p:spPr>
        <p:txBody>
          <a:bodyPr wrap="square" lIns="0" tIns="0" rIns="0" bIns="0" rtlCol="0" anchor="ctr"/>
          <a:lstStyle/>
          <a:p>
            <a:pPr indent="0" marL="0">
              <a:buNone/>
            </a:pPr>
            <a:r>
              <a:rPr lang="en-US" sz="1300" dirty="0">
                <a:solidFill>
                  <a:srgbClr val="5C6675"/>
                </a:solidFill>
                <a:latin typeface="Calibri" pitchFamily="34" charset="0"/>
                <a:ea typeface="Calibri" pitchFamily="34" charset="-122"/>
                <a:cs typeface="Calibri" pitchFamily="34" charset="-120"/>
              </a:rPr>
              <a:t>spec files</a:t>
            </a:r>
            <a:endParaRPr lang="en-US" sz="1300" dirty="0"/>
          </a:p>
        </p:txBody>
      </p:sp>
      <p:sp>
        <p:nvSpPr>
          <p:cNvPr id="28" name="Shape 26"/>
          <p:cNvSpPr/>
          <p:nvPr/>
        </p:nvSpPr>
        <p:spPr>
          <a:xfrm>
            <a:off x="4343400" y="4983480"/>
            <a:ext cx="3429000" cy="1051560"/>
          </a:xfrm>
          <a:prstGeom prst="roundRect">
            <a:avLst>
              <a:gd name="adj" fmla="val 7826"/>
            </a:avLst>
          </a:prstGeom>
          <a:solidFill>
            <a:srgbClr val="FFFFFF"/>
          </a:solidFill>
          <a:ln w="12700">
            <a:solidFill>
              <a:srgbClr val="E2E6ED"/>
            </a:solidFill>
            <a:prstDash val="solid"/>
          </a:ln>
        </p:spPr>
      </p:sp>
      <p:sp>
        <p:nvSpPr>
          <p:cNvPr id="29" name="Text 27"/>
          <p:cNvSpPr txBox="1"/>
          <p:nvPr/>
        </p:nvSpPr>
        <p:spPr>
          <a:xfrm>
            <a:off x="4572000" y="5120640"/>
            <a:ext cx="2971800" cy="548640"/>
          </a:xfrm>
          <a:prstGeom prst="rect">
            <a:avLst/>
          </a:prstGeom>
          <a:noFill/>
          <a:ln/>
        </p:spPr>
        <p:txBody>
          <a:bodyPr wrap="square" lIns="0" tIns="0" rIns="0" bIns="0" rtlCol="0" anchor="ctr"/>
          <a:lstStyle/>
          <a:p>
            <a:pPr indent="0" marL="0">
              <a:buNone/>
            </a:pPr>
            <a:r>
              <a:rPr lang="en-US" sz="3000" b="1" dirty="0">
                <a:solidFill>
                  <a:srgbClr val="10131A"/>
                </a:solidFill>
                <a:latin typeface="Cambria" pitchFamily="34" charset="0"/>
                <a:ea typeface="Cambria" pitchFamily="34" charset="-122"/>
                <a:cs typeface="Cambria" pitchFamily="34" charset="-120"/>
              </a:rPr>
              <a:t>202</a:t>
            </a:r>
            <a:endParaRPr lang="en-US" sz="3000" dirty="0"/>
          </a:p>
        </p:txBody>
      </p:sp>
      <p:sp>
        <p:nvSpPr>
          <p:cNvPr id="30" name="Text 28"/>
          <p:cNvSpPr txBox="1"/>
          <p:nvPr/>
        </p:nvSpPr>
        <p:spPr>
          <a:xfrm>
            <a:off x="4572000" y="5650992"/>
            <a:ext cx="2971800" cy="301752"/>
          </a:xfrm>
          <a:prstGeom prst="rect">
            <a:avLst/>
          </a:prstGeom>
          <a:noFill/>
          <a:ln/>
        </p:spPr>
        <p:txBody>
          <a:bodyPr wrap="square" lIns="0" tIns="0" rIns="0" bIns="0" rtlCol="0" anchor="ctr"/>
          <a:lstStyle/>
          <a:p>
            <a:pPr indent="0" marL="0">
              <a:buNone/>
            </a:pPr>
            <a:r>
              <a:rPr lang="en-US" sz="1300" dirty="0">
                <a:solidFill>
                  <a:srgbClr val="5C6675"/>
                </a:solidFill>
                <a:latin typeface="Calibri" pitchFamily="34" charset="0"/>
                <a:ea typeface="Calibri" pitchFamily="34" charset="-122"/>
                <a:cs typeface="Calibri" pitchFamily="34" charset="-120"/>
              </a:rPr>
              <a:t>tests</a:t>
            </a:r>
            <a:endParaRPr lang="en-US" sz="1300" dirty="0"/>
          </a:p>
        </p:txBody>
      </p:sp>
      <p:sp>
        <p:nvSpPr>
          <p:cNvPr id="31" name="Shape 29"/>
          <p:cNvSpPr/>
          <p:nvPr/>
        </p:nvSpPr>
        <p:spPr>
          <a:xfrm>
            <a:off x="8046720" y="4983480"/>
            <a:ext cx="3429000" cy="1051560"/>
          </a:xfrm>
          <a:prstGeom prst="roundRect">
            <a:avLst>
              <a:gd name="adj" fmla="val 7826"/>
            </a:avLst>
          </a:prstGeom>
          <a:solidFill>
            <a:srgbClr val="FFFFFF"/>
          </a:solidFill>
          <a:ln w="12700">
            <a:solidFill>
              <a:srgbClr val="E2E6ED"/>
            </a:solidFill>
            <a:prstDash val="solid"/>
          </a:ln>
        </p:spPr>
      </p:sp>
      <p:sp>
        <p:nvSpPr>
          <p:cNvPr id="32" name="Text 30"/>
          <p:cNvSpPr txBox="1"/>
          <p:nvPr/>
        </p:nvSpPr>
        <p:spPr>
          <a:xfrm>
            <a:off x="8275320" y="5120640"/>
            <a:ext cx="2971800" cy="548640"/>
          </a:xfrm>
          <a:prstGeom prst="rect">
            <a:avLst/>
          </a:prstGeom>
          <a:noFill/>
          <a:ln/>
        </p:spPr>
        <p:txBody>
          <a:bodyPr wrap="square" lIns="0" tIns="0" rIns="0" bIns="0" rtlCol="0" anchor="ctr"/>
          <a:lstStyle/>
          <a:p>
            <a:pPr indent="0" marL="0">
              <a:buNone/>
            </a:pPr>
            <a:r>
              <a:rPr lang="en-US" sz="3000" b="1" dirty="0">
                <a:solidFill>
                  <a:srgbClr val="B45309"/>
                </a:solidFill>
                <a:latin typeface="Cambria" pitchFamily="34" charset="0"/>
                <a:ea typeface="Cambria" pitchFamily="34" charset="-122"/>
                <a:cs typeface="Cambria" pitchFamily="34" charset="-120"/>
              </a:rPr>
              <a:t>3</a:t>
            </a:r>
            <a:endParaRPr lang="en-US" sz="3000" dirty="0"/>
          </a:p>
        </p:txBody>
      </p:sp>
      <p:sp>
        <p:nvSpPr>
          <p:cNvPr id="33" name="Text 31"/>
          <p:cNvSpPr txBox="1"/>
          <p:nvPr/>
        </p:nvSpPr>
        <p:spPr>
          <a:xfrm>
            <a:off x="8275320" y="5650992"/>
            <a:ext cx="2971800" cy="301752"/>
          </a:xfrm>
          <a:prstGeom prst="rect">
            <a:avLst/>
          </a:prstGeom>
          <a:noFill/>
          <a:ln/>
        </p:spPr>
        <p:txBody>
          <a:bodyPr wrap="square" lIns="0" tIns="0" rIns="0" bIns="0" rtlCol="0" anchor="ctr"/>
          <a:lstStyle/>
          <a:p>
            <a:pPr indent="0" marL="0">
              <a:buNone/>
            </a:pPr>
            <a:r>
              <a:rPr lang="en-US" sz="1300" dirty="0">
                <a:solidFill>
                  <a:srgbClr val="5C6675"/>
                </a:solidFill>
                <a:latin typeface="Calibri" pitchFamily="34" charset="0"/>
                <a:ea typeface="Calibri" pitchFamily="34" charset="-122"/>
                <a:cs typeface="Calibri" pitchFamily="34" charset="-120"/>
              </a:rPr>
              <a:t>tasks that can run them</a:t>
            </a:r>
            <a:endParaRPr lang="en-US" sz="1300" dirty="0"/>
          </a:p>
        </p:txBody>
      </p:sp>
      <p:sp>
        <p:nvSpPr>
          <p:cNvPr id="34" name="Text 32"/>
          <p:cNvSpPr txBox="1"/>
          <p:nvPr/>
        </p:nvSpPr>
        <p:spPr>
          <a:xfrm>
            <a:off x="640080" y="6144768"/>
            <a:ext cx="10881360" cy="365760"/>
          </a:xfrm>
          <a:prstGeom prst="rect">
            <a:avLst/>
          </a:prstGeom>
          <a:noFill/>
          <a:ln/>
        </p:spPr>
        <p:txBody>
          <a:bodyPr wrap="square" lIns="0" tIns="0" rIns="0" bIns="0" rtlCol="0" anchor="ctr"/>
          <a:lstStyle/>
          <a:p>
            <a:pPr indent="0" marL="0">
              <a:buNone/>
            </a:pPr>
            <a:r>
              <a:rPr lang="en-US" sz="1400" i="1" dirty="0">
                <a:solidFill>
                  <a:srgbClr val="5C6675"/>
                </a:solidFill>
                <a:latin typeface="Calibri" pitchFamily="34" charset="0"/>
                <a:ea typeface="Calibri" pitchFamily="34" charset="-122"/>
                <a:cs typeface="Calibri" pitchFamily="34" charset="-120"/>
              </a:rPr>
              <a:t>Thirty files, but only three things you can actually run — one e2e task per app. Closing that gap is the rest of the talk.</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131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F5A524"/>
                </a:solidFill>
                <a:latin typeface="Calibri" pitchFamily="34" charset="0"/>
                <a:ea typeface="Calibri" pitchFamily="34" charset="-122"/>
                <a:cs typeface="Calibri" pitchFamily="34" charset="-120"/>
              </a:rPr>
              <a:t>SECTION 01 · THE BASELINE</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So how fast is the feedback?</a:t>
            </a:r>
            <a:endParaRPr lang="en-US" sz="3800" dirty="0"/>
          </a:p>
        </p:txBody>
      </p:sp>
      <p:sp>
        <p:nvSpPr>
          <p:cNvPr id="4" name="Shape 2"/>
          <p:cNvSpPr/>
          <p:nvPr/>
        </p:nvSpPr>
        <p:spPr>
          <a:xfrm>
            <a:off x="640080" y="1783080"/>
            <a:ext cx="6675120" cy="2633472"/>
          </a:xfrm>
          <a:prstGeom prst="roundRect">
            <a:avLst>
              <a:gd name="adj" fmla="val 2083"/>
            </a:avLst>
          </a:prstGeom>
          <a:solidFill>
            <a:srgbClr val="0A0D13"/>
          </a:solidFill>
          <a:ln w="12700">
            <a:solidFill>
              <a:srgbClr val="2C3340"/>
            </a:solidFill>
            <a:prstDash val="solid"/>
          </a:ln>
        </p:spPr>
      </p:sp>
      <p:sp>
        <p:nvSpPr>
          <p:cNvPr id="5" name="Text 3"/>
          <p:cNvSpPr txBox="1"/>
          <p:nvPr/>
        </p:nvSpPr>
        <p:spPr>
          <a:xfrm>
            <a:off x="868680" y="1984248"/>
            <a:ext cx="6217920" cy="2231136"/>
          </a:xfrm>
          <a:prstGeom prst="rect">
            <a:avLst/>
          </a:prstGeom>
          <a:noFill/>
          <a:ln/>
        </p:spPr>
        <p:txBody>
          <a:bodyPr wrap="square" lIns="0" tIns="0" rIns="0" bIns="0" rtlCol="0" anchor="t"/>
          <a:lstStyle/>
          <a:p>
            <a:pPr indent="0" marL="0">
              <a:lnSpc>
                <a:spcPct val="125000"/>
              </a:lnSpc>
              <a:buNone/>
            </a:pPr>
            <a:r>
              <a:rPr lang="en-US" sz="1400" dirty="0">
                <a:solidFill>
                  <a:srgbClr val="FFFFFF"/>
                </a:solidFill>
                <a:latin typeface="Courier New" pitchFamily="34" charset="0"/>
                <a:ea typeface="Courier New" pitchFamily="34" charset="-122"/>
                <a:cs typeface="Courier New" pitchFamily="34" charset="-120"/>
              </a:rPr>
              <a:t>$ nx run-many -t e2e --parallel=1</a:t>
            </a:r>
            <a:endParaRPr lang="en-US" sz="1400" dirty="0"/>
          </a:p>
          <a:p>
            <a:pPr indent="0" marL="0">
              <a:lnSpc>
                <a:spcPct val="125000"/>
              </a:lnSpc>
              <a:buNone/>
            </a:pPr>
            <a:endParaRPr lang="en-US" sz="1400" dirty="0"/>
          </a:p>
          <a:p>
            <a:pPr indent="0" marL="0">
              <a:lnSpc>
                <a:spcPct val="125000"/>
              </a:lnSpc>
              <a:buNone/>
            </a:pPr>
            <a:r>
              <a:rPr lang="en-US" sz="1400" dirty="0">
                <a:solidFill>
                  <a:srgbClr val="8A94A6"/>
                </a:solidFill>
                <a:latin typeface="Courier New" pitchFamily="34" charset="0"/>
                <a:ea typeface="Courier New" pitchFamily="34" charset="-122"/>
                <a:cs typeface="Courier New" pitchFamily="34" charset="-120"/>
              </a:rPr>
              <a:t>  shop-e2e    10 specs ....... 1m 33s</a:t>
            </a:r>
            <a:endParaRPr lang="en-US" sz="1400" dirty="0"/>
          </a:p>
          <a:p>
            <a:pPr indent="0" marL="0">
              <a:lnSpc>
                <a:spcPct val="125000"/>
              </a:lnSpc>
              <a:buNone/>
            </a:pPr>
            <a:r>
              <a:rPr lang="en-US" sz="1400" dirty="0">
                <a:solidFill>
                  <a:srgbClr val="8A94A6"/>
                </a:solidFill>
                <a:latin typeface="Courier New" pitchFamily="34" charset="0"/>
                <a:ea typeface="Courier New" pitchFamily="34" charset="-122"/>
                <a:cs typeface="Courier New" pitchFamily="34" charset="-120"/>
              </a:rPr>
              <a:t>  admin-e2e   10 specs ....... 1m 20s</a:t>
            </a:r>
            <a:endParaRPr lang="en-US" sz="1400" dirty="0"/>
          </a:p>
          <a:p>
            <a:pPr indent="0" marL="0">
              <a:lnSpc>
                <a:spcPct val="125000"/>
              </a:lnSpc>
              <a:buNone/>
            </a:pPr>
            <a:r>
              <a:rPr lang="en-US" sz="1400" dirty="0">
                <a:solidFill>
                  <a:srgbClr val="8A94A6"/>
                </a:solidFill>
                <a:latin typeface="Courier New" pitchFamily="34" charset="0"/>
                <a:ea typeface="Courier New" pitchFamily="34" charset="-122"/>
                <a:cs typeface="Courier New" pitchFamily="34" charset="-120"/>
              </a:rPr>
              <a:t>  docs-e2e    10 specs ....... 1m 27s</a:t>
            </a:r>
            <a:endParaRPr lang="en-US" sz="1400" dirty="0"/>
          </a:p>
          <a:p>
            <a:pPr indent="0" marL="0">
              <a:lnSpc>
                <a:spcPct val="125000"/>
              </a:lnSpc>
              <a:buNone/>
            </a:pPr>
            <a:r>
              <a:rPr lang="en-US" sz="1400" dirty="0">
                <a:solidFill>
                  <a:srgbClr val="2C3340"/>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b="1" dirty="0">
                <a:solidFill>
                  <a:srgbClr val="F5A524"/>
                </a:solidFill>
                <a:latin typeface="Courier New" pitchFamily="34" charset="0"/>
                <a:ea typeface="Courier New" pitchFamily="34" charset="-122"/>
                <a:cs typeface="Courier New" pitchFamily="34" charset="-120"/>
              </a:rPr>
              <a:t>  Run duration:              4m 20s</a:t>
            </a:r>
            <a:endParaRPr lang="en-US" sz="1400" dirty="0"/>
          </a:p>
        </p:txBody>
      </p:sp>
      <p:sp>
        <p:nvSpPr>
          <p:cNvPr id="6" name="Shape 4"/>
          <p:cNvSpPr/>
          <p:nvPr/>
        </p:nvSpPr>
        <p:spPr>
          <a:xfrm>
            <a:off x="7680960" y="1783080"/>
            <a:ext cx="3840480" cy="2651760"/>
          </a:xfrm>
          <a:prstGeom prst="roundRect">
            <a:avLst>
              <a:gd name="adj" fmla="val 3103"/>
            </a:avLst>
          </a:prstGeom>
          <a:solidFill>
            <a:srgbClr val="1B2029"/>
          </a:solidFill>
          <a:ln w="19050">
            <a:solidFill>
              <a:srgbClr val="F5A524"/>
            </a:solidFill>
            <a:prstDash val="solid"/>
          </a:ln>
        </p:spPr>
      </p:sp>
      <p:sp>
        <p:nvSpPr>
          <p:cNvPr id="7" name="Text 5"/>
          <p:cNvSpPr txBox="1"/>
          <p:nvPr/>
        </p:nvSpPr>
        <p:spPr>
          <a:xfrm>
            <a:off x="7909560" y="2148840"/>
            <a:ext cx="3383280" cy="822960"/>
          </a:xfrm>
          <a:prstGeom prst="rect">
            <a:avLst/>
          </a:prstGeom>
          <a:noFill/>
          <a:ln/>
        </p:spPr>
        <p:txBody>
          <a:bodyPr wrap="square" lIns="0" tIns="0" rIns="0" bIns="0" rtlCol="0" anchor="ctr"/>
          <a:lstStyle/>
          <a:p>
            <a:pPr indent="0" marL="0">
              <a:buNone/>
            </a:pPr>
            <a:r>
              <a:rPr lang="en-US" sz="4800" b="1" dirty="0">
                <a:solidFill>
                  <a:srgbClr val="F5A524"/>
                </a:solidFill>
                <a:latin typeface="Cambria" pitchFamily="34" charset="0"/>
                <a:ea typeface="Cambria" pitchFamily="34" charset="-122"/>
                <a:cs typeface="Cambria" pitchFamily="34" charset="-120"/>
              </a:rPr>
              <a:t>4m 20s</a:t>
            </a:r>
            <a:endParaRPr lang="en-US" sz="4800" dirty="0"/>
          </a:p>
        </p:txBody>
      </p:sp>
      <p:sp>
        <p:nvSpPr>
          <p:cNvPr id="8" name="Text 6"/>
          <p:cNvSpPr txBox="1"/>
          <p:nvPr/>
        </p:nvSpPr>
        <p:spPr>
          <a:xfrm>
            <a:off x="7909560" y="2971800"/>
            <a:ext cx="3383280" cy="640080"/>
          </a:xfrm>
          <a:prstGeom prst="rect">
            <a:avLst/>
          </a:prstGeom>
          <a:noFill/>
          <a:ln/>
        </p:spPr>
        <p:txBody>
          <a:bodyPr wrap="square" lIns="0" tIns="0" rIns="0" bIns="0" rtlCol="0" anchor="ctr"/>
          <a:lstStyle/>
          <a:p>
            <a:pPr indent="0" marL="0">
              <a:buNone/>
            </a:pPr>
            <a:r>
              <a:rPr lang="en-US" sz="1400" dirty="0">
                <a:solidFill>
                  <a:srgbClr val="C3CAD6"/>
                </a:solidFill>
                <a:latin typeface="Calibri" pitchFamily="34" charset="0"/>
                <a:ea typeface="Calibri" pitchFamily="34" charset="-122"/>
                <a:cs typeface="Calibri" pitchFamily="34" charset="-120"/>
              </a:rPr>
              <a:t>for one opinion on whether your change is safe</a:t>
            </a:r>
            <a:endParaRPr lang="en-US" sz="1400" dirty="0"/>
          </a:p>
        </p:txBody>
      </p:sp>
      <p:sp>
        <p:nvSpPr>
          <p:cNvPr id="9" name="Text 7"/>
          <p:cNvSpPr txBox="1"/>
          <p:nvPr/>
        </p:nvSpPr>
        <p:spPr>
          <a:xfrm>
            <a:off x="7909560" y="3657600"/>
            <a:ext cx="3383280" cy="548640"/>
          </a:xfrm>
          <a:prstGeom prst="rect">
            <a:avLst/>
          </a:prstGeom>
          <a:noFill/>
          <a:ln/>
        </p:spPr>
        <p:txBody>
          <a:bodyPr wrap="square" lIns="0" tIns="0" rIns="0" bIns="0" rtlCol="0" anchor="ctr"/>
          <a:lstStyle/>
          <a:p>
            <a:pPr indent="0" marL="0">
              <a:buNone/>
            </a:pPr>
            <a:r>
              <a:rPr lang="en-US" sz="1200" i="1" dirty="0">
                <a:solidFill>
                  <a:srgbClr val="8A94A6"/>
                </a:solidFill>
                <a:latin typeface="Calibri" pitchFamily="34" charset="0"/>
                <a:ea typeface="Calibri" pitchFamily="34" charset="-122"/>
                <a:cs typeface="Calibri" pitchFamily="34" charset="-120"/>
              </a:rPr>
              <a:t>Three apps. One process each. Nothing overlaps.</a:t>
            </a:r>
            <a:endParaRPr lang="en-US" sz="1200" dirty="0"/>
          </a:p>
        </p:txBody>
      </p:sp>
      <p:sp>
        <p:nvSpPr>
          <p:cNvPr id="10" name="Text 8"/>
          <p:cNvSpPr txBox="1"/>
          <p:nvPr/>
        </p:nvSpPr>
        <p:spPr>
          <a:xfrm>
            <a:off x="640080" y="4892040"/>
            <a:ext cx="10881360" cy="548640"/>
          </a:xfrm>
          <a:prstGeom prst="rect">
            <a:avLst/>
          </a:prstGeom>
          <a:noFill/>
          <a:ln/>
        </p:spPr>
        <p:txBody>
          <a:bodyPr wrap="square" lIns="0" tIns="0" rIns="0" bIns="0" rtlCol="0" anchor="ctr"/>
          <a:lstStyle/>
          <a:p>
            <a:pPr indent="0" marL="0">
              <a:buNone/>
            </a:pPr>
            <a:r>
              <a:rPr lang="en-US" sz="1500" dirty="0">
                <a:solidFill>
                  <a:srgbClr val="C3CAD6"/>
                </a:solidFill>
                <a:latin typeface="Calibri" pitchFamily="34" charset="0"/>
                <a:ea typeface="Calibri" pitchFamily="34" charset="-122"/>
                <a:cs typeface="Calibri" pitchFamily="34" charset="-120"/>
              </a:rPr>
              <a:t>And this is the small version. Fifteen apps and 1,500 tests is the project this came from — the shape is the same, the number is not.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0B7A44"/>
                </a:solidFill>
                <a:latin typeface="Calibri" pitchFamily="34" charset="0"/>
                <a:ea typeface="Calibri" pitchFamily="34" charset="-122"/>
                <a:cs typeface="Calibri" pitchFamily="34" charset="-120"/>
              </a:rPr>
              <a:t>SECTION 01 · THE WISH LIST</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10131A"/>
                </a:solidFill>
                <a:latin typeface="Cambria" pitchFamily="34" charset="0"/>
                <a:ea typeface="Cambria" pitchFamily="34" charset="-122"/>
                <a:cs typeface="Cambria" pitchFamily="34" charset="-120"/>
              </a:rPr>
              <a:t>Imagine you could run only…</a:t>
            </a:r>
            <a:endParaRPr lang="en-US" sz="3800" dirty="0"/>
          </a:p>
        </p:txBody>
      </p:sp>
      <p:sp>
        <p:nvSpPr>
          <p:cNvPr id="4" name="Shape 2"/>
          <p:cNvSpPr/>
          <p:nvPr/>
        </p:nvSpPr>
        <p:spPr>
          <a:xfrm>
            <a:off x="640080" y="2011680"/>
            <a:ext cx="5257800" cy="1691640"/>
          </a:xfrm>
          <a:prstGeom prst="roundRect">
            <a:avLst>
              <a:gd name="adj" fmla="val 4865"/>
            </a:avLst>
          </a:prstGeom>
          <a:solidFill>
            <a:srgbClr val="FFFFFF"/>
          </a:solidFill>
          <a:ln w="12700">
            <a:solidFill>
              <a:srgbClr val="E2E6ED"/>
            </a:solidFill>
            <a:prstDash val="solid"/>
          </a:ln>
        </p:spPr>
      </p:sp>
      <p:sp>
        <p:nvSpPr>
          <p:cNvPr id="5" name="Shape 3"/>
          <p:cNvSpPr/>
          <p:nvPr/>
        </p:nvSpPr>
        <p:spPr>
          <a:xfrm>
            <a:off x="640080" y="2212848"/>
            <a:ext cx="45720" cy="1280160"/>
          </a:xfrm>
          <a:prstGeom prst="rect">
            <a:avLst/>
          </a:prstGeom>
          <a:solidFill>
            <a:srgbClr val="0B7A44"/>
          </a:solidFill>
          <a:ln w="12700">
            <a:solidFill>
              <a:srgbClr val="333333"/>
            </a:solidFill>
            <a:prstDash val="solid"/>
          </a:ln>
        </p:spPr>
      </p:sp>
      <p:sp>
        <p:nvSpPr>
          <p:cNvPr id="6" name="Text 4"/>
          <p:cNvSpPr txBox="1"/>
          <p:nvPr/>
        </p:nvSpPr>
        <p:spPr>
          <a:xfrm>
            <a:off x="960120" y="2286000"/>
            <a:ext cx="4663440" cy="457200"/>
          </a:xfrm>
          <a:prstGeom prst="rect">
            <a:avLst/>
          </a:prstGeom>
          <a:noFill/>
          <a:ln/>
        </p:spPr>
        <p:txBody>
          <a:bodyPr wrap="square" lIns="0" tIns="0" rIns="0" bIns="0" rtlCol="0" anchor="ctr"/>
          <a:lstStyle/>
          <a:p>
            <a:pPr indent="0" marL="0">
              <a:buNone/>
            </a:pPr>
            <a:r>
              <a:rPr lang="en-US" sz="2000" b="1" dirty="0">
                <a:solidFill>
                  <a:srgbClr val="10131A"/>
                </a:solidFill>
                <a:latin typeface="Calibri" pitchFamily="34" charset="0"/>
                <a:ea typeface="Calibri" pitchFamily="34" charset="-122"/>
                <a:cs typeface="Calibri" pitchFamily="34" charset="-120"/>
              </a:rPr>
              <a:t>…what the change touched</a:t>
            </a:r>
            <a:endParaRPr lang="en-US" sz="2000" dirty="0"/>
          </a:p>
        </p:txBody>
      </p:sp>
      <p:sp>
        <p:nvSpPr>
          <p:cNvPr id="7" name="Text 5"/>
          <p:cNvSpPr txBox="1"/>
          <p:nvPr/>
        </p:nvSpPr>
        <p:spPr>
          <a:xfrm>
            <a:off x="960120" y="2788920"/>
            <a:ext cx="4663440" cy="731520"/>
          </a:xfrm>
          <a:prstGeom prst="rect">
            <a:avLst/>
          </a:prstGeom>
          <a:noFill/>
          <a:ln/>
        </p:spPr>
        <p:txBody>
          <a:bodyPr wrap="square" lIns="0" tIns="0" rIns="0" bIns="0" rtlCol="0" anchor="ctr"/>
          <a:lstStyle/>
          <a:p>
            <a:pPr indent="0" marL="0">
              <a:buNone/>
            </a:pPr>
            <a:r>
              <a:rPr lang="en-US" sz="1400" dirty="0">
                <a:solidFill>
                  <a:srgbClr val="5C6675"/>
                </a:solidFill>
                <a:latin typeface="Calibri" pitchFamily="34" charset="0"/>
                <a:ea typeface="Calibri" pitchFamily="34" charset="-122"/>
                <a:cs typeface="Calibri" pitchFamily="34" charset="-120"/>
              </a:rPr>
              <a:t>Not the whole suite. The apps the diff can actually break.</a:t>
            </a:r>
            <a:endParaRPr lang="en-US" sz="1400" dirty="0"/>
          </a:p>
        </p:txBody>
      </p:sp>
      <p:sp>
        <p:nvSpPr>
          <p:cNvPr id="8" name="Shape 6"/>
          <p:cNvSpPr/>
          <p:nvPr/>
        </p:nvSpPr>
        <p:spPr>
          <a:xfrm>
            <a:off x="6263640" y="2011680"/>
            <a:ext cx="5257800" cy="1691640"/>
          </a:xfrm>
          <a:prstGeom prst="roundRect">
            <a:avLst>
              <a:gd name="adj" fmla="val 4865"/>
            </a:avLst>
          </a:prstGeom>
          <a:solidFill>
            <a:srgbClr val="FFFFFF"/>
          </a:solidFill>
          <a:ln w="12700">
            <a:solidFill>
              <a:srgbClr val="E2E6ED"/>
            </a:solidFill>
            <a:prstDash val="solid"/>
          </a:ln>
        </p:spPr>
      </p:sp>
      <p:sp>
        <p:nvSpPr>
          <p:cNvPr id="9" name="Shape 7"/>
          <p:cNvSpPr/>
          <p:nvPr/>
        </p:nvSpPr>
        <p:spPr>
          <a:xfrm>
            <a:off x="6263640" y="2212848"/>
            <a:ext cx="45720" cy="1280160"/>
          </a:xfrm>
          <a:prstGeom prst="rect">
            <a:avLst/>
          </a:prstGeom>
          <a:solidFill>
            <a:srgbClr val="0B7A44"/>
          </a:solidFill>
          <a:ln w="12700">
            <a:solidFill>
              <a:srgbClr val="333333"/>
            </a:solidFill>
            <a:prstDash val="solid"/>
          </a:ln>
        </p:spPr>
      </p:sp>
      <p:sp>
        <p:nvSpPr>
          <p:cNvPr id="10" name="Text 8"/>
          <p:cNvSpPr txBox="1"/>
          <p:nvPr/>
        </p:nvSpPr>
        <p:spPr>
          <a:xfrm>
            <a:off x="6583680" y="2286000"/>
            <a:ext cx="4663440" cy="457200"/>
          </a:xfrm>
          <a:prstGeom prst="rect">
            <a:avLst/>
          </a:prstGeom>
          <a:noFill/>
          <a:ln/>
        </p:spPr>
        <p:txBody>
          <a:bodyPr wrap="square" lIns="0" tIns="0" rIns="0" bIns="0" rtlCol="0" anchor="ctr"/>
          <a:lstStyle/>
          <a:p>
            <a:pPr indent="0" marL="0">
              <a:buNone/>
            </a:pPr>
            <a:r>
              <a:rPr lang="en-US" sz="2000" b="1" dirty="0">
                <a:solidFill>
                  <a:srgbClr val="10131A"/>
                </a:solidFill>
                <a:latin typeface="Calibri" pitchFamily="34" charset="0"/>
                <a:ea typeface="Calibri" pitchFamily="34" charset="-122"/>
                <a:cs typeface="Calibri" pitchFamily="34" charset="-120"/>
              </a:rPr>
              <a:t>…several specs at once</a:t>
            </a:r>
            <a:endParaRPr lang="en-US" sz="2000" dirty="0"/>
          </a:p>
        </p:txBody>
      </p:sp>
      <p:sp>
        <p:nvSpPr>
          <p:cNvPr id="11" name="Text 9"/>
          <p:cNvSpPr txBox="1"/>
          <p:nvPr/>
        </p:nvSpPr>
        <p:spPr>
          <a:xfrm>
            <a:off x="6583680" y="2788920"/>
            <a:ext cx="4663440" cy="731520"/>
          </a:xfrm>
          <a:prstGeom prst="rect">
            <a:avLst/>
          </a:prstGeom>
          <a:noFill/>
          <a:ln/>
        </p:spPr>
        <p:txBody>
          <a:bodyPr wrap="square" lIns="0" tIns="0" rIns="0" bIns="0" rtlCol="0" anchor="ctr"/>
          <a:lstStyle/>
          <a:p>
            <a:pPr indent="0" marL="0">
              <a:buNone/>
            </a:pPr>
            <a:r>
              <a:rPr lang="en-US" sz="1400" dirty="0">
                <a:solidFill>
                  <a:srgbClr val="5C6675"/>
                </a:solidFill>
                <a:latin typeface="Calibri" pitchFamily="34" charset="0"/>
                <a:ea typeface="Calibri" pitchFamily="34" charset="-122"/>
                <a:cs typeface="Calibri" pitchFamily="34" charset="-120"/>
              </a:rPr>
              <a:t>On the cores you already paid for.</a:t>
            </a:r>
            <a:endParaRPr lang="en-US" sz="1400" dirty="0"/>
          </a:p>
        </p:txBody>
      </p:sp>
      <p:sp>
        <p:nvSpPr>
          <p:cNvPr id="12" name="Shape 10"/>
          <p:cNvSpPr/>
          <p:nvPr/>
        </p:nvSpPr>
        <p:spPr>
          <a:xfrm>
            <a:off x="640080" y="3977640"/>
            <a:ext cx="5257800" cy="1691640"/>
          </a:xfrm>
          <a:prstGeom prst="roundRect">
            <a:avLst>
              <a:gd name="adj" fmla="val 4865"/>
            </a:avLst>
          </a:prstGeom>
          <a:solidFill>
            <a:srgbClr val="FFFFFF"/>
          </a:solidFill>
          <a:ln w="12700">
            <a:solidFill>
              <a:srgbClr val="E2E6ED"/>
            </a:solidFill>
            <a:prstDash val="solid"/>
          </a:ln>
        </p:spPr>
      </p:sp>
      <p:sp>
        <p:nvSpPr>
          <p:cNvPr id="13" name="Shape 11"/>
          <p:cNvSpPr/>
          <p:nvPr/>
        </p:nvSpPr>
        <p:spPr>
          <a:xfrm>
            <a:off x="640080" y="4178808"/>
            <a:ext cx="45720" cy="1280160"/>
          </a:xfrm>
          <a:prstGeom prst="rect">
            <a:avLst/>
          </a:prstGeom>
          <a:solidFill>
            <a:srgbClr val="0B7A44"/>
          </a:solidFill>
          <a:ln w="12700">
            <a:solidFill>
              <a:srgbClr val="333333"/>
            </a:solidFill>
            <a:prstDash val="solid"/>
          </a:ln>
        </p:spPr>
      </p:sp>
      <p:sp>
        <p:nvSpPr>
          <p:cNvPr id="14" name="Text 12"/>
          <p:cNvSpPr txBox="1"/>
          <p:nvPr/>
        </p:nvSpPr>
        <p:spPr>
          <a:xfrm>
            <a:off x="960120" y="4251960"/>
            <a:ext cx="4663440" cy="457200"/>
          </a:xfrm>
          <a:prstGeom prst="rect">
            <a:avLst/>
          </a:prstGeom>
          <a:noFill/>
          <a:ln/>
        </p:spPr>
        <p:txBody>
          <a:bodyPr wrap="square" lIns="0" tIns="0" rIns="0" bIns="0" rtlCol="0" anchor="ctr"/>
          <a:lstStyle/>
          <a:p>
            <a:pPr indent="0" marL="0">
              <a:buNone/>
            </a:pPr>
            <a:r>
              <a:rPr lang="en-US" sz="2000" b="1" dirty="0">
                <a:solidFill>
                  <a:srgbClr val="10131A"/>
                </a:solidFill>
                <a:latin typeface="Calibri" pitchFamily="34" charset="0"/>
                <a:ea typeface="Calibri" pitchFamily="34" charset="-122"/>
                <a:cs typeface="Calibri" pitchFamily="34" charset="-120"/>
              </a:rPr>
              <a:t>…the same way everywhere</a:t>
            </a:r>
            <a:endParaRPr lang="en-US" sz="2000" dirty="0"/>
          </a:p>
        </p:txBody>
      </p:sp>
      <p:sp>
        <p:nvSpPr>
          <p:cNvPr id="15" name="Text 13"/>
          <p:cNvSpPr txBox="1"/>
          <p:nvPr/>
        </p:nvSpPr>
        <p:spPr>
          <a:xfrm>
            <a:off x="960120" y="4754880"/>
            <a:ext cx="4663440" cy="731520"/>
          </a:xfrm>
          <a:prstGeom prst="rect">
            <a:avLst/>
          </a:prstGeom>
          <a:noFill/>
          <a:ln/>
        </p:spPr>
        <p:txBody>
          <a:bodyPr wrap="square" lIns="0" tIns="0" rIns="0" bIns="0" rtlCol="0" anchor="ctr"/>
          <a:lstStyle/>
          <a:p>
            <a:pPr indent="0" marL="0">
              <a:buNone/>
            </a:pPr>
            <a:r>
              <a:rPr lang="en-US" sz="1400" dirty="0">
                <a:solidFill>
                  <a:srgbClr val="5C6675"/>
                </a:solidFill>
                <a:latin typeface="Calibri" pitchFamily="34" charset="0"/>
                <a:ea typeface="Calibri" pitchFamily="34" charset="-122"/>
                <a:cs typeface="Calibri" pitchFamily="34" charset="-120"/>
              </a:rPr>
              <a:t>One command, identical locally and on CI.</a:t>
            </a:r>
            <a:endParaRPr lang="en-US" sz="1400" dirty="0"/>
          </a:p>
        </p:txBody>
      </p:sp>
      <p:sp>
        <p:nvSpPr>
          <p:cNvPr id="16" name="Shape 14"/>
          <p:cNvSpPr/>
          <p:nvPr/>
        </p:nvSpPr>
        <p:spPr>
          <a:xfrm>
            <a:off x="6263640" y="3977640"/>
            <a:ext cx="5257800" cy="1691640"/>
          </a:xfrm>
          <a:prstGeom prst="roundRect">
            <a:avLst>
              <a:gd name="adj" fmla="val 4865"/>
            </a:avLst>
          </a:prstGeom>
          <a:solidFill>
            <a:srgbClr val="FFFFFF"/>
          </a:solidFill>
          <a:ln w="12700">
            <a:solidFill>
              <a:srgbClr val="E2E6ED"/>
            </a:solidFill>
            <a:prstDash val="solid"/>
          </a:ln>
        </p:spPr>
      </p:sp>
      <p:sp>
        <p:nvSpPr>
          <p:cNvPr id="17" name="Shape 15"/>
          <p:cNvSpPr/>
          <p:nvPr/>
        </p:nvSpPr>
        <p:spPr>
          <a:xfrm>
            <a:off x="6263640" y="4178808"/>
            <a:ext cx="45720" cy="1280160"/>
          </a:xfrm>
          <a:prstGeom prst="rect">
            <a:avLst/>
          </a:prstGeom>
          <a:solidFill>
            <a:srgbClr val="0B7A44"/>
          </a:solidFill>
          <a:ln w="12700">
            <a:solidFill>
              <a:srgbClr val="333333"/>
            </a:solidFill>
            <a:prstDash val="solid"/>
          </a:ln>
        </p:spPr>
      </p:sp>
      <p:sp>
        <p:nvSpPr>
          <p:cNvPr id="18" name="Text 16"/>
          <p:cNvSpPr txBox="1"/>
          <p:nvPr/>
        </p:nvSpPr>
        <p:spPr>
          <a:xfrm>
            <a:off x="6583680" y="4251960"/>
            <a:ext cx="4663440" cy="457200"/>
          </a:xfrm>
          <a:prstGeom prst="rect">
            <a:avLst/>
          </a:prstGeom>
          <a:noFill/>
          <a:ln/>
        </p:spPr>
        <p:txBody>
          <a:bodyPr wrap="square" lIns="0" tIns="0" rIns="0" bIns="0" rtlCol="0" anchor="ctr"/>
          <a:lstStyle/>
          <a:p>
            <a:pPr indent="0" marL="0">
              <a:buNone/>
            </a:pPr>
            <a:r>
              <a:rPr lang="en-US" sz="2000" b="1" dirty="0">
                <a:solidFill>
                  <a:srgbClr val="10131A"/>
                </a:solidFill>
                <a:latin typeface="Calibri" pitchFamily="34" charset="0"/>
                <a:ea typeface="Calibri" pitchFamily="34" charset="-122"/>
                <a:cs typeface="Calibri" pitchFamily="34" charset="-120"/>
              </a:rPr>
              <a:t>…only what failed last time</a:t>
            </a:r>
            <a:endParaRPr lang="en-US" sz="2000" dirty="0"/>
          </a:p>
        </p:txBody>
      </p:sp>
      <p:sp>
        <p:nvSpPr>
          <p:cNvPr id="19" name="Text 17"/>
          <p:cNvSpPr txBox="1"/>
          <p:nvPr/>
        </p:nvSpPr>
        <p:spPr>
          <a:xfrm>
            <a:off x="6583680" y="4754880"/>
            <a:ext cx="4663440" cy="731520"/>
          </a:xfrm>
          <a:prstGeom prst="rect">
            <a:avLst/>
          </a:prstGeom>
          <a:noFill/>
          <a:ln/>
        </p:spPr>
        <p:txBody>
          <a:bodyPr wrap="square" lIns="0" tIns="0" rIns="0" bIns="0" rtlCol="0" anchor="ctr"/>
          <a:lstStyle/>
          <a:p>
            <a:pPr indent="0" marL="0">
              <a:buNone/>
            </a:pPr>
            <a:r>
              <a:rPr lang="en-US" sz="1400" dirty="0">
                <a:solidFill>
                  <a:srgbClr val="5C6675"/>
                </a:solidFill>
                <a:latin typeface="Calibri" pitchFamily="34" charset="0"/>
                <a:ea typeface="Calibri" pitchFamily="34" charset="-122"/>
                <a:cs typeface="Calibri" pitchFamily="34" charset="-120"/>
              </a:rPr>
              <a:t>A retry that skips the 28 specs that already passed.</a:t>
            </a:r>
            <a:endParaRPr lang="en-US" sz="1400" dirty="0"/>
          </a:p>
        </p:txBody>
      </p:sp>
      <p:sp>
        <p:nvSpPr>
          <p:cNvPr id="20" name="Text 18"/>
          <p:cNvSpPr txBox="1"/>
          <p:nvPr/>
        </p:nvSpPr>
        <p:spPr>
          <a:xfrm>
            <a:off x="640080" y="6035040"/>
            <a:ext cx="10881360" cy="457200"/>
          </a:xfrm>
          <a:prstGeom prst="rect">
            <a:avLst/>
          </a:prstGeom>
          <a:noFill/>
          <a:ln/>
        </p:spPr>
        <p:txBody>
          <a:bodyPr wrap="square" lIns="0" tIns="0" rIns="0" bIns="0" rtlCol="0" anchor="ctr"/>
          <a:lstStyle/>
          <a:p>
            <a:pPr algn="ctr" indent="0" marL="0">
              <a:buNone/>
            </a:pPr>
            <a:r>
              <a:rPr lang="en-US" sz="1700" b="1" dirty="0">
                <a:solidFill>
                  <a:srgbClr val="0B7A44"/>
                </a:solidFill>
                <a:latin typeface="Calibri" pitchFamily="34" charset="0"/>
                <a:ea typeface="Calibri" pitchFamily="34" charset="-122"/>
                <a:cs typeface="Calibri" pitchFamily="34" charset="-120"/>
              </a:rPr>
              <a:t>All four are configuration. None of them need a subscription.</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131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4ADE80"/>
                </a:solidFill>
                <a:latin typeface="Calibri" pitchFamily="34" charset="0"/>
                <a:ea typeface="Calibri" pitchFamily="34" charset="-122"/>
                <a:cs typeface="Calibri" pitchFamily="34" charset="-120"/>
              </a:rPr>
              <a:t>SECTION 02 · THE ATOMIZER</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One task becomes one task per file</a:t>
            </a:r>
            <a:endParaRPr lang="en-US" sz="3800" dirty="0"/>
          </a:p>
        </p:txBody>
      </p:sp>
      <p:sp>
        <p:nvSpPr>
          <p:cNvPr id="4" name="Text 2"/>
          <p:cNvSpPr txBox="1"/>
          <p:nvPr/>
        </p:nvSpPr>
        <p:spPr>
          <a:xfrm>
            <a:off x="640080" y="1874520"/>
            <a:ext cx="2377440" cy="274320"/>
          </a:xfrm>
          <a:prstGeom prst="rect">
            <a:avLst/>
          </a:prstGeom>
          <a:noFill/>
          <a:ln/>
        </p:spPr>
        <p:txBody>
          <a:bodyPr wrap="square" lIns="0" tIns="0" rIns="0" bIns="0" rtlCol="0" anchor="ctr"/>
          <a:lstStyle/>
          <a:p>
            <a:pPr indent="0" marL="0">
              <a:buNone/>
            </a:pPr>
            <a:r>
              <a:rPr lang="en-US" sz="1200" b="1" spc="200" kern="0" dirty="0">
                <a:solidFill>
                  <a:srgbClr val="F5A524"/>
                </a:solidFill>
                <a:latin typeface="Calibri" pitchFamily="34" charset="0"/>
                <a:ea typeface="Calibri" pitchFamily="34" charset="-122"/>
                <a:cs typeface="Calibri" pitchFamily="34" charset="-120"/>
              </a:rPr>
              <a:t>BEFORE</a:t>
            </a:r>
            <a:endParaRPr lang="en-US" sz="1200" dirty="0"/>
          </a:p>
        </p:txBody>
      </p:sp>
      <p:sp>
        <p:nvSpPr>
          <p:cNvPr id="5" name="Shape 3"/>
          <p:cNvSpPr/>
          <p:nvPr/>
        </p:nvSpPr>
        <p:spPr>
          <a:xfrm>
            <a:off x="640080" y="2240280"/>
            <a:ext cx="2377440" cy="2377440"/>
          </a:xfrm>
          <a:prstGeom prst="roundRect">
            <a:avLst>
              <a:gd name="adj" fmla="val 2692"/>
            </a:avLst>
          </a:prstGeom>
          <a:solidFill>
            <a:srgbClr val="1B2029"/>
          </a:solidFill>
          <a:ln w="19050">
            <a:solidFill>
              <a:srgbClr val="F5A524"/>
            </a:solidFill>
            <a:prstDash val="solid"/>
          </a:ln>
        </p:spPr>
      </p:sp>
      <p:sp>
        <p:nvSpPr>
          <p:cNvPr id="6" name="Text 4"/>
          <p:cNvSpPr txBox="1"/>
          <p:nvPr/>
        </p:nvSpPr>
        <p:spPr>
          <a:xfrm>
            <a:off x="640080" y="3063240"/>
            <a:ext cx="23774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e2e</a:t>
            </a:r>
            <a:endParaRPr lang="en-US" sz="2200" dirty="0"/>
          </a:p>
        </p:txBody>
      </p:sp>
      <p:sp>
        <p:nvSpPr>
          <p:cNvPr id="7" name="Text 5"/>
          <p:cNvSpPr txBox="1"/>
          <p:nvPr/>
        </p:nvSpPr>
        <p:spPr>
          <a:xfrm>
            <a:off x="640080" y="3520440"/>
            <a:ext cx="2377440" cy="320040"/>
          </a:xfrm>
          <a:prstGeom prst="rect">
            <a:avLst/>
          </a:prstGeom>
          <a:noFill/>
          <a:ln/>
        </p:spPr>
        <p:txBody>
          <a:bodyPr wrap="square" lIns="0" tIns="0" rIns="0" bIns="0" rtlCol="0" anchor="ctr"/>
          <a:lstStyle/>
          <a:p>
            <a:pPr algn="ctr" indent="0" marL="0">
              <a:buNone/>
            </a:pPr>
            <a:r>
              <a:rPr lang="en-US" sz="1200" dirty="0">
                <a:solidFill>
                  <a:srgbClr val="8A94A6"/>
                </a:solidFill>
                <a:latin typeface="Calibri" pitchFamily="34" charset="0"/>
                <a:ea typeface="Calibri" pitchFamily="34" charset="-122"/>
                <a:cs typeface="Calibri" pitchFamily="34" charset="-120"/>
              </a:rPr>
              <a:t>56 tests, in a row</a:t>
            </a:r>
            <a:endParaRPr lang="en-US" sz="1200" dirty="0"/>
          </a:p>
        </p:txBody>
      </p:sp>
      <p:sp>
        <p:nvSpPr>
          <p:cNvPr id="8" name="Shape 6"/>
          <p:cNvSpPr/>
          <p:nvPr/>
        </p:nvSpPr>
        <p:spPr>
          <a:xfrm>
            <a:off x="3246120" y="3200400"/>
            <a:ext cx="777240" cy="411480"/>
          </a:xfrm>
          <a:prstGeom prst="rightArrow">
            <a:avLst/>
          </a:prstGeom>
          <a:solidFill>
            <a:srgbClr val="4ADE80"/>
          </a:solidFill>
          <a:ln w="12700">
            <a:solidFill>
              <a:srgbClr val="4ADE80"/>
            </a:solidFill>
            <a:prstDash val="solid"/>
          </a:ln>
        </p:spPr>
      </p:sp>
      <p:sp>
        <p:nvSpPr>
          <p:cNvPr id="9" name="Text 7"/>
          <p:cNvSpPr txBox="1"/>
          <p:nvPr/>
        </p:nvSpPr>
        <p:spPr>
          <a:xfrm>
            <a:off x="4251960" y="1874520"/>
            <a:ext cx="3291840" cy="274320"/>
          </a:xfrm>
          <a:prstGeom prst="rect">
            <a:avLst/>
          </a:prstGeom>
          <a:noFill/>
          <a:ln/>
        </p:spPr>
        <p:txBody>
          <a:bodyPr wrap="square" lIns="0" tIns="0" rIns="0" bIns="0" rtlCol="0" anchor="ctr"/>
          <a:lstStyle/>
          <a:p>
            <a:pPr indent="0" marL="0">
              <a:buNone/>
            </a:pPr>
            <a:r>
              <a:rPr lang="en-US" sz="1200" b="1" spc="200" kern="0" dirty="0">
                <a:solidFill>
                  <a:srgbClr val="4ADE80"/>
                </a:solidFill>
                <a:latin typeface="Calibri" pitchFamily="34" charset="0"/>
                <a:ea typeface="Calibri" pitchFamily="34" charset="-122"/>
                <a:cs typeface="Calibri" pitchFamily="34" charset="-120"/>
              </a:rPr>
              <a:t>AFTER</a:t>
            </a:r>
            <a:endParaRPr lang="en-US" sz="1200" dirty="0"/>
          </a:p>
        </p:txBody>
      </p:sp>
      <p:sp>
        <p:nvSpPr>
          <p:cNvPr id="10" name="Shape 8"/>
          <p:cNvSpPr/>
          <p:nvPr/>
        </p:nvSpPr>
        <p:spPr>
          <a:xfrm>
            <a:off x="4251960" y="2240280"/>
            <a:ext cx="3291840" cy="329184"/>
          </a:xfrm>
          <a:prstGeom prst="roundRect">
            <a:avLst>
              <a:gd name="adj" fmla="val 13889"/>
            </a:avLst>
          </a:prstGeom>
          <a:solidFill>
            <a:srgbClr val="1B2029"/>
          </a:solidFill>
          <a:ln w="12700">
            <a:solidFill>
              <a:srgbClr val="4ADE80"/>
            </a:solidFill>
            <a:prstDash val="solid"/>
          </a:ln>
        </p:spPr>
      </p:sp>
      <p:sp>
        <p:nvSpPr>
          <p:cNvPr id="11" name="Text 9"/>
          <p:cNvSpPr txBox="1"/>
          <p:nvPr/>
        </p:nvSpPr>
        <p:spPr>
          <a:xfrm>
            <a:off x="4389120" y="2240280"/>
            <a:ext cx="3017520" cy="329184"/>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catalog.cy.ts</a:t>
            </a:r>
            <a:endParaRPr lang="en-US" sz="1100" dirty="0"/>
          </a:p>
        </p:txBody>
      </p:sp>
      <p:sp>
        <p:nvSpPr>
          <p:cNvPr id="12" name="Shape 10"/>
          <p:cNvSpPr/>
          <p:nvPr/>
        </p:nvSpPr>
        <p:spPr>
          <a:xfrm>
            <a:off x="4251960" y="2642616"/>
            <a:ext cx="3291840" cy="329184"/>
          </a:xfrm>
          <a:prstGeom prst="roundRect">
            <a:avLst>
              <a:gd name="adj" fmla="val 13889"/>
            </a:avLst>
          </a:prstGeom>
          <a:solidFill>
            <a:srgbClr val="1B2029"/>
          </a:solidFill>
          <a:ln w="12700">
            <a:solidFill>
              <a:srgbClr val="4ADE80"/>
            </a:solidFill>
            <a:prstDash val="solid"/>
          </a:ln>
        </p:spPr>
      </p:sp>
      <p:sp>
        <p:nvSpPr>
          <p:cNvPr id="13" name="Text 11"/>
          <p:cNvSpPr txBox="1"/>
          <p:nvPr/>
        </p:nvSpPr>
        <p:spPr>
          <a:xfrm>
            <a:off x="4389120" y="2642616"/>
            <a:ext cx="3017520" cy="329184"/>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search.cy.ts</a:t>
            </a:r>
            <a:endParaRPr lang="en-US" sz="1100" dirty="0"/>
          </a:p>
        </p:txBody>
      </p:sp>
      <p:sp>
        <p:nvSpPr>
          <p:cNvPr id="14" name="Shape 12"/>
          <p:cNvSpPr/>
          <p:nvPr/>
        </p:nvSpPr>
        <p:spPr>
          <a:xfrm>
            <a:off x="4251960" y="3044952"/>
            <a:ext cx="3291840" cy="329184"/>
          </a:xfrm>
          <a:prstGeom prst="roundRect">
            <a:avLst>
              <a:gd name="adj" fmla="val 13889"/>
            </a:avLst>
          </a:prstGeom>
          <a:solidFill>
            <a:srgbClr val="1B2029"/>
          </a:solidFill>
          <a:ln w="12700">
            <a:solidFill>
              <a:srgbClr val="4ADE80"/>
            </a:solidFill>
            <a:prstDash val="solid"/>
          </a:ln>
        </p:spPr>
      </p:sp>
      <p:sp>
        <p:nvSpPr>
          <p:cNvPr id="15" name="Text 13"/>
          <p:cNvSpPr txBox="1"/>
          <p:nvPr/>
        </p:nvSpPr>
        <p:spPr>
          <a:xfrm>
            <a:off x="4389120" y="3044952"/>
            <a:ext cx="3017520" cy="329184"/>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cart-totals.cy.ts</a:t>
            </a:r>
            <a:endParaRPr lang="en-US" sz="1100" dirty="0"/>
          </a:p>
        </p:txBody>
      </p:sp>
      <p:sp>
        <p:nvSpPr>
          <p:cNvPr id="16" name="Shape 14"/>
          <p:cNvSpPr/>
          <p:nvPr/>
        </p:nvSpPr>
        <p:spPr>
          <a:xfrm>
            <a:off x="4251960" y="3447288"/>
            <a:ext cx="3291840" cy="329184"/>
          </a:xfrm>
          <a:prstGeom prst="roundRect">
            <a:avLst>
              <a:gd name="adj" fmla="val 13889"/>
            </a:avLst>
          </a:prstGeom>
          <a:solidFill>
            <a:srgbClr val="1B2029"/>
          </a:solidFill>
          <a:ln w="12700">
            <a:solidFill>
              <a:srgbClr val="4ADE80"/>
            </a:solidFill>
            <a:prstDash val="solid"/>
          </a:ln>
        </p:spPr>
      </p:sp>
      <p:sp>
        <p:nvSpPr>
          <p:cNvPr id="17" name="Text 15"/>
          <p:cNvSpPr txBox="1"/>
          <p:nvPr/>
        </p:nvSpPr>
        <p:spPr>
          <a:xfrm>
            <a:off x="4389120" y="3447288"/>
            <a:ext cx="3017520" cy="329184"/>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login.cy.ts</a:t>
            </a:r>
            <a:endParaRPr lang="en-US" sz="1100" dirty="0"/>
          </a:p>
        </p:txBody>
      </p:sp>
      <p:sp>
        <p:nvSpPr>
          <p:cNvPr id="18" name="Shape 16"/>
          <p:cNvSpPr/>
          <p:nvPr/>
        </p:nvSpPr>
        <p:spPr>
          <a:xfrm>
            <a:off x="4251960" y="3849624"/>
            <a:ext cx="3291840" cy="329184"/>
          </a:xfrm>
          <a:prstGeom prst="roundRect">
            <a:avLst>
              <a:gd name="adj" fmla="val 13889"/>
            </a:avLst>
          </a:prstGeom>
          <a:solidFill>
            <a:srgbClr val="1B2029"/>
          </a:solidFill>
          <a:ln w="12700">
            <a:solidFill>
              <a:srgbClr val="4ADE80"/>
            </a:solidFill>
            <a:prstDash val="solid"/>
          </a:ln>
        </p:spPr>
      </p:sp>
      <p:sp>
        <p:nvSpPr>
          <p:cNvPr id="19" name="Text 17"/>
          <p:cNvSpPr txBox="1"/>
          <p:nvPr/>
        </p:nvSpPr>
        <p:spPr>
          <a:xfrm>
            <a:off x="4389120" y="3849624"/>
            <a:ext cx="3017520" cy="329184"/>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checkout-*.cy.ts</a:t>
            </a:r>
            <a:endParaRPr lang="en-US" sz="1100" dirty="0"/>
          </a:p>
        </p:txBody>
      </p:sp>
      <p:sp>
        <p:nvSpPr>
          <p:cNvPr id="20" name="Shape 18"/>
          <p:cNvSpPr/>
          <p:nvPr/>
        </p:nvSpPr>
        <p:spPr>
          <a:xfrm>
            <a:off x="4251960" y="4251960"/>
            <a:ext cx="3291840" cy="329184"/>
          </a:xfrm>
          <a:prstGeom prst="roundRect">
            <a:avLst>
              <a:gd name="adj" fmla="val 13889"/>
            </a:avLst>
          </a:prstGeom>
          <a:solidFill>
            <a:srgbClr val="10131A"/>
          </a:solidFill>
          <a:ln w="12700">
            <a:solidFill>
              <a:srgbClr val="2C3340"/>
            </a:solidFill>
            <a:prstDash val="solid"/>
          </a:ln>
        </p:spPr>
      </p:sp>
      <p:sp>
        <p:nvSpPr>
          <p:cNvPr id="21" name="Text 19"/>
          <p:cNvSpPr txBox="1"/>
          <p:nvPr/>
        </p:nvSpPr>
        <p:spPr>
          <a:xfrm>
            <a:off x="4389120" y="4251960"/>
            <a:ext cx="3017520" cy="329184"/>
          </a:xfrm>
          <a:prstGeom prst="rect">
            <a:avLst/>
          </a:prstGeom>
          <a:noFill/>
          <a:ln/>
        </p:spPr>
        <p:txBody>
          <a:bodyPr wrap="square" lIns="0" tIns="0" rIns="0" bIns="0" rtlCol="0" anchor="ctr"/>
          <a:lstStyle/>
          <a:p>
            <a:pPr indent="0" marL="0">
              <a:buNone/>
            </a:pPr>
            <a:r>
              <a:rPr lang="en-US" sz="1100" dirty="0">
                <a:solidFill>
                  <a:srgbClr val="8A94A6"/>
                </a:solidFill>
                <a:latin typeface="Courier New" pitchFamily="34" charset="0"/>
                <a:ea typeface="Courier New" pitchFamily="34" charset="-122"/>
                <a:cs typeface="Courier New" pitchFamily="34" charset="-120"/>
              </a:rPr>
              <a:t>…10 in total</a:t>
            </a:r>
            <a:endParaRPr lang="en-US" sz="1100" dirty="0"/>
          </a:p>
        </p:txBody>
      </p:sp>
      <p:sp>
        <p:nvSpPr>
          <p:cNvPr id="22" name="Text 20"/>
          <p:cNvSpPr txBox="1"/>
          <p:nvPr/>
        </p:nvSpPr>
        <p:spPr>
          <a:xfrm>
            <a:off x="7955280" y="2240280"/>
            <a:ext cx="3566160" cy="3108960"/>
          </a:xfrm>
          <a:prstGeom prst="rect">
            <a:avLst/>
          </a:prstGeom>
          <a:noFill/>
          <a:ln/>
        </p:spPr>
        <p:txBody>
          <a:bodyPr wrap="square" lIns="0" tIns="0" rIns="0" bIns="0" rtlCol="0" anchor="t"/>
          <a:lstStyle/>
          <a:p>
            <a:pPr marL="342900" indent="-342900">
              <a:spcAft>
                <a:spcPts val="1000"/>
              </a:spcAft>
              <a:buSzPct val="100000"/>
              <a:buChar char="•"/>
            </a:pPr>
            <a:r>
              <a:rPr lang="en-US" sz="1500" b="1" dirty="0">
                <a:solidFill>
                  <a:srgbClr val="FFFFFF"/>
                </a:solidFill>
                <a:latin typeface="Calibri" pitchFamily="34" charset="0"/>
                <a:ea typeface="Calibri" pitchFamily="34" charset="-122"/>
                <a:cs typeface="Calibri" pitchFamily="34" charset="-120"/>
              </a:rPr>
              <a:t>Generated, not written by hand</a:t>
            </a:r>
            <a:endParaRPr lang="en-US" sz="1500" dirty="0"/>
          </a:p>
          <a:p>
            <a:pPr marL="342900" indent="-342900">
              <a:spcAft>
                <a:spcPts val="1000"/>
              </a:spcAft>
              <a:buSzPct val="100000"/>
              <a:buChar char="•"/>
            </a:pPr>
            <a:r>
              <a:rPr lang="en-US" sz="1500" dirty="0">
                <a:solidFill>
                  <a:srgbClr val="C3CAD6"/>
                </a:solidFill>
                <a:latin typeface="Calibri" pitchFamily="34" charset="0"/>
                <a:ea typeface="Calibri" pitchFamily="34" charset="-122"/>
                <a:cs typeface="Calibri" pitchFamily="34" charset="-120"/>
              </a:rPr>
              <a:t>Add a spec file, get a target</a:t>
            </a:r>
            <a:endParaRPr lang="en-US" sz="1500" dirty="0"/>
          </a:p>
          <a:p>
            <a:pPr marL="342900" indent="-342900">
              <a:spcAft>
                <a:spcPts val="1000"/>
              </a:spcAft>
              <a:buSzPct val="100000"/>
              <a:buChar char="•"/>
            </a:pPr>
            <a:r>
              <a:rPr lang="en-US" sz="1500" dirty="0">
                <a:solidFill>
                  <a:srgbClr val="C3CAD6"/>
                </a:solidFill>
                <a:latin typeface="Calibri" pitchFamily="34" charset="0"/>
                <a:ea typeface="Calibri" pitchFamily="34" charset="-122"/>
                <a:cs typeface="Calibri" pitchFamily="34" charset="-120"/>
              </a:rPr>
              <a:t>Each one is independently runnable</a:t>
            </a:r>
            <a:endParaRPr lang="en-US" sz="1500" dirty="0"/>
          </a:p>
          <a:p>
            <a:pPr marL="342900" indent="-342900">
              <a:spcAft>
                <a:spcPts val="1000"/>
              </a:spcAft>
              <a:buSzPct val="100000"/>
              <a:buChar char="•"/>
            </a:pPr>
            <a:r>
              <a:rPr lang="en-US" sz="1500" dirty="0">
                <a:solidFill>
                  <a:srgbClr val="C3CAD6"/>
                </a:solidFill>
                <a:latin typeface="Calibri" pitchFamily="34" charset="0"/>
                <a:ea typeface="Calibri" pitchFamily="34" charset="-122"/>
                <a:cs typeface="Calibri" pitchFamily="34" charset="-120"/>
              </a:rPr>
              <a:t>Each one is independently cacheable</a:t>
            </a:r>
            <a:endParaRPr lang="en-US" sz="1500" dirty="0"/>
          </a:p>
          <a:p>
            <a:pPr marL="342900" indent="-342900">
              <a:spcAft>
                <a:spcPts val="1000"/>
              </a:spcAft>
              <a:buSzPct val="100000"/>
              <a:buChar char="•"/>
            </a:pPr>
            <a:r>
              <a:rPr lang="en-US" sz="1500" dirty="0">
                <a:solidFill>
                  <a:srgbClr val="C3CAD6"/>
                </a:solidFill>
                <a:latin typeface="Calibri" pitchFamily="34" charset="0"/>
                <a:ea typeface="Calibri" pitchFamily="34" charset="-122"/>
                <a:cs typeface="Calibri" pitchFamily="34" charset="-120"/>
              </a:rPr>
              <a:t>Each one fails on its own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0B7A44"/>
                </a:solidFill>
                <a:latin typeface="Calibri" pitchFamily="34" charset="0"/>
                <a:ea typeface="Calibri" pitchFamily="34" charset="-122"/>
                <a:cs typeface="Calibri" pitchFamily="34" charset="-120"/>
              </a:rPr>
              <a:t>SECTION 02 · SETUP</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10131A"/>
                </a:solidFill>
                <a:latin typeface="Cambria" pitchFamily="34" charset="0"/>
                <a:ea typeface="Cambria" pitchFamily="34" charset="-122"/>
                <a:cs typeface="Cambria" pitchFamily="34" charset="-120"/>
              </a:rPr>
              <a:t>Turning it on</a:t>
            </a:r>
            <a:endParaRPr lang="en-US" sz="3800" dirty="0"/>
          </a:p>
        </p:txBody>
      </p:sp>
      <p:sp>
        <p:nvSpPr>
          <p:cNvPr id="4" name="Text 2"/>
          <p:cNvSpPr txBox="1"/>
          <p:nvPr/>
        </p:nvSpPr>
        <p:spPr>
          <a:xfrm>
            <a:off x="640080" y="1828800"/>
            <a:ext cx="5120640" cy="320040"/>
          </a:xfrm>
          <a:prstGeom prst="rect">
            <a:avLst/>
          </a:prstGeom>
          <a:noFill/>
          <a:ln/>
        </p:spPr>
        <p:txBody>
          <a:bodyPr wrap="square" lIns="0" tIns="0" rIns="0" bIns="0" rtlCol="0" anchor="ctr"/>
          <a:lstStyle/>
          <a:p>
            <a:pPr indent="0" marL="0">
              <a:buNone/>
            </a:pPr>
            <a:r>
              <a:rPr lang="en-US" sz="1600" b="1" dirty="0">
                <a:solidFill>
                  <a:srgbClr val="10131A"/>
                </a:solidFill>
                <a:latin typeface="Calibri" pitchFamily="34" charset="0"/>
                <a:ea typeface="Calibri" pitchFamily="34" charset="-122"/>
                <a:cs typeface="Calibri" pitchFamily="34" charset="-120"/>
              </a:rPr>
              <a:t>1 · Add the plugin</a:t>
            </a:r>
            <a:endParaRPr lang="en-US" sz="1600" dirty="0"/>
          </a:p>
        </p:txBody>
      </p:sp>
      <p:sp>
        <p:nvSpPr>
          <p:cNvPr id="5" name="Shape 3"/>
          <p:cNvSpPr/>
          <p:nvPr/>
        </p:nvSpPr>
        <p:spPr>
          <a:xfrm>
            <a:off x="640080" y="2194560"/>
            <a:ext cx="5120640" cy="768096"/>
          </a:xfrm>
          <a:prstGeom prst="roundRect">
            <a:avLst>
              <a:gd name="adj" fmla="val 7143"/>
            </a:avLst>
          </a:prstGeom>
          <a:solidFill>
            <a:srgbClr val="10131A"/>
          </a:solidFill>
          <a:ln w="12700">
            <a:solidFill>
              <a:srgbClr val="10131A"/>
            </a:solidFill>
            <a:prstDash val="solid"/>
          </a:ln>
        </p:spPr>
      </p:sp>
      <p:sp>
        <p:nvSpPr>
          <p:cNvPr id="6" name="Text 4"/>
          <p:cNvSpPr txBox="1"/>
          <p:nvPr/>
        </p:nvSpPr>
        <p:spPr>
          <a:xfrm>
            <a:off x="868680" y="2395728"/>
            <a:ext cx="4663440" cy="365760"/>
          </a:xfrm>
          <a:prstGeom prst="rect">
            <a:avLst/>
          </a:prstGeom>
          <a:noFill/>
          <a:ln/>
        </p:spPr>
        <p:txBody>
          <a:bodyPr wrap="square" lIns="0" tIns="0" rIns="0" bIns="0" rtlCol="0" anchor="t"/>
          <a:lstStyle/>
          <a:p>
            <a:pPr indent="0" marL="0">
              <a:lnSpc>
                <a:spcPct val="125000"/>
              </a:lnSpc>
              <a:buNone/>
            </a:pPr>
            <a:r>
              <a:rPr lang="en-US" sz="1500" dirty="0">
                <a:solidFill>
                  <a:srgbClr val="3DDC84"/>
                </a:solidFill>
                <a:latin typeface="Courier New" pitchFamily="34" charset="0"/>
                <a:ea typeface="Courier New" pitchFamily="34" charset="-122"/>
                <a:cs typeface="Courier New" pitchFamily="34" charset="-120"/>
              </a:rPr>
              <a:t>nx add @nx/cypress</a:t>
            </a:r>
            <a:endParaRPr lang="en-US" sz="1500" dirty="0"/>
          </a:p>
        </p:txBody>
      </p:sp>
      <p:sp>
        <p:nvSpPr>
          <p:cNvPr id="7" name="Text 5"/>
          <p:cNvSpPr txBox="1"/>
          <p:nvPr/>
        </p:nvSpPr>
        <p:spPr>
          <a:xfrm>
            <a:off x="640080" y="3017520"/>
            <a:ext cx="5120640" cy="320040"/>
          </a:xfrm>
          <a:prstGeom prst="rect">
            <a:avLst/>
          </a:prstGeom>
          <a:noFill/>
          <a:ln/>
        </p:spPr>
        <p:txBody>
          <a:bodyPr wrap="square" lIns="0" tIns="0" rIns="0" bIns="0" rtlCol="0" anchor="ctr"/>
          <a:lstStyle/>
          <a:p>
            <a:pPr indent="0" marL="0">
              <a:buNone/>
            </a:pPr>
            <a:r>
              <a:rPr lang="en-US" sz="1600" b="1" dirty="0">
                <a:solidFill>
                  <a:srgbClr val="10131A"/>
                </a:solidFill>
                <a:latin typeface="Calibri" pitchFamily="34" charset="0"/>
                <a:ea typeface="Calibri" pitchFamily="34" charset="-122"/>
                <a:cs typeface="Calibri" pitchFamily="34" charset="-120"/>
              </a:rPr>
              <a:t>2 · It registers this in nx.json</a:t>
            </a:r>
            <a:endParaRPr lang="en-US" sz="1600" dirty="0"/>
          </a:p>
        </p:txBody>
      </p:sp>
      <p:sp>
        <p:nvSpPr>
          <p:cNvPr id="8" name="Shape 6"/>
          <p:cNvSpPr/>
          <p:nvPr/>
        </p:nvSpPr>
        <p:spPr>
          <a:xfrm>
            <a:off x="640080" y="3383280"/>
            <a:ext cx="5120640" cy="2633472"/>
          </a:xfrm>
          <a:prstGeom prst="roundRect">
            <a:avLst>
              <a:gd name="adj" fmla="val 2083"/>
            </a:avLst>
          </a:prstGeom>
          <a:solidFill>
            <a:srgbClr val="10131A"/>
          </a:solidFill>
          <a:ln w="12700">
            <a:solidFill>
              <a:srgbClr val="10131A"/>
            </a:solidFill>
            <a:prstDash val="solid"/>
          </a:ln>
        </p:spPr>
      </p:sp>
      <p:sp>
        <p:nvSpPr>
          <p:cNvPr id="9" name="Text 7"/>
          <p:cNvSpPr txBox="1"/>
          <p:nvPr/>
        </p:nvSpPr>
        <p:spPr>
          <a:xfrm>
            <a:off x="868680" y="3584448"/>
            <a:ext cx="4663440" cy="2231136"/>
          </a:xfrm>
          <a:prstGeom prst="rect">
            <a:avLst/>
          </a:prstGeom>
          <a:noFill/>
          <a:ln/>
        </p:spPr>
        <p:txBody>
          <a:bodyPr wrap="square" lIns="0" tIns="0" rIns="0" bIns="0" rtlCol="0" anchor="t"/>
          <a:lstStyle/>
          <a:p>
            <a:pPr indent="0" marL="0">
              <a:lnSpc>
                <a:spcPct val="125000"/>
              </a:lnSpc>
              <a:buNone/>
            </a:pPr>
            <a:r>
              <a:rPr lang="en-US" sz="1300" dirty="0">
                <a:solidFill>
                  <a:srgbClr val="C3CAD6"/>
                </a:solidFill>
                <a:latin typeface="Courier New" pitchFamily="34" charset="0"/>
                <a:ea typeface="Courier New" pitchFamily="34" charset="-122"/>
                <a:cs typeface="Courier New" pitchFamily="34" charset="-120"/>
              </a:rPr>
              <a:t>{</a:t>
            </a:r>
            <a:endParaRPr lang="en-US" sz="1300" dirty="0"/>
          </a:p>
          <a:p>
            <a:pPr indent="0" marL="0">
              <a:lnSpc>
                <a:spcPct val="125000"/>
              </a:lnSpc>
              <a:buNone/>
            </a:pPr>
            <a:r>
              <a:rPr lang="en-US" sz="1300" dirty="0">
                <a:solidFill>
                  <a:srgbClr val="7DD3FC"/>
                </a:solidFill>
                <a:latin typeface="Courier New" pitchFamily="34" charset="0"/>
                <a:ea typeface="Courier New" pitchFamily="34" charset="-122"/>
                <a:cs typeface="Courier New" pitchFamily="34" charset="-120"/>
              </a:rPr>
              <a:t>  "plugin": "@nx/cypress/plugin",</a:t>
            </a:r>
            <a:endParaRPr lang="en-US" sz="1300" dirty="0"/>
          </a:p>
          <a:p>
            <a:pPr indent="0" marL="0">
              <a:lnSpc>
                <a:spcPct val="125000"/>
              </a:lnSpc>
              <a:buNone/>
            </a:pPr>
            <a:r>
              <a:rPr lang="en-US" sz="1300" dirty="0">
                <a:solidFill>
                  <a:srgbClr val="C3CAD6"/>
                </a:solidFill>
                <a:latin typeface="Courier New" pitchFamily="34" charset="0"/>
                <a:ea typeface="Courier New" pitchFamily="34" charset="-122"/>
                <a:cs typeface="Courier New" pitchFamily="34" charset="-120"/>
              </a:rPr>
              <a:t>  "options": {</a:t>
            </a:r>
            <a:endParaRPr lang="en-US" sz="1300" dirty="0"/>
          </a:p>
          <a:p>
            <a:pPr indent="0" marL="0">
              <a:lnSpc>
                <a:spcPct val="125000"/>
              </a:lnSpc>
              <a:buNone/>
            </a:pPr>
            <a:r>
              <a:rPr lang="en-US" sz="1300" dirty="0">
                <a:solidFill>
                  <a:srgbClr val="3DDC84"/>
                </a:solidFill>
                <a:latin typeface="Courier New" pitchFamily="34" charset="0"/>
                <a:ea typeface="Courier New" pitchFamily="34" charset="-122"/>
                <a:cs typeface="Courier New" pitchFamily="34" charset="-120"/>
              </a:rPr>
              <a:t>    "targetName": "e2e",</a:t>
            </a:r>
            <a:endParaRPr lang="en-US" sz="1300" dirty="0"/>
          </a:p>
          <a:p>
            <a:pPr indent="0" marL="0">
              <a:lnSpc>
                <a:spcPct val="125000"/>
              </a:lnSpc>
              <a:buNone/>
            </a:pPr>
            <a:r>
              <a:rPr lang="en-US" sz="1300" dirty="0">
                <a:solidFill>
                  <a:srgbClr val="3DDC84"/>
                </a:solidFill>
                <a:latin typeface="Courier New" pitchFamily="34" charset="0"/>
                <a:ea typeface="Courier New" pitchFamily="34" charset="-122"/>
                <a:cs typeface="Courier New" pitchFamily="34" charset="-120"/>
              </a:rPr>
              <a:t>    "ciTargetName": "e2e-ci"</a:t>
            </a:r>
            <a:endParaRPr lang="en-US" sz="1300" dirty="0"/>
          </a:p>
          <a:p>
            <a:pPr indent="0" marL="0">
              <a:lnSpc>
                <a:spcPct val="125000"/>
              </a:lnSpc>
              <a:buNone/>
            </a:pPr>
            <a:r>
              <a:rPr lang="en-US" sz="1300" dirty="0">
                <a:solidFill>
                  <a:srgbClr val="C3CAD6"/>
                </a:solidFill>
                <a:latin typeface="Courier New" pitchFamily="34" charset="0"/>
                <a:ea typeface="Courier New" pitchFamily="34" charset="-122"/>
                <a:cs typeface="Courier New" pitchFamily="34" charset="-120"/>
              </a:rPr>
              <a:t>  }</a:t>
            </a:r>
            <a:endParaRPr lang="en-US" sz="1300" dirty="0"/>
          </a:p>
          <a:p>
            <a:pPr indent="0" marL="0">
              <a:lnSpc>
                <a:spcPct val="125000"/>
              </a:lnSpc>
              <a:buNone/>
            </a:pPr>
            <a:r>
              <a:rPr lang="en-US" sz="1300" dirty="0">
                <a:solidFill>
                  <a:srgbClr val="C3CAD6"/>
                </a:solidFill>
                <a:latin typeface="Courier New" pitchFamily="34" charset="0"/>
                <a:ea typeface="Courier New" pitchFamily="34" charset="-122"/>
                <a:cs typeface="Courier New" pitchFamily="34" charset="-120"/>
              </a:rPr>
              <a:t>}</a:t>
            </a:r>
            <a:endParaRPr lang="en-US" sz="1300" dirty="0"/>
          </a:p>
        </p:txBody>
      </p:sp>
      <p:sp>
        <p:nvSpPr>
          <p:cNvPr id="10" name="Text 8"/>
          <p:cNvSpPr txBox="1"/>
          <p:nvPr/>
        </p:nvSpPr>
        <p:spPr>
          <a:xfrm>
            <a:off x="6309360" y="1828800"/>
            <a:ext cx="5212080" cy="320040"/>
          </a:xfrm>
          <a:prstGeom prst="rect">
            <a:avLst/>
          </a:prstGeom>
          <a:noFill/>
          <a:ln/>
        </p:spPr>
        <p:txBody>
          <a:bodyPr wrap="square" lIns="0" tIns="0" rIns="0" bIns="0" rtlCol="0" anchor="ctr"/>
          <a:lstStyle/>
          <a:p>
            <a:pPr indent="0" marL="0">
              <a:buNone/>
            </a:pPr>
            <a:r>
              <a:rPr lang="en-US" sz="1600" b="1" dirty="0">
                <a:solidFill>
                  <a:srgbClr val="10131A"/>
                </a:solidFill>
                <a:latin typeface="Calibri" pitchFamily="34" charset="0"/>
                <a:ea typeface="Calibri" pitchFamily="34" charset="-122"/>
                <a:cs typeface="Calibri" pitchFamily="34" charset="-120"/>
              </a:rPr>
              <a:t>3 · Ask what you got</a:t>
            </a:r>
            <a:endParaRPr lang="en-US" sz="1600" dirty="0"/>
          </a:p>
        </p:txBody>
      </p:sp>
      <p:sp>
        <p:nvSpPr>
          <p:cNvPr id="11" name="Shape 9"/>
          <p:cNvSpPr/>
          <p:nvPr/>
        </p:nvSpPr>
        <p:spPr>
          <a:xfrm>
            <a:off x="6309360" y="2194560"/>
            <a:ext cx="5212080" cy="2944368"/>
          </a:xfrm>
          <a:prstGeom prst="roundRect">
            <a:avLst>
              <a:gd name="adj" fmla="val 1863"/>
            </a:avLst>
          </a:prstGeom>
          <a:solidFill>
            <a:srgbClr val="10131A"/>
          </a:solidFill>
          <a:ln w="12700">
            <a:solidFill>
              <a:srgbClr val="10131A"/>
            </a:solidFill>
            <a:prstDash val="solid"/>
          </a:ln>
        </p:spPr>
      </p:sp>
      <p:sp>
        <p:nvSpPr>
          <p:cNvPr id="12" name="Text 10"/>
          <p:cNvSpPr txBox="1"/>
          <p:nvPr/>
        </p:nvSpPr>
        <p:spPr>
          <a:xfrm>
            <a:off x="6537960" y="2395728"/>
            <a:ext cx="4754880" cy="2542032"/>
          </a:xfrm>
          <a:prstGeom prst="rect">
            <a:avLst/>
          </a:prstGeom>
          <a:noFill/>
          <a:ln/>
        </p:spPr>
        <p:txBody>
          <a:bodyPr wrap="square" lIns="0" tIns="0" rIns="0" bIns="0" rtlCol="0" anchor="t"/>
          <a:lstStyle/>
          <a:p>
            <a:pPr indent="0" marL="0">
              <a:lnSpc>
                <a:spcPct val="125000"/>
              </a:lnSpc>
              <a:buNone/>
            </a:pPr>
            <a:r>
              <a:rPr lang="en-US" sz="1300" dirty="0">
                <a:solidFill>
                  <a:srgbClr val="3DDC84"/>
                </a:solidFill>
                <a:latin typeface="Courier New" pitchFamily="34" charset="0"/>
                <a:ea typeface="Courier New" pitchFamily="34" charset="-122"/>
                <a:cs typeface="Courier New" pitchFamily="34" charset="-120"/>
              </a:rPr>
              <a:t>nx show project shop-e2e --json</a:t>
            </a:r>
            <a:endParaRPr lang="en-US" sz="1300" dirty="0"/>
          </a:p>
          <a:p>
            <a:pPr indent="0" marL="0">
              <a:lnSpc>
                <a:spcPct val="125000"/>
              </a:lnSpc>
              <a:buNone/>
            </a:pPr>
            <a:endParaRPr lang="en-US" sz="1300" dirty="0"/>
          </a:p>
          <a:p>
            <a:pPr indent="0" marL="0">
              <a:lnSpc>
                <a:spcPct val="125000"/>
              </a:lnSpc>
              <a:buNone/>
            </a:pPr>
            <a:r>
              <a:rPr lang="en-US" sz="1300" dirty="0">
                <a:solidFill>
                  <a:srgbClr val="8A94A6"/>
                </a:solidFill>
                <a:latin typeface="Courier New" pitchFamily="34" charset="0"/>
                <a:ea typeface="Courier New" pitchFamily="34" charset="-122"/>
                <a:cs typeface="Courier New" pitchFamily="34" charset="-120"/>
              </a:rPr>
              <a:t>e2e</a:t>
            </a:r>
            <a:endParaRPr lang="en-US" sz="1300" dirty="0"/>
          </a:p>
          <a:p>
            <a:pPr indent="0" marL="0">
              <a:lnSpc>
                <a:spcPct val="125000"/>
              </a:lnSpc>
              <a:buNone/>
            </a:pPr>
            <a:r>
              <a:rPr lang="en-US" sz="1300" dirty="0">
                <a:solidFill>
                  <a:srgbClr val="F5A524"/>
                </a:solidFill>
                <a:latin typeface="Courier New" pitchFamily="34" charset="0"/>
                <a:ea typeface="Courier New" pitchFamily="34" charset="-122"/>
                <a:cs typeface="Courier New" pitchFamily="34" charset="-120"/>
              </a:rPr>
              <a:t>e2e-ci</a:t>
            </a:r>
            <a:endParaRPr lang="en-US" sz="1300" dirty="0"/>
          </a:p>
          <a:p>
            <a:pPr indent="0" marL="0">
              <a:lnSpc>
                <a:spcPct val="125000"/>
              </a:lnSpc>
              <a:buNone/>
            </a:pPr>
            <a:r>
              <a:rPr lang="en-US" sz="1300" dirty="0">
                <a:solidFill>
                  <a:srgbClr val="7DD3FC"/>
                </a:solidFill>
                <a:latin typeface="Courier New" pitchFamily="34" charset="0"/>
                <a:ea typeface="Courier New" pitchFamily="34" charset="-122"/>
                <a:cs typeface="Courier New" pitchFamily="34" charset="-120"/>
              </a:rPr>
              <a:t>e2e-ci--src/e2e/catalog.cy.ts</a:t>
            </a:r>
            <a:endParaRPr lang="en-US" sz="1300" dirty="0"/>
          </a:p>
          <a:p>
            <a:pPr indent="0" marL="0">
              <a:lnSpc>
                <a:spcPct val="125000"/>
              </a:lnSpc>
              <a:buNone/>
            </a:pPr>
            <a:r>
              <a:rPr lang="en-US" sz="1300" dirty="0">
                <a:solidFill>
                  <a:srgbClr val="7DD3FC"/>
                </a:solidFill>
                <a:latin typeface="Courier New" pitchFamily="34" charset="0"/>
                <a:ea typeface="Courier New" pitchFamily="34" charset="-122"/>
                <a:cs typeface="Courier New" pitchFamily="34" charset="-120"/>
              </a:rPr>
              <a:t>e2e-ci--src/e2e/search.cy.ts</a:t>
            </a:r>
            <a:endParaRPr lang="en-US" sz="1300" dirty="0"/>
          </a:p>
          <a:p>
            <a:pPr indent="0" marL="0">
              <a:lnSpc>
                <a:spcPct val="125000"/>
              </a:lnSpc>
              <a:buNone/>
            </a:pPr>
            <a:r>
              <a:rPr lang="en-US" sz="1300" dirty="0">
                <a:solidFill>
                  <a:srgbClr val="7DD3FC"/>
                </a:solidFill>
                <a:latin typeface="Courier New" pitchFamily="34" charset="0"/>
                <a:ea typeface="Courier New" pitchFamily="34" charset="-122"/>
                <a:cs typeface="Courier New" pitchFamily="34" charset="-120"/>
              </a:rPr>
              <a:t>e2e-ci--src/e2e/login.cy.ts</a:t>
            </a:r>
            <a:endParaRPr lang="en-US" sz="1300" dirty="0"/>
          </a:p>
          <a:p>
            <a:pPr indent="0" marL="0">
              <a:lnSpc>
                <a:spcPct val="125000"/>
              </a:lnSpc>
              <a:buNone/>
            </a:pPr>
            <a:r>
              <a:rPr lang="en-US" sz="1300" dirty="0">
                <a:solidFill>
                  <a:srgbClr val="8A94A6"/>
                </a:solidFill>
                <a:latin typeface="Courier New" pitchFamily="34" charset="0"/>
                <a:ea typeface="Courier New" pitchFamily="34" charset="-122"/>
                <a:cs typeface="Courier New" pitchFamily="34" charset="-120"/>
              </a:rPr>
              <a:t>…</a:t>
            </a:r>
            <a:endParaRPr lang="en-US" sz="1300" dirty="0"/>
          </a:p>
        </p:txBody>
      </p:sp>
      <p:sp>
        <p:nvSpPr>
          <p:cNvPr id="13" name="Text 11"/>
          <p:cNvSpPr txBox="1"/>
          <p:nvPr/>
        </p:nvSpPr>
        <p:spPr>
          <a:xfrm>
            <a:off x="6309360" y="5349240"/>
            <a:ext cx="5212080" cy="457200"/>
          </a:xfrm>
          <a:prstGeom prst="rect">
            <a:avLst/>
          </a:prstGeom>
          <a:noFill/>
          <a:ln/>
        </p:spPr>
        <p:txBody>
          <a:bodyPr wrap="square" lIns="0" tIns="0" rIns="0" bIns="0" rtlCol="0" anchor="ctr"/>
          <a:lstStyle/>
          <a:p>
            <a:pPr indent="0" marL="0">
              <a:buNone/>
            </a:pPr>
            <a:r>
              <a:rPr lang="en-US" sz="1300" i="1" dirty="0">
                <a:solidFill>
                  <a:srgbClr val="55607A"/>
                </a:solidFill>
                <a:latin typeface="Calibri" pitchFamily="34" charset="0"/>
                <a:ea typeface="Calibri" pitchFamily="34" charset="-122"/>
                <a:cs typeface="Calibri" pitchFamily="34" charset="-120"/>
              </a:rPr>
              <a:t>Note the real names: one target per file path — not spec1, spec2, spec3.</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131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FB7185"/>
                </a:solidFill>
                <a:latin typeface="Calibri" pitchFamily="34" charset="0"/>
                <a:ea typeface="Calibri" pitchFamily="34" charset="-122"/>
                <a:cs typeface="Calibri" pitchFamily="34" charset="-120"/>
              </a:rPr>
              <a:t>SECTION 03 · THE CATCH</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Then Nx 23 tells you no</a:t>
            </a:r>
            <a:endParaRPr lang="en-US" sz="3800" dirty="0"/>
          </a:p>
        </p:txBody>
      </p:sp>
      <p:sp>
        <p:nvSpPr>
          <p:cNvPr id="4" name="Shape 2"/>
          <p:cNvSpPr/>
          <p:nvPr/>
        </p:nvSpPr>
        <p:spPr>
          <a:xfrm>
            <a:off x="640080" y="1783080"/>
            <a:ext cx="10881360" cy="731520"/>
          </a:xfrm>
          <a:prstGeom prst="roundRect">
            <a:avLst>
              <a:gd name="adj" fmla="val 7500"/>
            </a:avLst>
          </a:prstGeom>
          <a:solidFill>
            <a:srgbClr val="0A0D13"/>
          </a:solidFill>
          <a:ln w="12700">
            <a:solidFill>
              <a:srgbClr val="2C3340"/>
            </a:solidFill>
            <a:prstDash val="solid"/>
          </a:ln>
        </p:spPr>
      </p:sp>
      <p:sp>
        <p:nvSpPr>
          <p:cNvPr id="5" name="Text 3"/>
          <p:cNvSpPr txBox="1"/>
          <p:nvPr/>
        </p:nvSpPr>
        <p:spPr>
          <a:xfrm>
            <a:off x="868680" y="1984248"/>
            <a:ext cx="10424160" cy="329184"/>
          </a:xfrm>
          <a:prstGeom prst="rect">
            <a:avLst/>
          </a:prstGeom>
          <a:noFill/>
          <a:ln/>
        </p:spPr>
        <p:txBody>
          <a:bodyPr wrap="square" lIns="0" tIns="0" rIns="0" bIns="0" rtlCol="0" anchor="t"/>
          <a:lstStyle/>
          <a:p>
            <a:pPr indent="0" marL="0">
              <a:lnSpc>
                <a:spcPct val="125000"/>
              </a:lnSpc>
              <a:buNone/>
            </a:pPr>
            <a:r>
              <a:rPr lang="en-US" sz="1700" dirty="0">
                <a:solidFill>
                  <a:srgbClr val="FFFFFF"/>
                </a:solidFill>
                <a:latin typeface="Courier New" pitchFamily="34" charset="0"/>
                <a:ea typeface="Courier New" pitchFamily="34" charset="-122"/>
                <a:cs typeface="Courier New" pitchFamily="34" charset="-120"/>
              </a:rPr>
              <a:t>nx run-many -t e2e-ci --parallel=5</a:t>
            </a:r>
            <a:endParaRPr lang="en-US" sz="1700" dirty="0"/>
          </a:p>
        </p:txBody>
      </p:sp>
      <p:sp>
        <p:nvSpPr>
          <p:cNvPr id="6" name="Shape 4"/>
          <p:cNvSpPr/>
          <p:nvPr/>
        </p:nvSpPr>
        <p:spPr>
          <a:xfrm>
            <a:off x="640080" y="2697480"/>
            <a:ext cx="10881360" cy="1783080"/>
          </a:xfrm>
          <a:prstGeom prst="roundRect">
            <a:avLst>
              <a:gd name="adj" fmla="val 3590"/>
            </a:avLst>
          </a:prstGeom>
          <a:solidFill>
            <a:srgbClr val="2A1116"/>
          </a:solidFill>
          <a:ln w="19050">
            <a:solidFill>
              <a:srgbClr val="FB7185"/>
            </a:solidFill>
            <a:prstDash val="solid"/>
          </a:ln>
        </p:spPr>
      </p:sp>
      <p:sp>
        <p:nvSpPr>
          <p:cNvPr id="7" name="Text 5"/>
          <p:cNvSpPr txBox="1"/>
          <p:nvPr/>
        </p:nvSpPr>
        <p:spPr>
          <a:xfrm>
            <a:off x="914400" y="2880360"/>
            <a:ext cx="10332720" cy="1463040"/>
          </a:xfrm>
          <a:prstGeom prst="rect">
            <a:avLst/>
          </a:prstGeom>
          <a:noFill/>
          <a:ln/>
        </p:spPr>
        <p:txBody>
          <a:bodyPr wrap="square" lIns="0" tIns="0" rIns="0" bIns="0" rtlCol="0" anchor="ctr"/>
          <a:lstStyle/>
          <a:p>
            <a:pPr indent="0" marL="0">
              <a:lnSpc>
                <a:spcPct val="130000"/>
              </a:lnSpc>
              <a:buNone/>
            </a:pPr>
            <a:r>
              <a:rPr lang="en-US" sz="1400" b="1" dirty="0">
                <a:solidFill>
                  <a:srgbClr val="FB7185"/>
                </a:solidFill>
                <a:latin typeface="Courier New" pitchFamily="34" charset="0"/>
                <a:ea typeface="Courier New" pitchFamily="34" charset="-122"/>
                <a:cs typeface="Courier New" pitchFamily="34" charset="-120"/>
              </a:rPr>
              <a:t>NX   The following tasks should only be run with Nx Cloud:</a:t>
            </a:r>
            <a:endParaRPr lang="en-US" sz="1400" dirty="0"/>
          </a:p>
          <a:p>
            <a:pPr indent="0" marL="0">
              <a:lnSpc>
                <a:spcPct val="130000"/>
              </a:lnSpc>
              <a:buNone/>
            </a:pPr>
            <a:r>
              <a:rPr lang="en-US" sz="1400" dirty="0">
                <a:solidFill>
                  <a:srgbClr val="F5B7C0"/>
                </a:solidFill>
                <a:latin typeface="Courier New" pitchFamily="34" charset="0"/>
                <a:ea typeface="Courier New" pitchFamily="34" charset="-122"/>
                <a:cs typeface="Courier New" pitchFamily="34" charset="-120"/>
              </a:rPr>
              <a:t>       - admin-e2e:e2e-ci</a:t>
            </a:r>
            <a:endParaRPr lang="en-US" sz="1400" dirty="0"/>
          </a:p>
          <a:p>
            <a:pPr indent="0" marL="0">
              <a:lnSpc>
                <a:spcPct val="130000"/>
              </a:lnSpc>
              <a:buNone/>
            </a:pPr>
            <a:r>
              <a:rPr lang="en-US" sz="1400" dirty="0">
                <a:solidFill>
                  <a:srgbClr val="F5B7C0"/>
                </a:solidFill>
                <a:latin typeface="Courier New" pitchFamily="34" charset="0"/>
                <a:ea typeface="Courier New" pitchFamily="34" charset="-122"/>
                <a:cs typeface="Courier New" pitchFamily="34" charset="-120"/>
              </a:rPr>
              <a:t>       - docs-e2e:e2e-ci</a:t>
            </a:r>
            <a:endParaRPr lang="en-US" sz="1400" dirty="0"/>
          </a:p>
          <a:p>
            <a:pPr indent="0" marL="0">
              <a:lnSpc>
                <a:spcPct val="130000"/>
              </a:lnSpc>
              <a:buNone/>
            </a:pPr>
            <a:r>
              <a:rPr lang="en-US" sz="1400" dirty="0">
                <a:solidFill>
                  <a:srgbClr val="F5B7C0"/>
                </a:solidFill>
                <a:latin typeface="Courier New" pitchFamily="34" charset="0"/>
                <a:ea typeface="Courier New" pitchFamily="34" charset="-122"/>
                <a:cs typeface="Courier New" pitchFamily="34" charset="-120"/>
              </a:rPr>
              <a:t>       - shop-e2e:e2e-ci</a:t>
            </a:r>
            <a:endParaRPr lang="en-US" sz="1400" dirty="0"/>
          </a:p>
          <a:p>
            <a:pPr indent="0" marL="0">
              <a:lnSpc>
                <a:spcPct val="130000"/>
              </a:lnSpc>
              <a:buNone/>
            </a:pPr>
            <a:r>
              <a:rPr lang="en-US" sz="1400" dirty="0">
                <a:solidFill>
                  <a:srgbClr val="F5B7C0"/>
                </a:solidFill>
                <a:latin typeface="Courier New" pitchFamily="34" charset="0"/>
                <a:ea typeface="Courier New" pitchFamily="34" charset="-122"/>
                <a:cs typeface="Courier New" pitchFamily="34" charset="-120"/>
              </a:rPr>
              <a:t>Please enable Nx Cloud or use the slower "e2e" task.</a:t>
            </a:r>
            <a:endParaRPr lang="en-US" sz="1400" dirty="0"/>
          </a:p>
        </p:txBody>
      </p:sp>
      <p:sp>
        <p:nvSpPr>
          <p:cNvPr id="8" name="Text 6"/>
          <p:cNvSpPr txBox="1"/>
          <p:nvPr/>
        </p:nvSpPr>
        <p:spPr>
          <a:xfrm>
            <a:off x="640080" y="4663440"/>
            <a:ext cx="10881360" cy="411480"/>
          </a:xfrm>
          <a:prstGeom prst="rect">
            <a:avLst/>
          </a:prstGeom>
          <a:noFill/>
          <a:ln/>
        </p:spPr>
        <p:txBody>
          <a:bodyPr wrap="square" lIns="0" tIns="0" rIns="0" bIns="0" rtlCol="0" anchor="ctr"/>
          <a:lstStyle/>
          <a:p>
            <a:pPr indent="0" marL="0">
              <a:buNone/>
            </a:pPr>
            <a:r>
              <a:rPr lang="en-US" sz="2400" b="1" dirty="0">
                <a:solidFill>
                  <a:srgbClr val="F5A524"/>
                </a:solidFill>
                <a:latin typeface="Cambria" pitchFamily="34" charset="0"/>
                <a:ea typeface="Cambria" pitchFamily="34" charset="-122"/>
                <a:cs typeface="Cambria" pitchFamily="34" charset="-120"/>
              </a:rPr>
              <a:t>So now it is a procurement question.</a:t>
            </a:r>
            <a:endParaRPr lang="en-US" sz="2400" dirty="0"/>
          </a:p>
        </p:txBody>
      </p:sp>
      <p:sp>
        <p:nvSpPr>
          <p:cNvPr id="9" name="Text 7"/>
          <p:cNvSpPr txBox="1"/>
          <p:nvPr/>
        </p:nvSpPr>
        <p:spPr>
          <a:xfrm>
            <a:off x="640080" y="5166360"/>
            <a:ext cx="10881360" cy="13716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C3CAD6"/>
                </a:solidFill>
                <a:latin typeface="Calibri" pitchFamily="34" charset="0"/>
                <a:ea typeface="Calibri" pitchFamily="34" charset="-122"/>
                <a:cs typeface="Calibri" pitchFamily="34" charset="-120"/>
              </a:rPr>
              <a:t>Nx Cloud is a premium service from Nx</a:t>
            </a:r>
            <a:endParaRPr lang="en-US" sz="1500" dirty="0"/>
          </a:p>
          <a:p>
            <a:pPr marL="342900" indent="-342900">
              <a:spcAft>
                <a:spcPts val="1000"/>
              </a:spcAft>
              <a:buSzPct val="100000"/>
              <a:buChar char="•"/>
            </a:pPr>
            <a:r>
              <a:rPr lang="en-US" sz="1500" dirty="0">
                <a:solidFill>
                  <a:srgbClr val="C3CAD6"/>
                </a:solidFill>
                <a:latin typeface="Calibri" pitchFamily="34" charset="0"/>
                <a:ea typeface="Calibri" pitchFamily="34" charset="-122"/>
                <a:cs typeface="Calibri" pitchFamily="34" charset="-120"/>
              </a:rPr>
              <a:t>Is it approved in your organisation?</a:t>
            </a:r>
            <a:endParaRPr lang="en-US" sz="1500" dirty="0"/>
          </a:p>
          <a:p>
            <a:pPr marL="342900" indent="-342900">
              <a:spcAft>
                <a:spcPts val="1000"/>
              </a:spcAft>
              <a:buSzPct val="100000"/>
              <a:buChar char="•"/>
            </a:pPr>
            <a:r>
              <a:rPr lang="en-US" sz="1500" b="1" dirty="0">
                <a:solidFill>
                  <a:srgbClr val="FB7185"/>
                </a:solidFill>
                <a:latin typeface="Calibri" pitchFamily="34" charset="0"/>
                <a:ea typeface="Calibri" pitchFamily="34" charset="-122"/>
                <a:cs typeface="Calibri" pitchFamily="34" charset="-120"/>
              </a:rPr>
              <a:t>If not approved — you are blocked</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31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4ADE80"/>
                </a:solidFill>
                <a:latin typeface="Calibri" pitchFamily="34" charset="0"/>
                <a:ea typeface="Calibri" pitchFamily="34" charset="-122"/>
                <a:cs typeface="Calibri" pitchFamily="34" charset="-120"/>
              </a:rPr>
              <a:t>SECTION 04 · PARALLEL, NO CLOUD</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Ask for the list yourself</a:t>
            </a:r>
            <a:endParaRPr lang="en-US" sz="3800" dirty="0"/>
          </a:p>
        </p:txBody>
      </p:sp>
      <p:sp>
        <p:nvSpPr>
          <p:cNvPr id="4" name="Shape 2"/>
          <p:cNvSpPr/>
          <p:nvPr/>
        </p:nvSpPr>
        <p:spPr>
          <a:xfrm>
            <a:off x="640080" y="1783080"/>
            <a:ext cx="6675120" cy="2322576"/>
          </a:xfrm>
          <a:prstGeom prst="roundRect">
            <a:avLst>
              <a:gd name="adj" fmla="val 2362"/>
            </a:avLst>
          </a:prstGeom>
          <a:solidFill>
            <a:srgbClr val="0A0D13"/>
          </a:solidFill>
          <a:ln w="12700">
            <a:solidFill>
              <a:srgbClr val="2C3340"/>
            </a:solidFill>
            <a:prstDash val="solid"/>
          </a:ln>
        </p:spPr>
      </p:sp>
      <p:sp>
        <p:nvSpPr>
          <p:cNvPr id="5" name="Text 3"/>
          <p:cNvSpPr txBox="1"/>
          <p:nvPr/>
        </p:nvSpPr>
        <p:spPr>
          <a:xfrm>
            <a:off x="868680" y="1984248"/>
            <a:ext cx="6217920" cy="1920240"/>
          </a:xfrm>
          <a:prstGeom prst="rect">
            <a:avLst/>
          </a:prstGeom>
          <a:noFill/>
          <a:ln/>
        </p:spPr>
        <p:txBody>
          <a:bodyPr wrap="square" lIns="0" tIns="0" rIns="0" bIns="0" rtlCol="0" anchor="t"/>
          <a:lstStyle/>
          <a:p>
            <a:pPr indent="0" marL="0">
              <a:lnSpc>
                <a:spcPct val="125000"/>
              </a:lnSpc>
              <a:buNone/>
            </a:pPr>
            <a:r>
              <a:rPr lang="en-US" sz="1300" dirty="0">
                <a:solidFill>
                  <a:srgbClr val="8A94A6"/>
                </a:solidFill>
                <a:latin typeface="Courier New" pitchFamily="34" charset="0"/>
                <a:ea typeface="Courier New" pitchFamily="34" charset="-122"/>
                <a:cs typeface="Courier New" pitchFamily="34" charset="-120"/>
              </a:rPr>
              <a:t># the wrapper is gated — the leaves are not</a:t>
            </a:r>
            <a:endParaRPr lang="en-US" sz="1300" dirty="0"/>
          </a:p>
          <a:p>
            <a:pPr indent="0" marL="0">
              <a:lnSpc>
                <a:spcPct val="125000"/>
              </a:lnSpc>
              <a:buNone/>
            </a:pPr>
            <a:r>
              <a:rPr lang="en-US" sz="1300" dirty="0">
                <a:solidFill>
                  <a:srgbClr val="FFFFFF"/>
                </a:solidFill>
                <a:latin typeface="Courier New" pitchFamily="34" charset="0"/>
                <a:ea typeface="Courier New" pitchFamily="34" charset="-122"/>
                <a:cs typeface="Courier New" pitchFamily="34" charset="-120"/>
              </a:rPr>
              <a:t>nx show project shop-e2e --json</a:t>
            </a:r>
            <a:endParaRPr lang="en-US" sz="1300" dirty="0"/>
          </a:p>
          <a:p>
            <a:pPr indent="0" marL="0">
              <a:lnSpc>
                <a:spcPct val="125000"/>
              </a:lnSpc>
              <a:buNone/>
            </a:pPr>
            <a:r>
              <a:rPr lang="en-US" sz="1300" dirty="0">
                <a:solidFill>
                  <a:srgbClr val="60A5FA"/>
                </a:solidFill>
                <a:latin typeface="Courier New" pitchFamily="34" charset="0"/>
                <a:ea typeface="Courier New" pitchFamily="34" charset="-122"/>
                <a:cs typeface="Courier New" pitchFamily="34" charset="-120"/>
              </a:rPr>
              <a:t>  → e2e-ci--src/e2e/catalog.cy.ts</a:t>
            </a:r>
            <a:endParaRPr lang="en-US" sz="1300" dirty="0"/>
          </a:p>
          <a:p>
            <a:pPr indent="0" marL="0">
              <a:lnSpc>
                <a:spcPct val="125000"/>
              </a:lnSpc>
              <a:buNone/>
            </a:pPr>
            <a:r>
              <a:rPr lang="en-US" sz="1300" dirty="0">
                <a:solidFill>
                  <a:srgbClr val="60A5FA"/>
                </a:solidFill>
                <a:latin typeface="Courier New" pitchFamily="34" charset="0"/>
                <a:ea typeface="Courier New" pitchFamily="34" charset="-122"/>
                <a:cs typeface="Courier New" pitchFamily="34" charset="-120"/>
              </a:rPr>
              <a:t>  → e2e-ci--src/e2e/search.cy.ts   …</a:t>
            </a:r>
            <a:endParaRPr lang="en-US" sz="1300" dirty="0"/>
          </a:p>
          <a:p>
            <a:pPr indent="0" marL="0">
              <a:lnSpc>
                <a:spcPct val="125000"/>
              </a:lnSpc>
              <a:buNone/>
            </a:pPr>
            <a:endParaRPr lang="en-US" sz="1300" dirty="0"/>
          </a:p>
          <a:p>
            <a:pPr indent="0" marL="0">
              <a:lnSpc>
                <a:spcPct val="125000"/>
              </a:lnSpc>
              <a:buNone/>
            </a:pPr>
            <a:r>
              <a:rPr lang="en-US" sz="1300" b="1" dirty="0">
                <a:solidFill>
                  <a:srgbClr val="4ADE80"/>
                </a:solidFill>
                <a:latin typeface="Courier New" pitchFamily="34" charset="0"/>
                <a:ea typeface="Courier New" pitchFamily="34" charset="-122"/>
                <a:cs typeface="Courier New" pitchFamily="34" charset="-120"/>
              </a:rPr>
              <a:t>nx run-many --targets=&lt;that list&gt; --parallel=5</a:t>
            </a:r>
            <a:endParaRPr lang="en-US" sz="1300" dirty="0"/>
          </a:p>
        </p:txBody>
      </p:sp>
      <p:sp>
        <p:nvSpPr>
          <p:cNvPr id="6" name="Shape 4"/>
          <p:cNvSpPr/>
          <p:nvPr/>
        </p:nvSpPr>
        <p:spPr>
          <a:xfrm>
            <a:off x="7680960" y="1783080"/>
            <a:ext cx="3840480" cy="2286000"/>
          </a:xfrm>
          <a:prstGeom prst="roundRect">
            <a:avLst>
              <a:gd name="adj" fmla="val 3600"/>
            </a:avLst>
          </a:prstGeom>
          <a:solidFill>
            <a:srgbClr val="1B2029"/>
          </a:solidFill>
          <a:ln w="19050">
            <a:solidFill>
              <a:srgbClr val="4ADE80"/>
            </a:solidFill>
            <a:prstDash val="solid"/>
          </a:ln>
        </p:spPr>
      </p:sp>
      <p:sp>
        <p:nvSpPr>
          <p:cNvPr id="7" name="Text 5"/>
          <p:cNvSpPr txBox="1"/>
          <p:nvPr/>
        </p:nvSpPr>
        <p:spPr>
          <a:xfrm>
            <a:off x="7909560" y="1965960"/>
            <a:ext cx="3383280" cy="502920"/>
          </a:xfrm>
          <a:prstGeom prst="rect">
            <a:avLst/>
          </a:prstGeom>
          <a:noFill/>
          <a:ln/>
        </p:spPr>
        <p:txBody>
          <a:bodyPr wrap="square" lIns="0" tIns="0" rIns="0" bIns="0" rtlCol="0" anchor="ctr"/>
          <a:lstStyle/>
          <a:p>
            <a:pPr indent="0" marL="0">
              <a:buNone/>
            </a:pPr>
            <a:r>
              <a:rPr lang="en-US" sz="2400" b="1" dirty="0">
                <a:solidFill>
                  <a:srgbClr val="8A94A6"/>
                </a:solidFill>
                <a:latin typeface="Cambria" pitchFamily="34" charset="0"/>
                <a:ea typeface="Cambria" pitchFamily="34" charset="-122"/>
                <a:cs typeface="Cambria" pitchFamily="34" charset="-120"/>
              </a:rPr>
              <a:t>4m 20s</a:t>
            </a:r>
            <a:endParaRPr lang="en-US" sz="2400" dirty="0"/>
          </a:p>
        </p:txBody>
      </p:sp>
      <p:sp>
        <p:nvSpPr>
          <p:cNvPr id="8" name="Text 6"/>
          <p:cNvSpPr txBox="1"/>
          <p:nvPr/>
        </p:nvSpPr>
        <p:spPr>
          <a:xfrm>
            <a:off x="7909560" y="2395728"/>
            <a:ext cx="3383280" cy="274320"/>
          </a:xfrm>
          <a:prstGeom prst="rect">
            <a:avLst/>
          </a:prstGeom>
          <a:noFill/>
          <a:ln/>
        </p:spPr>
        <p:txBody>
          <a:bodyPr wrap="square" lIns="0" tIns="0" rIns="0" bIns="0" rtlCol="0" anchor="ctr"/>
          <a:lstStyle/>
          <a:p>
            <a:pPr indent="0" marL="0">
              <a:buNone/>
            </a:pPr>
            <a:r>
              <a:rPr lang="en-US" sz="1500" dirty="0">
                <a:solidFill>
                  <a:srgbClr val="8A94A6"/>
                </a:solidFill>
                <a:latin typeface="Calibri" pitchFamily="34" charset="0"/>
                <a:ea typeface="Calibri" pitchFamily="34" charset="-122"/>
                <a:cs typeface="Calibri" pitchFamily="34" charset="-120"/>
              </a:rPr>
              <a:t>↓</a:t>
            </a:r>
            <a:endParaRPr lang="en-US" sz="1500" dirty="0"/>
          </a:p>
        </p:txBody>
      </p:sp>
      <p:sp>
        <p:nvSpPr>
          <p:cNvPr id="9" name="Text 7"/>
          <p:cNvSpPr txBox="1"/>
          <p:nvPr/>
        </p:nvSpPr>
        <p:spPr>
          <a:xfrm>
            <a:off x="7909560" y="2670048"/>
            <a:ext cx="3383280" cy="731520"/>
          </a:xfrm>
          <a:prstGeom prst="rect">
            <a:avLst/>
          </a:prstGeom>
          <a:noFill/>
          <a:ln/>
        </p:spPr>
        <p:txBody>
          <a:bodyPr wrap="square" lIns="0" tIns="0" rIns="0" bIns="0" rtlCol="0" anchor="ctr"/>
          <a:lstStyle/>
          <a:p>
            <a:pPr indent="0" marL="0">
              <a:buNone/>
            </a:pPr>
            <a:r>
              <a:rPr lang="en-US" sz="4200" b="1" dirty="0">
                <a:solidFill>
                  <a:srgbClr val="4ADE80"/>
                </a:solidFill>
                <a:latin typeface="Cambria" pitchFamily="34" charset="0"/>
                <a:ea typeface="Cambria" pitchFamily="34" charset="-122"/>
                <a:cs typeface="Cambria" pitchFamily="34" charset="-120"/>
              </a:rPr>
              <a:t>2m 20s</a:t>
            </a:r>
            <a:endParaRPr lang="en-US" sz="4200" dirty="0"/>
          </a:p>
        </p:txBody>
      </p:sp>
      <p:sp>
        <p:nvSpPr>
          <p:cNvPr id="10" name="Text 8"/>
          <p:cNvSpPr txBox="1"/>
          <p:nvPr/>
        </p:nvSpPr>
        <p:spPr>
          <a:xfrm>
            <a:off x="7909560" y="3429000"/>
            <a:ext cx="3383280" cy="457200"/>
          </a:xfrm>
          <a:prstGeom prst="rect">
            <a:avLst/>
          </a:prstGeom>
          <a:noFill/>
          <a:ln/>
        </p:spPr>
        <p:txBody>
          <a:bodyPr wrap="square" lIns="0" tIns="0" rIns="0" bIns="0" rtlCol="0" anchor="ctr"/>
          <a:lstStyle/>
          <a:p>
            <a:pPr indent="0" marL="0">
              <a:buNone/>
            </a:pPr>
            <a:r>
              <a:rPr lang="en-US" sz="1300" dirty="0">
                <a:solidFill>
                  <a:srgbClr val="C3CAD6"/>
                </a:solidFill>
                <a:latin typeface="Calibri" pitchFamily="34" charset="0"/>
                <a:ea typeface="Calibri" pitchFamily="34" charset="-122"/>
                <a:cs typeface="Calibri" pitchFamily="34" charset="-120"/>
              </a:rPr>
              <a:t>same laptop, one flag</a:t>
            </a:r>
            <a:endParaRPr lang="en-US" sz="1300" dirty="0"/>
          </a:p>
        </p:txBody>
      </p:sp>
      <p:sp>
        <p:nvSpPr>
          <p:cNvPr id="11" name="Shape 9"/>
          <p:cNvSpPr/>
          <p:nvPr/>
        </p:nvSpPr>
        <p:spPr>
          <a:xfrm>
            <a:off x="640080" y="4526280"/>
            <a:ext cx="10881360" cy="1371600"/>
          </a:xfrm>
          <a:prstGeom prst="roundRect">
            <a:avLst>
              <a:gd name="adj" fmla="val 4667"/>
            </a:avLst>
          </a:prstGeom>
          <a:solidFill>
            <a:srgbClr val="2A1F0A"/>
          </a:solidFill>
          <a:ln w="12700">
            <a:solidFill>
              <a:srgbClr val="F5A524"/>
            </a:solidFill>
            <a:prstDash val="solid"/>
          </a:ln>
        </p:spPr>
      </p:sp>
      <p:sp>
        <p:nvSpPr>
          <p:cNvPr id="12" name="Text 10"/>
          <p:cNvSpPr txBox="1"/>
          <p:nvPr/>
        </p:nvSpPr>
        <p:spPr>
          <a:xfrm>
            <a:off x="914400" y="4681728"/>
            <a:ext cx="10332720" cy="320040"/>
          </a:xfrm>
          <a:prstGeom prst="rect">
            <a:avLst/>
          </a:prstGeom>
          <a:noFill/>
          <a:ln/>
        </p:spPr>
        <p:txBody>
          <a:bodyPr wrap="square" lIns="0" tIns="0" rIns="0" bIns="0" rtlCol="0" anchor="ctr"/>
          <a:lstStyle/>
          <a:p>
            <a:pPr indent="0" marL="0">
              <a:buNone/>
            </a:pPr>
            <a:r>
              <a:rPr lang="en-US" sz="1400" b="1" dirty="0">
                <a:solidFill>
                  <a:srgbClr val="F5A524"/>
                </a:solidFill>
                <a:latin typeface="Calibri" pitchFamily="34" charset="0"/>
                <a:ea typeface="Calibri" pitchFamily="34" charset="-122"/>
                <a:cs typeface="Calibri" pitchFamily="34" charset="-120"/>
              </a:rPr>
              <a:t>The part people skip</a:t>
            </a:r>
            <a:endParaRPr lang="en-US" sz="1400" dirty="0"/>
          </a:p>
        </p:txBody>
      </p:sp>
      <p:sp>
        <p:nvSpPr>
          <p:cNvPr id="13" name="Text 11"/>
          <p:cNvSpPr txBox="1"/>
          <p:nvPr/>
        </p:nvSpPr>
        <p:spPr>
          <a:xfrm>
            <a:off x="914400" y="5029200"/>
            <a:ext cx="10332720" cy="777240"/>
          </a:xfrm>
          <a:prstGeom prst="rect">
            <a:avLst/>
          </a:prstGeom>
          <a:noFill/>
          <a:ln/>
        </p:spPr>
        <p:txBody>
          <a:bodyPr wrap="square" lIns="0" tIns="0" rIns="0" bIns="0" rtlCol="0" anchor="ctr"/>
          <a:lstStyle/>
          <a:p>
            <a:pPr indent="0" marL="0">
              <a:buNone/>
            </a:pPr>
            <a:r>
              <a:rPr lang="en-US" sz="1400" dirty="0">
                <a:solidFill>
                  <a:srgbClr val="F3D9A4"/>
                </a:solidFill>
                <a:latin typeface="Calibri" pitchFamily="34" charset="0"/>
                <a:ea typeface="Calibri" pitchFamily="34" charset="-122"/>
                <a:cs typeface="Calibri" pitchFamily="34" charset="-120"/>
              </a:rPr>
              <a:t>Atomize and run them serially and you get 5m 40s — 31% SLOWER than not splitting at all, because every spec now boots its own Cypress. Splitting is not a speedup. It is the precondition for one.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131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4ADE80"/>
                </a:solidFill>
                <a:latin typeface="Calibri" pitchFamily="34" charset="0"/>
                <a:ea typeface="Calibri" pitchFamily="34" charset="-122"/>
                <a:cs typeface="Calibri" pitchFamily="34" charset="-120"/>
              </a:rPr>
              <a:t>SECTION 06 · DISTRIBUTION</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One runner per app, not per shard</a:t>
            </a:r>
            <a:endParaRPr lang="en-US" sz="3800" dirty="0"/>
          </a:p>
        </p:txBody>
      </p:sp>
      <p:sp>
        <p:nvSpPr>
          <p:cNvPr id="4" name="Shape 2"/>
          <p:cNvSpPr/>
          <p:nvPr/>
        </p:nvSpPr>
        <p:spPr>
          <a:xfrm>
            <a:off x="640080" y="1783080"/>
            <a:ext cx="7223760" cy="2011680"/>
          </a:xfrm>
          <a:prstGeom prst="roundRect">
            <a:avLst>
              <a:gd name="adj" fmla="val 2727"/>
            </a:avLst>
          </a:prstGeom>
          <a:solidFill>
            <a:srgbClr val="0A0D13"/>
          </a:solidFill>
          <a:ln w="12700">
            <a:solidFill>
              <a:srgbClr val="2C3340"/>
            </a:solidFill>
            <a:prstDash val="solid"/>
          </a:ln>
        </p:spPr>
      </p:sp>
      <p:sp>
        <p:nvSpPr>
          <p:cNvPr id="5" name="Text 3"/>
          <p:cNvSpPr txBox="1"/>
          <p:nvPr/>
        </p:nvSpPr>
        <p:spPr>
          <a:xfrm>
            <a:off x="868680" y="1984248"/>
            <a:ext cx="6766560" cy="1609344"/>
          </a:xfrm>
          <a:prstGeom prst="rect">
            <a:avLst/>
          </a:prstGeom>
          <a:noFill/>
          <a:ln/>
        </p:spPr>
        <p:txBody>
          <a:bodyPr wrap="square" lIns="0" tIns="0" rIns="0" bIns="0" rtlCol="0" anchor="t"/>
          <a:lstStyle/>
          <a:p>
            <a:pPr indent="0" marL="0">
              <a:lnSpc>
                <a:spcPct val="125000"/>
              </a:lnSpc>
              <a:buNone/>
            </a:pPr>
            <a:r>
              <a:rPr lang="en-US" sz="1100" dirty="0">
                <a:solidFill>
                  <a:srgbClr val="7DD3FC"/>
                </a:solidFill>
                <a:latin typeface="Courier New" pitchFamily="34" charset="0"/>
                <a:ea typeface="Courier New" pitchFamily="34" charset="-122"/>
                <a:cs typeface="Courier New" pitchFamily="34" charset="-120"/>
              </a:rPr>
              <a:t>- id: list</a:t>
            </a:r>
            <a:endParaRPr lang="en-US" sz="1100" dirty="0"/>
          </a:p>
          <a:p>
            <a:pPr indent="0" marL="0">
              <a:lnSpc>
                <a:spcPct val="125000"/>
              </a:lnSpc>
              <a:buNone/>
            </a:pPr>
            <a:r>
              <a:rPr lang="en-US" sz="1100" dirty="0">
                <a:solidFill>
                  <a:srgbClr val="4ADE80"/>
                </a:solidFill>
                <a:latin typeface="Courier New" pitchFamily="34" charset="0"/>
                <a:ea typeface="Courier New" pitchFamily="34" charset="-122"/>
                <a:cs typeface="Courier New" pitchFamily="34" charset="-120"/>
              </a:rPr>
              <a:t>  run: echo "projects=$(node tools/e2e-targets.mjs --projects-json)"</a:t>
            </a:r>
            <a:endParaRPr lang="en-US" sz="1100" dirty="0"/>
          </a:p>
          <a:p>
            <a:pPr indent="0" marL="0">
              <a:lnSpc>
                <a:spcPct val="125000"/>
              </a:lnSpc>
              <a:buNone/>
            </a:pPr>
            <a:endParaRPr lang="en-US" sz="1100" dirty="0"/>
          </a:p>
          <a:p>
            <a:pPr indent="0" marL="0">
              <a:lnSpc>
                <a:spcPct val="125000"/>
              </a:lnSpc>
              <a:buNone/>
            </a:pPr>
            <a:r>
              <a:rPr lang="en-US" sz="1100" dirty="0">
                <a:solidFill>
                  <a:srgbClr val="7DD3FC"/>
                </a:solidFill>
                <a:latin typeface="Courier New" pitchFamily="34" charset="0"/>
                <a:ea typeface="Courier New" pitchFamily="34" charset="-122"/>
                <a:cs typeface="Courier New" pitchFamily="34" charset="-120"/>
              </a:rPr>
              <a:t>strategy:</a:t>
            </a:r>
            <a:endParaRPr lang="en-US" sz="1100" dirty="0"/>
          </a:p>
          <a:p>
            <a:pPr indent="0" marL="0">
              <a:lnSpc>
                <a:spcPct val="125000"/>
              </a:lnSpc>
              <a:buNone/>
            </a:pPr>
            <a:r>
              <a:rPr lang="en-US" sz="1100" dirty="0">
                <a:solidFill>
                  <a:srgbClr val="FFFFFF"/>
                </a:solidFill>
                <a:latin typeface="Courier New" pitchFamily="34" charset="0"/>
                <a:ea typeface="Courier New" pitchFamily="34" charset="-122"/>
                <a:cs typeface="Courier New" pitchFamily="34" charset="-120"/>
              </a:rPr>
              <a:t>  matrix: { project: "${{ fromJson(needs.discover.outputs.projects) }}" }</a:t>
            </a:r>
            <a:endParaRPr lang="en-US" sz="1100" dirty="0"/>
          </a:p>
        </p:txBody>
      </p:sp>
      <p:sp>
        <p:nvSpPr>
          <p:cNvPr id="6" name="Text 4"/>
          <p:cNvSpPr txBox="1"/>
          <p:nvPr/>
        </p:nvSpPr>
        <p:spPr>
          <a:xfrm>
            <a:off x="8046720" y="1783080"/>
            <a:ext cx="3291840" cy="23774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C3CAD6"/>
                </a:solidFill>
                <a:latin typeface="Calibri" pitchFamily="34" charset="0"/>
                <a:ea typeface="Calibri" pitchFamily="34" charset="-122"/>
                <a:cs typeface="Calibri" pitchFamily="34" charset="-120"/>
              </a:rPr>
              <a:t>The matrix comes from the graph — a 4th app adds a runner by itself</a:t>
            </a:r>
            <a:endParaRPr lang="en-US" sz="1200" dirty="0"/>
          </a:p>
          <a:p>
            <a:pPr marL="342900" indent="-342900">
              <a:spcAft>
                <a:spcPts val="1000"/>
              </a:spcAft>
              <a:buSzPct val="100000"/>
              <a:buChar char="•"/>
            </a:pPr>
            <a:r>
              <a:rPr lang="en-US" sz="1200" dirty="0">
                <a:solidFill>
                  <a:srgbClr val="C3CAD6"/>
                </a:solidFill>
                <a:latin typeface="Calibri" pitchFamily="34" charset="0"/>
                <a:ea typeface="Calibri" pitchFamily="34" charset="-122"/>
                <a:cs typeface="Calibri" pitchFamily="34" charset="-120"/>
              </a:rPr>
              <a:t>One preview server per runner, nothing to balance</a:t>
            </a:r>
            <a:endParaRPr lang="en-US" sz="1200" dirty="0"/>
          </a:p>
          <a:p>
            <a:pPr marL="342900" indent="-342900">
              <a:spcAft>
                <a:spcPts val="1000"/>
              </a:spcAft>
              <a:buSzPct val="100000"/>
              <a:buChar char="•"/>
            </a:pPr>
            <a:r>
              <a:rPr lang="en-US" sz="1200" dirty="0">
                <a:solidFill>
                  <a:srgbClr val="F5A524"/>
                </a:solidFill>
                <a:latin typeface="Calibri" pitchFamily="34" charset="0"/>
                <a:ea typeface="Calibri" pitchFamily="34" charset="-122"/>
                <a:cs typeface="Calibri" pitchFamily="34" charset="-120"/>
              </a:rPr>
              <a:t>Costs ~40s up front: discovery needs npm ci before anything starts</a:t>
            </a:r>
            <a:endParaRPr lang="en-US" sz="1200" dirty="0"/>
          </a:p>
          <a:p>
            <a:pPr marL="342900" indent="-342900">
              <a:spcAft>
                <a:spcPts val="1000"/>
              </a:spcAft>
              <a:buSzPct val="100000"/>
              <a:buChar char="•"/>
            </a:pPr>
            <a:r>
              <a:rPr lang="en-US" sz="1200" b="1" dirty="0">
                <a:solidFill>
                  <a:srgbClr val="4ADE80"/>
                </a:solidFill>
                <a:latin typeface="Calibri" pitchFamily="34" charset="0"/>
                <a:ea typeface="Calibri" pitchFamily="34" charset="-122"/>
                <a:cs typeface="Calibri" pitchFamily="34" charset="-120"/>
              </a:rPr>
              <a:t>Measured: 3m 44s on one machine → 1m 53s across three</a:t>
            </a:r>
            <a:endParaRPr lang="en-US" sz="1200" dirty="0"/>
          </a:p>
        </p:txBody>
      </p:sp>
      <p:sp>
        <p:nvSpPr>
          <p:cNvPr id="7" name="Text 5"/>
          <p:cNvSpPr txBox="1"/>
          <p:nvPr/>
        </p:nvSpPr>
        <p:spPr>
          <a:xfrm>
            <a:off x="640080" y="3977640"/>
            <a:ext cx="10881360" cy="365760"/>
          </a:xfrm>
          <a:prstGeom prst="rect">
            <a:avLst/>
          </a:prstGeom>
          <a:noFill/>
          <a:ln/>
        </p:spPr>
        <p:txBody>
          <a:bodyPr wrap="square" lIns="0" tIns="0" rIns="0" bIns="0" rtlCol="0" anchor="ctr"/>
          <a:lstStyle/>
          <a:p>
            <a:pPr indent="0" marL="0">
              <a:buNone/>
            </a:pPr>
            <a:r>
              <a:rPr lang="en-US" sz="1600" b="1" dirty="0">
                <a:solidFill>
                  <a:srgbClr val="F5A524"/>
                </a:solidFill>
                <a:latin typeface="Calibri" pitchFamily="34" charset="0"/>
                <a:ea typeface="Calibri" pitchFamily="34" charset="-122"/>
                <a:cs typeface="Calibri" pitchFamily="34" charset="-120"/>
              </a:rPr>
              <a:t>Why not shard by index?</a:t>
            </a:r>
            <a:endParaRPr lang="en-US" sz="1600" dirty="0"/>
          </a:p>
        </p:txBody>
      </p:sp>
      <p:sp>
        <p:nvSpPr>
          <p:cNvPr id="8" name="Shape 6"/>
          <p:cNvSpPr/>
          <p:nvPr/>
        </p:nvSpPr>
        <p:spPr>
          <a:xfrm>
            <a:off x="640080" y="4434840"/>
            <a:ext cx="3429000" cy="1417320"/>
          </a:xfrm>
          <a:prstGeom prst="roundRect">
            <a:avLst>
              <a:gd name="adj" fmla="val 4516"/>
            </a:avLst>
          </a:prstGeom>
          <a:solidFill>
            <a:srgbClr val="1B2029"/>
          </a:solidFill>
          <a:ln w="12700">
            <a:solidFill>
              <a:srgbClr val="2C3340"/>
            </a:solidFill>
            <a:prstDash val="solid"/>
          </a:ln>
        </p:spPr>
      </p:sp>
      <p:sp>
        <p:nvSpPr>
          <p:cNvPr id="9" name="Text 7"/>
          <p:cNvSpPr txBox="1"/>
          <p:nvPr/>
        </p:nvSpPr>
        <p:spPr>
          <a:xfrm>
            <a:off x="841248" y="4599432"/>
            <a:ext cx="301752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Three servers, not one</a:t>
            </a:r>
            <a:endParaRPr lang="en-US" sz="1400" dirty="0"/>
          </a:p>
        </p:txBody>
      </p:sp>
      <p:sp>
        <p:nvSpPr>
          <p:cNvPr id="10" name="Text 8"/>
          <p:cNvSpPr txBox="1"/>
          <p:nvPr/>
        </p:nvSpPr>
        <p:spPr>
          <a:xfrm>
            <a:off x="841248" y="4946904"/>
            <a:ext cx="3017520" cy="822960"/>
          </a:xfrm>
          <a:prstGeom prst="rect">
            <a:avLst/>
          </a:prstGeom>
          <a:noFill/>
          <a:ln/>
        </p:spPr>
        <p:txBody>
          <a:bodyPr wrap="square" lIns="0" tIns="0" rIns="0" bIns="0" rtlCol="0" anchor="t"/>
          <a:lstStyle/>
          <a:p>
            <a:pPr indent="0" marL="0">
              <a:buNone/>
            </a:pPr>
            <a:r>
              <a:rPr lang="en-US" sz="1200" dirty="0">
                <a:solidFill>
                  <a:srgbClr val="8A94A6"/>
                </a:solidFill>
                <a:latin typeface="Calibri" pitchFamily="34" charset="0"/>
                <a:ea typeface="Calibri" pitchFamily="34" charset="-122"/>
                <a:cs typeface="Calibri" pitchFamily="34" charset="-120"/>
              </a:rPr>
              <a:t>A shard spanning apps makes Nx build and boot every app on that runner.</a:t>
            </a:r>
            <a:endParaRPr lang="en-US" sz="1200" dirty="0"/>
          </a:p>
        </p:txBody>
      </p:sp>
      <p:sp>
        <p:nvSpPr>
          <p:cNvPr id="11" name="Shape 9"/>
          <p:cNvSpPr/>
          <p:nvPr/>
        </p:nvSpPr>
        <p:spPr>
          <a:xfrm>
            <a:off x="4343400" y="4434840"/>
            <a:ext cx="3429000" cy="1417320"/>
          </a:xfrm>
          <a:prstGeom prst="roundRect">
            <a:avLst>
              <a:gd name="adj" fmla="val 4516"/>
            </a:avLst>
          </a:prstGeom>
          <a:solidFill>
            <a:srgbClr val="1B2029"/>
          </a:solidFill>
          <a:ln w="12700">
            <a:solidFill>
              <a:srgbClr val="2C3340"/>
            </a:solidFill>
            <a:prstDash val="solid"/>
          </a:ln>
        </p:spPr>
      </p:sp>
      <p:sp>
        <p:nvSpPr>
          <p:cNvPr id="12" name="Text 10"/>
          <p:cNvSpPr txBox="1"/>
          <p:nvPr/>
        </p:nvSpPr>
        <p:spPr>
          <a:xfrm>
            <a:off x="4544568" y="4599432"/>
            <a:ext cx="301752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Nothing to rebalance</a:t>
            </a:r>
            <a:endParaRPr lang="en-US" sz="1400" dirty="0"/>
          </a:p>
        </p:txBody>
      </p:sp>
      <p:sp>
        <p:nvSpPr>
          <p:cNvPr id="13" name="Text 11"/>
          <p:cNvSpPr txBox="1"/>
          <p:nvPr/>
        </p:nvSpPr>
        <p:spPr>
          <a:xfrm>
            <a:off x="4544568" y="4946904"/>
            <a:ext cx="3017520" cy="822960"/>
          </a:xfrm>
          <a:prstGeom prst="rect">
            <a:avLst/>
          </a:prstGeom>
          <a:noFill/>
          <a:ln/>
        </p:spPr>
        <p:txBody>
          <a:bodyPr wrap="square" lIns="0" tIns="0" rIns="0" bIns="0" rtlCol="0" anchor="t"/>
          <a:lstStyle/>
          <a:p>
            <a:pPr indent="0" marL="0">
              <a:buNone/>
            </a:pPr>
            <a:r>
              <a:rPr lang="en-US" sz="1200" dirty="0">
                <a:solidFill>
                  <a:srgbClr val="8A94A6"/>
                </a:solidFill>
                <a:latin typeface="Calibri" pitchFamily="34" charset="0"/>
                <a:ea typeface="Calibri" pitchFamily="34" charset="-122"/>
                <a:cs typeface="Calibri" pitchFamily="34" charset="-120"/>
              </a:rPr>
              <a:t>Similar-sized apps are already even. Slicing them evenly again buys nothing.</a:t>
            </a:r>
            <a:endParaRPr lang="en-US" sz="1200" dirty="0"/>
          </a:p>
        </p:txBody>
      </p:sp>
      <p:sp>
        <p:nvSpPr>
          <p:cNvPr id="14" name="Shape 12"/>
          <p:cNvSpPr/>
          <p:nvPr/>
        </p:nvSpPr>
        <p:spPr>
          <a:xfrm>
            <a:off x="8046720" y="4434840"/>
            <a:ext cx="3429000" cy="1417320"/>
          </a:xfrm>
          <a:prstGeom prst="roundRect">
            <a:avLst>
              <a:gd name="adj" fmla="val 4516"/>
            </a:avLst>
          </a:prstGeom>
          <a:solidFill>
            <a:srgbClr val="1B2029"/>
          </a:solidFill>
          <a:ln w="12700">
            <a:solidFill>
              <a:srgbClr val="2C3340"/>
            </a:solidFill>
            <a:prstDash val="solid"/>
          </a:ln>
        </p:spPr>
      </p:sp>
      <p:sp>
        <p:nvSpPr>
          <p:cNvPr id="15" name="Text 13"/>
          <p:cNvSpPr txBox="1"/>
          <p:nvPr/>
        </p:nvSpPr>
        <p:spPr>
          <a:xfrm>
            <a:off x="8247888" y="4599432"/>
            <a:ext cx="301752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run-many is a cross product</a:t>
            </a:r>
            <a:endParaRPr lang="en-US" sz="1400" dirty="0"/>
          </a:p>
        </p:txBody>
      </p:sp>
      <p:sp>
        <p:nvSpPr>
          <p:cNvPr id="16" name="Text 14"/>
          <p:cNvSpPr txBox="1"/>
          <p:nvPr/>
        </p:nvSpPr>
        <p:spPr>
          <a:xfrm>
            <a:off x="8247888" y="4946904"/>
            <a:ext cx="3017520" cy="822960"/>
          </a:xfrm>
          <a:prstGeom prst="rect">
            <a:avLst/>
          </a:prstGeom>
          <a:noFill/>
          <a:ln/>
        </p:spPr>
        <p:txBody>
          <a:bodyPr wrap="square" lIns="0" tIns="0" rIns="0" bIns="0" rtlCol="0" anchor="t"/>
          <a:lstStyle/>
          <a:p>
            <a:pPr indent="0" marL="0">
              <a:buNone/>
            </a:pPr>
            <a:r>
              <a:rPr lang="en-US" sz="1200" dirty="0">
                <a:solidFill>
                  <a:srgbClr val="8A94A6"/>
                </a:solidFill>
                <a:latin typeface="Calibri" pitchFamily="34" charset="0"/>
                <a:ea typeface="Calibri" pitchFamily="34" charset="-122"/>
                <a:cs typeface="Calibri" pitchFamily="34" charset="-120"/>
              </a:rPr>
              <a:t>shop and admin both have login.cy.ts. A cross-app shard runs the wrong one.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131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4ADE80"/>
                </a:solidFill>
                <a:latin typeface="Calibri" pitchFamily="34" charset="0"/>
                <a:ea typeface="Calibri" pitchFamily="34" charset="-122"/>
                <a:cs typeface="Calibri" pitchFamily="34" charset="-120"/>
              </a:rPr>
              <a:t>SECTION 05 · THE CACHE</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Run it again. Nothing runs.</a:t>
            </a:r>
            <a:endParaRPr lang="en-US" sz="3800" dirty="0"/>
          </a:p>
        </p:txBody>
      </p:sp>
      <p:sp>
        <p:nvSpPr>
          <p:cNvPr id="4" name="Shape 2"/>
          <p:cNvSpPr/>
          <p:nvPr/>
        </p:nvSpPr>
        <p:spPr>
          <a:xfrm>
            <a:off x="640080" y="1783080"/>
            <a:ext cx="10881360" cy="1700784"/>
          </a:xfrm>
          <a:prstGeom prst="roundRect">
            <a:avLst>
              <a:gd name="adj" fmla="val 3226"/>
            </a:avLst>
          </a:prstGeom>
          <a:solidFill>
            <a:srgbClr val="0A0D13"/>
          </a:solidFill>
          <a:ln w="12700">
            <a:solidFill>
              <a:srgbClr val="2C3340"/>
            </a:solidFill>
            <a:prstDash val="solid"/>
          </a:ln>
        </p:spPr>
      </p:sp>
      <p:sp>
        <p:nvSpPr>
          <p:cNvPr id="5" name="Text 3"/>
          <p:cNvSpPr txBox="1"/>
          <p:nvPr/>
        </p:nvSpPr>
        <p:spPr>
          <a:xfrm>
            <a:off x="868680" y="1984248"/>
            <a:ext cx="10424160" cy="1298448"/>
          </a:xfrm>
          <a:prstGeom prst="rect">
            <a:avLst/>
          </a:prstGeom>
          <a:noFill/>
          <a:ln/>
        </p:spPr>
        <p:txBody>
          <a:bodyPr wrap="square" lIns="0" tIns="0" rIns="0" bIns="0" rtlCol="0" anchor="t"/>
          <a:lstStyle/>
          <a:p>
            <a:pPr indent="0" marL="0">
              <a:lnSpc>
                <a:spcPct val="125000"/>
              </a:lnSpc>
              <a:buNone/>
            </a:pPr>
            <a:r>
              <a:rPr lang="en-US" sz="1600" dirty="0">
                <a:solidFill>
                  <a:srgbClr val="8A94A6"/>
                </a:solidFill>
                <a:latin typeface="Courier New" pitchFamily="34" charset="0"/>
                <a:ea typeface="Courier New" pitchFamily="34" charset="-122"/>
                <a:cs typeface="Courier New" pitchFamily="34" charset="-120"/>
              </a:rPr>
              <a:t>node tools/shard-e2e.mjs --parallel=5    # again, unchanged</a:t>
            </a:r>
            <a:endParaRPr lang="en-US" sz="1600" dirty="0"/>
          </a:p>
          <a:p>
            <a:pPr indent="0" marL="0">
              <a:lnSpc>
                <a:spcPct val="125000"/>
              </a:lnSpc>
              <a:buNone/>
            </a:pPr>
            <a:endParaRPr lang="en-US" sz="1600" dirty="0"/>
          </a:p>
          <a:p>
            <a:pPr indent="0" marL="0">
              <a:lnSpc>
                <a:spcPct val="125000"/>
              </a:lnSpc>
              <a:buNone/>
            </a:pPr>
            <a:r>
              <a:rPr lang="en-US" sz="1600" b="1" dirty="0">
                <a:solidFill>
                  <a:srgbClr val="4ADE80"/>
                </a:solidFill>
                <a:latin typeface="Courier New" pitchFamily="34" charset="0"/>
                <a:ea typeface="Courier New" pitchFamily="34" charset="-122"/>
                <a:cs typeface="Courier New" pitchFamily="34" charset="-120"/>
              </a:rPr>
              <a:t>Run duration:  160ms</a:t>
            </a:r>
            <a:endParaRPr lang="en-US" sz="1600" dirty="0"/>
          </a:p>
          <a:p>
            <a:pPr indent="0" marL="0">
              <a:lnSpc>
                <a:spcPct val="125000"/>
              </a:lnSpc>
              <a:buNone/>
            </a:pPr>
            <a:r>
              <a:rPr lang="en-US" sz="1600" b="1" dirty="0">
                <a:solidFill>
                  <a:srgbClr val="4ADE80"/>
                </a:solidFill>
                <a:latin typeface="Courier New" pitchFamily="34" charset="0"/>
                <a:ea typeface="Courier New" pitchFamily="34" charset="-122"/>
                <a:cs typeface="Courier New" pitchFamily="34" charset="-120"/>
              </a:rPr>
              <a:t>Cache:         11/12 hit (92%)</a:t>
            </a:r>
            <a:endParaRPr lang="en-US" sz="1600" dirty="0"/>
          </a:p>
        </p:txBody>
      </p:sp>
      <p:sp>
        <p:nvSpPr>
          <p:cNvPr id="6" name="Text 4"/>
          <p:cNvSpPr txBox="1"/>
          <p:nvPr/>
        </p:nvSpPr>
        <p:spPr>
          <a:xfrm>
            <a:off x="640080" y="3703320"/>
            <a:ext cx="5120640" cy="822960"/>
          </a:xfrm>
          <a:prstGeom prst="rect">
            <a:avLst/>
          </a:prstGeom>
          <a:noFill/>
          <a:ln/>
        </p:spPr>
        <p:txBody>
          <a:bodyPr wrap="square" lIns="0" tIns="0" rIns="0" bIns="0" rtlCol="0" anchor="ctr"/>
          <a:lstStyle/>
          <a:p>
            <a:pPr indent="0" marL="0">
              <a:buNone/>
            </a:pPr>
            <a:r>
              <a:rPr lang="en-US" sz="4400" b="1" dirty="0">
                <a:solidFill>
                  <a:srgbClr val="4ADE80"/>
                </a:solidFill>
                <a:latin typeface="Cambria" pitchFamily="34" charset="0"/>
                <a:ea typeface="Cambria" pitchFamily="34" charset="-122"/>
                <a:cs typeface="Cambria" pitchFamily="34" charset="-120"/>
              </a:rPr>
              <a:t>40s → 0.16s</a:t>
            </a:r>
            <a:endParaRPr lang="en-US" sz="4400" dirty="0"/>
          </a:p>
        </p:txBody>
      </p:sp>
      <p:sp>
        <p:nvSpPr>
          <p:cNvPr id="7" name="Text 5"/>
          <p:cNvSpPr txBox="1"/>
          <p:nvPr/>
        </p:nvSpPr>
        <p:spPr>
          <a:xfrm>
            <a:off x="5943600" y="3794760"/>
            <a:ext cx="557784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C3CAD6"/>
                </a:solidFill>
                <a:latin typeface="Calibri" pitchFamily="34" charset="0"/>
                <a:ea typeface="Calibri" pitchFamily="34" charset="-122"/>
                <a:cs typeface="Calibri" pitchFamily="34" charset="-120"/>
              </a:rPr>
              <a:t>Nx hashed each task: the spec file, the app source it depends on, the Cypress version</a:t>
            </a:r>
            <a:endParaRPr lang="en-US" sz="1500" dirty="0"/>
          </a:p>
          <a:p>
            <a:pPr marL="342900" indent="-342900">
              <a:spcAft>
                <a:spcPts val="1000"/>
              </a:spcAft>
              <a:buSzPct val="100000"/>
              <a:buChar char="•"/>
            </a:pPr>
            <a:r>
              <a:rPr lang="en-US" sz="1500" dirty="0">
                <a:solidFill>
                  <a:srgbClr val="C3CAD6"/>
                </a:solidFill>
                <a:latin typeface="Calibri" pitchFamily="34" charset="0"/>
                <a:ea typeface="Calibri" pitchFamily="34" charset="-122"/>
                <a:cs typeface="Calibri" pitchFamily="34" charset="-120"/>
              </a:rPr>
              <a:t>Same hash, so the stored result is replayed instead of recomputed</a:t>
            </a:r>
            <a:endParaRPr lang="en-US" sz="1500" dirty="0"/>
          </a:p>
          <a:p>
            <a:pPr marL="342900" indent="-342900">
              <a:spcAft>
                <a:spcPts val="1000"/>
              </a:spcAft>
              <a:buSzPct val="100000"/>
              <a:buChar char="•"/>
            </a:pPr>
            <a:r>
              <a:rPr lang="en-US" sz="1500" dirty="0">
                <a:solidFill>
                  <a:srgbClr val="C3CAD6"/>
                </a:solidFill>
                <a:latin typeface="Calibri" pitchFamily="34" charset="0"/>
                <a:ea typeface="Calibri" pitchFamily="34" charset="-122"/>
                <a:cs typeface="Calibri" pitchFamily="34" charset="-120"/>
              </a:rPr>
              <a:t>This is per-machine and on disk in .nx/cache — no account, no network</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0131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FB7185"/>
                </a:solidFill>
                <a:latin typeface="Calibri" pitchFamily="34" charset="0"/>
                <a:ea typeface="Calibri" pitchFamily="34" charset="-122"/>
                <a:cs typeface="Calibri" pitchFamily="34" charset="-120"/>
              </a:rPr>
              <a:t>SECTION 05 · THE PAYOFF</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 retry only runs what failed</a:t>
            </a:r>
            <a:endParaRPr lang="en-US" sz="3800" dirty="0"/>
          </a:p>
        </p:txBody>
      </p:sp>
      <p:sp>
        <p:nvSpPr>
          <p:cNvPr id="4" name="Text 2"/>
          <p:cNvSpPr txBox="1"/>
          <p:nvPr/>
        </p:nvSpPr>
        <p:spPr>
          <a:xfrm>
            <a:off x="640080" y="1691640"/>
            <a:ext cx="10881360" cy="411480"/>
          </a:xfrm>
          <a:prstGeom prst="rect">
            <a:avLst/>
          </a:prstGeom>
          <a:noFill/>
          <a:ln/>
        </p:spPr>
        <p:txBody>
          <a:bodyPr wrap="square" lIns="0" tIns="0" rIns="0" bIns="0" rtlCol="0" anchor="ctr"/>
          <a:lstStyle/>
          <a:p>
            <a:pPr indent="0" marL="0">
              <a:buNone/>
            </a:pPr>
            <a:r>
              <a:rPr lang="en-US" sz="2400" b="1" dirty="0">
                <a:solidFill>
                  <a:srgbClr val="FB7185"/>
                </a:solidFill>
                <a:latin typeface="Cambria" pitchFamily="34" charset="0"/>
                <a:ea typeface="Cambria" pitchFamily="34" charset="-122"/>
                <a:cs typeface="Cambria" pitchFamily="34" charset="-120"/>
              </a:rPr>
              <a:t>Nx never caches a failed task.</a:t>
            </a:r>
            <a:endParaRPr lang="en-US" sz="2400" dirty="0"/>
          </a:p>
        </p:txBody>
      </p:sp>
      <p:sp>
        <p:nvSpPr>
          <p:cNvPr id="5" name="Shape 3"/>
          <p:cNvSpPr/>
          <p:nvPr/>
        </p:nvSpPr>
        <p:spPr>
          <a:xfrm>
            <a:off x="640080" y="2240280"/>
            <a:ext cx="2057400" cy="621792"/>
          </a:xfrm>
          <a:prstGeom prst="roundRect">
            <a:avLst>
              <a:gd name="adj" fmla="val 8824"/>
            </a:avLst>
          </a:prstGeom>
          <a:solidFill>
            <a:srgbClr val="10251A"/>
          </a:solidFill>
          <a:ln w="15240">
            <a:solidFill>
              <a:srgbClr val="4ADE80"/>
            </a:solidFill>
            <a:prstDash val="solid"/>
          </a:ln>
        </p:spPr>
      </p:sp>
      <p:sp>
        <p:nvSpPr>
          <p:cNvPr id="6" name="Text 4"/>
          <p:cNvSpPr txBox="1"/>
          <p:nvPr/>
        </p:nvSpPr>
        <p:spPr>
          <a:xfrm>
            <a:off x="777240" y="2295144"/>
            <a:ext cx="1783080" cy="237744"/>
          </a:xfrm>
          <a:prstGeom prst="rect">
            <a:avLst/>
          </a:prstGeom>
          <a:noFill/>
          <a:ln/>
        </p:spPr>
        <p:txBody>
          <a:bodyPr wrap="square" lIns="0" tIns="0" rIns="0" bIns="0" rtlCol="0" anchor="ctr"/>
          <a:lstStyle/>
          <a:p>
            <a:pPr indent="0" marL="0">
              <a:buNone/>
            </a:pPr>
            <a:r>
              <a:rPr lang="en-US" sz="900" b="1" spc="150" kern="0" dirty="0">
                <a:solidFill>
                  <a:srgbClr val="4ADE80"/>
                </a:solidFill>
                <a:latin typeface="Calibri" pitchFamily="34" charset="0"/>
                <a:ea typeface="Calibri" pitchFamily="34" charset="-122"/>
                <a:cs typeface="Calibri" pitchFamily="34" charset="-120"/>
              </a:rPr>
              <a:t>CACHED</a:t>
            </a:r>
            <a:endParaRPr lang="en-US" sz="900" dirty="0"/>
          </a:p>
        </p:txBody>
      </p:sp>
      <p:sp>
        <p:nvSpPr>
          <p:cNvPr id="7" name="Text 5"/>
          <p:cNvSpPr txBox="1"/>
          <p:nvPr/>
        </p:nvSpPr>
        <p:spPr>
          <a:xfrm>
            <a:off x="777240" y="2532888"/>
            <a:ext cx="1783080" cy="274320"/>
          </a:xfrm>
          <a:prstGeom prst="rect">
            <a:avLst/>
          </a:prstGeom>
          <a:noFill/>
          <a:ln/>
        </p:spPr>
        <p:txBody>
          <a:bodyPr wrap="square" lIns="0" tIns="0" rIns="0" bIns="0"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catalog</a:t>
            </a:r>
            <a:endParaRPr lang="en-US" sz="1000" dirty="0"/>
          </a:p>
        </p:txBody>
      </p:sp>
      <p:sp>
        <p:nvSpPr>
          <p:cNvPr id="8" name="Shape 6"/>
          <p:cNvSpPr/>
          <p:nvPr/>
        </p:nvSpPr>
        <p:spPr>
          <a:xfrm>
            <a:off x="2852928" y="2240280"/>
            <a:ext cx="2057400" cy="621792"/>
          </a:xfrm>
          <a:prstGeom prst="roundRect">
            <a:avLst>
              <a:gd name="adj" fmla="val 8824"/>
            </a:avLst>
          </a:prstGeom>
          <a:solidFill>
            <a:srgbClr val="10251A"/>
          </a:solidFill>
          <a:ln w="15240">
            <a:solidFill>
              <a:srgbClr val="4ADE80"/>
            </a:solidFill>
            <a:prstDash val="solid"/>
          </a:ln>
        </p:spPr>
      </p:sp>
      <p:sp>
        <p:nvSpPr>
          <p:cNvPr id="9" name="Text 7"/>
          <p:cNvSpPr txBox="1"/>
          <p:nvPr/>
        </p:nvSpPr>
        <p:spPr>
          <a:xfrm>
            <a:off x="2990088" y="2295144"/>
            <a:ext cx="1783080" cy="237744"/>
          </a:xfrm>
          <a:prstGeom prst="rect">
            <a:avLst/>
          </a:prstGeom>
          <a:noFill/>
          <a:ln/>
        </p:spPr>
        <p:txBody>
          <a:bodyPr wrap="square" lIns="0" tIns="0" rIns="0" bIns="0" rtlCol="0" anchor="ctr"/>
          <a:lstStyle/>
          <a:p>
            <a:pPr indent="0" marL="0">
              <a:buNone/>
            </a:pPr>
            <a:r>
              <a:rPr lang="en-US" sz="900" b="1" spc="150" kern="0" dirty="0">
                <a:solidFill>
                  <a:srgbClr val="4ADE80"/>
                </a:solidFill>
                <a:latin typeface="Calibri" pitchFamily="34" charset="0"/>
                <a:ea typeface="Calibri" pitchFamily="34" charset="-122"/>
                <a:cs typeface="Calibri" pitchFamily="34" charset="-120"/>
              </a:rPr>
              <a:t>CACHED</a:t>
            </a:r>
            <a:endParaRPr lang="en-US" sz="900" dirty="0"/>
          </a:p>
        </p:txBody>
      </p:sp>
      <p:sp>
        <p:nvSpPr>
          <p:cNvPr id="10" name="Text 8"/>
          <p:cNvSpPr txBox="1"/>
          <p:nvPr/>
        </p:nvSpPr>
        <p:spPr>
          <a:xfrm>
            <a:off x="2990088" y="2532888"/>
            <a:ext cx="1783080" cy="274320"/>
          </a:xfrm>
          <a:prstGeom prst="rect">
            <a:avLst/>
          </a:prstGeom>
          <a:noFill/>
          <a:ln/>
        </p:spPr>
        <p:txBody>
          <a:bodyPr wrap="square" lIns="0" tIns="0" rIns="0" bIns="0"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search</a:t>
            </a:r>
            <a:endParaRPr lang="en-US" sz="1000" dirty="0"/>
          </a:p>
        </p:txBody>
      </p:sp>
      <p:sp>
        <p:nvSpPr>
          <p:cNvPr id="11" name="Shape 9"/>
          <p:cNvSpPr/>
          <p:nvPr/>
        </p:nvSpPr>
        <p:spPr>
          <a:xfrm>
            <a:off x="5065776" y="2240280"/>
            <a:ext cx="2057400" cy="621792"/>
          </a:xfrm>
          <a:prstGeom prst="roundRect">
            <a:avLst>
              <a:gd name="adj" fmla="val 8824"/>
            </a:avLst>
          </a:prstGeom>
          <a:solidFill>
            <a:srgbClr val="10251A"/>
          </a:solidFill>
          <a:ln w="15240">
            <a:solidFill>
              <a:srgbClr val="4ADE80"/>
            </a:solidFill>
            <a:prstDash val="solid"/>
          </a:ln>
        </p:spPr>
      </p:sp>
      <p:sp>
        <p:nvSpPr>
          <p:cNvPr id="12" name="Text 10"/>
          <p:cNvSpPr txBox="1"/>
          <p:nvPr/>
        </p:nvSpPr>
        <p:spPr>
          <a:xfrm>
            <a:off x="5202936" y="2295144"/>
            <a:ext cx="1783080" cy="237744"/>
          </a:xfrm>
          <a:prstGeom prst="rect">
            <a:avLst/>
          </a:prstGeom>
          <a:noFill/>
          <a:ln/>
        </p:spPr>
        <p:txBody>
          <a:bodyPr wrap="square" lIns="0" tIns="0" rIns="0" bIns="0" rtlCol="0" anchor="ctr"/>
          <a:lstStyle/>
          <a:p>
            <a:pPr indent="0" marL="0">
              <a:buNone/>
            </a:pPr>
            <a:r>
              <a:rPr lang="en-US" sz="900" b="1" spc="150" kern="0" dirty="0">
                <a:solidFill>
                  <a:srgbClr val="4ADE80"/>
                </a:solidFill>
                <a:latin typeface="Calibri" pitchFamily="34" charset="0"/>
                <a:ea typeface="Calibri" pitchFamily="34" charset="-122"/>
                <a:cs typeface="Calibri" pitchFamily="34" charset="-120"/>
              </a:rPr>
              <a:t>CACHED</a:t>
            </a:r>
            <a:endParaRPr lang="en-US" sz="900" dirty="0"/>
          </a:p>
        </p:txBody>
      </p:sp>
      <p:sp>
        <p:nvSpPr>
          <p:cNvPr id="13" name="Text 11"/>
          <p:cNvSpPr txBox="1"/>
          <p:nvPr/>
        </p:nvSpPr>
        <p:spPr>
          <a:xfrm>
            <a:off x="5202936" y="2532888"/>
            <a:ext cx="1783080" cy="274320"/>
          </a:xfrm>
          <a:prstGeom prst="rect">
            <a:avLst/>
          </a:prstGeom>
          <a:noFill/>
          <a:ln/>
        </p:spPr>
        <p:txBody>
          <a:bodyPr wrap="square" lIns="0" tIns="0" rIns="0" bIns="0"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filters</a:t>
            </a:r>
            <a:endParaRPr lang="en-US" sz="1000" dirty="0"/>
          </a:p>
        </p:txBody>
      </p:sp>
      <p:sp>
        <p:nvSpPr>
          <p:cNvPr id="14" name="Shape 12"/>
          <p:cNvSpPr/>
          <p:nvPr/>
        </p:nvSpPr>
        <p:spPr>
          <a:xfrm>
            <a:off x="7278624" y="2240280"/>
            <a:ext cx="2057400" cy="621792"/>
          </a:xfrm>
          <a:prstGeom prst="roundRect">
            <a:avLst>
              <a:gd name="adj" fmla="val 8824"/>
            </a:avLst>
          </a:prstGeom>
          <a:solidFill>
            <a:srgbClr val="10251A"/>
          </a:solidFill>
          <a:ln w="15240">
            <a:solidFill>
              <a:srgbClr val="4ADE80"/>
            </a:solidFill>
            <a:prstDash val="solid"/>
          </a:ln>
        </p:spPr>
      </p:sp>
      <p:sp>
        <p:nvSpPr>
          <p:cNvPr id="15" name="Text 13"/>
          <p:cNvSpPr txBox="1"/>
          <p:nvPr/>
        </p:nvSpPr>
        <p:spPr>
          <a:xfrm>
            <a:off x="7415784" y="2295144"/>
            <a:ext cx="1783080" cy="237744"/>
          </a:xfrm>
          <a:prstGeom prst="rect">
            <a:avLst/>
          </a:prstGeom>
          <a:noFill/>
          <a:ln/>
        </p:spPr>
        <p:txBody>
          <a:bodyPr wrap="square" lIns="0" tIns="0" rIns="0" bIns="0" rtlCol="0" anchor="ctr"/>
          <a:lstStyle/>
          <a:p>
            <a:pPr indent="0" marL="0">
              <a:buNone/>
            </a:pPr>
            <a:r>
              <a:rPr lang="en-US" sz="900" b="1" spc="150" kern="0" dirty="0">
                <a:solidFill>
                  <a:srgbClr val="4ADE80"/>
                </a:solidFill>
                <a:latin typeface="Calibri" pitchFamily="34" charset="0"/>
                <a:ea typeface="Calibri" pitchFamily="34" charset="-122"/>
                <a:cs typeface="Calibri" pitchFamily="34" charset="-120"/>
              </a:rPr>
              <a:t>CACHED</a:t>
            </a:r>
            <a:endParaRPr lang="en-US" sz="900" dirty="0"/>
          </a:p>
        </p:txBody>
      </p:sp>
      <p:sp>
        <p:nvSpPr>
          <p:cNvPr id="16" name="Text 14"/>
          <p:cNvSpPr txBox="1"/>
          <p:nvPr/>
        </p:nvSpPr>
        <p:spPr>
          <a:xfrm>
            <a:off x="7415784" y="2532888"/>
            <a:ext cx="1783080" cy="274320"/>
          </a:xfrm>
          <a:prstGeom prst="rect">
            <a:avLst/>
          </a:prstGeom>
          <a:noFill/>
          <a:ln/>
        </p:spPr>
        <p:txBody>
          <a:bodyPr wrap="square" lIns="0" tIns="0" rIns="0" bIns="0"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product-detail</a:t>
            </a:r>
            <a:endParaRPr lang="en-US" sz="1000" dirty="0"/>
          </a:p>
        </p:txBody>
      </p:sp>
      <p:sp>
        <p:nvSpPr>
          <p:cNvPr id="17" name="Shape 15"/>
          <p:cNvSpPr/>
          <p:nvPr/>
        </p:nvSpPr>
        <p:spPr>
          <a:xfrm>
            <a:off x="9491472" y="2240280"/>
            <a:ext cx="2057400" cy="621792"/>
          </a:xfrm>
          <a:prstGeom prst="roundRect">
            <a:avLst>
              <a:gd name="adj" fmla="val 8824"/>
            </a:avLst>
          </a:prstGeom>
          <a:solidFill>
            <a:srgbClr val="10251A"/>
          </a:solidFill>
          <a:ln w="15240">
            <a:solidFill>
              <a:srgbClr val="4ADE80"/>
            </a:solidFill>
            <a:prstDash val="solid"/>
          </a:ln>
        </p:spPr>
      </p:sp>
      <p:sp>
        <p:nvSpPr>
          <p:cNvPr id="18" name="Text 16"/>
          <p:cNvSpPr txBox="1"/>
          <p:nvPr/>
        </p:nvSpPr>
        <p:spPr>
          <a:xfrm>
            <a:off x="9628632" y="2295144"/>
            <a:ext cx="1783080" cy="237744"/>
          </a:xfrm>
          <a:prstGeom prst="rect">
            <a:avLst/>
          </a:prstGeom>
          <a:noFill/>
          <a:ln/>
        </p:spPr>
        <p:txBody>
          <a:bodyPr wrap="square" lIns="0" tIns="0" rIns="0" bIns="0" rtlCol="0" anchor="ctr"/>
          <a:lstStyle/>
          <a:p>
            <a:pPr indent="0" marL="0">
              <a:buNone/>
            </a:pPr>
            <a:r>
              <a:rPr lang="en-US" sz="900" b="1" spc="150" kern="0" dirty="0">
                <a:solidFill>
                  <a:srgbClr val="4ADE80"/>
                </a:solidFill>
                <a:latin typeface="Calibri" pitchFamily="34" charset="0"/>
                <a:ea typeface="Calibri" pitchFamily="34" charset="-122"/>
                <a:cs typeface="Calibri" pitchFamily="34" charset="-120"/>
              </a:rPr>
              <a:t>CACHED</a:t>
            </a:r>
            <a:endParaRPr lang="en-US" sz="900" dirty="0"/>
          </a:p>
        </p:txBody>
      </p:sp>
      <p:sp>
        <p:nvSpPr>
          <p:cNvPr id="19" name="Text 17"/>
          <p:cNvSpPr txBox="1"/>
          <p:nvPr/>
        </p:nvSpPr>
        <p:spPr>
          <a:xfrm>
            <a:off x="9628632" y="2532888"/>
            <a:ext cx="1783080" cy="274320"/>
          </a:xfrm>
          <a:prstGeom prst="rect">
            <a:avLst/>
          </a:prstGeom>
          <a:noFill/>
          <a:ln/>
        </p:spPr>
        <p:txBody>
          <a:bodyPr wrap="square" lIns="0" tIns="0" rIns="0" bIns="0"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cart-add</a:t>
            </a:r>
            <a:endParaRPr lang="en-US" sz="1000" dirty="0"/>
          </a:p>
        </p:txBody>
      </p:sp>
      <p:sp>
        <p:nvSpPr>
          <p:cNvPr id="20" name="Shape 18"/>
          <p:cNvSpPr/>
          <p:nvPr/>
        </p:nvSpPr>
        <p:spPr>
          <a:xfrm>
            <a:off x="640080" y="3017520"/>
            <a:ext cx="2057400" cy="621792"/>
          </a:xfrm>
          <a:prstGeom prst="roundRect">
            <a:avLst>
              <a:gd name="adj" fmla="val 8824"/>
            </a:avLst>
          </a:prstGeom>
          <a:solidFill>
            <a:srgbClr val="2A1116"/>
          </a:solidFill>
          <a:ln w="15240">
            <a:solidFill>
              <a:srgbClr val="FB7185"/>
            </a:solidFill>
            <a:prstDash val="solid"/>
          </a:ln>
        </p:spPr>
      </p:sp>
      <p:sp>
        <p:nvSpPr>
          <p:cNvPr id="21" name="Text 19"/>
          <p:cNvSpPr txBox="1"/>
          <p:nvPr/>
        </p:nvSpPr>
        <p:spPr>
          <a:xfrm>
            <a:off x="777240" y="3072384"/>
            <a:ext cx="1783080" cy="237744"/>
          </a:xfrm>
          <a:prstGeom prst="rect">
            <a:avLst/>
          </a:prstGeom>
          <a:noFill/>
          <a:ln/>
        </p:spPr>
        <p:txBody>
          <a:bodyPr wrap="square" lIns="0" tIns="0" rIns="0" bIns="0" rtlCol="0" anchor="ctr"/>
          <a:lstStyle/>
          <a:p>
            <a:pPr indent="0" marL="0">
              <a:buNone/>
            </a:pPr>
            <a:r>
              <a:rPr lang="en-US" sz="900" b="1" spc="150" kern="0" dirty="0">
                <a:solidFill>
                  <a:srgbClr val="FB7185"/>
                </a:solidFill>
                <a:latin typeface="Calibri" pitchFamily="34" charset="0"/>
                <a:ea typeface="Calibri" pitchFamily="34" charset="-122"/>
                <a:cs typeface="Calibri" pitchFamily="34" charset="-120"/>
              </a:rPr>
              <a:t>RE-RAN</a:t>
            </a:r>
            <a:endParaRPr lang="en-US" sz="900" dirty="0"/>
          </a:p>
        </p:txBody>
      </p:sp>
      <p:sp>
        <p:nvSpPr>
          <p:cNvPr id="22" name="Text 20"/>
          <p:cNvSpPr txBox="1"/>
          <p:nvPr/>
        </p:nvSpPr>
        <p:spPr>
          <a:xfrm>
            <a:off x="777240" y="3310128"/>
            <a:ext cx="1783080" cy="274320"/>
          </a:xfrm>
          <a:prstGeom prst="rect">
            <a:avLst/>
          </a:prstGeom>
          <a:noFill/>
          <a:ln/>
        </p:spPr>
        <p:txBody>
          <a:bodyPr wrap="square" lIns="0" tIns="0" rIns="0" bIns="0"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cart-totals</a:t>
            </a:r>
            <a:endParaRPr lang="en-US" sz="1000" dirty="0"/>
          </a:p>
        </p:txBody>
      </p:sp>
      <p:sp>
        <p:nvSpPr>
          <p:cNvPr id="23" name="Shape 21"/>
          <p:cNvSpPr/>
          <p:nvPr/>
        </p:nvSpPr>
        <p:spPr>
          <a:xfrm>
            <a:off x="2852928" y="3017520"/>
            <a:ext cx="2057400" cy="621792"/>
          </a:xfrm>
          <a:prstGeom prst="roundRect">
            <a:avLst>
              <a:gd name="adj" fmla="val 8824"/>
            </a:avLst>
          </a:prstGeom>
          <a:solidFill>
            <a:srgbClr val="10251A"/>
          </a:solidFill>
          <a:ln w="15240">
            <a:solidFill>
              <a:srgbClr val="4ADE80"/>
            </a:solidFill>
            <a:prstDash val="solid"/>
          </a:ln>
        </p:spPr>
      </p:sp>
      <p:sp>
        <p:nvSpPr>
          <p:cNvPr id="24" name="Text 22"/>
          <p:cNvSpPr txBox="1"/>
          <p:nvPr/>
        </p:nvSpPr>
        <p:spPr>
          <a:xfrm>
            <a:off x="2990088" y="3072384"/>
            <a:ext cx="1783080" cy="237744"/>
          </a:xfrm>
          <a:prstGeom prst="rect">
            <a:avLst/>
          </a:prstGeom>
          <a:noFill/>
          <a:ln/>
        </p:spPr>
        <p:txBody>
          <a:bodyPr wrap="square" lIns="0" tIns="0" rIns="0" bIns="0" rtlCol="0" anchor="ctr"/>
          <a:lstStyle/>
          <a:p>
            <a:pPr indent="0" marL="0">
              <a:buNone/>
            </a:pPr>
            <a:r>
              <a:rPr lang="en-US" sz="900" b="1" spc="150" kern="0" dirty="0">
                <a:solidFill>
                  <a:srgbClr val="4ADE80"/>
                </a:solidFill>
                <a:latin typeface="Calibri" pitchFamily="34" charset="0"/>
                <a:ea typeface="Calibri" pitchFamily="34" charset="-122"/>
                <a:cs typeface="Calibri" pitchFamily="34" charset="-120"/>
              </a:rPr>
              <a:t>CACHED</a:t>
            </a:r>
            <a:endParaRPr lang="en-US" sz="900" dirty="0"/>
          </a:p>
        </p:txBody>
      </p:sp>
      <p:sp>
        <p:nvSpPr>
          <p:cNvPr id="25" name="Text 23"/>
          <p:cNvSpPr txBox="1"/>
          <p:nvPr/>
        </p:nvSpPr>
        <p:spPr>
          <a:xfrm>
            <a:off x="2990088" y="3310128"/>
            <a:ext cx="1783080" cy="274320"/>
          </a:xfrm>
          <a:prstGeom prst="rect">
            <a:avLst/>
          </a:prstGeom>
          <a:noFill/>
          <a:ln/>
        </p:spPr>
        <p:txBody>
          <a:bodyPr wrap="square" lIns="0" tIns="0" rIns="0" bIns="0"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login</a:t>
            </a:r>
            <a:endParaRPr lang="en-US" sz="1000" dirty="0"/>
          </a:p>
        </p:txBody>
      </p:sp>
      <p:sp>
        <p:nvSpPr>
          <p:cNvPr id="26" name="Shape 24"/>
          <p:cNvSpPr/>
          <p:nvPr/>
        </p:nvSpPr>
        <p:spPr>
          <a:xfrm>
            <a:off x="5065776" y="3017520"/>
            <a:ext cx="2057400" cy="621792"/>
          </a:xfrm>
          <a:prstGeom prst="roundRect">
            <a:avLst>
              <a:gd name="adj" fmla="val 8824"/>
            </a:avLst>
          </a:prstGeom>
          <a:solidFill>
            <a:srgbClr val="10251A"/>
          </a:solidFill>
          <a:ln w="15240">
            <a:solidFill>
              <a:srgbClr val="4ADE80"/>
            </a:solidFill>
            <a:prstDash val="solid"/>
          </a:ln>
        </p:spPr>
      </p:sp>
      <p:sp>
        <p:nvSpPr>
          <p:cNvPr id="27" name="Text 25"/>
          <p:cNvSpPr txBox="1"/>
          <p:nvPr/>
        </p:nvSpPr>
        <p:spPr>
          <a:xfrm>
            <a:off x="5202936" y="3072384"/>
            <a:ext cx="1783080" cy="237744"/>
          </a:xfrm>
          <a:prstGeom prst="rect">
            <a:avLst/>
          </a:prstGeom>
          <a:noFill/>
          <a:ln/>
        </p:spPr>
        <p:txBody>
          <a:bodyPr wrap="square" lIns="0" tIns="0" rIns="0" bIns="0" rtlCol="0" anchor="ctr"/>
          <a:lstStyle/>
          <a:p>
            <a:pPr indent="0" marL="0">
              <a:buNone/>
            </a:pPr>
            <a:r>
              <a:rPr lang="en-US" sz="900" b="1" spc="150" kern="0" dirty="0">
                <a:solidFill>
                  <a:srgbClr val="4ADE80"/>
                </a:solidFill>
                <a:latin typeface="Calibri" pitchFamily="34" charset="0"/>
                <a:ea typeface="Calibri" pitchFamily="34" charset="-122"/>
                <a:cs typeface="Calibri" pitchFamily="34" charset="-120"/>
              </a:rPr>
              <a:t>CACHED</a:t>
            </a:r>
            <a:endParaRPr lang="en-US" sz="900" dirty="0"/>
          </a:p>
        </p:txBody>
      </p:sp>
      <p:sp>
        <p:nvSpPr>
          <p:cNvPr id="28" name="Text 26"/>
          <p:cNvSpPr txBox="1"/>
          <p:nvPr/>
        </p:nvSpPr>
        <p:spPr>
          <a:xfrm>
            <a:off x="5202936" y="3310128"/>
            <a:ext cx="1783080" cy="274320"/>
          </a:xfrm>
          <a:prstGeom prst="rect">
            <a:avLst/>
          </a:prstGeom>
          <a:noFill/>
          <a:ln/>
        </p:spPr>
        <p:txBody>
          <a:bodyPr wrap="square" lIns="0" tIns="0" rIns="0" bIns="0"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checkout-validation</a:t>
            </a:r>
            <a:endParaRPr lang="en-US" sz="1000" dirty="0"/>
          </a:p>
        </p:txBody>
      </p:sp>
      <p:sp>
        <p:nvSpPr>
          <p:cNvPr id="29" name="Shape 27"/>
          <p:cNvSpPr/>
          <p:nvPr/>
        </p:nvSpPr>
        <p:spPr>
          <a:xfrm>
            <a:off x="7278624" y="3017520"/>
            <a:ext cx="2057400" cy="621792"/>
          </a:xfrm>
          <a:prstGeom prst="roundRect">
            <a:avLst>
              <a:gd name="adj" fmla="val 8824"/>
            </a:avLst>
          </a:prstGeom>
          <a:solidFill>
            <a:srgbClr val="2A1116"/>
          </a:solidFill>
          <a:ln w="15240">
            <a:solidFill>
              <a:srgbClr val="FB7185"/>
            </a:solidFill>
            <a:prstDash val="solid"/>
          </a:ln>
        </p:spPr>
      </p:sp>
      <p:sp>
        <p:nvSpPr>
          <p:cNvPr id="30" name="Text 28"/>
          <p:cNvSpPr txBox="1"/>
          <p:nvPr/>
        </p:nvSpPr>
        <p:spPr>
          <a:xfrm>
            <a:off x="7415784" y="3072384"/>
            <a:ext cx="1783080" cy="237744"/>
          </a:xfrm>
          <a:prstGeom prst="rect">
            <a:avLst/>
          </a:prstGeom>
          <a:noFill/>
          <a:ln/>
        </p:spPr>
        <p:txBody>
          <a:bodyPr wrap="square" lIns="0" tIns="0" rIns="0" bIns="0" rtlCol="0" anchor="ctr"/>
          <a:lstStyle/>
          <a:p>
            <a:pPr indent="0" marL="0">
              <a:buNone/>
            </a:pPr>
            <a:r>
              <a:rPr lang="en-US" sz="900" b="1" spc="150" kern="0" dirty="0">
                <a:solidFill>
                  <a:srgbClr val="FB7185"/>
                </a:solidFill>
                <a:latin typeface="Calibri" pitchFamily="34" charset="0"/>
                <a:ea typeface="Calibri" pitchFamily="34" charset="-122"/>
                <a:cs typeface="Calibri" pitchFamily="34" charset="-120"/>
              </a:rPr>
              <a:t>RE-RAN</a:t>
            </a:r>
            <a:endParaRPr lang="en-US" sz="900" dirty="0"/>
          </a:p>
        </p:txBody>
      </p:sp>
      <p:sp>
        <p:nvSpPr>
          <p:cNvPr id="31" name="Text 29"/>
          <p:cNvSpPr txBox="1"/>
          <p:nvPr/>
        </p:nvSpPr>
        <p:spPr>
          <a:xfrm>
            <a:off x="7415784" y="3310128"/>
            <a:ext cx="1783080" cy="274320"/>
          </a:xfrm>
          <a:prstGeom prst="rect">
            <a:avLst/>
          </a:prstGeom>
          <a:noFill/>
          <a:ln/>
        </p:spPr>
        <p:txBody>
          <a:bodyPr wrap="square" lIns="0" tIns="0" rIns="0" bIns="0"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checkout-happy-path</a:t>
            </a:r>
            <a:endParaRPr lang="en-US" sz="1000" dirty="0"/>
          </a:p>
        </p:txBody>
      </p:sp>
      <p:sp>
        <p:nvSpPr>
          <p:cNvPr id="32" name="Shape 30"/>
          <p:cNvSpPr/>
          <p:nvPr/>
        </p:nvSpPr>
        <p:spPr>
          <a:xfrm>
            <a:off x="9491472" y="3017520"/>
            <a:ext cx="2057400" cy="621792"/>
          </a:xfrm>
          <a:prstGeom prst="roundRect">
            <a:avLst>
              <a:gd name="adj" fmla="val 8824"/>
            </a:avLst>
          </a:prstGeom>
          <a:solidFill>
            <a:srgbClr val="10251A"/>
          </a:solidFill>
          <a:ln w="15240">
            <a:solidFill>
              <a:srgbClr val="4ADE80"/>
            </a:solidFill>
            <a:prstDash val="solid"/>
          </a:ln>
        </p:spPr>
      </p:sp>
      <p:sp>
        <p:nvSpPr>
          <p:cNvPr id="33" name="Text 31"/>
          <p:cNvSpPr txBox="1"/>
          <p:nvPr/>
        </p:nvSpPr>
        <p:spPr>
          <a:xfrm>
            <a:off x="9628632" y="3072384"/>
            <a:ext cx="1783080" cy="237744"/>
          </a:xfrm>
          <a:prstGeom prst="rect">
            <a:avLst/>
          </a:prstGeom>
          <a:noFill/>
          <a:ln/>
        </p:spPr>
        <p:txBody>
          <a:bodyPr wrap="square" lIns="0" tIns="0" rIns="0" bIns="0" rtlCol="0" anchor="ctr"/>
          <a:lstStyle/>
          <a:p>
            <a:pPr indent="0" marL="0">
              <a:buNone/>
            </a:pPr>
            <a:r>
              <a:rPr lang="en-US" sz="900" b="1" spc="150" kern="0" dirty="0">
                <a:solidFill>
                  <a:srgbClr val="4ADE80"/>
                </a:solidFill>
                <a:latin typeface="Calibri" pitchFamily="34" charset="0"/>
                <a:ea typeface="Calibri" pitchFamily="34" charset="-122"/>
                <a:cs typeface="Calibri" pitchFamily="34" charset="-120"/>
              </a:rPr>
              <a:t>CACHED</a:t>
            </a:r>
            <a:endParaRPr lang="en-US" sz="900" dirty="0"/>
          </a:p>
        </p:txBody>
      </p:sp>
      <p:sp>
        <p:nvSpPr>
          <p:cNvPr id="34" name="Text 32"/>
          <p:cNvSpPr txBox="1"/>
          <p:nvPr/>
        </p:nvSpPr>
        <p:spPr>
          <a:xfrm>
            <a:off x="9628632" y="3310128"/>
            <a:ext cx="1783080" cy="274320"/>
          </a:xfrm>
          <a:prstGeom prst="rect">
            <a:avLst/>
          </a:prstGeom>
          <a:noFill/>
          <a:ln/>
        </p:spPr>
        <p:txBody>
          <a:bodyPr wrap="square" lIns="0" tIns="0" rIns="0" bIns="0"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orders</a:t>
            </a:r>
            <a:endParaRPr lang="en-US" sz="1000" dirty="0"/>
          </a:p>
        </p:txBody>
      </p:sp>
      <p:sp>
        <p:nvSpPr>
          <p:cNvPr id="35" name="Text 33"/>
          <p:cNvSpPr txBox="1"/>
          <p:nvPr/>
        </p:nvSpPr>
        <p:spPr>
          <a:xfrm>
            <a:off x="640080" y="3977640"/>
            <a:ext cx="10881360" cy="548640"/>
          </a:xfrm>
          <a:prstGeom prst="rect">
            <a:avLst/>
          </a:prstGeom>
          <a:noFill/>
          <a:ln/>
        </p:spPr>
        <p:txBody>
          <a:bodyPr wrap="square" lIns="0" tIns="0" rIns="0" bIns="0" rtlCol="0" anchor="ctr"/>
          <a:lstStyle/>
          <a:p>
            <a:pPr indent="0" marL="0">
              <a:buNone/>
            </a:pPr>
            <a:r>
              <a:rPr lang="en-US" sz="1500" dirty="0">
                <a:solidFill>
                  <a:srgbClr val="C3CAD6"/>
                </a:solidFill>
                <a:latin typeface="Calibri" pitchFamily="34" charset="0"/>
                <a:ea typeface="Calibri" pitchFamily="34" charset="-122"/>
                <a:cs typeface="Calibri" pitchFamily="34" charset="-120"/>
              </a:rPr>
              <a:t>No test-name bookkeeping. No --only-failures flag. No plugin. A cache that stores successes gives you failure-only retries for free — locally and on CI.</a:t>
            </a:r>
            <a:endParaRPr lang="en-US" sz="1500" dirty="0"/>
          </a:p>
        </p:txBody>
      </p:sp>
      <p:sp>
        <p:nvSpPr>
          <p:cNvPr id="36" name="Shape 34"/>
          <p:cNvSpPr/>
          <p:nvPr/>
        </p:nvSpPr>
        <p:spPr>
          <a:xfrm>
            <a:off x="640080" y="4709160"/>
            <a:ext cx="3429000" cy="1463040"/>
          </a:xfrm>
          <a:prstGeom prst="roundRect">
            <a:avLst>
              <a:gd name="adj" fmla="val 4375"/>
            </a:avLst>
          </a:prstGeom>
          <a:solidFill>
            <a:srgbClr val="1B2029"/>
          </a:solidFill>
          <a:ln w="12700">
            <a:solidFill>
              <a:srgbClr val="2C3340"/>
            </a:solidFill>
            <a:prstDash val="solid"/>
          </a:ln>
        </p:spPr>
      </p:sp>
      <p:sp>
        <p:nvSpPr>
          <p:cNvPr id="37" name="Text 35"/>
          <p:cNvSpPr txBox="1"/>
          <p:nvPr/>
        </p:nvSpPr>
        <p:spPr>
          <a:xfrm>
            <a:off x="841248" y="4892040"/>
            <a:ext cx="3026664" cy="685800"/>
          </a:xfrm>
          <a:prstGeom prst="rect">
            <a:avLst/>
          </a:prstGeom>
          <a:noFill/>
          <a:ln/>
        </p:spPr>
        <p:txBody>
          <a:bodyPr wrap="square" lIns="0" tIns="0" rIns="0" bIns="0" rtlCol="0" anchor="ctr"/>
          <a:lstStyle/>
          <a:p>
            <a:pPr indent="0" marL="0">
              <a:buNone/>
            </a:pPr>
            <a:r>
              <a:rPr lang="en-US" sz="4000" b="1" dirty="0">
                <a:solidFill>
                  <a:srgbClr val="F5A524"/>
                </a:solidFill>
                <a:latin typeface="Cambria" pitchFamily="34" charset="0"/>
                <a:ea typeface="Cambria" pitchFamily="34" charset="-122"/>
                <a:cs typeface="Cambria" pitchFamily="34" charset="-120"/>
              </a:rPr>
              <a:t>37s</a:t>
            </a:r>
            <a:endParaRPr lang="en-US" sz="4000" dirty="0"/>
          </a:p>
        </p:txBody>
      </p:sp>
      <p:sp>
        <p:nvSpPr>
          <p:cNvPr id="38" name="Text 36"/>
          <p:cNvSpPr txBox="1"/>
          <p:nvPr/>
        </p:nvSpPr>
        <p:spPr>
          <a:xfrm>
            <a:off x="841248" y="5605272"/>
            <a:ext cx="3026664" cy="320040"/>
          </a:xfrm>
          <a:prstGeom prst="rect">
            <a:avLst/>
          </a:prstGeom>
          <a:noFill/>
          <a:ln/>
        </p:spPr>
        <p:txBody>
          <a:bodyPr wrap="square" lIns="0" tIns="0" rIns="0" bIns="0" rtlCol="0" anchor="ctr"/>
          <a:lstStyle/>
          <a:p>
            <a:pPr indent="0" marL="0">
              <a:buNone/>
            </a:pPr>
            <a:r>
              <a:rPr lang="en-US" sz="1300" dirty="0">
                <a:solidFill>
                  <a:srgbClr val="C3CAD6"/>
                </a:solidFill>
                <a:latin typeface="Calibri" pitchFamily="34" charset="0"/>
                <a:ea typeface="Calibri" pitchFamily="34" charset="-122"/>
                <a:cs typeface="Calibri" pitchFamily="34" charset="-120"/>
              </a:rPr>
              <a:t>First run, 2 specs fail</a:t>
            </a:r>
            <a:endParaRPr lang="en-US" sz="1300" dirty="0"/>
          </a:p>
        </p:txBody>
      </p:sp>
      <p:sp>
        <p:nvSpPr>
          <p:cNvPr id="39" name="Shape 37"/>
          <p:cNvSpPr/>
          <p:nvPr/>
        </p:nvSpPr>
        <p:spPr>
          <a:xfrm>
            <a:off x="4343400" y="4709160"/>
            <a:ext cx="3429000" cy="1463040"/>
          </a:xfrm>
          <a:prstGeom prst="roundRect">
            <a:avLst>
              <a:gd name="adj" fmla="val 4375"/>
            </a:avLst>
          </a:prstGeom>
          <a:solidFill>
            <a:srgbClr val="1B2029"/>
          </a:solidFill>
          <a:ln w="12700">
            <a:solidFill>
              <a:srgbClr val="2C3340"/>
            </a:solidFill>
            <a:prstDash val="solid"/>
          </a:ln>
        </p:spPr>
      </p:sp>
      <p:sp>
        <p:nvSpPr>
          <p:cNvPr id="40" name="Text 38"/>
          <p:cNvSpPr txBox="1"/>
          <p:nvPr/>
        </p:nvSpPr>
        <p:spPr>
          <a:xfrm>
            <a:off x="4544568" y="4892040"/>
            <a:ext cx="3026664" cy="685800"/>
          </a:xfrm>
          <a:prstGeom prst="rect">
            <a:avLst/>
          </a:prstGeom>
          <a:noFill/>
          <a:ln/>
        </p:spPr>
        <p:txBody>
          <a:bodyPr wrap="square" lIns="0" tIns="0" rIns="0" bIns="0" rtlCol="0" anchor="ctr"/>
          <a:lstStyle/>
          <a:p>
            <a:pPr indent="0" marL="0">
              <a:buNone/>
            </a:pPr>
            <a:r>
              <a:rPr lang="en-US" sz="4000" b="1" dirty="0">
                <a:solidFill>
                  <a:srgbClr val="4ADE80"/>
                </a:solidFill>
                <a:latin typeface="Cambria" pitchFamily="34" charset="0"/>
                <a:ea typeface="Cambria" pitchFamily="34" charset="-122"/>
                <a:cs typeface="Cambria" pitchFamily="34" charset="-120"/>
              </a:rPr>
              <a:t>28s</a:t>
            </a:r>
            <a:endParaRPr lang="en-US" sz="4000" dirty="0"/>
          </a:p>
        </p:txBody>
      </p:sp>
      <p:sp>
        <p:nvSpPr>
          <p:cNvPr id="41" name="Text 39"/>
          <p:cNvSpPr txBox="1"/>
          <p:nvPr/>
        </p:nvSpPr>
        <p:spPr>
          <a:xfrm>
            <a:off x="4544568" y="5605272"/>
            <a:ext cx="3026664" cy="320040"/>
          </a:xfrm>
          <a:prstGeom prst="rect">
            <a:avLst/>
          </a:prstGeom>
          <a:noFill/>
          <a:ln/>
        </p:spPr>
        <p:txBody>
          <a:bodyPr wrap="square" lIns="0" tIns="0" rIns="0" bIns="0" rtlCol="0" anchor="ctr"/>
          <a:lstStyle/>
          <a:p>
            <a:pPr indent="0" marL="0">
              <a:buNone/>
            </a:pPr>
            <a:r>
              <a:rPr lang="en-US" sz="1300" dirty="0">
                <a:solidFill>
                  <a:srgbClr val="C3CAD6"/>
                </a:solidFill>
                <a:latin typeface="Calibri" pitchFamily="34" charset="0"/>
                <a:ea typeface="Calibri" pitchFamily="34" charset="-122"/>
                <a:cs typeface="Calibri" pitchFamily="34" charset="-120"/>
              </a:rPr>
              <a:t>Retry: 9 of 10 replayed</a:t>
            </a:r>
            <a:endParaRPr lang="en-US" sz="1300" dirty="0"/>
          </a:p>
        </p:txBody>
      </p:sp>
      <p:sp>
        <p:nvSpPr>
          <p:cNvPr id="42" name="Shape 40"/>
          <p:cNvSpPr/>
          <p:nvPr/>
        </p:nvSpPr>
        <p:spPr>
          <a:xfrm>
            <a:off x="8046720" y="4709160"/>
            <a:ext cx="3429000" cy="1463040"/>
          </a:xfrm>
          <a:prstGeom prst="roundRect">
            <a:avLst>
              <a:gd name="adj" fmla="val 4375"/>
            </a:avLst>
          </a:prstGeom>
          <a:solidFill>
            <a:srgbClr val="1B2029"/>
          </a:solidFill>
          <a:ln w="12700">
            <a:solidFill>
              <a:srgbClr val="2C3340"/>
            </a:solidFill>
            <a:prstDash val="solid"/>
          </a:ln>
        </p:spPr>
      </p:sp>
      <p:sp>
        <p:nvSpPr>
          <p:cNvPr id="43" name="Text 41"/>
          <p:cNvSpPr txBox="1"/>
          <p:nvPr/>
        </p:nvSpPr>
        <p:spPr>
          <a:xfrm>
            <a:off x="8247888" y="4892040"/>
            <a:ext cx="3026664" cy="685800"/>
          </a:xfrm>
          <a:prstGeom prst="rect">
            <a:avLst/>
          </a:prstGeom>
          <a:noFill/>
          <a:ln/>
        </p:spPr>
        <p:txBody>
          <a:bodyPr wrap="square" lIns="0" tIns="0" rIns="0" bIns="0" rtlCol="0" anchor="ctr"/>
          <a:lstStyle/>
          <a:p>
            <a:pPr indent="0" marL="0">
              <a:buNone/>
            </a:pPr>
            <a:r>
              <a:rPr lang="en-US" sz="4000" b="1" dirty="0">
                <a:solidFill>
                  <a:srgbClr val="FB7185"/>
                </a:solidFill>
                <a:latin typeface="Cambria" pitchFamily="34" charset="0"/>
                <a:ea typeface="Cambria" pitchFamily="34" charset="-122"/>
                <a:cs typeface="Cambria" pitchFamily="34" charset="-120"/>
              </a:rPr>
              <a:t>2</a:t>
            </a:r>
            <a:endParaRPr lang="en-US" sz="4000" dirty="0"/>
          </a:p>
        </p:txBody>
      </p:sp>
      <p:sp>
        <p:nvSpPr>
          <p:cNvPr id="44" name="Text 42"/>
          <p:cNvSpPr txBox="1"/>
          <p:nvPr/>
        </p:nvSpPr>
        <p:spPr>
          <a:xfrm>
            <a:off x="8247888" y="5605272"/>
            <a:ext cx="3026664" cy="320040"/>
          </a:xfrm>
          <a:prstGeom prst="rect">
            <a:avLst/>
          </a:prstGeom>
          <a:noFill/>
          <a:ln/>
        </p:spPr>
        <p:txBody>
          <a:bodyPr wrap="square" lIns="0" tIns="0" rIns="0" bIns="0" rtlCol="0" anchor="ctr"/>
          <a:lstStyle/>
          <a:p>
            <a:pPr indent="0" marL="0">
              <a:buNone/>
            </a:pPr>
            <a:r>
              <a:rPr lang="en-US" sz="1300" dirty="0">
                <a:solidFill>
                  <a:srgbClr val="C3CAD6"/>
                </a:solidFill>
                <a:latin typeface="Calibri" pitchFamily="34" charset="0"/>
                <a:ea typeface="Calibri" pitchFamily="34" charset="-122"/>
                <a:cs typeface="Calibri" pitchFamily="34" charset="-120"/>
              </a:rPr>
              <a:t>Specs that actually ran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0B7A44"/>
                </a:solidFill>
                <a:latin typeface="Calibri" pitchFamily="34" charset="0"/>
                <a:ea typeface="Calibri" pitchFamily="34" charset="-122"/>
                <a:cs typeface="Calibri" pitchFamily="34" charset="-120"/>
              </a:rPr>
              <a:t>SECTION 05 · THE BIT THAT SURPRISES PEOPLE</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10131A"/>
                </a:solidFill>
                <a:latin typeface="Cambria" pitchFamily="34" charset="0"/>
                <a:ea typeface="Cambria" pitchFamily="34" charset="-122"/>
                <a:cs typeface="Cambria" pitchFamily="34" charset="-120"/>
              </a:rPr>
              <a:t>The cache is content-addressed</a:t>
            </a:r>
            <a:endParaRPr lang="en-US" sz="3800" dirty="0"/>
          </a:p>
        </p:txBody>
      </p:sp>
      <p:sp>
        <p:nvSpPr>
          <p:cNvPr id="4" name="Shape 2"/>
          <p:cNvSpPr/>
          <p:nvPr/>
        </p:nvSpPr>
        <p:spPr>
          <a:xfrm>
            <a:off x="640080" y="2011680"/>
            <a:ext cx="3429000" cy="2148840"/>
          </a:xfrm>
          <a:prstGeom prst="roundRect">
            <a:avLst>
              <a:gd name="adj" fmla="val 2979"/>
            </a:avLst>
          </a:prstGeom>
          <a:solidFill>
            <a:srgbClr val="FFFFFF"/>
          </a:solidFill>
          <a:ln w="12700">
            <a:solidFill>
              <a:srgbClr val="DFE4EC"/>
            </a:solidFill>
            <a:prstDash val="solid"/>
          </a:ln>
        </p:spPr>
      </p:sp>
      <p:sp>
        <p:nvSpPr>
          <p:cNvPr id="5" name="Text 3"/>
          <p:cNvSpPr txBox="1"/>
          <p:nvPr/>
        </p:nvSpPr>
        <p:spPr>
          <a:xfrm>
            <a:off x="868680" y="2194560"/>
            <a:ext cx="457200" cy="365760"/>
          </a:xfrm>
          <a:prstGeom prst="rect">
            <a:avLst/>
          </a:prstGeom>
          <a:noFill/>
          <a:ln/>
        </p:spPr>
        <p:txBody>
          <a:bodyPr wrap="square" lIns="0" tIns="0" rIns="0" bIns="0" rtlCol="0" anchor="ctr"/>
          <a:lstStyle/>
          <a:p>
            <a:pPr indent="0" marL="0">
              <a:buNone/>
            </a:pPr>
            <a:r>
              <a:rPr lang="en-US" sz="1800" b="1" dirty="0">
                <a:solidFill>
                  <a:srgbClr val="0B7A44"/>
                </a:solidFill>
                <a:latin typeface="Courier New" pitchFamily="34" charset="0"/>
                <a:ea typeface="Courier New" pitchFamily="34" charset="-122"/>
                <a:cs typeface="Courier New" pitchFamily="34" charset="-120"/>
              </a:rPr>
              <a:t>1</a:t>
            </a:r>
            <a:endParaRPr lang="en-US" sz="1800" dirty="0"/>
          </a:p>
        </p:txBody>
      </p:sp>
      <p:sp>
        <p:nvSpPr>
          <p:cNvPr id="6" name="Text 4"/>
          <p:cNvSpPr txBox="1"/>
          <p:nvPr/>
        </p:nvSpPr>
        <p:spPr>
          <a:xfrm>
            <a:off x="868680" y="2606040"/>
            <a:ext cx="2971800" cy="365760"/>
          </a:xfrm>
          <a:prstGeom prst="rect">
            <a:avLst/>
          </a:prstGeom>
          <a:noFill/>
          <a:ln/>
        </p:spPr>
        <p:txBody>
          <a:bodyPr wrap="square" lIns="0" tIns="0" rIns="0" bIns="0" rtlCol="0" anchor="ctr"/>
          <a:lstStyle/>
          <a:p>
            <a:pPr indent="0" marL="0">
              <a:buNone/>
            </a:pPr>
            <a:r>
              <a:rPr lang="en-US" sz="1700" b="1" dirty="0">
                <a:solidFill>
                  <a:srgbClr val="10131A"/>
                </a:solidFill>
                <a:latin typeface="Calibri" pitchFamily="34" charset="0"/>
                <a:ea typeface="Calibri" pitchFamily="34" charset="-122"/>
                <a:cs typeface="Calibri" pitchFamily="34" charset="-120"/>
              </a:rPr>
              <a:t>Green suite</a:t>
            </a:r>
            <a:endParaRPr lang="en-US" sz="1700" dirty="0"/>
          </a:p>
        </p:txBody>
      </p:sp>
      <p:sp>
        <p:nvSpPr>
          <p:cNvPr id="7" name="Text 5"/>
          <p:cNvSpPr txBox="1"/>
          <p:nvPr/>
        </p:nvSpPr>
        <p:spPr>
          <a:xfrm>
            <a:off x="868680" y="3017520"/>
            <a:ext cx="2971800" cy="320040"/>
          </a:xfrm>
          <a:prstGeom prst="rect">
            <a:avLst/>
          </a:prstGeom>
          <a:noFill/>
          <a:ln/>
        </p:spPr>
        <p:txBody>
          <a:bodyPr wrap="square" lIns="0" tIns="0" rIns="0" bIns="0" rtlCol="0" anchor="ctr"/>
          <a:lstStyle/>
          <a:p>
            <a:pPr indent="0" marL="0">
              <a:buNone/>
            </a:pPr>
            <a:r>
              <a:rPr lang="en-US" sz="1300" dirty="0">
                <a:solidFill>
                  <a:srgbClr val="55607A"/>
                </a:solidFill>
                <a:latin typeface="Courier New" pitchFamily="34" charset="0"/>
                <a:ea typeface="Courier New" pitchFamily="34" charset="-122"/>
                <a:cs typeface="Courier New" pitchFamily="34" charset="-120"/>
              </a:rPr>
              <a:t>hash A</a:t>
            </a:r>
            <a:endParaRPr lang="en-US" sz="1300" dirty="0"/>
          </a:p>
        </p:txBody>
      </p:sp>
      <p:sp>
        <p:nvSpPr>
          <p:cNvPr id="8" name="Text 6"/>
          <p:cNvSpPr txBox="1"/>
          <p:nvPr/>
        </p:nvSpPr>
        <p:spPr>
          <a:xfrm>
            <a:off x="868680" y="3401568"/>
            <a:ext cx="2971800" cy="548640"/>
          </a:xfrm>
          <a:prstGeom prst="rect">
            <a:avLst/>
          </a:prstGeom>
          <a:noFill/>
          <a:ln/>
        </p:spPr>
        <p:txBody>
          <a:bodyPr wrap="square" lIns="0" tIns="0" rIns="0" bIns="0" rtlCol="0" anchor="ctr"/>
          <a:lstStyle/>
          <a:p>
            <a:pPr indent="0" marL="0">
              <a:buNone/>
            </a:pPr>
            <a:r>
              <a:rPr lang="en-US" sz="1300" b="1" dirty="0">
                <a:solidFill>
                  <a:srgbClr val="0B7A44"/>
                </a:solidFill>
                <a:latin typeface="Calibri" pitchFamily="34" charset="0"/>
                <a:ea typeface="Calibri" pitchFamily="34" charset="-122"/>
                <a:cs typeface="Calibri" pitchFamily="34" charset="-120"/>
              </a:rPr>
              <a:t>cached</a:t>
            </a:r>
            <a:endParaRPr lang="en-US" sz="1300" dirty="0"/>
          </a:p>
        </p:txBody>
      </p:sp>
      <p:sp>
        <p:nvSpPr>
          <p:cNvPr id="9" name="Shape 7"/>
          <p:cNvSpPr/>
          <p:nvPr/>
        </p:nvSpPr>
        <p:spPr>
          <a:xfrm>
            <a:off x="4343400" y="2011680"/>
            <a:ext cx="3429000" cy="2148840"/>
          </a:xfrm>
          <a:prstGeom prst="roundRect">
            <a:avLst>
              <a:gd name="adj" fmla="val 2979"/>
            </a:avLst>
          </a:prstGeom>
          <a:solidFill>
            <a:srgbClr val="FFFFFF"/>
          </a:solidFill>
          <a:ln w="12700">
            <a:solidFill>
              <a:srgbClr val="DFE4EC"/>
            </a:solidFill>
            <a:prstDash val="solid"/>
          </a:ln>
        </p:spPr>
      </p:sp>
      <p:sp>
        <p:nvSpPr>
          <p:cNvPr id="10" name="Text 8"/>
          <p:cNvSpPr txBox="1"/>
          <p:nvPr/>
        </p:nvSpPr>
        <p:spPr>
          <a:xfrm>
            <a:off x="4572000" y="2194560"/>
            <a:ext cx="457200" cy="365760"/>
          </a:xfrm>
          <a:prstGeom prst="rect">
            <a:avLst/>
          </a:prstGeom>
          <a:noFill/>
          <a:ln/>
        </p:spPr>
        <p:txBody>
          <a:bodyPr wrap="square" lIns="0" tIns="0" rIns="0" bIns="0" rtlCol="0" anchor="ctr"/>
          <a:lstStyle/>
          <a:p>
            <a:pPr indent="0" marL="0">
              <a:buNone/>
            </a:pPr>
            <a:r>
              <a:rPr lang="en-US" sz="1800" b="1" dirty="0">
                <a:solidFill>
                  <a:srgbClr val="FB7185"/>
                </a:solidFill>
                <a:latin typeface="Courier New" pitchFamily="34" charset="0"/>
                <a:ea typeface="Courier New" pitchFamily="34" charset="-122"/>
                <a:cs typeface="Courier New" pitchFamily="34" charset="-120"/>
              </a:rPr>
              <a:t>2</a:t>
            </a:r>
            <a:endParaRPr lang="en-US" sz="1800" dirty="0"/>
          </a:p>
        </p:txBody>
      </p:sp>
      <p:sp>
        <p:nvSpPr>
          <p:cNvPr id="11" name="Text 9"/>
          <p:cNvSpPr txBox="1"/>
          <p:nvPr/>
        </p:nvSpPr>
        <p:spPr>
          <a:xfrm>
            <a:off x="4572000" y="2606040"/>
            <a:ext cx="2971800" cy="365760"/>
          </a:xfrm>
          <a:prstGeom prst="rect">
            <a:avLst/>
          </a:prstGeom>
          <a:noFill/>
          <a:ln/>
        </p:spPr>
        <p:txBody>
          <a:bodyPr wrap="square" lIns="0" tIns="0" rIns="0" bIns="0" rtlCol="0" anchor="ctr"/>
          <a:lstStyle/>
          <a:p>
            <a:pPr indent="0" marL="0">
              <a:buNone/>
            </a:pPr>
            <a:r>
              <a:rPr lang="en-US" sz="1700" b="1" dirty="0">
                <a:solidFill>
                  <a:srgbClr val="10131A"/>
                </a:solidFill>
                <a:latin typeface="Calibri" pitchFamily="34" charset="0"/>
                <a:ea typeface="Calibri" pitchFamily="34" charset="-122"/>
                <a:cs typeface="Calibri" pitchFamily="34" charset="-120"/>
              </a:rPr>
              <a:t>Seed the bug</a:t>
            </a:r>
            <a:endParaRPr lang="en-US" sz="1700" dirty="0"/>
          </a:p>
        </p:txBody>
      </p:sp>
      <p:sp>
        <p:nvSpPr>
          <p:cNvPr id="12" name="Text 10"/>
          <p:cNvSpPr txBox="1"/>
          <p:nvPr/>
        </p:nvSpPr>
        <p:spPr>
          <a:xfrm>
            <a:off x="4572000" y="3017520"/>
            <a:ext cx="2971800" cy="320040"/>
          </a:xfrm>
          <a:prstGeom prst="rect">
            <a:avLst/>
          </a:prstGeom>
          <a:noFill/>
          <a:ln/>
        </p:spPr>
        <p:txBody>
          <a:bodyPr wrap="square" lIns="0" tIns="0" rIns="0" bIns="0" rtlCol="0" anchor="ctr"/>
          <a:lstStyle/>
          <a:p>
            <a:pPr indent="0" marL="0">
              <a:buNone/>
            </a:pPr>
            <a:r>
              <a:rPr lang="en-US" sz="1300" dirty="0">
                <a:solidFill>
                  <a:srgbClr val="55607A"/>
                </a:solidFill>
                <a:latin typeface="Courier New" pitchFamily="34" charset="0"/>
                <a:ea typeface="Courier New" pitchFamily="34" charset="-122"/>
                <a:cs typeface="Courier New" pitchFamily="34" charset="-120"/>
              </a:rPr>
              <a:t>hash B</a:t>
            </a:r>
            <a:endParaRPr lang="en-US" sz="1300" dirty="0"/>
          </a:p>
        </p:txBody>
      </p:sp>
      <p:sp>
        <p:nvSpPr>
          <p:cNvPr id="13" name="Text 11"/>
          <p:cNvSpPr txBox="1"/>
          <p:nvPr/>
        </p:nvSpPr>
        <p:spPr>
          <a:xfrm>
            <a:off x="4572000" y="3401568"/>
            <a:ext cx="2971800" cy="548640"/>
          </a:xfrm>
          <a:prstGeom prst="rect">
            <a:avLst/>
          </a:prstGeom>
          <a:noFill/>
          <a:ln/>
        </p:spPr>
        <p:txBody>
          <a:bodyPr wrap="square" lIns="0" tIns="0" rIns="0" bIns="0" rtlCol="0" anchor="ctr"/>
          <a:lstStyle/>
          <a:p>
            <a:pPr indent="0" marL="0">
              <a:buNone/>
            </a:pPr>
            <a:r>
              <a:rPr lang="en-US" sz="1300" b="1" dirty="0">
                <a:solidFill>
                  <a:srgbClr val="FB7185"/>
                </a:solidFill>
                <a:latin typeface="Calibri" pitchFamily="34" charset="0"/>
                <a:ea typeface="Calibri" pitchFamily="34" charset="-122"/>
                <a:cs typeface="Calibri" pitchFamily="34" charset="-120"/>
              </a:rPr>
              <a:t>2 fail, 8 cached at B</a:t>
            </a:r>
            <a:endParaRPr lang="en-US" sz="1300" dirty="0"/>
          </a:p>
        </p:txBody>
      </p:sp>
      <p:sp>
        <p:nvSpPr>
          <p:cNvPr id="14" name="Shape 12"/>
          <p:cNvSpPr/>
          <p:nvPr/>
        </p:nvSpPr>
        <p:spPr>
          <a:xfrm>
            <a:off x="8046720" y="2011680"/>
            <a:ext cx="3429000" cy="2148840"/>
          </a:xfrm>
          <a:prstGeom prst="roundRect">
            <a:avLst>
              <a:gd name="adj" fmla="val 2979"/>
            </a:avLst>
          </a:prstGeom>
          <a:solidFill>
            <a:srgbClr val="FFFFFF"/>
          </a:solidFill>
          <a:ln w="12700">
            <a:solidFill>
              <a:srgbClr val="DFE4EC"/>
            </a:solidFill>
            <a:prstDash val="solid"/>
          </a:ln>
        </p:spPr>
      </p:sp>
      <p:sp>
        <p:nvSpPr>
          <p:cNvPr id="15" name="Text 13"/>
          <p:cNvSpPr txBox="1"/>
          <p:nvPr/>
        </p:nvSpPr>
        <p:spPr>
          <a:xfrm>
            <a:off x="8275320" y="2194560"/>
            <a:ext cx="457200" cy="365760"/>
          </a:xfrm>
          <a:prstGeom prst="rect">
            <a:avLst/>
          </a:prstGeom>
          <a:noFill/>
          <a:ln/>
        </p:spPr>
        <p:txBody>
          <a:bodyPr wrap="square" lIns="0" tIns="0" rIns="0" bIns="0" rtlCol="0" anchor="ctr"/>
          <a:lstStyle/>
          <a:p>
            <a:pPr indent="0" marL="0">
              <a:buNone/>
            </a:pPr>
            <a:r>
              <a:rPr lang="en-US" sz="1800" b="1" dirty="0">
                <a:solidFill>
                  <a:srgbClr val="0B7A44"/>
                </a:solidFill>
                <a:latin typeface="Courier New" pitchFamily="34" charset="0"/>
                <a:ea typeface="Courier New" pitchFamily="34" charset="-122"/>
                <a:cs typeface="Courier New" pitchFamily="34" charset="-120"/>
              </a:rPr>
              <a:t>3</a:t>
            </a:r>
            <a:endParaRPr lang="en-US" sz="1800" dirty="0"/>
          </a:p>
        </p:txBody>
      </p:sp>
      <p:sp>
        <p:nvSpPr>
          <p:cNvPr id="16" name="Text 14"/>
          <p:cNvSpPr txBox="1"/>
          <p:nvPr/>
        </p:nvSpPr>
        <p:spPr>
          <a:xfrm>
            <a:off x="8275320" y="2606040"/>
            <a:ext cx="2971800" cy="365760"/>
          </a:xfrm>
          <a:prstGeom prst="rect">
            <a:avLst/>
          </a:prstGeom>
          <a:noFill/>
          <a:ln/>
        </p:spPr>
        <p:txBody>
          <a:bodyPr wrap="square" lIns="0" tIns="0" rIns="0" bIns="0" rtlCol="0" anchor="ctr"/>
          <a:lstStyle/>
          <a:p>
            <a:pPr indent="0" marL="0">
              <a:buNone/>
            </a:pPr>
            <a:r>
              <a:rPr lang="en-US" sz="1700" b="1" dirty="0">
                <a:solidFill>
                  <a:srgbClr val="10131A"/>
                </a:solidFill>
                <a:latin typeface="Calibri" pitchFamily="34" charset="0"/>
                <a:ea typeface="Calibri" pitchFamily="34" charset="-122"/>
                <a:cs typeface="Calibri" pitchFamily="34" charset="-120"/>
              </a:rPr>
              <a:t>Revert the bug</a:t>
            </a:r>
            <a:endParaRPr lang="en-US" sz="1700" dirty="0"/>
          </a:p>
        </p:txBody>
      </p:sp>
      <p:sp>
        <p:nvSpPr>
          <p:cNvPr id="17" name="Text 15"/>
          <p:cNvSpPr txBox="1"/>
          <p:nvPr/>
        </p:nvSpPr>
        <p:spPr>
          <a:xfrm>
            <a:off x="8275320" y="3017520"/>
            <a:ext cx="2971800" cy="320040"/>
          </a:xfrm>
          <a:prstGeom prst="rect">
            <a:avLst/>
          </a:prstGeom>
          <a:noFill/>
          <a:ln/>
        </p:spPr>
        <p:txBody>
          <a:bodyPr wrap="square" lIns="0" tIns="0" rIns="0" bIns="0" rtlCol="0" anchor="ctr"/>
          <a:lstStyle/>
          <a:p>
            <a:pPr indent="0" marL="0">
              <a:buNone/>
            </a:pPr>
            <a:r>
              <a:rPr lang="en-US" sz="1300" dirty="0">
                <a:solidFill>
                  <a:srgbClr val="55607A"/>
                </a:solidFill>
                <a:latin typeface="Courier New" pitchFamily="34" charset="0"/>
                <a:ea typeface="Courier New" pitchFamily="34" charset="-122"/>
                <a:cs typeface="Courier New" pitchFamily="34" charset="-120"/>
              </a:rPr>
              <a:t>hash A again</a:t>
            </a:r>
            <a:endParaRPr lang="en-US" sz="1300" dirty="0"/>
          </a:p>
        </p:txBody>
      </p:sp>
      <p:sp>
        <p:nvSpPr>
          <p:cNvPr id="18" name="Text 16"/>
          <p:cNvSpPr txBox="1"/>
          <p:nvPr/>
        </p:nvSpPr>
        <p:spPr>
          <a:xfrm>
            <a:off x="8275320" y="3401568"/>
            <a:ext cx="2971800" cy="548640"/>
          </a:xfrm>
          <a:prstGeom prst="rect">
            <a:avLst/>
          </a:prstGeom>
          <a:noFill/>
          <a:ln/>
        </p:spPr>
        <p:txBody>
          <a:bodyPr wrap="square" lIns="0" tIns="0" rIns="0" bIns="0" rtlCol="0" anchor="ctr"/>
          <a:lstStyle/>
          <a:p>
            <a:pPr indent="0" marL="0">
              <a:buNone/>
            </a:pPr>
            <a:r>
              <a:rPr lang="en-US" sz="1300" b="1" dirty="0">
                <a:solidFill>
                  <a:srgbClr val="0B7A44"/>
                </a:solidFill>
                <a:latin typeface="Calibri" pitchFamily="34" charset="0"/>
                <a:ea typeface="Calibri" pitchFamily="34" charset="-122"/>
                <a:cs typeface="Calibri" pitchFamily="34" charset="-120"/>
              </a:rPr>
              <a:t>all 10 replay — 226ms</a:t>
            </a:r>
            <a:endParaRPr lang="en-US" sz="1300" dirty="0"/>
          </a:p>
        </p:txBody>
      </p:sp>
      <p:sp>
        <p:nvSpPr>
          <p:cNvPr id="19" name="Text 17"/>
          <p:cNvSpPr txBox="1"/>
          <p:nvPr/>
        </p:nvSpPr>
        <p:spPr>
          <a:xfrm>
            <a:off x="640080" y="4434840"/>
            <a:ext cx="10881360" cy="548640"/>
          </a:xfrm>
          <a:prstGeom prst="rect">
            <a:avLst/>
          </a:prstGeom>
          <a:noFill/>
          <a:ln/>
        </p:spPr>
        <p:txBody>
          <a:bodyPr wrap="square" lIns="0" tIns="0" rIns="0" bIns="0" rtlCol="0" anchor="ctr"/>
          <a:lstStyle/>
          <a:p>
            <a:pPr indent="0" marL="0">
              <a:buNone/>
            </a:pPr>
            <a:r>
              <a:rPr lang="en-US" sz="1500" dirty="0">
                <a:solidFill>
                  <a:srgbClr val="55607A"/>
                </a:solidFill>
                <a:latin typeface="Calibri" pitchFamily="34" charset="0"/>
                <a:ea typeface="Calibri" pitchFamily="34" charset="-122"/>
                <a:cs typeface="Calibri" pitchFamily="34" charset="-120"/>
              </a:rPr>
              <a:t>Undoing a change gives you your old results back. Nothing re-runs, because Nx already knows the answer for that exact input.</a:t>
            </a:r>
            <a:endParaRPr lang="en-US" sz="1500" dirty="0"/>
          </a:p>
        </p:txBody>
      </p:sp>
      <p:sp>
        <p:nvSpPr>
          <p:cNvPr id="20" name="Shape 18"/>
          <p:cNvSpPr/>
          <p:nvPr/>
        </p:nvSpPr>
        <p:spPr>
          <a:xfrm>
            <a:off x="640080" y="5074920"/>
            <a:ext cx="10881360" cy="914400"/>
          </a:xfrm>
          <a:prstGeom prst="roundRect">
            <a:avLst>
              <a:gd name="adj" fmla="val 7000"/>
            </a:avLst>
          </a:prstGeom>
          <a:solidFill>
            <a:srgbClr val="F0F5FF"/>
          </a:solidFill>
          <a:ln w="12700">
            <a:solidFill>
              <a:srgbClr val="9CC0F5"/>
            </a:solidFill>
            <a:prstDash val="solid"/>
          </a:ln>
        </p:spPr>
      </p:sp>
      <p:sp>
        <p:nvSpPr>
          <p:cNvPr id="21" name="Text 19"/>
          <p:cNvSpPr txBox="1"/>
          <p:nvPr/>
        </p:nvSpPr>
        <p:spPr>
          <a:xfrm>
            <a:off x="914400" y="5257800"/>
            <a:ext cx="10332720" cy="594360"/>
          </a:xfrm>
          <a:prstGeom prst="rect">
            <a:avLst/>
          </a:prstGeom>
          <a:noFill/>
          <a:ln/>
        </p:spPr>
        <p:txBody>
          <a:bodyPr wrap="square" lIns="0" tIns="0" rIns="0" bIns="0" rtlCol="0" anchor="ctr"/>
          <a:lstStyle/>
          <a:p>
            <a:pPr indent="0" marL="0">
              <a:buNone/>
            </a:pPr>
            <a:r>
              <a:rPr lang="en-US" sz="1400" dirty="0">
                <a:solidFill>
                  <a:srgbClr val="1D3F73"/>
                </a:solidFill>
                <a:latin typeface="Calibri" pitchFamily="34" charset="0"/>
                <a:ea typeface="Calibri" pitchFamily="34" charset="-122"/>
                <a:cs typeface="Calibri" pitchFamily="34" charset="-120"/>
              </a:rPr>
              <a:t>The flip side: touch libs/ui and both admin and docs invalidate — correctly. But the key is built from inputs, not from the commit, so a change outside the graph costs nothing.</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0B7A44"/>
                </a:solidFill>
                <a:latin typeface="Calibri" pitchFamily="34" charset="0"/>
                <a:ea typeface="Calibri" pitchFamily="34" charset="-122"/>
                <a:cs typeface="Calibri" pitchFamily="34" charset="-120"/>
              </a:rPr>
              <a:t>SECTION 06 · THE NUMBERS</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10131A"/>
                </a:solidFill>
                <a:latin typeface="Cambria" pitchFamily="34" charset="0"/>
                <a:ea typeface="Cambria" pitchFamily="34" charset="-122"/>
                <a:cs typeface="Cambria" pitchFamily="34" charset="-120"/>
              </a:rPr>
              <a:t>Climb only as far as you need</a:t>
            </a:r>
            <a:endParaRPr lang="en-US" sz="3800" dirty="0"/>
          </a:p>
        </p:txBody>
      </p:sp>
      <p:sp>
        <p:nvSpPr>
          <p:cNvPr id="4" name="Text 2"/>
          <p:cNvSpPr txBox="1"/>
          <p:nvPr/>
        </p:nvSpPr>
        <p:spPr>
          <a:xfrm>
            <a:off x="640080" y="1920240"/>
            <a:ext cx="365760" cy="365760"/>
          </a:xfrm>
          <a:prstGeom prst="rect">
            <a:avLst/>
          </a:prstGeom>
          <a:noFill/>
          <a:ln/>
        </p:spPr>
        <p:txBody>
          <a:bodyPr wrap="square" lIns="0" tIns="0" rIns="0" bIns="0" rtlCol="0" anchor="ctr"/>
          <a:lstStyle/>
          <a:p>
            <a:pPr indent="0" marL="0">
              <a:buNone/>
            </a:pPr>
            <a:r>
              <a:rPr lang="en-US" sz="1500" b="1" dirty="0">
                <a:solidFill>
                  <a:srgbClr val="8A94A6"/>
                </a:solidFill>
                <a:latin typeface="Courier New" pitchFamily="34" charset="0"/>
                <a:ea typeface="Courier New" pitchFamily="34" charset="-122"/>
                <a:cs typeface="Courier New" pitchFamily="34" charset="-120"/>
              </a:rPr>
              <a:t>1</a:t>
            </a:r>
            <a:endParaRPr lang="en-US" sz="1500" dirty="0"/>
          </a:p>
        </p:txBody>
      </p:sp>
      <p:sp>
        <p:nvSpPr>
          <p:cNvPr id="5" name="Text 3"/>
          <p:cNvSpPr txBox="1"/>
          <p:nvPr/>
        </p:nvSpPr>
        <p:spPr>
          <a:xfrm>
            <a:off x="1051560" y="1920240"/>
            <a:ext cx="3657600" cy="365760"/>
          </a:xfrm>
          <a:prstGeom prst="rect">
            <a:avLst/>
          </a:prstGeom>
          <a:noFill/>
          <a:ln/>
        </p:spPr>
        <p:txBody>
          <a:bodyPr wrap="square" lIns="0" tIns="0" rIns="0" bIns="0" rtlCol="0" anchor="ctr"/>
          <a:lstStyle/>
          <a:p>
            <a:pPr indent="0" marL="0">
              <a:buNone/>
            </a:pPr>
            <a:r>
              <a:rPr lang="en-US" sz="1300" dirty="0">
                <a:solidFill>
                  <a:srgbClr val="10131A"/>
                </a:solidFill>
                <a:latin typeface="Calibri" pitchFamily="34" charset="0"/>
                <a:ea typeface="Calibri" pitchFamily="34" charset="-122"/>
                <a:cs typeface="Calibri" pitchFamily="34" charset="-120"/>
              </a:rPr>
              <a:t>Un-atomized, one process per app</a:t>
            </a:r>
            <a:endParaRPr lang="en-US" sz="1300" dirty="0"/>
          </a:p>
        </p:txBody>
      </p:sp>
      <p:sp>
        <p:nvSpPr>
          <p:cNvPr id="6" name="Shape 4"/>
          <p:cNvSpPr/>
          <p:nvPr/>
        </p:nvSpPr>
        <p:spPr>
          <a:xfrm>
            <a:off x="4754880" y="1984248"/>
            <a:ext cx="4824805" cy="292608"/>
          </a:xfrm>
          <a:prstGeom prst="roundRect">
            <a:avLst>
              <a:gd name="adj" fmla="val 12500"/>
            </a:avLst>
          </a:prstGeom>
          <a:solidFill>
            <a:srgbClr val="F5A524"/>
          </a:solidFill>
          <a:ln w="12700">
            <a:solidFill>
              <a:srgbClr val="F5A524"/>
            </a:solidFill>
            <a:prstDash val="solid"/>
          </a:ln>
        </p:spPr>
      </p:sp>
      <p:sp>
        <p:nvSpPr>
          <p:cNvPr id="7" name="Text 5"/>
          <p:cNvSpPr txBox="1"/>
          <p:nvPr/>
        </p:nvSpPr>
        <p:spPr>
          <a:xfrm>
            <a:off x="9671125" y="1920240"/>
            <a:ext cx="1371600" cy="365760"/>
          </a:xfrm>
          <a:prstGeom prst="rect">
            <a:avLst/>
          </a:prstGeom>
          <a:noFill/>
          <a:ln/>
        </p:spPr>
        <p:txBody>
          <a:bodyPr wrap="square" lIns="0" tIns="0" rIns="0" bIns="0" rtlCol="0" anchor="ctr"/>
          <a:lstStyle/>
          <a:p>
            <a:pPr indent="0" marL="0">
              <a:buNone/>
            </a:pPr>
            <a:r>
              <a:rPr lang="en-US" sz="1400" b="1" dirty="0">
                <a:solidFill>
                  <a:srgbClr val="10131A"/>
                </a:solidFill>
                <a:latin typeface="Calibri" pitchFamily="34" charset="0"/>
                <a:ea typeface="Calibri" pitchFamily="34" charset="-122"/>
                <a:cs typeface="Calibri" pitchFamily="34" charset="-120"/>
              </a:rPr>
              <a:t>4m 20s</a:t>
            </a:r>
            <a:endParaRPr lang="en-US" sz="1400" dirty="0"/>
          </a:p>
        </p:txBody>
      </p:sp>
      <p:sp>
        <p:nvSpPr>
          <p:cNvPr id="8" name="Text 6"/>
          <p:cNvSpPr txBox="1"/>
          <p:nvPr/>
        </p:nvSpPr>
        <p:spPr>
          <a:xfrm>
            <a:off x="640080" y="2670048"/>
            <a:ext cx="365760" cy="365760"/>
          </a:xfrm>
          <a:prstGeom prst="rect">
            <a:avLst/>
          </a:prstGeom>
          <a:noFill/>
          <a:ln/>
        </p:spPr>
        <p:txBody>
          <a:bodyPr wrap="square" lIns="0" tIns="0" rIns="0" bIns="0" rtlCol="0" anchor="ctr"/>
          <a:lstStyle/>
          <a:p>
            <a:pPr indent="0" marL="0">
              <a:buNone/>
            </a:pPr>
            <a:r>
              <a:rPr lang="en-US" sz="1500" b="1" dirty="0">
                <a:solidFill>
                  <a:srgbClr val="8A94A6"/>
                </a:solidFill>
                <a:latin typeface="Courier New" pitchFamily="34" charset="0"/>
                <a:ea typeface="Courier New" pitchFamily="34" charset="-122"/>
                <a:cs typeface="Courier New" pitchFamily="34" charset="-120"/>
              </a:rPr>
              <a:t>2</a:t>
            </a:r>
            <a:endParaRPr lang="en-US" sz="1500" dirty="0"/>
          </a:p>
        </p:txBody>
      </p:sp>
      <p:sp>
        <p:nvSpPr>
          <p:cNvPr id="9" name="Text 7"/>
          <p:cNvSpPr txBox="1"/>
          <p:nvPr/>
        </p:nvSpPr>
        <p:spPr>
          <a:xfrm>
            <a:off x="1051560" y="2670048"/>
            <a:ext cx="3657600" cy="365760"/>
          </a:xfrm>
          <a:prstGeom prst="rect">
            <a:avLst/>
          </a:prstGeom>
          <a:noFill/>
          <a:ln/>
        </p:spPr>
        <p:txBody>
          <a:bodyPr wrap="square" lIns="0" tIns="0" rIns="0" bIns="0" rtlCol="0" anchor="ctr"/>
          <a:lstStyle/>
          <a:p>
            <a:pPr indent="0" marL="0">
              <a:buNone/>
            </a:pPr>
            <a:r>
              <a:rPr lang="en-US" sz="1300" dirty="0">
                <a:solidFill>
                  <a:srgbClr val="10131A"/>
                </a:solidFill>
                <a:latin typeface="Calibri" pitchFamily="34" charset="0"/>
                <a:ea typeface="Calibri" pitchFamily="34" charset="-122"/>
                <a:cs typeface="Calibri" pitchFamily="34" charset="-120"/>
              </a:rPr>
              <a:t>Atomized, but still serial</a:t>
            </a:r>
            <a:endParaRPr lang="en-US" sz="1300" dirty="0"/>
          </a:p>
        </p:txBody>
      </p:sp>
      <p:sp>
        <p:nvSpPr>
          <p:cNvPr id="10" name="Shape 8"/>
          <p:cNvSpPr/>
          <p:nvPr/>
        </p:nvSpPr>
        <p:spPr>
          <a:xfrm>
            <a:off x="4754880" y="2734056"/>
            <a:ext cx="6309360" cy="292608"/>
          </a:xfrm>
          <a:prstGeom prst="roundRect">
            <a:avLst>
              <a:gd name="adj" fmla="val 12500"/>
            </a:avLst>
          </a:prstGeom>
          <a:solidFill>
            <a:srgbClr val="C2410C"/>
          </a:solidFill>
          <a:ln w="12700">
            <a:solidFill>
              <a:srgbClr val="C2410C"/>
            </a:solidFill>
            <a:prstDash val="solid"/>
          </a:ln>
        </p:spPr>
      </p:sp>
      <p:sp>
        <p:nvSpPr>
          <p:cNvPr id="11" name="Text 9"/>
          <p:cNvSpPr txBox="1"/>
          <p:nvPr/>
        </p:nvSpPr>
        <p:spPr>
          <a:xfrm>
            <a:off x="11155680" y="2670048"/>
            <a:ext cx="1371600" cy="365760"/>
          </a:xfrm>
          <a:prstGeom prst="rect">
            <a:avLst/>
          </a:prstGeom>
          <a:noFill/>
          <a:ln/>
        </p:spPr>
        <p:txBody>
          <a:bodyPr wrap="square" lIns="0" tIns="0" rIns="0" bIns="0" rtlCol="0" anchor="ctr"/>
          <a:lstStyle/>
          <a:p>
            <a:pPr indent="0" marL="0">
              <a:buNone/>
            </a:pPr>
            <a:r>
              <a:rPr lang="en-US" sz="1400" b="1" dirty="0">
                <a:solidFill>
                  <a:srgbClr val="10131A"/>
                </a:solidFill>
                <a:latin typeface="Calibri" pitchFamily="34" charset="0"/>
                <a:ea typeface="Calibri" pitchFamily="34" charset="-122"/>
                <a:cs typeface="Calibri" pitchFamily="34" charset="-120"/>
              </a:rPr>
              <a:t>5m 40s</a:t>
            </a:r>
            <a:endParaRPr lang="en-US" sz="1400" dirty="0"/>
          </a:p>
        </p:txBody>
      </p:sp>
      <p:sp>
        <p:nvSpPr>
          <p:cNvPr id="12" name="Text 10"/>
          <p:cNvSpPr txBox="1"/>
          <p:nvPr/>
        </p:nvSpPr>
        <p:spPr>
          <a:xfrm>
            <a:off x="640080" y="3419856"/>
            <a:ext cx="365760" cy="365760"/>
          </a:xfrm>
          <a:prstGeom prst="rect">
            <a:avLst/>
          </a:prstGeom>
          <a:noFill/>
          <a:ln/>
        </p:spPr>
        <p:txBody>
          <a:bodyPr wrap="square" lIns="0" tIns="0" rIns="0" bIns="0" rtlCol="0" anchor="ctr"/>
          <a:lstStyle/>
          <a:p>
            <a:pPr indent="0" marL="0">
              <a:buNone/>
            </a:pPr>
            <a:r>
              <a:rPr lang="en-US" sz="1500" b="1" dirty="0">
                <a:solidFill>
                  <a:srgbClr val="8A94A6"/>
                </a:solidFill>
                <a:latin typeface="Courier New" pitchFamily="34" charset="0"/>
                <a:ea typeface="Courier New" pitchFamily="34" charset="-122"/>
                <a:cs typeface="Courier New" pitchFamily="34" charset="-120"/>
              </a:rPr>
              <a:t>3</a:t>
            </a:r>
            <a:endParaRPr lang="en-US" sz="1500" dirty="0"/>
          </a:p>
        </p:txBody>
      </p:sp>
      <p:sp>
        <p:nvSpPr>
          <p:cNvPr id="13" name="Text 11"/>
          <p:cNvSpPr txBox="1"/>
          <p:nvPr/>
        </p:nvSpPr>
        <p:spPr>
          <a:xfrm>
            <a:off x="1051560" y="3419856"/>
            <a:ext cx="3657600" cy="365760"/>
          </a:xfrm>
          <a:prstGeom prst="rect">
            <a:avLst/>
          </a:prstGeom>
          <a:noFill/>
          <a:ln/>
        </p:spPr>
        <p:txBody>
          <a:bodyPr wrap="square" lIns="0" tIns="0" rIns="0" bIns="0" rtlCol="0" anchor="ctr"/>
          <a:lstStyle/>
          <a:p>
            <a:pPr indent="0" marL="0">
              <a:buNone/>
            </a:pPr>
            <a:r>
              <a:rPr lang="en-US" sz="1300" dirty="0">
                <a:solidFill>
                  <a:srgbClr val="10131A"/>
                </a:solidFill>
                <a:latin typeface="Calibri" pitchFamily="34" charset="0"/>
                <a:ea typeface="Calibri" pitchFamily="34" charset="-122"/>
                <a:cs typeface="Calibri" pitchFamily="34" charset="-120"/>
              </a:rPr>
              <a:t>Atomized, 5 at a time, one machine</a:t>
            </a:r>
            <a:endParaRPr lang="en-US" sz="1300" dirty="0"/>
          </a:p>
        </p:txBody>
      </p:sp>
      <p:sp>
        <p:nvSpPr>
          <p:cNvPr id="14" name="Shape 12"/>
          <p:cNvSpPr/>
          <p:nvPr/>
        </p:nvSpPr>
        <p:spPr>
          <a:xfrm>
            <a:off x="4754880" y="3483864"/>
            <a:ext cx="2597972" cy="292608"/>
          </a:xfrm>
          <a:prstGeom prst="roundRect">
            <a:avLst>
              <a:gd name="adj" fmla="val 12500"/>
            </a:avLst>
          </a:prstGeom>
          <a:solidFill>
            <a:srgbClr val="0B7A44"/>
          </a:solidFill>
          <a:ln w="12700">
            <a:solidFill>
              <a:srgbClr val="0B7A44"/>
            </a:solidFill>
            <a:prstDash val="solid"/>
          </a:ln>
        </p:spPr>
      </p:sp>
      <p:sp>
        <p:nvSpPr>
          <p:cNvPr id="15" name="Text 13"/>
          <p:cNvSpPr txBox="1"/>
          <p:nvPr/>
        </p:nvSpPr>
        <p:spPr>
          <a:xfrm>
            <a:off x="7444292" y="3419856"/>
            <a:ext cx="1371600" cy="365760"/>
          </a:xfrm>
          <a:prstGeom prst="rect">
            <a:avLst/>
          </a:prstGeom>
          <a:noFill/>
          <a:ln/>
        </p:spPr>
        <p:txBody>
          <a:bodyPr wrap="square" lIns="0" tIns="0" rIns="0" bIns="0" rtlCol="0" anchor="ctr"/>
          <a:lstStyle/>
          <a:p>
            <a:pPr indent="0" marL="0">
              <a:buNone/>
            </a:pPr>
            <a:r>
              <a:rPr lang="en-US" sz="1400" b="1" dirty="0">
                <a:solidFill>
                  <a:srgbClr val="10131A"/>
                </a:solidFill>
                <a:latin typeface="Calibri" pitchFamily="34" charset="0"/>
                <a:ea typeface="Calibri" pitchFamily="34" charset="-122"/>
                <a:cs typeface="Calibri" pitchFamily="34" charset="-120"/>
              </a:rPr>
              <a:t>2m 20s</a:t>
            </a:r>
            <a:endParaRPr lang="en-US" sz="1400" dirty="0"/>
          </a:p>
        </p:txBody>
      </p:sp>
      <p:sp>
        <p:nvSpPr>
          <p:cNvPr id="16" name="Text 14"/>
          <p:cNvSpPr txBox="1"/>
          <p:nvPr/>
        </p:nvSpPr>
        <p:spPr>
          <a:xfrm>
            <a:off x="640080" y="4169664"/>
            <a:ext cx="365760" cy="365760"/>
          </a:xfrm>
          <a:prstGeom prst="rect">
            <a:avLst/>
          </a:prstGeom>
          <a:noFill/>
          <a:ln/>
        </p:spPr>
        <p:txBody>
          <a:bodyPr wrap="square" lIns="0" tIns="0" rIns="0" bIns="0" rtlCol="0" anchor="ctr"/>
          <a:lstStyle/>
          <a:p>
            <a:pPr indent="0" marL="0">
              <a:buNone/>
            </a:pPr>
            <a:r>
              <a:rPr lang="en-US" sz="1500" b="1" dirty="0">
                <a:solidFill>
                  <a:srgbClr val="8A94A6"/>
                </a:solidFill>
                <a:latin typeface="Courier New" pitchFamily="34" charset="0"/>
                <a:ea typeface="Courier New" pitchFamily="34" charset="-122"/>
                <a:cs typeface="Courier New" pitchFamily="34" charset="-120"/>
              </a:rPr>
              <a:t>4</a:t>
            </a:r>
            <a:endParaRPr lang="en-US" sz="1500" dirty="0"/>
          </a:p>
        </p:txBody>
      </p:sp>
      <p:sp>
        <p:nvSpPr>
          <p:cNvPr id="17" name="Text 15"/>
          <p:cNvSpPr txBox="1"/>
          <p:nvPr/>
        </p:nvSpPr>
        <p:spPr>
          <a:xfrm>
            <a:off x="1051560" y="4169664"/>
            <a:ext cx="3657600" cy="365760"/>
          </a:xfrm>
          <a:prstGeom prst="rect">
            <a:avLst/>
          </a:prstGeom>
          <a:noFill/>
          <a:ln/>
        </p:spPr>
        <p:txBody>
          <a:bodyPr wrap="square" lIns="0" tIns="0" rIns="0" bIns="0" rtlCol="0" anchor="ctr"/>
          <a:lstStyle/>
          <a:p>
            <a:pPr indent="0" marL="0">
              <a:buNone/>
            </a:pPr>
            <a:r>
              <a:rPr lang="en-US" sz="1300" dirty="0">
                <a:solidFill>
                  <a:srgbClr val="10131A"/>
                </a:solidFill>
                <a:latin typeface="Calibri" pitchFamily="34" charset="0"/>
                <a:ea typeface="Calibri" pitchFamily="34" charset="-122"/>
                <a:cs typeface="Calibri" pitchFamily="34" charset="-120"/>
              </a:rPr>
              <a:t>One runner per app, 5 at a time each</a:t>
            </a:r>
            <a:endParaRPr lang="en-US" sz="1300" dirty="0"/>
          </a:p>
        </p:txBody>
      </p:sp>
      <p:sp>
        <p:nvSpPr>
          <p:cNvPr id="18" name="Shape 16"/>
          <p:cNvSpPr/>
          <p:nvPr/>
        </p:nvSpPr>
        <p:spPr>
          <a:xfrm>
            <a:off x="4754880" y="4233672"/>
            <a:ext cx="1020632" cy="292608"/>
          </a:xfrm>
          <a:prstGeom prst="roundRect">
            <a:avLst>
              <a:gd name="adj" fmla="val 12500"/>
            </a:avLst>
          </a:prstGeom>
          <a:solidFill>
            <a:srgbClr val="0B7A44"/>
          </a:solidFill>
          <a:ln w="12700">
            <a:solidFill>
              <a:srgbClr val="0B7A44"/>
            </a:solidFill>
            <a:prstDash val="solid"/>
          </a:ln>
        </p:spPr>
      </p:sp>
      <p:sp>
        <p:nvSpPr>
          <p:cNvPr id="19" name="Text 17"/>
          <p:cNvSpPr txBox="1"/>
          <p:nvPr/>
        </p:nvSpPr>
        <p:spPr>
          <a:xfrm>
            <a:off x="5866952" y="4169664"/>
            <a:ext cx="1371600" cy="365760"/>
          </a:xfrm>
          <a:prstGeom prst="rect">
            <a:avLst/>
          </a:prstGeom>
          <a:noFill/>
          <a:ln/>
        </p:spPr>
        <p:txBody>
          <a:bodyPr wrap="square" lIns="0" tIns="0" rIns="0" bIns="0" rtlCol="0" anchor="ctr"/>
          <a:lstStyle/>
          <a:p>
            <a:pPr indent="0" marL="0">
              <a:buNone/>
            </a:pPr>
            <a:r>
              <a:rPr lang="en-US" sz="1400" b="1" dirty="0">
                <a:solidFill>
                  <a:srgbClr val="10131A"/>
                </a:solidFill>
                <a:latin typeface="Calibri" pitchFamily="34" charset="0"/>
                <a:ea typeface="Calibri" pitchFamily="34" charset="-122"/>
                <a:cs typeface="Calibri" pitchFamily="34" charset="-120"/>
              </a:rPr>
              <a:t>55s</a:t>
            </a:r>
            <a:endParaRPr lang="en-US" sz="1400" dirty="0"/>
          </a:p>
        </p:txBody>
      </p:sp>
      <p:sp>
        <p:nvSpPr>
          <p:cNvPr id="20" name="Text 18"/>
          <p:cNvSpPr txBox="1"/>
          <p:nvPr/>
        </p:nvSpPr>
        <p:spPr>
          <a:xfrm>
            <a:off x="640080" y="4919472"/>
            <a:ext cx="365760" cy="365760"/>
          </a:xfrm>
          <a:prstGeom prst="rect">
            <a:avLst/>
          </a:prstGeom>
          <a:noFill/>
          <a:ln/>
        </p:spPr>
        <p:txBody>
          <a:bodyPr wrap="square" lIns="0" tIns="0" rIns="0" bIns="0" rtlCol="0" anchor="ctr"/>
          <a:lstStyle/>
          <a:p>
            <a:pPr indent="0" marL="0">
              <a:buNone/>
            </a:pPr>
            <a:r>
              <a:rPr lang="en-US" sz="1500" b="1" dirty="0">
                <a:solidFill>
                  <a:srgbClr val="8A94A6"/>
                </a:solidFill>
                <a:latin typeface="Courier New" pitchFamily="34" charset="0"/>
                <a:ea typeface="Courier New" pitchFamily="34" charset="-122"/>
                <a:cs typeface="Courier New" pitchFamily="34" charset="-120"/>
              </a:rPr>
              <a:t>—</a:t>
            </a:r>
            <a:endParaRPr lang="en-US" sz="1500" dirty="0"/>
          </a:p>
        </p:txBody>
      </p:sp>
      <p:sp>
        <p:nvSpPr>
          <p:cNvPr id="21" name="Text 19"/>
          <p:cNvSpPr txBox="1"/>
          <p:nvPr/>
        </p:nvSpPr>
        <p:spPr>
          <a:xfrm>
            <a:off x="1051560" y="4919472"/>
            <a:ext cx="3657600" cy="365760"/>
          </a:xfrm>
          <a:prstGeom prst="rect">
            <a:avLst/>
          </a:prstGeom>
          <a:noFill/>
          <a:ln/>
        </p:spPr>
        <p:txBody>
          <a:bodyPr wrap="square" lIns="0" tIns="0" rIns="0" bIns="0" rtlCol="0" anchor="ctr"/>
          <a:lstStyle/>
          <a:p>
            <a:pPr indent="0" marL="0">
              <a:buNone/>
            </a:pPr>
            <a:r>
              <a:rPr lang="en-US" sz="1300" dirty="0">
                <a:solidFill>
                  <a:srgbClr val="10131A"/>
                </a:solidFill>
                <a:latin typeface="Calibri" pitchFamily="34" charset="0"/>
                <a:ea typeface="Calibri" pitchFamily="34" charset="-122"/>
                <a:cs typeface="Calibri" pitchFamily="34" charset="-120"/>
              </a:rPr>
              <a:t>Re-run, nothing changed</a:t>
            </a:r>
            <a:endParaRPr lang="en-US" sz="1300" dirty="0"/>
          </a:p>
        </p:txBody>
      </p:sp>
      <p:sp>
        <p:nvSpPr>
          <p:cNvPr id="22" name="Shape 20"/>
          <p:cNvSpPr/>
          <p:nvPr/>
        </p:nvSpPr>
        <p:spPr>
          <a:xfrm>
            <a:off x="4754880" y="4983480"/>
            <a:ext cx="92785" cy="292608"/>
          </a:xfrm>
          <a:prstGeom prst="roundRect">
            <a:avLst>
              <a:gd name="adj" fmla="val 39420"/>
            </a:avLst>
          </a:prstGeom>
          <a:solidFill>
            <a:srgbClr val="15803D"/>
          </a:solidFill>
          <a:ln w="12700">
            <a:solidFill>
              <a:srgbClr val="15803D"/>
            </a:solidFill>
            <a:prstDash val="solid"/>
          </a:ln>
        </p:spPr>
      </p:sp>
      <p:sp>
        <p:nvSpPr>
          <p:cNvPr id="23" name="Text 21"/>
          <p:cNvSpPr txBox="1"/>
          <p:nvPr/>
        </p:nvSpPr>
        <p:spPr>
          <a:xfrm>
            <a:off x="4939105" y="4919472"/>
            <a:ext cx="1371600" cy="365760"/>
          </a:xfrm>
          <a:prstGeom prst="rect">
            <a:avLst/>
          </a:prstGeom>
          <a:noFill/>
          <a:ln/>
        </p:spPr>
        <p:txBody>
          <a:bodyPr wrap="square" lIns="0" tIns="0" rIns="0" bIns="0" rtlCol="0" anchor="ctr"/>
          <a:lstStyle/>
          <a:p>
            <a:pPr indent="0" marL="0">
              <a:buNone/>
            </a:pPr>
            <a:r>
              <a:rPr lang="en-US" sz="1400" b="1" dirty="0">
                <a:solidFill>
                  <a:srgbClr val="10131A"/>
                </a:solidFill>
                <a:latin typeface="Calibri" pitchFamily="34" charset="0"/>
                <a:ea typeface="Calibri" pitchFamily="34" charset="-122"/>
                <a:cs typeface="Calibri" pitchFamily="34" charset="-120"/>
              </a:rPr>
              <a:t>5s</a:t>
            </a:r>
            <a:endParaRPr lang="en-US" sz="1400" dirty="0"/>
          </a:p>
        </p:txBody>
      </p:sp>
      <p:sp>
        <p:nvSpPr>
          <p:cNvPr id="24" name="Shape 22"/>
          <p:cNvSpPr/>
          <p:nvPr/>
        </p:nvSpPr>
        <p:spPr>
          <a:xfrm>
            <a:off x="640080" y="5760720"/>
            <a:ext cx="10881360" cy="685800"/>
          </a:xfrm>
          <a:prstGeom prst="roundRect">
            <a:avLst>
              <a:gd name="adj" fmla="val 9333"/>
            </a:avLst>
          </a:prstGeom>
          <a:solidFill>
            <a:srgbClr val="FFF7E6"/>
          </a:solidFill>
          <a:ln w="12700">
            <a:solidFill>
              <a:srgbClr val="F5A524"/>
            </a:solidFill>
            <a:prstDash val="solid"/>
          </a:ln>
        </p:spPr>
      </p:sp>
      <p:sp>
        <p:nvSpPr>
          <p:cNvPr id="25" name="Text 23"/>
          <p:cNvSpPr txBox="1"/>
          <p:nvPr/>
        </p:nvSpPr>
        <p:spPr>
          <a:xfrm>
            <a:off x="914400" y="5916168"/>
            <a:ext cx="10332720" cy="411480"/>
          </a:xfrm>
          <a:prstGeom prst="rect">
            <a:avLst/>
          </a:prstGeom>
          <a:noFill/>
          <a:ln/>
        </p:spPr>
        <p:txBody>
          <a:bodyPr wrap="square" lIns="0" tIns="0" rIns="0" bIns="0" rtlCol="0" anchor="ctr"/>
          <a:lstStyle/>
          <a:p>
            <a:pPr indent="0" marL="0">
              <a:buNone/>
            </a:pPr>
            <a:r>
              <a:rPr lang="en-US" sz="1400" dirty="0">
                <a:solidFill>
                  <a:srgbClr val="5B4308"/>
                </a:solidFill>
                <a:latin typeface="Calibri" pitchFamily="34" charset="0"/>
                <a:ea typeface="Calibri" pitchFamily="34" charset="-122"/>
                <a:cs typeface="Calibri" pitchFamily="34" charset="-120"/>
              </a:rPr>
              <a:t>Rung 2 is still the honest one: at 30 specs, atomizing without parallelism is 31% slower than not atomizing at all.</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0B7A44"/>
                </a:solidFill>
                <a:latin typeface="Calibri" pitchFamily="34" charset="0"/>
                <a:ea typeface="Calibri" pitchFamily="34" charset="-122"/>
                <a:cs typeface="Calibri" pitchFamily="34" charset="-120"/>
              </a:rPr>
              <a:t>SECTION 06 · THE GRAPH EARNS ITS KEEP</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10131A"/>
                </a:solidFill>
                <a:latin typeface="Cambria" pitchFamily="34" charset="0"/>
                <a:ea typeface="Cambria" pitchFamily="34" charset="-122"/>
                <a:cs typeface="Cambria" pitchFamily="34" charset="-120"/>
              </a:rPr>
              <a:t>Let the graph pick the work</a:t>
            </a:r>
            <a:endParaRPr lang="en-US" sz="3800" dirty="0"/>
          </a:p>
        </p:txBody>
      </p:sp>
      <p:sp>
        <p:nvSpPr>
          <p:cNvPr id="4" name="Text 2"/>
          <p:cNvSpPr txBox="1"/>
          <p:nvPr/>
        </p:nvSpPr>
        <p:spPr>
          <a:xfrm>
            <a:off x="640080" y="1965960"/>
            <a:ext cx="3291840" cy="274320"/>
          </a:xfrm>
          <a:prstGeom prst="rect">
            <a:avLst/>
          </a:prstGeom>
          <a:noFill/>
          <a:ln/>
        </p:spPr>
        <p:txBody>
          <a:bodyPr wrap="square" lIns="0" tIns="0" rIns="0" bIns="0" rtlCol="0" anchor="ctr"/>
          <a:lstStyle/>
          <a:p>
            <a:pPr indent="0" marL="0">
              <a:buNone/>
            </a:pPr>
            <a:r>
              <a:rPr lang="en-US" sz="1200" b="1" spc="150" kern="0" dirty="0">
                <a:solidFill>
                  <a:srgbClr val="8A94A6"/>
                </a:solidFill>
                <a:latin typeface="Calibri" pitchFamily="34" charset="0"/>
                <a:ea typeface="Calibri" pitchFamily="34" charset="-122"/>
                <a:cs typeface="Calibri" pitchFamily="34" charset="-120"/>
              </a:rPr>
              <a:t>You touch</a:t>
            </a:r>
            <a:endParaRPr lang="en-US" sz="1200" dirty="0"/>
          </a:p>
        </p:txBody>
      </p:sp>
      <p:sp>
        <p:nvSpPr>
          <p:cNvPr id="5" name="Text 3"/>
          <p:cNvSpPr txBox="1"/>
          <p:nvPr/>
        </p:nvSpPr>
        <p:spPr>
          <a:xfrm>
            <a:off x="4480560" y="1965960"/>
            <a:ext cx="3291840" cy="274320"/>
          </a:xfrm>
          <a:prstGeom prst="rect">
            <a:avLst/>
          </a:prstGeom>
          <a:noFill/>
          <a:ln/>
        </p:spPr>
        <p:txBody>
          <a:bodyPr wrap="square" lIns="0" tIns="0" rIns="0" bIns="0" rtlCol="0" anchor="ctr"/>
          <a:lstStyle/>
          <a:p>
            <a:pPr indent="0" marL="0">
              <a:buNone/>
            </a:pPr>
            <a:r>
              <a:rPr lang="en-US" sz="1200" b="1" spc="150" kern="0" dirty="0">
                <a:solidFill>
                  <a:srgbClr val="8A94A6"/>
                </a:solidFill>
                <a:latin typeface="Calibri" pitchFamily="34" charset="0"/>
                <a:ea typeface="Calibri" pitchFamily="34" charset="-122"/>
                <a:cs typeface="Calibri" pitchFamily="34" charset="-120"/>
              </a:rPr>
              <a:t>Nx runs</a:t>
            </a:r>
            <a:endParaRPr lang="en-US" sz="1200" dirty="0"/>
          </a:p>
        </p:txBody>
      </p:sp>
      <p:sp>
        <p:nvSpPr>
          <p:cNvPr id="6" name="Text 4"/>
          <p:cNvSpPr txBox="1"/>
          <p:nvPr/>
        </p:nvSpPr>
        <p:spPr>
          <a:xfrm>
            <a:off x="640080" y="2377440"/>
            <a:ext cx="3657600" cy="411480"/>
          </a:xfrm>
          <a:prstGeom prst="rect">
            <a:avLst/>
          </a:prstGeom>
          <a:noFill/>
          <a:ln/>
        </p:spPr>
        <p:txBody>
          <a:bodyPr wrap="square" lIns="0" tIns="0" rIns="0" bIns="0" rtlCol="0" anchor="ctr"/>
          <a:lstStyle/>
          <a:p>
            <a:pPr indent="0" marL="0">
              <a:buNone/>
            </a:pPr>
            <a:r>
              <a:rPr lang="en-US" sz="1500" dirty="0">
                <a:solidFill>
                  <a:srgbClr val="10131A"/>
                </a:solidFill>
                <a:latin typeface="Courier New" pitchFamily="34" charset="0"/>
                <a:ea typeface="Courier New" pitchFamily="34" charset="-122"/>
                <a:cs typeface="Courier New" pitchFamily="34" charset="-120"/>
              </a:rPr>
              <a:t>libs/formatting</a:t>
            </a:r>
            <a:endParaRPr lang="en-US" sz="1500" dirty="0"/>
          </a:p>
        </p:txBody>
      </p:sp>
      <p:sp>
        <p:nvSpPr>
          <p:cNvPr id="7" name="Text 5"/>
          <p:cNvSpPr txBox="1"/>
          <p:nvPr/>
        </p:nvSpPr>
        <p:spPr>
          <a:xfrm>
            <a:off x="4480560" y="2377440"/>
            <a:ext cx="3657600" cy="411480"/>
          </a:xfrm>
          <a:prstGeom prst="rect">
            <a:avLst/>
          </a:prstGeom>
          <a:noFill/>
          <a:ln/>
        </p:spPr>
        <p:txBody>
          <a:bodyPr wrap="square" lIns="0" tIns="0" rIns="0" bIns="0" rtlCol="0" anchor="ctr"/>
          <a:lstStyle/>
          <a:p>
            <a:pPr indent="0" marL="0">
              <a:buNone/>
            </a:pPr>
            <a:r>
              <a:rPr lang="en-US" sz="1500" dirty="0">
                <a:solidFill>
                  <a:srgbClr val="10131A"/>
                </a:solidFill>
                <a:latin typeface="Calibri" pitchFamily="34" charset="0"/>
                <a:ea typeface="Calibri" pitchFamily="34" charset="-122"/>
                <a:cs typeface="Calibri" pitchFamily="34" charset="-120"/>
              </a:rPr>
              <a:t>shop + admin</a:t>
            </a:r>
            <a:endParaRPr lang="en-US" sz="1500" dirty="0"/>
          </a:p>
        </p:txBody>
      </p:sp>
      <p:sp>
        <p:nvSpPr>
          <p:cNvPr id="8" name="Shape 6"/>
          <p:cNvSpPr/>
          <p:nvPr/>
        </p:nvSpPr>
        <p:spPr>
          <a:xfrm>
            <a:off x="8503920" y="2414016"/>
            <a:ext cx="1737360" cy="347472"/>
          </a:xfrm>
          <a:prstGeom prst="roundRect">
            <a:avLst>
              <a:gd name="adj" fmla="val 50000"/>
            </a:avLst>
          </a:prstGeom>
          <a:solidFill>
            <a:srgbClr val="FDF0D5"/>
          </a:solidFill>
          <a:ln w="12700">
            <a:solidFill>
              <a:srgbClr val="333333"/>
            </a:solidFill>
            <a:prstDash val="solid"/>
          </a:ln>
        </p:spPr>
      </p:sp>
      <p:sp>
        <p:nvSpPr>
          <p:cNvPr id="9" name="Text 7"/>
          <p:cNvSpPr txBox="1"/>
          <p:nvPr/>
        </p:nvSpPr>
        <p:spPr>
          <a:xfrm>
            <a:off x="8503920" y="2414016"/>
            <a:ext cx="1737360" cy="347472"/>
          </a:xfrm>
          <a:prstGeom prst="rect">
            <a:avLst/>
          </a:prstGeom>
          <a:noFill/>
          <a:ln/>
        </p:spPr>
        <p:txBody>
          <a:bodyPr wrap="square" lIns="0" tIns="0" rIns="0" bIns="0" rtlCol="0" anchor="ctr"/>
          <a:lstStyle/>
          <a:p>
            <a:pPr algn="ctr" indent="0" marL="0">
              <a:buNone/>
            </a:pPr>
            <a:r>
              <a:rPr lang="en-US" sz="1200" b="1" dirty="0">
                <a:solidFill>
                  <a:srgbClr val="7A5200"/>
                </a:solidFill>
                <a:latin typeface="Calibri" pitchFamily="34" charset="0"/>
                <a:ea typeface="Calibri" pitchFamily="34" charset="-122"/>
                <a:cs typeface="Calibri" pitchFamily="34" charset="-120"/>
              </a:rPr>
              <a:t>20 targets</a:t>
            </a:r>
            <a:endParaRPr lang="en-US" sz="1200" dirty="0"/>
          </a:p>
        </p:txBody>
      </p:sp>
      <p:sp>
        <p:nvSpPr>
          <p:cNvPr id="10" name="Text 8"/>
          <p:cNvSpPr txBox="1"/>
          <p:nvPr/>
        </p:nvSpPr>
        <p:spPr>
          <a:xfrm>
            <a:off x="640080" y="3090672"/>
            <a:ext cx="3657600" cy="411480"/>
          </a:xfrm>
          <a:prstGeom prst="rect">
            <a:avLst/>
          </a:prstGeom>
          <a:noFill/>
          <a:ln/>
        </p:spPr>
        <p:txBody>
          <a:bodyPr wrap="square" lIns="0" tIns="0" rIns="0" bIns="0" rtlCol="0" anchor="ctr"/>
          <a:lstStyle/>
          <a:p>
            <a:pPr indent="0" marL="0">
              <a:buNone/>
            </a:pPr>
            <a:r>
              <a:rPr lang="en-US" sz="1500" dirty="0">
                <a:solidFill>
                  <a:srgbClr val="10131A"/>
                </a:solidFill>
                <a:latin typeface="Courier New" pitchFamily="34" charset="0"/>
                <a:ea typeface="Courier New" pitchFamily="34" charset="-122"/>
                <a:cs typeface="Courier New" pitchFamily="34" charset="-120"/>
              </a:rPr>
              <a:t>libs/ui</a:t>
            </a:r>
            <a:endParaRPr lang="en-US" sz="1500" dirty="0"/>
          </a:p>
        </p:txBody>
      </p:sp>
      <p:sp>
        <p:nvSpPr>
          <p:cNvPr id="11" name="Text 9"/>
          <p:cNvSpPr txBox="1"/>
          <p:nvPr/>
        </p:nvSpPr>
        <p:spPr>
          <a:xfrm>
            <a:off x="4480560" y="3090672"/>
            <a:ext cx="3657600" cy="411480"/>
          </a:xfrm>
          <a:prstGeom prst="rect">
            <a:avLst/>
          </a:prstGeom>
          <a:noFill/>
          <a:ln/>
        </p:spPr>
        <p:txBody>
          <a:bodyPr wrap="square" lIns="0" tIns="0" rIns="0" bIns="0" rtlCol="0" anchor="ctr"/>
          <a:lstStyle/>
          <a:p>
            <a:pPr indent="0" marL="0">
              <a:buNone/>
            </a:pPr>
            <a:r>
              <a:rPr lang="en-US" sz="1500" dirty="0">
                <a:solidFill>
                  <a:srgbClr val="10131A"/>
                </a:solidFill>
                <a:latin typeface="Calibri" pitchFamily="34" charset="0"/>
                <a:ea typeface="Calibri" pitchFamily="34" charset="-122"/>
                <a:cs typeface="Calibri" pitchFamily="34" charset="-120"/>
              </a:rPr>
              <a:t>admin + docs</a:t>
            </a:r>
            <a:endParaRPr lang="en-US" sz="1500" dirty="0"/>
          </a:p>
        </p:txBody>
      </p:sp>
      <p:sp>
        <p:nvSpPr>
          <p:cNvPr id="12" name="Shape 10"/>
          <p:cNvSpPr/>
          <p:nvPr/>
        </p:nvSpPr>
        <p:spPr>
          <a:xfrm>
            <a:off x="8503920" y="3127248"/>
            <a:ext cx="1737360" cy="347472"/>
          </a:xfrm>
          <a:prstGeom prst="roundRect">
            <a:avLst>
              <a:gd name="adj" fmla="val 50000"/>
            </a:avLst>
          </a:prstGeom>
          <a:solidFill>
            <a:srgbClr val="FDF0D5"/>
          </a:solidFill>
          <a:ln w="12700">
            <a:solidFill>
              <a:srgbClr val="333333"/>
            </a:solidFill>
            <a:prstDash val="solid"/>
          </a:ln>
        </p:spPr>
      </p:sp>
      <p:sp>
        <p:nvSpPr>
          <p:cNvPr id="13" name="Text 11"/>
          <p:cNvSpPr txBox="1"/>
          <p:nvPr/>
        </p:nvSpPr>
        <p:spPr>
          <a:xfrm>
            <a:off x="8503920" y="3127248"/>
            <a:ext cx="1737360" cy="347472"/>
          </a:xfrm>
          <a:prstGeom prst="rect">
            <a:avLst/>
          </a:prstGeom>
          <a:noFill/>
          <a:ln/>
        </p:spPr>
        <p:txBody>
          <a:bodyPr wrap="square" lIns="0" tIns="0" rIns="0" bIns="0" rtlCol="0" anchor="ctr"/>
          <a:lstStyle/>
          <a:p>
            <a:pPr algn="ctr" indent="0" marL="0">
              <a:buNone/>
            </a:pPr>
            <a:r>
              <a:rPr lang="en-US" sz="1200" b="1" dirty="0">
                <a:solidFill>
                  <a:srgbClr val="7A5200"/>
                </a:solidFill>
                <a:latin typeface="Calibri" pitchFamily="34" charset="0"/>
                <a:ea typeface="Calibri" pitchFamily="34" charset="-122"/>
                <a:cs typeface="Calibri" pitchFamily="34" charset="-120"/>
              </a:rPr>
              <a:t>20 targets</a:t>
            </a:r>
            <a:endParaRPr lang="en-US" sz="1200" dirty="0"/>
          </a:p>
        </p:txBody>
      </p:sp>
      <p:sp>
        <p:nvSpPr>
          <p:cNvPr id="14" name="Text 12"/>
          <p:cNvSpPr txBox="1"/>
          <p:nvPr/>
        </p:nvSpPr>
        <p:spPr>
          <a:xfrm>
            <a:off x="640080" y="3803904"/>
            <a:ext cx="3657600" cy="411480"/>
          </a:xfrm>
          <a:prstGeom prst="rect">
            <a:avLst/>
          </a:prstGeom>
          <a:noFill/>
          <a:ln/>
        </p:spPr>
        <p:txBody>
          <a:bodyPr wrap="square" lIns="0" tIns="0" rIns="0" bIns="0" rtlCol="0" anchor="ctr"/>
          <a:lstStyle/>
          <a:p>
            <a:pPr indent="0" marL="0">
              <a:buNone/>
            </a:pPr>
            <a:r>
              <a:rPr lang="en-US" sz="1500" dirty="0">
                <a:solidFill>
                  <a:srgbClr val="10131A"/>
                </a:solidFill>
                <a:latin typeface="Courier New" pitchFamily="34" charset="0"/>
                <a:ea typeface="Courier New" pitchFamily="34" charset="-122"/>
                <a:cs typeface="Courier New" pitchFamily="34" charset="-120"/>
              </a:rPr>
              <a:t>apps/docs/**</a:t>
            </a:r>
            <a:endParaRPr lang="en-US" sz="1500" dirty="0"/>
          </a:p>
        </p:txBody>
      </p:sp>
      <p:sp>
        <p:nvSpPr>
          <p:cNvPr id="15" name="Text 13"/>
          <p:cNvSpPr txBox="1"/>
          <p:nvPr/>
        </p:nvSpPr>
        <p:spPr>
          <a:xfrm>
            <a:off x="4480560" y="3803904"/>
            <a:ext cx="3657600" cy="411480"/>
          </a:xfrm>
          <a:prstGeom prst="rect">
            <a:avLst/>
          </a:prstGeom>
          <a:noFill/>
          <a:ln/>
        </p:spPr>
        <p:txBody>
          <a:bodyPr wrap="square" lIns="0" tIns="0" rIns="0" bIns="0" rtlCol="0" anchor="ctr"/>
          <a:lstStyle/>
          <a:p>
            <a:pPr indent="0" marL="0">
              <a:buNone/>
            </a:pPr>
            <a:r>
              <a:rPr lang="en-US" sz="1500" dirty="0">
                <a:solidFill>
                  <a:srgbClr val="10131A"/>
                </a:solidFill>
                <a:latin typeface="Calibri" pitchFamily="34" charset="0"/>
                <a:ea typeface="Calibri" pitchFamily="34" charset="-122"/>
                <a:cs typeface="Calibri" pitchFamily="34" charset="-120"/>
              </a:rPr>
              <a:t>docs</a:t>
            </a:r>
            <a:endParaRPr lang="en-US" sz="1500" dirty="0"/>
          </a:p>
        </p:txBody>
      </p:sp>
      <p:sp>
        <p:nvSpPr>
          <p:cNvPr id="16" name="Shape 14"/>
          <p:cNvSpPr/>
          <p:nvPr/>
        </p:nvSpPr>
        <p:spPr>
          <a:xfrm>
            <a:off x="8503920" y="3840480"/>
            <a:ext cx="1737360" cy="347472"/>
          </a:xfrm>
          <a:prstGeom prst="roundRect">
            <a:avLst>
              <a:gd name="adj" fmla="val 50000"/>
            </a:avLst>
          </a:prstGeom>
          <a:solidFill>
            <a:srgbClr val="DCF5E7"/>
          </a:solidFill>
          <a:ln w="12700">
            <a:solidFill>
              <a:srgbClr val="333333"/>
            </a:solidFill>
            <a:prstDash val="solid"/>
          </a:ln>
        </p:spPr>
      </p:sp>
      <p:sp>
        <p:nvSpPr>
          <p:cNvPr id="17" name="Text 15"/>
          <p:cNvSpPr txBox="1"/>
          <p:nvPr/>
        </p:nvSpPr>
        <p:spPr>
          <a:xfrm>
            <a:off x="8503920" y="3840480"/>
            <a:ext cx="1737360" cy="347472"/>
          </a:xfrm>
          <a:prstGeom prst="rect">
            <a:avLst/>
          </a:prstGeom>
          <a:noFill/>
          <a:ln/>
        </p:spPr>
        <p:txBody>
          <a:bodyPr wrap="square" lIns="0" tIns="0" rIns="0" bIns="0" rtlCol="0" anchor="ctr"/>
          <a:lstStyle/>
          <a:p>
            <a:pPr algn="ctr" indent="0" marL="0">
              <a:buNone/>
            </a:pPr>
            <a:r>
              <a:rPr lang="en-US" sz="1200" b="1" dirty="0">
                <a:solidFill>
                  <a:srgbClr val="14603C"/>
                </a:solidFill>
                <a:latin typeface="Calibri" pitchFamily="34" charset="0"/>
                <a:ea typeface="Calibri" pitchFamily="34" charset="-122"/>
                <a:cs typeface="Calibri" pitchFamily="34" charset="-120"/>
              </a:rPr>
              <a:t>10 targets</a:t>
            </a:r>
            <a:endParaRPr lang="en-US" sz="1200" dirty="0"/>
          </a:p>
        </p:txBody>
      </p:sp>
      <p:sp>
        <p:nvSpPr>
          <p:cNvPr id="18" name="Text 16"/>
          <p:cNvSpPr txBox="1"/>
          <p:nvPr/>
        </p:nvSpPr>
        <p:spPr>
          <a:xfrm>
            <a:off x="640080" y="4517136"/>
            <a:ext cx="3657600" cy="411480"/>
          </a:xfrm>
          <a:prstGeom prst="rect">
            <a:avLst/>
          </a:prstGeom>
          <a:noFill/>
          <a:ln/>
        </p:spPr>
        <p:txBody>
          <a:bodyPr wrap="square" lIns="0" tIns="0" rIns="0" bIns="0" rtlCol="0" anchor="ctr"/>
          <a:lstStyle/>
          <a:p>
            <a:pPr indent="0" marL="0">
              <a:buNone/>
            </a:pPr>
            <a:r>
              <a:rPr lang="en-US" sz="1500" dirty="0">
                <a:solidFill>
                  <a:srgbClr val="10131A"/>
                </a:solidFill>
                <a:latin typeface="Courier New" pitchFamily="34" charset="0"/>
                <a:ea typeface="Courier New" pitchFamily="34" charset="-122"/>
                <a:cs typeface="Courier New" pitchFamily="34" charset="-120"/>
              </a:rPr>
              <a:t>a README typo</a:t>
            </a:r>
            <a:endParaRPr lang="en-US" sz="1500" dirty="0"/>
          </a:p>
        </p:txBody>
      </p:sp>
      <p:sp>
        <p:nvSpPr>
          <p:cNvPr id="19" name="Text 17"/>
          <p:cNvSpPr txBox="1"/>
          <p:nvPr/>
        </p:nvSpPr>
        <p:spPr>
          <a:xfrm>
            <a:off x="4480560" y="4517136"/>
            <a:ext cx="3657600" cy="411480"/>
          </a:xfrm>
          <a:prstGeom prst="rect">
            <a:avLst/>
          </a:prstGeom>
          <a:noFill/>
          <a:ln/>
        </p:spPr>
        <p:txBody>
          <a:bodyPr wrap="square" lIns="0" tIns="0" rIns="0" bIns="0" rtlCol="0" anchor="ctr"/>
          <a:lstStyle/>
          <a:p>
            <a:pPr indent="0" marL="0">
              <a:buNone/>
            </a:pPr>
            <a:r>
              <a:rPr lang="en-US" sz="1500" dirty="0">
                <a:solidFill>
                  <a:srgbClr val="10131A"/>
                </a:solidFill>
                <a:latin typeface="Calibri" pitchFamily="34" charset="0"/>
                <a:ea typeface="Calibri" pitchFamily="34" charset="-122"/>
                <a:cs typeface="Calibri" pitchFamily="34" charset="-120"/>
              </a:rPr>
              <a:t>nothing at all</a:t>
            </a:r>
            <a:endParaRPr lang="en-US" sz="1500" dirty="0"/>
          </a:p>
        </p:txBody>
      </p:sp>
      <p:sp>
        <p:nvSpPr>
          <p:cNvPr id="20" name="Shape 18"/>
          <p:cNvSpPr/>
          <p:nvPr/>
        </p:nvSpPr>
        <p:spPr>
          <a:xfrm>
            <a:off x="8503920" y="4553712"/>
            <a:ext cx="1737360" cy="347472"/>
          </a:xfrm>
          <a:prstGeom prst="roundRect">
            <a:avLst>
              <a:gd name="adj" fmla="val 50000"/>
            </a:avLst>
          </a:prstGeom>
          <a:solidFill>
            <a:srgbClr val="DCF5E7"/>
          </a:solidFill>
          <a:ln w="12700">
            <a:solidFill>
              <a:srgbClr val="333333"/>
            </a:solidFill>
            <a:prstDash val="solid"/>
          </a:ln>
        </p:spPr>
      </p:sp>
      <p:sp>
        <p:nvSpPr>
          <p:cNvPr id="21" name="Text 19"/>
          <p:cNvSpPr txBox="1"/>
          <p:nvPr/>
        </p:nvSpPr>
        <p:spPr>
          <a:xfrm>
            <a:off x="8503920" y="4553712"/>
            <a:ext cx="1737360" cy="347472"/>
          </a:xfrm>
          <a:prstGeom prst="rect">
            <a:avLst/>
          </a:prstGeom>
          <a:noFill/>
          <a:ln/>
        </p:spPr>
        <p:txBody>
          <a:bodyPr wrap="square" lIns="0" tIns="0" rIns="0" bIns="0" rtlCol="0" anchor="ctr"/>
          <a:lstStyle/>
          <a:p>
            <a:pPr algn="ctr" indent="0" marL="0">
              <a:buNone/>
            </a:pPr>
            <a:r>
              <a:rPr lang="en-US" sz="1200" b="1" dirty="0">
                <a:solidFill>
                  <a:srgbClr val="14603C"/>
                </a:solidFill>
                <a:latin typeface="Calibri" pitchFamily="34" charset="0"/>
                <a:ea typeface="Calibri" pitchFamily="34" charset="-122"/>
                <a:cs typeface="Calibri" pitchFamily="34" charset="-120"/>
              </a:rPr>
              <a:t>0 targets</a:t>
            </a:r>
            <a:endParaRPr lang="en-US" sz="1200" dirty="0"/>
          </a:p>
        </p:txBody>
      </p:sp>
      <p:sp>
        <p:nvSpPr>
          <p:cNvPr id="22" name="Text 20"/>
          <p:cNvSpPr txBox="1"/>
          <p:nvPr/>
        </p:nvSpPr>
        <p:spPr>
          <a:xfrm>
            <a:off x="640080" y="5532120"/>
            <a:ext cx="10881360" cy="457200"/>
          </a:xfrm>
          <a:prstGeom prst="rect">
            <a:avLst/>
          </a:prstGeom>
          <a:noFill/>
          <a:ln/>
        </p:spPr>
        <p:txBody>
          <a:bodyPr wrap="square" lIns="0" tIns="0" rIns="0" bIns="0" rtlCol="0" anchor="ctr"/>
          <a:lstStyle/>
          <a:p>
            <a:pPr indent="0" marL="0">
              <a:buNone/>
            </a:pPr>
            <a:r>
              <a:rPr lang="en-US" sz="1500" i="1" dirty="0">
                <a:solidFill>
                  <a:srgbClr val="5C6675"/>
                </a:solidFill>
                <a:latin typeface="Calibri" pitchFamily="34" charset="0"/>
                <a:ea typeface="Calibri" pitchFamily="34" charset="-122"/>
                <a:cs typeface="Calibri" pitchFamily="34" charset="-120"/>
              </a:rPr>
              <a:t>This is the argument for keeping e2e in the monorepo: the graph already knows which apps a shared component can break.</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0B7A44"/>
                </a:solidFill>
                <a:latin typeface="Calibri" pitchFamily="34" charset="0"/>
                <a:ea typeface="Calibri" pitchFamily="34" charset="-122"/>
                <a:cs typeface="Calibri" pitchFamily="34" charset="-120"/>
              </a:rPr>
              <a:t>SECTION 06 · FROM A REAL PROJECT</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10131A"/>
                </a:solidFill>
                <a:latin typeface="Cambria" pitchFamily="34" charset="0"/>
                <a:ea typeface="Cambria" pitchFamily="34" charset="-122"/>
                <a:cs typeface="Cambria" pitchFamily="34" charset="-120"/>
              </a:rPr>
              <a:t>Fifteen apps, and what changed</a:t>
            </a:r>
            <a:endParaRPr lang="en-US" sz="3800" dirty="0"/>
          </a:p>
        </p:txBody>
      </p:sp>
      <p:sp>
        <p:nvSpPr>
          <p:cNvPr id="4" name="Shape 2"/>
          <p:cNvSpPr/>
          <p:nvPr/>
        </p:nvSpPr>
        <p:spPr>
          <a:xfrm>
            <a:off x="640080" y="1920240"/>
            <a:ext cx="3429000" cy="1691640"/>
          </a:xfrm>
          <a:prstGeom prst="roundRect">
            <a:avLst>
              <a:gd name="adj" fmla="val 4865"/>
            </a:avLst>
          </a:prstGeom>
          <a:solidFill>
            <a:srgbClr val="FFFFFF"/>
          </a:solidFill>
          <a:ln w="12700">
            <a:solidFill>
              <a:srgbClr val="E2E6ED"/>
            </a:solidFill>
            <a:prstDash val="solid"/>
          </a:ln>
        </p:spPr>
      </p:sp>
      <p:sp>
        <p:nvSpPr>
          <p:cNvPr id="5" name="Text 3"/>
          <p:cNvSpPr txBox="1"/>
          <p:nvPr/>
        </p:nvSpPr>
        <p:spPr>
          <a:xfrm>
            <a:off x="868680" y="2103120"/>
            <a:ext cx="2971800" cy="658368"/>
          </a:xfrm>
          <a:prstGeom prst="rect">
            <a:avLst/>
          </a:prstGeom>
          <a:noFill/>
          <a:ln/>
        </p:spPr>
        <p:txBody>
          <a:bodyPr wrap="square" lIns="0" tIns="0" rIns="0" bIns="0" rtlCol="0" anchor="ctr"/>
          <a:lstStyle/>
          <a:p>
            <a:pPr indent="0" marL="0">
              <a:buNone/>
            </a:pPr>
            <a:r>
              <a:rPr lang="en-US" sz="3400" b="1" dirty="0">
                <a:solidFill>
                  <a:srgbClr val="10131A"/>
                </a:solidFill>
                <a:latin typeface="Cambria" pitchFamily="34" charset="0"/>
                <a:ea typeface="Cambria" pitchFamily="34" charset="-122"/>
                <a:cs typeface="Cambria" pitchFamily="34" charset="-120"/>
              </a:rPr>
              <a:t>15</a:t>
            </a:r>
            <a:endParaRPr lang="en-US" sz="3400" dirty="0"/>
          </a:p>
        </p:txBody>
      </p:sp>
      <p:sp>
        <p:nvSpPr>
          <p:cNvPr id="6" name="Text 4"/>
          <p:cNvSpPr txBox="1"/>
          <p:nvPr/>
        </p:nvSpPr>
        <p:spPr>
          <a:xfrm>
            <a:off x="868680" y="2788920"/>
            <a:ext cx="2971800" cy="320040"/>
          </a:xfrm>
          <a:prstGeom prst="rect">
            <a:avLst/>
          </a:prstGeom>
          <a:noFill/>
          <a:ln/>
        </p:spPr>
        <p:txBody>
          <a:bodyPr wrap="square" lIns="0" tIns="0" rIns="0" bIns="0" rtlCol="0" anchor="ctr"/>
          <a:lstStyle/>
          <a:p>
            <a:pPr indent="0" marL="0">
              <a:buNone/>
            </a:pPr>
            <a:r>
              <a:rPr lang="en-US" sz="1500" dirty="0">
                <a:solidFill>
                  <a:srgbClr val="10131A"/>
                </a:solidFill>
                <a:latin typeface="Calibri" pitchFamily="34" charset="0"/>
                <a:ea typeface="Calibri" pitchFamily="34" charset="-122"/>
                <a:cs typeface="Calibri" pitchFamily="34" charset="-120"/>
              </a:rPr>
              <a:t>applications</a:t>
            </a:r>
            <a:endParaRPr lang="en-US" sz="1500" dirty="0"/>
          </a:p>
        </p:txBody>
      </p:sp>
      <p:sp>
        <p:nvSpPr>
          <p:cNvPr id="7" name="Text 5"/>
          <p:cNvSpPr txBox="1"/>
          <p:nvPr/>
        </p:nvSpPr>
        <p:spPr>
          <a:xfrm>
            <a:off x="868680" y="3108960"/>
            <a:ext cx="2971800" cy="365760"/>
          </a:xfrm>
          <a:prstGeom prst="rect">
            <a:avLst/>
          </a:prstGeom>
          <a:noFill/>
          <a:ln/>
        </p:spPr>
        <p:txBody>
          <a:bodyPr wrap="square" lIns="0" tIns="0" rIns="0" bIns="0" rtlCol="0" anchor="ctr"/>
          <a:lstStyle/>
          <a:p>
            <a:pPr indent="0" marL="0">
              <a:buNone/>
            </a:pPr>
            <a:r>
              <a:rPr lang="en-US" sz="1200" i="1" dirty="0">
                <a:solidFill>
                  <a:srgbClr val="8A94A6"/>
                </a:solidFill>
                <a:latin typeface="Calibri" pitchFamily="34" charset="0"/>
                <a:ea typeface="Calibri" pitchFamily="34" charset="-122"/>
                <a:cs typeface="Calibri" pitchFamily="34" charset="-120"/>
              </a:rPr>
              <a:t>every E2E suite reviewed</a:t>
            </a:r>
            <a:endParaRPr lang="en-US" sz="1200" dirty="0"/>
          </a:p>
        </p:txBody>
      </p:sp>
      <p:sp>
        <p:nvSpPr>
          <p:cNvPr id="8" name="Shape 6"/>
          <p:cNvSpPr/>
          <p:nvPr/>
        </p:nvSpPr>
        <p:spPr>
          <a:xfrm>
            <a:off x="4343400" y="1920240"/>
            <a:ext cx="3429000" cy="1691640"/>
          </a:xfrm>
          <a:prstGeom prst="roundRect">
            <a:avLst>
              <a:gd name="adj" fmla="val 4865"/>
            </a:avLst>
          </a:prstGeom>
          <a:solidFill>
            <a:srgbClr val="FFFFFF"/>
          </a:solidFill>
          <a:ln w="12700">
            <a:solidFill>
              <a:srgbClr val="E2E6ED"/>
            </a:solidFill>
            <a:prstDash val="solid"/>
          </a:ln>
        </p:spPr>
      </p:sp>
      <p:sp>
        <p:nvSpPr>
          <p:cNvPr id="9" name="Text 7"/>
          <p:cNvSpPr txBox="1"/>
          <p:nvPr/>
        </p:nvSpPr>
        <p:spPr>
          <a:xfrm>
            <a:off x="4572000" y="2103120"/>
            <a:ext cx="2971800" cy="658368"/>
          </a:xfrm>
          <a:prstGeom prst="rect">
            <a:avLst/>
          </a:prstGeom>
          <a:noFill/>
          <a:ln/>
        </p:spPr>
        <p:txBody>
          <a:bodyPr wrap="square" lIns="0" tIns="0" rIns="0" bIns="0" rtlCol="0" anchor="ctr"/>
          <a:lstStyle/>
          <a:p>
            <a:pPr indent="0" marL="0">
              <a:buNone/>
            </a:pPr>
            <a:r>
              <a:rPr lang="en-US" sz="3400" b="1" dirty="0">
                <a:solidFill>
                  <a:srgbClr val="0B7A44"/>
                </a:solidFill>
                <a:latin typeface="Cambria" pitchFamily="34" charset="0"/>
                <a:ea typeface="Cambria" pitchFamily="34" charset="-122"/>
                <a:cs typeface="Cambria" pitchFamily="34" charset="-120"/>
              </a:rPr>
              <a:t>1K → 1.5K</a:t>
            </a:r>
            <a:endParaRPr lang="en-US" sz="3400" dirty="0"/>
          </a:p>
        </p:txBody>
      </p:sp>
      <p:sp>
        <p:nvSpPr>
          <p:cNvPr id="10" name="Text 8"/>
          <p:cNvSpPr txBox="1"/>
          <p:nvPr/>
        </p:nvSpPr>
        <p:spPr>
          <a:xfrm>
            <a:off x="4572000" y="2788920"/>
            <a:ext cx="2971800" cy="320040"/>
          </a:xfrm>
          <a:prstGeom prst="rect">
            <a:avLst/>
          </a:prstGeom>
          <a:noFill/>
          <a:ln/>
        </p:spPr>
        <p:txBody>
          <a:bodyPr wrap="square" lIns="0" tIns="0" rIns="0" bIns="0" rtlCol="0" anchor="ctr"/>
          <a:lstStyle/>
          <a:p>
            <a:pPr indent="0" marL="0">
              <a:buNone/>
            </a:pPr>
            <a:r>
              <a:rPr lang="en-US" sz="1500" dirty="0">
                <a:solidFill>
                  <a:srgbClr val="10131A"/>
                </a:solidFill>
                <a:latin typeface="Calibri" pitchFamily="34" charset="0"/>
                <a:ea typeface="Calibri" pitchFamily="34" charset="-122"/>
                <a:cs typeface="Calibri" pitchFamily="34" charset="-120"/>
              </a:rPr>
              <a:t>tests</a:t>
            </a:r>
            <a:endParaRPr lang="en-US" sz="1500" dirty="0"/>
          </a:p>
        </p:txBody>
      </p:sp>
      <p:sp>
        <p:nvSpPr>
          <p:cNvPr id="11" name="Text 9"/>
          <p:cNvSpPr txBox="1"/>
          <p:nvPr/>
        </p:nvSpPr>
        <p:spPr>
          <a:xfrm>
            <a:off x="4572000" y="3108960"/>
            <a:ext cx="2971800" cy="365760"/>
          </a:xfrm>
          <a:prstGeom prst="rect">
            <a:avLst/>
          </a:prstGeom>
          <a:noFill/>
          <a:ln/>
        </p:spPr>
        <p:txBody>
          <a:bodyPr wrap="square" lIns="0" tIns="0" rIns="0" bIns="0" rtlCol="0" anchor="ctr"/>
          <a:lstStyle/>
          <a:p>
            <a:pPr indent="0" marL="0">
              <a:buNone/>
            </a:pPr>
            <a:r>
              <a:rPr lang="en-US" sz="1200" i="1" dirty="0">
                <a:solidFill>
                  <a:srgbClr val="8A94A6"/>
                </a:solidFill>
                <a:latin typeface="Calibri" pitchFamily="34" charset="0"/>
                <a:ea typeface="Calibri" pitchFamily="34" charset="-122"/>
                <a:cs typeface="Calibri" pitchFamily="34" charset="-120"/>
              </a:rPr>
              <a:t>deleted a lot, added more</a:t>
            </a:r>
            <a:endParaRPr lang="en-US" sz="1200" dirty="0"/>
          </a:p>
        </p:txBody>
      </p:sp>
      <p:sp>
        <p:nvSpPr>
          <p:cNvPr id="12" name="Shape 10"/>
          <p:cNvSpPr/>
          <p:nvPr/>
        </p:nvSpPr>
        <p:spPr>
          <a:xfrm>
            <a:off x="8046720" y="1920240"/>
            <a:ext cx="3429000" cy="1691640"/>
          </a:xfrm>
          <a:prstGeom prst="roundRect">
            <a:avLst>
              <a:gd name="adj" fmla="val 4865"/>
            </a:avLst>
          </a:prstGeom>
          <a:solidFill>
            <a:srgbClr val="FFFFFF"/>
          </a:solidFill>
          <a:ln w="12700">
            <a:solidFill>
              <a:srgbClr val="E2E6ED"/>
            </a:solidFill>
            <a:prstDash val="solid"/>
          </a:ln>
        </p:spPr>
      </p:sp>
      <p:sp>
        <p:nvSpPr>
          <p:cNvPr id="13" name="Text 11"/>
          <p:cNvSpPr txBox="1"/>
          <p:nvPr/>
        </p:nvSpPr>
        <p:spPr>
          <a:xfrm>
            <a:off x="8275320" y="2103120"/>
            <a:ext cx="2971800" cy="658368"/>
          </a:xfrm>
          <a:prstGeom prst="rect">
            <a:avLst/>
          </a:prstGeom>
          <a:noFill/>
          <a:ln/>
        </p:spPr>
        <p:txBody>
          <a:bodyPr wrap="square" lIns="0" tIns="0" rIns="0" bIns="0" rtlCol="0" anchor="ctr"/>
          <a:lstStyle/>
          <a:p>
            <a:pPr indent="0" marL="0">
              <a:buNone/>
            </a:pPr>
            <a:r>
              <a:rPr lang="en-US" sz="3400" b="1" dirty="0">
                <a:solidFill>
                  <a:srgbClr val="0B7A44"/>
                </a:solidFill>
                <a:latin typeface="Cambria" pitchFamily="34" charset="0"/>
                <a:ea typeface="Cambria" pitchFamily="34" charset="-122"/>
                <a:cs typeface="Cambria" pitchFamily="34" charset="-120"/>
              </a:rPr>
              <a:t>85%</a:t>
            </a:r>
            <a:endParaRPr lang="en-US" sz="3400" dirty="0"/>
          </a:p>
        </p:txBody>
      </p:sp>
      <p:sp>
        <p:nvSpPr>
          <p:cNvPr id="14" name="Text 12"/>
          <p:cNvSpPr txBox="1"/>
          <p:nvPr/>
        </p:nvSpPr>
        <p:spPr>
          <a:xfrm>
            <a:off x="8275320" y="2788920"/>
            <a:ext cx="2971800" cy="320040"/>
          </a:xfrm>
          <a:prstGeom prst="rect">
            <a:avLst/>
          </a:prstGeom>
          <a:noFill/>
          <a:ln/>
        </p:spPr>
        <p:txBody>
          <a:bodyPr wrap="square" lIns="0" tIns="0" rIns="0" bIns="0" rtlCol="0" anchor="ctr"/>
          <a:lstStyle/>
          <a:p>
            <a:pPr indent="0" marL="0">
              <a:buNone/>
            </a:pPr>
            <a:r>
              <a:rPr lang="en-US" sz="1500" dirty="0">
                <a:solidFill>
                  <a:srgbClr val="10131A"/>
                </a:solidFill>
                <a:latin typeface="Calibri" pitchFamily="34" charset="0"/>
                <a:ea typeface="Calibri" pitchFamily="34" charset="-122"/>
                <a:cs typeface="Calibri" pitchFamily="34" charset="-120"/>
              </a:rPr>
              <a:t>code coverage</a:t>
            </a:r>
            <a:endParaRPr lang="en-US" sz="1500" dirty="0"/>
          </a:p>
        </p:txBody>
      </p:sp>
      <p:sp>
        <p:nvSpPr>
          <p:cNvPr id="15" name="Text 13"/>
          <p:cNvSpPr txBox="1"/>
          <p:nvPr/>
        </p:nvSpPr>
        <p:spPr>
          <a:xfrm>
            <a:off x="8275320" y="3108960"/>
            <a:ext cx="2971800" cy="365760"/>
          </a:xfrm>
          <a:prstGeom prst="rect">
            <a:avLst/>
          </a:prstGeom>
          <a:noFill/>
          <a:ln/>
        </p:spPr>
        <p:txBody>
          <a:bodyPr wrap="square" lIns="0" tIns="0" rIns="0" bIns="0" rtlCol="0" anchor="ctr"/>
          <a:lstStyle/>
          <a:p>
            <a:pPr indent="0" marL="0">
              <a:buNone/>
            </a:pPr>
            <a:r>
              <a:rPr lang="en-US" sz="1200" i="1" dirty="0">
                <a:solidFill>
                  <a:srgbClr val="8A94A6"/>
                </a:solidFill>
                <a:latin typeface="Calibri" pitchFamily="34" charset="0"/>
                <a:ea typeface="Calibri" pitchFamily="34" charset="-122"/>
                <a:cs typeface="Calibri" pitchFamily="34" charset="-120"/>
              </a:rPr>
              <a:t>and stable, not "mostly"</a:t>
            </a:r>
            <a:endParaRPr lang="en-US" sz="1200" dirty="0"/>
          </a:p>
        </p:txBody>
      </p:sp>
      <p:sp>
        <p:nvSpPr>
          <p:cNvPr id="16" name="Text 14"/>
          <p:cNvSpPr txBox="1"/>
          <p:nvPr/>
        </p:nvSpPr>
        <p:spPr>
          <a:xfrm>
            <a:off x="640080" y="3886200"/>
            <a:ext cx="4572000" cy="320040"/>
          </a:xfrm>
          <a:prstGeom prst="rect">
            <a:avLst/>
          </a:prstGeom>
          <a:noFill/>
          <a:ln/>
        </p:spPr>
        <p:txBody>
          <a:bodyPr wrap="square" lIns="0" tIns="0" rIns="0" bIns="0" rtlCol="0" anchor="ctr"/>
          <a:lstStyle/>
          <a:p>
            <a:pPr indent="0" marL="0">
              <a:buNone/>
            </a:pPr>
            <a:r>
              <a:rPr lang="en-US" sz="1500" b="1" dirty="0">
                <a:solidFill>
                  <a:srgbClr val="10131A"/>
                </a:solidFill>
                <a:latin typeface="Calibri" pitchFamily="34" charset="0"/>
                <a:ea typeface="Calibri" pitchFamily="34" charset="-122"/>
                <a:cs typeface="Calibri" pitchFamily="34" charset="-120"/>
              </a:rPr>
              <a:t>CI build time</a:t>
            </a:r>
            <a:endParaRPr lang="en-US" sz="1500" dirty="0"/>
          </a:p>
        </p:txBody>
      </p:sp>
      <p:sp>
        <p:nvSpPr>
          <p:cNvPr id="17" name="Text 15"/>
          <p:cNvSpPr txBox="1"/>
          <p:nvPr/>
        </p:nvSpPr>
        <p:spPr>
          <a:xfrm>
            <a:off x="640080" y="4297680"/>
            <a:ext cx="3017520" cy="365760"/>
          </a:xfrm>
          <a:prstGeom prst="rect">
            <a:avLst/>
          </a:prstGeom>
          <a:noFill/>
          <a:ln/>
        </p:spPr>
        <p:txBody>
          <a:bodyPr wrap="square" lIns="0" tIns="0" rIns="0" bIns="0" rtlCol="0" anchor="ctr"/>
          <a:lstStyle/>
          <a:p>
            <a:pPr indent="0" marL="0">
              <a:buNone/>
            </a:pPr>
            <a:r>
              <a:rPr lang="en-US" sz="1300" dirty="0">
                <a:solidFill>
                  <a:srgbClr val="10131A"/>
                </a:solidFill>
                <a:latin typeface="Calibri" pitchFamily="34" charset="0"/>
                <a:ea typeface="Calibri" pitchFamily="34" charset="-122"/>
                <a:cs typeface="Calibri" pitchFamily="34" charset="-120"/>
              </a:rPr>
              <a:t>Before — whole repo</a:t>
            </a:r>
            <a:endParaRPr lang="en-US" sz="1300" dirty="0"/>
          </a:p>
        </p:txBody>
      </p:sp>
      <p:sp>
        <p:nvSpPr>
          <p:cNvPr id="18" name="Shape 16"/>
          <p:cNvSpPr/>
          <p:nvPr/>
        </p:nvSpPr>
        <p:spPr>
          <a:xfrm>
            <a:off x="3749040" y="4370832"/>
            <a:ext cx="3840480" cy="256032"/>
          </a:xfrm>
          <a:prstGeom prst="roundRect">
            <a:avLst>
              <a:gd name="adj" fmla="val 14286"/>
            </a:avLst>
          </a:prstGeom>
          <a:solidFill>
            <a:srgbClr val="F5A524"/>
          </a:solidFill>
          <a:ln w="12700">
            <a:solidFill>
              <a:srgbClr val="333333"/>
            </a:solidFill>
            <a:prstDash val="solid"/>
          </a:ln>
        </p:spPr>
      </p:sp>
      <p:sp>
        <p:nvSpPr>
          <p:cNvPr id="19" name="Text 17"/>
          <p:cNvSpPr txBox="1"/>
          <p:nvPr/>
        </p:nvSpPr>
        <p:spPr>
          <a:xfrm>
            <a:off x="7680960" y="4297680"/>
            <a:ext cx="914400" cy="365760"/>
          </a:xfrm>
          <a:prstGeom prst="rect">
            <a:avLst/>
          </a:prstGeom>
          <a:noFill/>
          <a:ln/>
        </p:spPr>
        <p:txBody>
          <a:bodyPr wrap="square" lIns="0" tIns="0" rIns="0" bIns="0" rtlCol="0" anchor="ctr"/>
          <a:lstStyle/>
          <a:p>
            <a:pPr indent="0" marL="0">
              <a:buNone/>
            </a:pPr>
            <a:r>
              <a:rPr lang="en-US" sz="1300" b="1" dirty="0">
                <a:solidFill>
                  <a:srgbClr val="10131A"/>
                </a:solidFill>
                <a:latin typeface="Calibri" pitchFamily="34" charset="0"/>
                <a:ea typeface="Calibri" pitchFamily="34" charset="-122"/>
                <a:cs typeface="Calibri" pitchFamily="34" charset="-120"/>
              </a:rPr>
              <a:t>48m</a:t>
            </a:r>
            <a:endParaRPr lang="en-US" sz="1300" dirty="0"/>
          </a:p>
        </p:txBody>
      </p:sp>
      <p:sp>
        <p:nvSpPr>
          <p:cNvPr id="20" name="Text 18"/>
          <p:cNvSpPr txBox="1"/>
          <p:nvPr/>
        </p:nvSpPr>
        <p:spPr>
          <a:xfrm>
            <a:off x="640080" y="4864608"/>
            <a:ext cx="3017520" cy="365760"/>
          </a:xfrm>
          <a:prstGeom prst="rect">
            <a:avLst/>
          </a:prstGeom>
          <a:noFill/>
          <a:ln/>
        </p:spPr>
        <p:txBody>
          <a:bodyPr wrap="square" lIns="0" tIns="0" rIns="0" bIns="0" rtlCol="0" anchor="ctr"/>
          <a:lstStyle/>
          <a:p>
            <a:pPr indent="0" marL="0">
              <a:buNone/>
            </a:pPr>
            <a:r>
              <a:rPr lang="en-US" sz="1300" dirty="0">
                <a:solidFill>
                  <a:srgbClr val="10131A"/>
                </a:solidFill>
                <a:latin typeface="Calibri" pitchFamily="34" charset="0"/>
                <a:ea typeface="Calibri" pitchFamily="34" charset="-122"/>
                <a:cs typeface="Calibri" pitchFamily="34" charset="-120"/>
              </a:rPr>
              <a:t>After — whole repo</a:t>
            </a:r>
            <a:endParaRPr lang="en-US" sz="1300" dirty="0"/>
          </a:p>
        </p:txBody>
      </p:sp>
      <p:sp>
        <p:nvSpPr>
          <p:cNvPr id="21" name="Shape 19"/>
          <p:cNvSpPr/>
          <p:nvPr/>
        </p:nvSpPr>
        <p:spPr>
          <a:xfrm>
            <a:off x="3749040" y="4937760"/>
            <a:ext cx="2000250" cy="256032"/>
          </a:xfrm>
          <a:prstGeom prst="roundRect">
            <a:avLst>
              <a:gd name="adj" fmla="val 14286"/>
            </a:avLst>
          </a:prstGeom>
          <a:solidFill>
            <a:srgbClr val="0B7A44"/>
          </a:solidFill>
          <a:ln w="12700">
            <a:solidFill>
              <a:srgbClr val="333333"/>
            </a:solidFill>
            <a:prstDash val="solid"/>
          </a:ln>
        </p:spPr>
      </p:sp>
      <p:sp>
        <p:nvSpPr>
          <p:cNvPr id="22" name="Text 20"/>
          <p:cNvSpPr txBox="1"/>
          <p:nvPr/>
        </p:nvSpPr>
        <p:spPr>
          <a:xfrm>
            <a:off x="5840730" y="4864608"/>
            <a:ext cx="914400" cy="365760"/>
          </a:xfrm>
          <a:prstGeom prst="rect">
            <a:avLst/>
          </a:prstGeom>
          <a:noFill/>
          <a:ln/>
        </p:spPr>
        <p:txBody>
          <a:bodyPr wrap="square" lIns="0" tIns="0" rIns="0" bIns="0" rtlCol="0" anchor="ctr"/>
          <a:lstStyle/>
          <a:p>
            <a:pPr indent="0" marL="0">
              <a:buNone/>
            </a:pPr>
            <a:r>
              <a:rPr lang="en-US" sz="1300" b="1" dirty="0">
                <a:solidFill>
                  <a:srgbClr val="10131A"/>
                </a:solidFill>
                <a:latin typeface="Calibri" pitchFamily="34" charset="0"/>
                <a:ea typeface="Calibri" pitchFamily="34" charset="-122"/>
                <a:cs typeface="Calibri" pitchFamily="34" charset="-120"/>
              </a:rPr>
              <a:t>25m</a:t>
            </a:r>
            <a:endParaRPr lang="en-US" sz="1300" dirty="0"/>
          </a:p>
        </p:txBody>
      </p:sp>
      <p:sp>
        <p:nvSpPr>
          <p:cNvPr id="23" name="Text 21"/>
          <p:cNvSpPr txBox="1"/>
          <p:nvPr/>
        </p:nvSpPr>
        <p:spPr>
          <a:xfrm>
            <a:off x="640080" y="5431536"/>
            <a:ext cx="3017520" cy="365760"/>
          </a:xfrm>
          <a:prstGeom prst="rect">
            <a:avLst/>
          </a:prstGeom>
          <a:noFill/>
          <a:ln/>
        </p:spPr>
        <p:txBody>
          <a:bodyPr wrap="square" lIns="0" tIns="0" rIns="0" bIns="0" rtlCol="0" anchor="ctr"/>
          <a:lstStyle/>
          <a:p>
            <a:pPr indent="0" marL="0">
              <a:buNone/>
            </a:pPr>
            <a:r>
              <a:rPr lang="en-US" sz="1300" dirty="0">
                <a:solidFill>
                  <a:srgbClr val="10131A"/>
                </a:solidFill>
                <a:latin typeface="Calibri" pitchFamily="34" charset="0"/>
                <a:ea typeface="Calibri" pitchFamily="34" charset="-122"/>
                <a:cs typeface="Calibri" pitchFamily="34" charset="-120"/>
              </a:rPr>
              <a:t>After — one app changed</a:t>
            </a:r>
            <a:endParaRPr lang="en-US" sz="1300" dirty="0"/>
          </a:p>
        </p:txBody>
      </p:sp>
      <p:sp>
        <p:nvSpPr>
          <p:cNvPr id="24" name="Shape 22"/>
          <p:cNvSpPr/>
          <p:nvPr/>
        </p:nvSpPr>
        <p:spPr>
          <a:xfrm>
            <a:off x="3749040" y="5504688"/>
            <a:ext cx="800100" cy="256032"/>
          </a:xfrm>
          <a:prstGeom prst="roundRect">
            <a:avLst>
              <a:gd name="adj" fmla="val 14286"/>
            </a:avLst>
          </a:prstGeom>
          <a:solidFill>
            <a:srgbClr val="15803D"/>
          </a:solidFill>
          <a:ln w="12700">
            <a:solidFill>
              <a:srgbClr val="333333"/>
            </a:solidFill>
            <a:prstDash val="solid"/>
          </a:ln>
        </p:spPr>
      </p:sp>
      <p:sp>
        <p:nvSpPr>
          <p:cNvPr id="25" name="Text 23"/>
          <p:cNvSpPr txBox="1"/>
          <p:nvPr/>
        </p:nvSpPr>
        <p:spPr>
          <a:xfrm>
            <a:off x="4640580" y="5431536"/>
            <a:ext cx="914400" cy="365760"/>
          </a:xfrm>
          <a:prstGeom prst="rect">
            <a:avLst/>
          </a:prstGeom>
          <a:noFill/>
          <a:ln/>
        </p:spPr>
        <p:txBody>
          <a:bodyPr wrap="square" lIns="0" tIns="0" rIns="0" bIns="0" rtlCol="0" anchor="ctr"/>
          <a:lstStyle/>
          <a:p>
            <a:pPr indent="0" marL="0">
              <a:buNone/>
            </a:pPr>
            <a:r>
              <a:rPr lang="en-US" sz="1300" b="1" dirty="0">
                <a:solidFill>
                  <a:srgbClr val="10131A"/>
                </a:solidFill>
                <a:latin typeface="Calibri" pitchFamily="34" charset="0"/>
                <a:ea typeface="Calibri" pitchFamily="34" charset="-122"/>
                <a:cs typeface="Calibri" pitchFamily="34" charset="-120"/>
              </a:rPr>
              <a:t>10m</a:t>
            </a:r>
            <a:endParaRPr lang="en-US" sz="1300" dirty="0"/>
          </a:p>
        </p:txBody>
      </p:sp>
      <p:sp>
        <p:nvSpPr>
          <p:cNvPr id="26" name="Shape 24"/>
          <p:cNvSpPr/>
          <p:nvPr/>
        </p:nvSpPr>
        <p:spPr>
          <a:xfrm>
            <a:off x="8778240" y="4206240"/>
            <a:ext cx="2743200" cy="1691640"/>
          </a:xfrm>
          <a:prstGeom prst="roundRect">
            <a:avLst>
              <a:gd name="adj" fmla="val 4865"/>
            </a:avLst>
          </a:prstGeom>
          <a:solidFill>
            <a:srgbClr val="DCF5E7"/>
          </a:solidFill>
          <a:ln w="12700">
            <a:solidFill>
              <a:srgbClr val="0B7A44"/>
            </a:solidFill>
            <a:prstDash val="solid"/>
          </a:ln>
        </p:spPr>
      </p:sp>
      <p:sp>
        <p:nvSpPr>
          <p:cNvPr id="27" name="Text 25"/>
          <p:cNvSpPr txBox="1"/>
          <p:nvPr/>
        </p:nvSpPr>
        <p:spPr>
          <a:xfrm>
            <a:off x="9006840" y="4434840"/>
            <a:ext cx="2286000" cy="640080"/>
          </a:xfrm>
          <a:prstGeom prst="rect">
            <a:avLst/>
          </a:prstGeom>
          <a:noFill/>
          <a:ln/>
        </p:spPr>
        <p:txBody>
          <a:bodyPr wrap="square" lIns="0" tIns="0" rIns="0" bIns="0" rtlCol="0" anchor="ctr"/>
          <a:lstStyle/>
          <a:p>
            <a:pPr indent="0" marL="0">
              <a:buNone/>
            </a:pPr>
            <a:r>
              <a:rPr lang="en-US" sz="1700" b="1" dirty="0">
                <a:solidFill>
                  <a:srgbClr val="14603C"/>
                </a:solidFill>
                <a:latin typeface="Calibri" pitchFamily="34" charset="0"/>
                <a:ea typeface="Calibri" pitchFamily="34" charset="-122"/>
                <a:cs typeface="Calibri" pitchFamily="34" charset="-120"/>
              </a:rPr>
              <a:t>Half the Actions bill</a:t>
            </a:r>
            <a:endParaRPr lang="en-US" sz="1700" dirty="0"/>
          </a:p>
        </p:txBody>
      </p:sp>
      <p:sp>
        <p:nvSpPr>
          <p:cNvPr id="28" name="Text 26"/>
          <p:cNvSpPr txBox="1"/>
          <p:nvPr/>
        </p:nvSpPr>
        <p:spPr>
          <a:xfrm>
            <a:off x="9006840" y="5074920"/>
            <a:ext cx="2286000" cy="685800"/>
          </a:xfrm>
          <a:prstGeom prst="rect">
            <a:avLst/>
          </a:prstGeom>
          <a:noFill/>
          <a:ln/>
        </p:spPr>
        <p:txBody>
          <a:bodyPr wrap="square" lIns="0" tIns="0" rIns="0" bIns="0" rtlCol="0" anchor="ctr"/>
          <a:lstStyle/>
          <a:p>
            <a:pPr indent="0" marL="0">
              <a:buNone/>
            </a:pPr>
            <a:r>
              <a:rPr lang="en-US" sz="1300" dirty="0">
                <a:solidFill>
                  <a:srgbClr val="14603C"/>
                </a:solidFill>
                <a:latin typeface="Calibri" pitchFamily="34" charset="0"/>
                <a:ea typeface="Calibri" pitchFamily="34" charset="-122"/>
                <a:cs typeface="Calibri" pitchFamily="34" charset="-120"/>
              </a:rPr>
              <a:t>Minutes are billed. Cache hits are not.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0131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4ADE80"/>
                </a:solidFill>
                <a:latin typeface="Calibri" pitchFamily="34" charset="0"/>
                <a:ea typeface="Calibri" pitchFamily="34" charset="-122"/>
                <a:cs typeface="Calibri" pitchFamily="34" charset="-120"/>
              </a:rPr>
              <a:t>YOUR TURN</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Same problem? Start here.</a:t>
            </a:r>
            <a:endParaRPr lang="en-US" sz="3800" dirty="0"/>
          </a:p>
        </p:txBody>
      </p:sp>
      <p:sp>
        <p:nvSpPr>
          <p:cNvPr id="4" name="Text 2"/>
          <p:cNvSpPr txBox="1"/>
          <p:nvPr/>
        </p:nvSpPr>
        <p:spPr>
          <a:xfrm>
            <a:off x="640080" y="1874520"/>
            <a:ext cx="777240" cy="411480"/>
          </a:xfrm>
          <a:prstGeom prst="rect">
            <a:avLst/>
          </a:prstGeom>
          <a:noFill/>
          <a:ln/>
        </p:spPr>
        <p:txBody>
          <a:bodyPr wrap="square" lIns="0" tIns="0" rIns="0" bIns="0" rtlCol="0" anchor="ctr"/>
          <a:lstStyle/>
          <a:p>
            <a:pPr indent="0" marL="0">
              <a:buNone/>
            </a:pPr>
            <a:r>
              <a:rPr lang="en-US" sz="2200" b="1" dirty="0">
                <a:solidFill>
                  <a:srgbClr val="4ADE80"/>
                </a:solidFill>
                <a:latin typeface="Courier New" pitchFamily="34" charset="0"/>
                <a:ea typeface="Courier New" pitchFamily="34" charset="-122"/>
                <a:cs typeface="Courier New" pitchFamily="34" charset="-120"/>
              </a:rPr>
              <a:t>01</a:t>
            </a:r>
            <a:endParaRPr lang="en-US" sz="2200" dirty="0"/>
          </a:p>
        </p:txBody>
      </p:sp>
      <p:sp>
        <p:nvSpPr>
          <p:cNvPr id="5" name="Text 3"/>
          <p:cNvSpPr txBox="1"/>
          <p:nvPr/>
        </p:nvSpPr>
        <p:spPr>
          <a:xfrm>
            <a:off x="1508760" y="1874520"/>
            <a:ext cx="6766560" cy="38404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Clone the repo</a:t>
            </a:r>
            <a:endParaRPr lang="en-US" sz="2000" dirty="0"/>
          </a:p>
        </p:txBody>
      </p:sp>
      <p:sp>
        <p:nvSpPr>
          <p:cNvPr id="6" name="Text 4"/>
          <p:cNvSpPr txBox="1"/>
          <p:nvPr/>
        </p:nvSpPr>
        <p:spPr>
          <a:xfrm>
            <a:off x="1508760" y="2286000"/>
            <a:ext cx="6766560" cy="457200"/>
          </a:xfrm>
          <a:prstGeom prst="rect">
            <a:avLst/>
          </a:prstGeom>
          <a:noFill/>
          <a:ln/>
        </p:spPr>
        <p:txBody>
          <a:bodyPr wrap="square" lIns="0" tIns="0" rIns="0" bIns="0" rtlCol="0" anchor="ctr"/>
          <a:lstStyle/>
          <a:p>
            <a:pPr indent="0" marL="0">
              <a:buNone/>
            </a:pPr>
            <a:r>
              <a:rPr lang="en-US" sz="1400" dirty="0">
                <a:solidFill>
                  <a:srgbClr val="8A94A6"/>
                </a:solidFill>
                <a:latin typeface="Calibri" pitchFamily="34" charset="0"/>
                <a:ea typeface="Calibri" pitchFamily="34" charset="-122"/>
                <a:cs typeface="Calibri" pitchFamily="34" charset="-120"/>
              </a:rPr>
              <a:t>Everything in this talk, measured and reproducible.</a:t>
            </a:r>
            <a:endParaRPr lang="en-US" sz="1400" dirty="0"/>
          </a:p>
        </p:txBody>
      </p:sp>
      <p:sp>
        <p:nvSpPr>
          <p:cNvPr id="7" name="Text 5"/>
          <p:cNvSpPr txBox="1"/>
          <p:nvPr/>
        </p:nvSpPr>
        <p:spPr>
          <a:xfrm>
            <a:off x="640080" y="3017520"/>
            <a:ext cx="777240" cy="411480"/>
          </a:xfrm>
          <a:prstGeom prst="rect">
            <a:avLst/>
          </a:prstGeom>
          <a:noFill/>
          <a:ln/>
        </p:spPr>
        <p:txBody>
          <a:bodyPr wrap="square" lIns="0" tIns="0" rIns="0" bIns="0" rtlCol="0" anchor="ctr"/>
          <a:lstStyle/>
          <a:p>
            <a:pPr indent="0" marL="0">
              <a:buNone/>
            </a:pPr>
            <a:r>
              <a:rPr lang="en-US" sz="2200" b="1" dirty="0">
                <a:solidFill>
                  <a:srgbClr val="4ADE80"/>
                </a:solidFill>
                <a:latin typeface="Courier New" pitchFamily="34" charset="0"/>
                <a:ea typeface="Courier New" pitchFamily="34" charset="-122"/>
                <a:cs typeface="Courier New" pitchFamily="34" charset="-120"/>
              </a:rPr>
              <a:t>02</a:t>
            </a:r>
            <a:endParaRPr lang="en-US" sz="2200" dirty="0"/>
          </a:p>
        </p:txBody>
      </p:sp>
      <p:sp>
        <p:nvSpPr>
          <p:cNvPr id="8" name="Text 6"/>
          <p:cNvSpPr txBox="1"/>
          <p:nvPr/>
        </p:nvSpPr>
        <p:spPr>
          <a:xfrm>
            <a:off x="1508760" y="3017520"/>
            <a:ext cx="6766560" cy="38404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Point your agent at it</a:t>
            </a:r>
            <a:endParaRPr lang="en-US" sz="2000" dirty="0"/>
          </a:p>
        </p:txBody>
      </p:sp>
      <p:sp>
        <p:nvSpPr>
          <p:cNvPr id="9" name="Text 7"/>
          <p:cNvSpPr txBox="1"/>
          <p:nvPr/>
        </p:nvSpPr>
        <p:spPr>
          <a:xfrm>
            <a:off x="1508760" y="3429000"/>
            <a:ext cx="6766560" cy="457200"/>
          </a:xfrm>
          <a:prstGeom prst="rect">
            <a:avLst/>
          </a:prstGeom>
          <a:noFill/>
          <a:ln/>
        </p:spPr>
        <p:txBody>
          <a:bodyPr wrap="square" lIns="0" tIns="0" rIns="0" bIns="0" rtlCol="0" anchor="ctr"/>
          <a:lstStyle/>
          <a:p>
            <a:pPr indent="0" marL="0">
              <a:buNone/>
            </a:pPr>
            <a:r>
              <a:rPr lang="en-US" sz="1400" dirty="0">
                <a:solidFill>
                  <a:srgbClr val="8A94A6"/>
                </a:solidFill>
                <a:latin typeface="Calibri" pitchFamily="34" charset="0"/>
                <a:ea typeface="Calibri" pitchFamily="34" charset="-122"/>
                <a:cs typeface="Calibri" pitchFamily="34" charset="-120"/>
              </a:rPr>
              <a:t>"Apply this Nx atomizer + cache setup to my repo."</a:t>
            </a:r>
            <a:endParaRPr lang="en-US" sz="1400" dirty="0"/>
          </a:p>
        </p:txBody>
      </p:sp>
      <p:sp>
        <p:nvSpPr>
          <p:cNvPr id="10" name="Text 8"/>
          <p:cNvSpPr txBox="1"/>
          <p:nvPr/>
        </p:nvSpPr>
        <p:spPr>
          <a:xfrm>
            <a:off x="640080" y="4160520"/>
            <a:ext cx="777240" cy="411480"/>
          </a:xfrm>
          <a:prstGeom prst="rect">
            <a:avLst/>
          </a:prstGeom>
          <a:noFill/>
          <a:ln/>
        </p:spPr>
        <p:txBody>
          <a:bodyPr wrap="square" lIns="0" tIns="0" rIns="0" bIns="0" rtlCol="0" anchor="ctr"/>
          <a:lstStyle/>
          <a:p>
            <a:pPr indent="0" marL="0">
              <a:buNone/>
            </a:pPr>
            <a:r>
              <a:rPr lang="en-US" sz="2200" b="1" dirty="0">
                <a:solidFill>
                  <a:srgbClr val="4ADE80"/>
                </a:solidFill>
                <a:latin typeface="Courier New" pitchFamily="34" charset="0"/>
                <a:ea typeface="Courier New" pitchFamily="34" charset="-122"/>
                <a:cs typeface="Courier New" pitchFamily="34" charset="-120"/>
              </a:rPr>
              <a:t>03</a:t>
            </a:r>
            <a:endParaRPr lang="en-US" sz="2200" dirty="0"/>
          </a:p>
        </p:txBody>
      </p:sp>
      <p:sp>
        <p:nvSpPr>
          <p:cNvPr id="11" name="Text 9"/>
          <p:cNvSpPr txBox="1"/>
          <p:nvPr/>
        </p:nvSpPr>
        <p:spPr>
          <a:xfrm>
            <a:off x="1508760" y="4160520"/>
            <a:ext cx="6766560" cy="38404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Measure before you believe it</a:t>
            </a:r>
            <a:endParaRPr lang="en-US" sz="2000" dirty="0"/>
          </a:p>
        </p:txBody>
      </p:sp>
      <p:sp>
        <p:nvSpPr>
          <p:cNvPr id="12" name="Text 10"/>
          <p:cNvSpPr txBox="1"/>
          <p:nvPr/>
        </p:nvSpPr>
        <p:spPr>
          <a:xfrm>
            <a:off x="1508760" y="4572000"/>
            <a:ext cx="6766560" cy="457200"/>
          </a:xfrm>
          <a:prstGeom prst="rect">
            <a:avLst/>
          </a:prstGeom>
          <a:noFill/>
          <a:ln/>
        </p:spPr>
        <p:txBody>
          <a:bodyPr wrap="square" lIns="0" tIns="0" rIns="0" bIns="0" rtlCol="0" anchor="ctr"/>
          <a:lstStyle/>
          <a:p>
            <a:pPr indent="0" marL="0">
              <a:buNone/>
            </a:pPr>
            <a:r>
              <a:rPr lang="en-US" sz="1400" dirty="0">
                <a:solidFill>
                  <a:srgbClr val="8A94A6"/>
                </a:solidFill>
                <a:latin typeface="Calibri" pitchFamily="34" charset="0"/>
                <a:ea typeface="Calibri" pitchFamily="34" charset="-122"/>
                <a:cs typeface="Calibri" pitchFamily="34" charset="-120"/>
              </a:rPr>
              <a:t>npm run e2e:benchmark, on your machine, on your suite.</a:t>
            </a:r>
            <a:endParaRPr lang="en-US" sz="1400" dirty="0"/>
          </a:p>
        </p:txBody>
      </p:sp>
      <p:sp>
        <p:nvSpPr>
          <p:cNvPr id="13" name="Shape 11"/>
          <p:cNvSpPr/>
          <p:nvPr/>
        </p:nvSpPr>
        <p:spPr>
          <a:xfrm>
            <a:off x="640080" y="5394960"/>
            <a:ext cx="7680960" cy="685800"/>
          </a:xfrm>
          <a:prstGeom prst="roundRect">
            <a:avLst>
              <a:gd name="adj" fmla="val 9333"/>
            </a:avLst>
          </a:prstGeom>
          <a:solidFill>
            <a:srgbClr val="0A0D13"/>
          </a:solidFill>
          <a:ln w="12700">
            <a:solidFill>
              <a:srgbClr val="2C3340"/>
            </a:solidFill>
            <a:prstDash val="solid"/>
          </a:ln>
        </p:spPr>
      </p:sp>
      <p:sp>
        <p:nvSpPr>
          <p:cNvPr id="14" name="Text 12"/>
          <p:cNvSpPr txBox="1"/>
          <p:nvPr/>
        </p:nvSpPr>
        <p:spPr>
          <a:xfrm>
            <a:off x="914400" y="5394960"/>
            <a:ext cx="7132320" cy="685800"/>
          </a:xfrm>
          <a:prstGeom prst="rect">
            <a:avLst/>
          </a:prstGeom>
          <a:noFill/>
          <a:ln/>
        </p:spPr>
        <p:txBody>
          <a:bodyPr wrap="square" lIns="0" tIns="0" rIns="0" bIns="0" rtlCol="0" anchor="ctr"/>
          <a:lstStyle/>
          <a:p>
            <a:pPr indent="0" marL="0">
              <a:buNone/>
            </a:pPr>
            <a:r>
              <a:rPr lang="en-US" sz="1400" dirty="0">
                <a:solidFill>
                  <a:srgbClr val="4ADE80"/>
                </a:solidFill>
                <a:latin typeface="Courier New" pitchFamily="34" charset="0"/>
                <a:ea typeface="Courier New" pitchFamily="34" charset="-122"/>
                <a:cs typeface="Courier New" pitchFamily="34" charset="-120"/>
              </a:rPr>
              <a:t>github.com/radzivil/nx-scaling-e2e-tests-with-atomizer</a:t>
            </a:r>
            <a:endParaRPr lang="en-US" sz="1400" dirty="0"/>
          </a:p>
        </p:txBody>
      </p:sp>
      <p:sp>
        <p:nvSpPr>
          <p:cNvPr id="15" name="Shape 13"/>
          <p:cNvSpPr/>
          <p:nvPr/>
        </p:nvSpPr>
        <p:spPr>
          <a:xfrm>
            <a:off x="8778240" y="1874520"/>
            <a:ext cx="2651760" cy="2651760"/>
          </a:xfrm>
          <a:prstGeom prst="roundRect">
            <a:avLst>
              <a:gd name="adj" fmla="val 2069"/>
            </a:avLst>
          </a:prstGeom>
          <a:solidFill>
            <a:srgbClr val="FFFFFF"/>
          </a:solidFill>
          <a:ln w="12700">
            <a:solidFill>
              <a:srgbClr val="333333"/>
            </a:solidFill>
            <a:prstDash val="solid"/>
          </a:ln>
        </p:spPr>
      </p:sp>
      <p:pic>
        <p:nvPicPr>
          <p:cNvPr id="16" name="Image 0" descr="/Users/vra/IdeaProjects/nx-scaling-e2e-tests-with-atomizer/talk/assets/qr-repo.png">    </p:cNvPr>
          <p:cNvPicPr>
            <a:picLocks noChangeAspect="1"/>
          </p:cNvPicPr>
          <p:nvPr/>
        </p:nvPicPr>
        <p:blipFill>
          <a:blip r:embed="rId1"/>
          <a:stretch>
            <a:fillRect/>
          </a:stretch>
        </p:blipFill>
        <p:spPr>
          <a:xfrm>
            <a:off x="8897112" y="1993392"/>
            <a:ext cx="2414016" cy="2414016"/>
          </a:xfrm>
          <a:prstGeom prst="rect">
            <a:avLst/>
          </a:prstGeom>
        </p:spPr>
      </p:pic>
      <p:sp>
        <p:nvSpPr>
          <p:cNvPr id="17" name="Text 14"/>
          <p:cNvSpPr txBox="1"/>
          <p:nvPr/>
        </p:nvSpPr>
        <p:spPr>
          <a:xfrm>
            <a:off x="8778240" y="4654296"/>
            <a:ext cx="2651760" cy="320040"/>
          </a:xfrm>
          <a:prstGeom prst="rect">
            <a:avLst/>
          </a:prstGeom>
          <a:noFill/>
          <a:ln/>
        </p:spPr>
        <p:txBody>
          <a:bodyPr wrap="square" lIns="0" tIns="0" rIns="0" bIns="0" rtlCol="0" anchor="ctr"/>
          <a:lstStyle/>
          <a:p>
            <a:pPr algn="ctr" indent="0" marL="0">
              <a:buNone/>
            </a:pPr>
            <a:r>
              <a:rPr lang="en-US" sz="1200" dirty="0">
                <a:solidFill>
                  <a:srgbClr val="8A94A6"/>
                </a:solidFill>
                <a:latin typeface="Calibri" pitchFamily="34" charset="0"/>
                <a:ea typeface="Calibri" pitchFamily="34" charset="-122"/>
                <a:cs typeface="Calibri" pitchFamily="34" charset="-120"/>
              </a:rPr>
              <a:t>Clone the demo repo</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0B7A44"/>
                </a:solidFill>
                <a:latin typeface="Calibri" pitchFamily="34" charset="0"/>
                <a:ea typeface="Calibri" pitchFamily="34" charset="-122"/>
                <a:cs typeface="Calibri" pitchFamily="34" charset="-120"/>
              </a:rPr>
              <a:t>THANK YOU</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10131A"/>
                </a:solidFill>
                <a:latin typeface="Cambria" pitchFamily="34" charset="0"/>
                <a:ea typeface="Cambria" pitchFamily="34" charset="-122"/>
                <a:cs typeface="Cambria" pitchFamily="34" charset="-120"/>
              </a:rPr>
              <a:t>Feedback &amp; Q&amp;A</a:t>
            </a:r>
            <a:endParaRPr lang="en-US" sz="3800" dirty="0"/>
          </a:p>
        </p:txBody>
      </p:sp>
      <p:sp>
        <p:nvSpPr>
          <p:cNvPr id="4" name="Text 2"/>
          <p:cNvSpPr txBox="1"/>
          <p:nvPr/>
        </p:nvSpPr>
        <p:spPr>
          <a:xfrm>
            <a:off x="640080" y="1874520"/>
            <a:ext cx="7223760" cy="457200"/>
          </a:xfrm>
          <a:prstGeom prst="rect">
            <a:avLst/>
          </a:prstGeom>
          <a:noFill/>
          <a:ln/>
        </p:spPr>
        <p:txBody>
          <a:bodyPr wrap="square" lIns="0" tIns="0" rIns="0" bIns="0" rtlCol="0" anchor="ctr"/>
          <a:lstStyle/>
          <a:p>
            <a:pPr indent="0" marL="0">
              <a:buNone/>
            </a:pPr>
            <a:r>
              <a:rPr lang="en-US" sz="1900" dirty="0">
                <a:solidFill>
                  <a:srgbClr val="10131A"/>
                </a:solidFill>
                <a:latin typeface="Calibri" pitchFamily="34" charset="0"/>
                <a:ea typeface="Calibri" pitchFamily="34" charset="-122"/>
                <a:cs typeface="Calibri" pitchFamily="34" charset="-120"/>
              </a:rPr>
              <a:t>Take a minute to give your feedback — it makes the next session better.</a:t>
            </a:r>
            <a:endParaRPr lang="en-US" sz="1900" dirty="0"/>
          </a:p>
        </p:txBody>
      </p:sp>
      <p:sp>
        <p:nvSpPr>
          <p:cNvPr id="5" name="Text 3"/>
          <p:cNvSpPr txBox="1"/>
          <p:nvPr/>
        </p:nvSpPr>
        <p:spPr>
          <a:xfrm>
            <a:off x="640080" y="2651760"/>
            <a:ext cx="7223760" cy="320040"/>
          </a:xfrm>
          <a:prstGeom prst="rect">
            <a:avLst/>
          </a:prstGeom>
          <a:noFill/>
          <a:ln/>
        </p:spPr>
        <p:txBody>
          <a:bodyPr wrap="square" lIns="0" tIns="0" rIns="0" bIns="0" rtlCol="0" anchor="ctr"/>
          <a:lstStyle/>
          <a:p>
            <a:pPr indent="0" marL="0">
              <a:buNone/>
            </a:pPr>
            <a:r>
              <a:rPr lang="en-US" sz="1400" b="1" spc="100" kern="0" dirty="0">
                <a:solidFill>
                  <a:srgbClr val="8A94A6"/>
                </a:solidFill>
                <a:latin typeface="Calibri" pitchFamily="34" charset="0"/>
                <a:ea typeface="Calibri" pitchFamily="34" charset="-122"/>
                <a:cs typeface="Calibri" pitchFamily="34" charset="-120"/>
              </a:rPr>
              <a:t>What to take back</a:t>
            </a:r>
            <a:endParaRPr lang="en-US" sz="1400" dirty="0"/>
          </a:p>
        </p:txBody>
      </p:sp>
      <p:sp>
        <p:nvSpPr>
          <p:cNvPr id="6" name="Text 4"/>
          <p:cNvSpPr txBox="1"/>
          <p:nvPr/>
        </p:nvSpPr>
        <p:spPr>
          <a:xfrm>
            <a:off x="640080" y="3063240"/>
            <a:ext cx="7223760" cy="23774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0131A"/>
                </a:solidFill>
                <a:latin typeface="Calibri" pitchFamily="34" charset="0"/>
                <a:ea typeface="Calibri" pitchFamily="34" charset="-122"/>
                <a:cs typeface="Calibri" pitchFamily="34" charset="-120"/>
              </a:rPr>
              <a:t>Splitting is generated, not maintained</a:t>
            </a:r>
            <a:endParaRPr lang="en-US" sz="1400" dirty="0"/>
          </a:p>
          <a:p>
            <a:pPr marL="342900" indent="-342900">
              <a:spcAft>
                <a:spcPts val="1000"/>
              </a:spcAft>
              <a:buSzPct val="100000"/>
              <a:buChar char="•"/>
            </a:pPr>
            <a:r>
              <a:rPr lang="en-US" sz="1400" dirty="0">
                <a:solidFill>
                  <a:srgbClr val="10131A"/>
                </a:solidFill>
                <a:latin typeface="Calibri" pitchFamily="34" charset="0"/>
                <a:ea typeface="Calibri" pitchFamily="34" charset="-122"/>
                <a:cs typeface="Calibri" pitchFamily="34" charset="-120"/>
              </a:rPr>
              <a:t>Splitting alone is not a speedup — concurrency is</a:t>
            </a:r>
            <a:endParaRPr lang="en-US" sz="1400" dirty="0"/>
          </a:p>
          <a:p>
            <a:pPr marL="342900" indent="-342900">
              <a:spcAft>
                <a:spcPts val="1000"/>
              </a:spcAft>
              <a:buSzPct val="100000"/>
              <a:buChar char="•"/>
            </a:pPr>
            <a:r>
              <a:rPr lang="en-US" sz="1400" dirty="0">
                <a:solidFill>
                  <a:srgbClr val="10131A"/>
                </a:solidFill>
                <a:latin typeface="Calibri" pitchFamily="34" charset="0"/>
                <a:ea typeface="Calibri" pitchFamily="34" charset="-122"/>
                <a:cs typeface="Calibri" pitchFamily="34" charset="-120"/>
              </a:rPr>
              <a:t>The cache is the retry story: failures are never cached</a:t>
            </a:r>
            <a:endParaRPr lang="en-US" sz="1400" dirty="0"/>
          </a:p>
          <a:p>
            <a:pPr marL="342900" indent="-342900">
              <a:spcAft>
                <a:spcPts val="1000"/>
              </a:spcAft>
              <a:buSzPct val="100000"/>
              <a:buChar char="•"/>
            </a:pPr>
            <a:r>
              <a:rPr lang="en-US" sz="1400" dirty="0">
                <a:solidFill>
                  <a:srgbClr val="10131A"/>
                </a:solidFill>
                <a:latin typeface="Calibri" pitchFamily="34" charset="0"/>
                <a:ea typeface="Calibri" pitchFamily="34" charset="-122"/>
                <a:cs typeface="Calibri" pitchFamily="34" charset="-120"/>
              </a:rPr>
              <a:t>Distribute by app before you distribute by index</a:t>
            </a:r>
            <a:endParaRPr lang="en-US" sz="1400" dirty="0"/>
          </a:p>
          <a:p>
            <a:pPr marL="342900" indent="-342900">
              <a:spcAft>
                <a:spcPts val="1000"/>
              </a:spcAft>
              <a:buSzPct val="100000"/>
              <a:buChar char="•"/>
            </a:pPr>
            <a:r>
              <a:rPr lang="en-US" sz="1400" dirty="0">
                <a:solidFill>
                  <a:srgbClr val="10131A"/>
                </a:solidFill>
                <a:latin typeface="Calibri" pitchFamily="34" charset="0"/>
                <a:ea typeface="Calibri" pitchFamily="34" charset="-122"/>
                <a:cs typeface="Calibri" pitchFamily="34" charset="-120"/>
              </a:rPr>
              <a:t>None of it needs Nx Cloud</a:t>
            </a:r>
            <a:endParaRPr lang="en-US" sz="1400" dirty="0"/>
          </a:p>
        </p:txBody>
      </p:sp>
      <p:sp>
        <p:nvSpPr>
          <p:cNvPr id="7" name="Shape 5"/>
          <p:cNvSpPr/>
          <p:nvPr/>
        </p:nvSpPr>
        <p:spPr>
          <a:xfrm>
            <a:off x="8412480" y="1874520"/>
            <a:ext cx="2834640" cy="2834640"/>
          </a:xfrm>
          <a:prstGeom prst="roundRect">
            <a:avLst>
              <a:gd name="adj" fmla="val 1935"/>
            </a:avLst>
          </a:prstGeom>
          <a:solidFill>
            <a:srgbClr val="FFFFFF"/>
          </a:solidFill>
          <a:ln w="12700">
            <a:solidFill>
              <a:srgbClr val="333333"/>
            </a:solidFill>
            <a:prstDash val="solid"/>
          </a:ln>
        </p:spPr>
      </p:sp>
      <p:pic>
        <p:nvPicPr>
          <p:cNvPr id="8" name="Image 0" descr="/Users/vra/IdeaProjects/nx-scaling-e2e-tests-with-atomizer/talk/assets/qr-feedback.png">    </p:cNvPr>
          <p:cNvPicPr>
            <a:picLocks noChangeAspect="1"/>
          </p:cNvPicPr>
          <p:nvPr/>
        </p:nvPicPr>
        <p:blipFill>
          <a:blip r:embed="rId1"/>
          <a:stretch>
            <a:fillRect/>
          </a:stretch>
        </p:blipFill>
        <p:spPr>
          <a:xfrm>
            <a:off x="8531352" y="1993392"/>
            <a:ext cx="2596896" cy="2596896"/>
          </a:xfrm>
          <a:prstGeom prst="rect">
            <a:avLst/>
          </a:prstGeom>
        </p:spPr>
      </p:pic>
      <p:sp>
        <p:nvSpPr>
          <p:cNvPr id="9" name="Text 6"/>
          <p:cNvSpPr txBox="1"/>
          <p:nvPr/>
        </p:nvSpPr>
        <p:spPr>
          <a:xfrm>
            <a:off x="8412480" y="4837176"/>
            <a:ext cx="2834640" cy="320040"/>
          </a:xfrm>
          <a:prstGeom prst="rect">
            <a:avLst/>
          </a:prstGeom>
          <a:noFill/>
          <a:ln/>
        </p:spPr>
        <p:txBody>
          <a:bodyPr wrap="square" lIns="0" tIns="0" rIns="0" bIns="0" rtlCol="0" anchor="ctr"/>
          <a:lstStyle/>
          <a:p>
            <a:pPr algn="ctr" indent="0" marL="0">
              <a:buNone/>
            </a:pPr>
            <a:r>
              <a:rPr lang="en-US" sz="1200" dirty="0">
                <a:solidFill>
                  <a:srgbClr val="5C6675"/>
                </a:solidFill>
                <a:latin typeface="Calibri" pitchFamily="34" charset="0"/>
                <a:ea typeface="Calibri" pitchFamily="34" charset="-122"/>
                <a:cs typeface="Calibri" pitchFamily="34" charset="-120"/>
              </a:rPr>
              <a:t>Session feedback</a:t>
            </a:r>
            <a:endParaRPr lang="en-US" sz="1200" dirty="0"/>
          </a:p>
        </p:txBody>
      </p:sp>
      <p:sp>
        <p:nvSpPr>
          <p:cNvPr id="10" name="Text 7"/>
          <p:cNvSpPr txBox="1"/>
          <p:nvPr/>
        </p:nvSpPr>
        <p:spPr>
          <a:xfrm>
            <a:off x="640080" y="5806440"/>
            <a:ext cx="7223760" cy="320040"/>
          </a:xfrm>
          <a:prstGeom prst="rect">
            <a:avLst/>
          </a:prstGeom>
          <a:noFill/>
          <a:ln/>
        </p:spPr>
        <p:txBody>
          <a:bodyPr wrap="square" lIns="0" tIns="0" rIns="0" bIns="0" rtlCol="0" anchor="ctr"/>
          <a:lstStyle/>
          <a:p>
            <a:pPr indent="0" marL="0">
              <a:buNone/>
            </a:pPr>
            <a:r>
              <a:rPr lang="en-US" sz="1300" dirty="0">
                <a:solidFill>
                  <a:srgbClr val="5C6675"/>
                </a:solidFill>
                <a:latin typeface="Courier New" pitchFamily="34" charset="0"/>
                <a:ea typeface="Courier New" pitchFamily="34" charset="-122"/>
                <a:cs typeface="Courier New" pitchFamily="34" charset="-120"/>
              </a:rPr>
              <a:t>github.com/radzivil/nx-scaling-e2e-tests-with-atomizer</a:t>
            </a:r>
            <a:endParaRPr lang="en-US" sz="1300" dirty="0"/>
          </a:p>
        </p:txBody>
      </p:sp>
      <p:sp>
        <p:nvSpPr>
          <p:cNvPr id="11" name="Text 8"/>
          <p:cNvSpPr txBox="1"/>
          <p:nvPr/>
        </p:nvSpPr>
        <p:spPr>
          <a:xfrm>
            <a:off x="640080" y="6144768"/>
            <a:ext cx="7223760" cy="320040"/>
          </a:xfrm>
          <a:prstGeom prst="rect">
            <a:avLst/>
          </a:prstGeom>
          <a:noFill/>
          <a:ln/>
        </p:spPr>
        <p:txBody>
          <a:bodyPr wrap="square" lIns="0" tIns="0" rIns="0" bIns="0" rtlCol="0" anchor="ctr"/>
          <a:lstStyle/>
          <a:p>
            <a:pPr indent="0" marL="0">
              <a:buNone/>
            </a:pPr>
            <a:r>
              <a:rPr lang="en-US" sz="1300" dirty="0">
                <a:solidFill>
                  <a:srgbClr val="8A94A6"/>
                </a:solidFill>
                <a:latin typeface="Calibri" pitchFamily="34" charset="0"/>
                <a:ea typeface="Calibri" pitchFamily="34" charset="-122"/>
                <a:cs typeface="Calibri" pitchFamily="34" charset="-120"/>
              </a:rPr>
              <a:t>Vladimir Radzivil · linkedin.com/in/vladimirradzivil</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0131A"/>
        </a:solidFill>
      </p:bgPr>
    </p:bg>
    <p:spTree>
      <p:nvGrpSpPr>
        <p:cNvPr id="1" name=""/>
        <p:cNvGrpSpPr/>
        <p:nvPr/>
      </p:nvGrpSpPr>
      <p:grpSpPr>
        <a:xfrm>
          <a:off x="0" y="0"/>
          <a:ext cx="0" cy="0"/>
          <a:chOff x="0" y="0"/>
          <a:chExt cx="0" cy="0"/>
        </a:xfrm>
      </p:grpSpPr>
      <p:sp>
        <p:nvSpPr>
          <p:cNvPr id="2" name="Text 0"/>
          <p:cNvSpPr txBox="1"/>
          <p:nvPr/>
        </p:nvSpPr>
        <p:spPr>
          <a:xfrm>
            <a:off x="640080" y="2743200"/>
            <a:ext cx="1088136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Appendix</a:t>
            </a:r>
            <a:endParaRPr lang="en-US" sz="4400" dirty="0"/>
          </a:p>
        </p:txBody>
      </p:sp>
      <p:sp>
        <p:nvSpPr>
          <p:cNvPr id="3" name="Text 1"/>
          <p:cNvSpPr txBox="1"/>
          <p:nvPr/>
        </p:nvSpPr>
        <p:spPr>
          <a:xfrm>
            <a:off x="640080" y="3566160"/>
            <a:ext cx="10881360" cy="457200"/>
          </a:xfrm>
          <a:prstGeom prst="rect">
            <a:avLst/>
          </a:prstGeom>
          <a:noFill/>
          <a:ln/>
        </p:spPr>
        <p:txBody>
          <a:bodyPr wrap="square" lIns="0" tIns="0" rIns="0" bIns="0" rtlCol="0" anchor="ctr"/>
          <a:lstStyle/>
          <a:p>
            <a:pPr indent="0" marL="0">
              <a:buNone/>
            </a:pPr>
            <a:r>
              <a:rPr lang="en-US" sz="1700" dirty="0">
                <a:solidFill>
                  <a:srgbClr val="8A94A6"/>
                </a:solidFill>
                <a:latin typeface="Calibri" pitchFamily="34" charset="0"/>
                <a:ea typeface="Calibri" pitchFamily="34" charset="-122"/>
                <a:cs typeface="Calibri" pitchFamily="34" charset="-120"/>
              </a:rPr>
              <a:t>Kept back for questions.</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200" b="1" spc="250" kern="0" dirty="0">
                <a:solidFill>
                  <a:srgbClr val="B45309"/>
                </a:solidFill>
                <a:latin typeface="Calibri" pitchFamily="34" charset="0"/>
                <a:ea typeface="Calibri" pitchFamily="34" charset="-122"/>
                <a:cs typeface="Calibri" pitchFamily="34" charset="-120"/>
              </a:rPr>
              <a:t>BEFORE YOU TRY THIS AT WORK</a:t>
            </a:r>
            <a:endParaRPr lang="en-US" sz="1200" dirty="0"/>
          </a:p>
        </p:txBody>
      </p:sp>
      <p:sp>
        <p:nvSpPr>
          <p:cNvPr id="3" name="Text 1"/>
          <p:cNvSpPr txBox="1"/>
          <p:nvPr/>
        </p:nvSpPr>
        <p:spPr>
          <a:xfrm>
            <a:off x="640080" y="749808"/>
            <a:ext cx="10881360" cy="731520"/>
          </a:xfrm>
          <a:prstGeom prst="rect">
            <a:avLst/>
          </a:prstGeom>
          <a:noFill/>
          <a:ln/>
        </p:spPr>
        <p:txBody>
          <a:bodyPr wrap="square" lIns="0" tIns="0" rIns="0" bIns="0" rtlCol="0" anchor="ctr"/>
          <a:lstStyle/>
          <a:p>
            <a:pPr indent="0" marL="0">
              <a:buNone/>
            </a:pPr>
            <a:r>
              <a:rPr lang="en-US" sz="3800" b="1" dirty="0">
                <a:solidFill>
                  <a:srgbClr val="10131A"/>
                </a:solidFill>
                <a:latin typeface="Cambria" pitchFamily="34" charset="0"/>
                <a:ea typeface="Cambria" pitchFamily="34" charset="-122"/>
                <a:cs typeface="Cambria" pitchFamily="34" charset="-120"/>
              </a:rPr>
              <a:t>Six things that will bite you</a:t>
            </a:r>
            <a:endParaRPr lang="en-US" sz="3800" dirty="0"/>
          </a:p>
        </p:txBody>
      </p:sp>
      <p:sp>
        <p:nvSpPr>
          <p:cNvPr id="4" name="Shape 2"/>
          <p:cNvSpPr/>
          <p:nvPr/>
        </p:nvSpPr>
        <p:spPr>
          <a:xfrm>
            <a:off x="640080" y="1929384"/>
            <a:ext cx="365760" cy="365760"/>
          </a:xfrm>
          <a:prstGeom prst="ellipse">
            <a:avLst/>
          </a:prstGeom>
          <a:solidFill>
            <a:srgbClr val="B45309"/>
          </a:solidFill>
          <a:ln/>
        </p:spPr>
      </p:sp>
      <p:sp>
        <p:nvSpPr>
          <p:cNvPr id="5" name="Text 3"/>
          <p:cNvSpPr txBox="1"/>
          <p:nvPr/>
        </p:nvSpPr>
        <p:spPr>
          <a:xfrm>
            <a:off x="640080" y="19293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88720" y="1874520"/>
            <a:ext cx="4023360" cy="365760"/>
          </a:xfrm>
          <a:prstGeom prst="rect">
            <a:avLst/>
          </a:prstGeom>
          <a:noFill/>
          <a:ln/>
        </p:spPr>
        <p:txBody>
          <a:bodyPr wrap="square" lIns="0" tIns="0" rIns="0" bIns="0" rtlCol="0" anchor="ctr"/>
          <a:lstStyle/>
          <a:p>
            <a:pPr indent="0" marL="0">
              <a:buNone/>
            </a:pPr>
            <a:r>
              <a:rPr lang="en-US" sz="1600" b="1" dirty="0">
                <a:solidFill>
                  <a:srgbClr val="10131A"/>
                </a:solidFill>
                <a:latin typeface="Calibri" pitchFamily="34" charset="0"/>
                <a:ea typeface="Calibri" pitchFamily="34" charset="-122"/>
                <a:cs typeface="Calibri" pitchFamily="34" charset="-120"/>
              </a:rPr>
              <a:t>Per-task startup tax</a:t>
            </a:r>
            <a:endParaRPr lang="en-US" sz="1600" dirty="0"/>
          </a:p>
        </p:txBody>
      </p:sp>
      <p:sp>
        <p:nvSpPr>
          <p:cNvPr id="7" name="Text 5"/>
          <p:cNvSpPr txBox="1"/>
          <p:nvPr/>
        </p:nvSpPr>
        <p:spPr>
          <a:xfrm>
            <a:off x="5303520" y="1874520"/>
            <a:ext cx="6217920" cy="457200"/>
          </a:xfrm>
          <a:prstGeom prst="rect">
            <a:avLst/>
          </a:prstGeom>
          <a:noFill/>
          <a:ln/>
        </p:spPr>
        <p:txBody>
          <a:bodyPr wrap="square" lIns="0" tIns="0" rIns="0" bIns="0" rtlCol="0" anchor="ctr"/>
          <a:lstStyle/>
          <a:p>
            <a:pPr indent="0" marL="0">
              <a:buNone/>
            </a:pPr>
            <a:r>
              <a:rPr lang="en-US" sz="1400" dirty="0">
                <a:solidFill>
                  <a:srgbClr val="55607A"/>
                </a:solidFill>
                <a:latin typeface="Calibri" pitchFamily="34" charset="0"/>
                <a:ea typeface="Calibri" pitchFamily="34" charset="-122"/>
                <a:cs typeface="Calibri" pitchFamily="34" charset="-120"/>
              </a:rPr>
              <a:t>Each atomized target boots Cypress. Parallelism has to beat it.</a:t>
            </a:r>
            <a:endParaRPr lang="en-US" sz="1400" dirty="0"/>
          </a:p>
        </p:txBody>
      </p:sp>
      <p:sp>
        <p:nvSpPr>
          <p:cNvPr id="8" name="Shape 6"/>
          <p:cNvSpPr/>
          <p:nvPr/>
        </p:nvSpPr>
        <p:spPr>
          <a:xfrm>
            <a:off x="640080" y="2706624"/>
            <a:ext cx="365760" cy="365760"/>
          </a:xfrm>
          <a:prstGeom prst="ellipse">
            <a:avLst/>
          </a:prstGeom>
          <a:solidFill>
            <a:srgbClr val="B45309"/>
          </a:solidFill>
          <a:ln/>
        </p:spPr>
      </p:sp>
      <p:sp>
        <p:nvSpPr>
          <p:cNvPr id="9" name="Text 7"/>
          <p:cNvSpPr txBox="1"/>
          <p:nvPr/>
        </p:nvSpPr>
        <p:spPr>
          <a:xfrm>
            <a:off x="640080" y="27066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88720" y="2651760"/>
            <a:ext cx="4023360" cy="365760"/>
          </a:xfrm>
          <a:prstGeom prst="rect">
            <a:avLst/>
          </a:prstGeom>
          <a:noFill/>
          <a:ln/>
        </p:spPr>
        <p:txBody>
          <a:bodyPr wrap="square" lIns="0" tIns="0" rIns="0" bIns="0" rtlCol="0" anchor="ctr"/>
          <a:lstStyle/>
          <a:p>
            <a:pPr indent="0" marL="0">
              <a:buNone/>
            </a:pPr>
            <a:r>
              <a:rPr lang="en-US" sz="1600" b="1" dirty="0">
                <a:solidFill>
                  <a:srgbClr val="10131A"/>
                </a:solidFill>
                <a:latin typeface="Calibri" pitchFamily="34" charset="0"/>
                <a:ea typeface="Calibri" pitchFamily="34" charset="-122"/>
                <a:cs typeface="Calibri" pitchFamily="34" charset="-120"/>
              </a:rPr>
              <a:t>e2e-ci is gated on Nx 23</a:t>
            </a:r>
            <a:endParaRPr lang="en-US" sz="1600" dirty="0"/>
          </a:p>
        </p:txBody>
      </p:sp>
      <p:sp>
        <p:nvSpPr>
          <p:cNvPr id="11" name="Text 9"/>
          <p:cNvSpPr txBox="1"/>
          <p:nvPr/>
        </p:nvSpPr>
        <p:spPr>
          <a:xfrm>
            <a:off x="5303520" y="2651760"/>
            <a:ext cx="6217920" cy="457200"/>
          </a:xfrm>
          <a:prstGeom prst="rect">
            <a:avLst/>
          </a:prstGeom>
          <a:noFill/>
          <a:ln/>
        </p:spPr>
        <p:txBody>
          <a:bodyPr wrap="square" lIns="0" tIns="0" rIns="0" bIns="0" rtlCol="0" anchor="ctr"/>
          <a:lstStyle/>
          <a:p>
            <a:pPr indent="0" marL="0">
              <a:buNone/>
            </a:pPr>
            <a:r>
              <a:rPr lang="en-US" sz="1400" dirty="0">
                <a:solidFill>
                  <a:srgbClr val="55607A"/>
                </a:solidFill>
                <a:latin typeface="Calibri" pitchFamily="34" charset="0"/>
                <a:ea typeface="Calibri" pitchFamily="34" charset="-122"/>
                <a:cs typeface="Calibri" pitchFamily="34" charset="-120"/>
              </a:rPr>
              <a:t>The wrapper needs Nx Cloud. The leaf targets do not.</a:t>
            </a:r>
            <a:endParaRPr lang="en-US" sz="1400" dirty="0"/>
          </a:p>
        </p:txBody>
      </p:sp>
      <p:sp>
        <p:nvSpPr>
          <p:cNvPr id="12" name="Shape 10"/>
          <p:cNvSpPr/>
          <p:nvPr/>
        </p:nvSpPr>
        <p:spPr>
          <a:xfrm>
            <a:off x="640080" y="3483864"/>
            <a:ext cx="365760" cy="365760"/>
          </a:xfrm>
          <a:prstGeom prst="ellipse">
            <a:avLst/>
          </a:prstGeom>
          <a:solidFill>
            <a:srgbClr val="B45309"/>
          </a:solidFill>
          <a:ln/>
        </p:spPr>
      </p:sp>
      <p:sp>
        <p:nvSpPr>
          <p:cNvPr id="13" name="Text 11"/>
          <p:cNvSpPr txBox="1"/>
          <p:nvPr/>
        </p:nvSpPr>
        <p:spPr>
          <a:xfrm>
            <a:off x="640080" y="34838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88720" y="3429000"/>
            <a:ext cx="4023360" cy="365760"/>
          </a:xfrm>
          <a:prstGeom prst="rect">
            <a:avLst/>
          </a:prstGeom>
          <a:noFill/>
          <a:ln/>
        </p:spPr>
        <p:txBody>
          <a:bodyPr wrap="square" lIns="0" tIns="0" rIns="0" bIns="0" rtlCol="0" anchor="ctr"/>
          <a:lstStyle/>
          <a:p>
            <a:pPr indent="0" marL="0">
              <a:buNone/>
            </a:pPr>
            <a:r>
              <a:rPr lang="en-US" sz="1600" b="1" dirty="0">
                <a:solidFill>
                  <a:srgbClr val="10131A"/>
                </a:solidFill>
                <a:latin typeface="Calibri" pitchFamily="34" charset="0"/>
                <a:ea typeface="Calibri" pitchFamily="34" charset="-122"/>
                <a:cs typeface="Calibri" pitchFamily="34" charset="-120"/>
              </a:rPr>
              <a:t>The cache is not in .nx/cache</a:t>
            </a:r>
            <a:endParaRPr lang="en-US" sz="1600" dirty="0"/>
          </a:p>
        </p:txBody>
      </p:sp>
      <p:sp>
        <p:nvSpPr>
          <p:cNvPr id="15" name="Text 13"/>
          <p:cNvSpPr txBox="1"/>
          <p:nvPr/>
        </p:nvSpPr>
        <p:spPr>
          <a:xfrm>
            <a:off x="5303520" y="3429000"/>
            <a:ext cx="6217920" cy="457200"/>
          </a:xfrm>
          <a:prstGeom prst="rect">
            <a:avLst/>
          </a:prstGeom>
          <a:noFill/>
          <a:ln/>
        </p:spPr>
        <p:txBody>
          <a:bodyPr wrap="square" lIns="0" tIns="0" rIns="0" bIns="0" rtlCol="0" anchor="ctr"/>
          <a:lstStyle/>
          <a:p>
            <a:pPr indent="0" marL="0">
              <a:buNone/>
            </a:pPr>
            <a:r>
              <a:rPr lang="en-US" sz="1400" dirty="0">
                <a:solidFill>
                  <a:srgbClr val="55607A"/>
                </a:solidFill>
                <a:latin typeface="Calibri" pitchFamily="34" charset="0"/>
                <a:ea typeface="Calibri" pitchFamily="34" charset="-122"/>
                <a:cs typeface="Calibri" pitchFamily="34" charset="-120"/>
              </a:rPr>
              <a:t>Nx 23 puts it in ~/.nx/&lt;hash&gt;/cache. Every CI recipe online caches the wrong path.</a:t>
            </a:r>
            <a:endParaRPr lang="en-US" sz="1400" dirty="0"/>
          </a:p>
        </p:txBody>
      </p:sp>
      <p:sp>
        <p:nvSpPr>
          <p:cNvPr id="16" name="Shape 14"/>
          <p:cNvSpPr/>
          <p:nvPr/>
        </p:nvSpPr>
        <p:spPr>
          <a:xfrm>
            <a:off x="640080" y="4261104"/>
            <a:ext cx="365760" cy="365760"/>
          </a:xfrm>
          <a:prstGeom prst="ellipse">
            <a:avLst/>
          </a:prstGeom>
          <a:solidFill>
            <a:srgbClr val="B45309"/>
          </a:solidFill>
          <a:ln/>
        </p:spPr>
      </p:sp>
      <p:sp>
        <p:nvSpPr>
          <p:cNvPr id="17" name="Text 15"/>
          <p:cNvSpPr txBox="1"/>
          <p:nvPr/>
        </p:nvSpPr>
        <p:spPr>
          <a:xfrm>
            <a:off x="640080" y="426110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188720" y="4206240"/>
            <a:ext cx="4023360" cy="365760"/>
          </a:xfrm>
          <a:prstGeom prst="rect">
            <a:avLst/>
          </a:prstGeom>
          <a:noFill/>
          <a:ln/>
        </p:spPr>
        <p:txBody>
          <a:bodyPr wrap="square" lIns="0" tIns="0" rIns="0" bIns="0" rtlCol="0" anchor="ctr"/>
          <a:lstStyle/>
          <a:p>
            <a:pPr indent="0" marL="0">
              <a:buNone/>
            </a:pPr>
            <a:r>
              <a:rPr lang="en-US" sz="1600" b="1" dirty="0">
                <a:solidFill>
                  <a:srgbClr val="10131A"/>
                </a:solidFill>
                <a:latin typeface="Calibri" pitchFamily="34" charset="0"/>
                <a:ea typeface="Calibri" pitchFamily="34" charset="-122"/>
                <a:cs typeface="Calibri" pitchFamily="34" charset="-120"/>
              </a:rPr>
              <a:t>Parallel Cypress fights over :99</a:t>
            </a:r>
            <a:endParaRPr lang="en-US" sz="1600" dirty="0"/>
          </a:p>
        </p:txBody>
      </p:sp>
      <p:sp>
        <p:nvSpPr>
          <p:cNvPr id="19" name="Text 17"/>
          <p:cNvSpPr txBox="1"/>
          <p:nvPr/>
        </p:nvSpPr>
        <p:spPr>
          <a:xfrm>
            <a:off x="5303520" y="4206240"/>
            <a:ext cx="6217920" cy="457200"/>
          </a:xfrm>
          <a:prstGeom prst="rect">
            <a:avLst/>
          </a:prstGeom>
          <a:noFill/>
          <a:ln/>
        </p:spPr>
        <p:txBody>
          <a:bodyPr wrap="square" lIns="0" tIns="0" rIns="0" bIns="0" rtlCol="0" anchor="ctr"/>
          <a:lstStyle/>
          <a:p>
            <a:pPr indent="0" marL="0">
              <a:buNone/>
            </a:pPr>
            <a:r>
              <a:rPr lang="en-US" sz="1400" dirty="0">
                <a:solidFill>
                  <a:srgbClr val="55607A"/>
                </a:solidFill>
                <a:latin typeface="Calibri" pitchFamily="34" charset="0"/>
                <a:ea typeface="Calibri" pitchFamily="34" charset="-122"/>
                <a:cs typeface="Calibri" pitchFamily="34" charset="-120"/>
              </a:rPr>
              <a:t>Each process spawns its own Xvfb. Start one and export DISPLAY.</a:t>
            </a:r>
            <a:endParaRPr lang="en-US" sz="1400" dirty="0"/>
          </a:p>
        </p:txBody>
      </p:sp>
      <p:sp>
        <p:nvSpPr>
          <p:cNvPr id="20" name="Shape 18"/>
          <p:cNvSpPr/>
          <p:nvPr/>
        </p:nvSpPr>
        <p:spPr>
          <a:xfrm>
            <a:off x="640080" y="5038344"/>
            <a:ext cx="365760" cy="365760"/>
          </a:xfrm>
          <a:prstGeom prst="ellipse">
            <a:avLst/>
          </a:prstGeom>
          <a:solidFill>
            <a:srgbClr val="B45309"/>
          </a:solidFill>
          <a:ln/>
        </p:spPr>
      </p:sp>
      <p:sp>
        <p:nvSpPr>
          <p:cNvPr id="21" name="Text 19"/>
          <p:cNvSpPr txBox="1"/>
          <p:nvPr/>
        </p:nvSpPr>
        <p:spPr>
          <a:xfrm>
            <a:off x="640080" y="50383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1188720" y="4983480"/>
            <a:ext cx="4023360" cy="365760"/>
          </a:xfrm>
          <a:prstGeom prst="rect">
            <a:avLst/>
          </a:prstGeom>
          <a:noFill/>
          <a:ln/>
        </p:spPr>
        <p:txBody>
          <a:bodyPr wrap="square" lIns="0" tIns="0" rIns="0" bIns="0" rtlCol="0" anchor="ctr"/>
          <a:lstStyle/>
          <a:p>
            <a:pPr indent="0" marL="0">
              <a:buNone/>
            </a:pPr>
            <a:r>
              <a:rPr lang="en-US" sz="1600" b="1" dirty="0">
                <a:solidFill>
                  <a:srgbClr val="10131A"/>
                </a:solidFill>
                <a:latin typeface="Calibri" pitchFamily="34" charset="0"/>
                <a:ea typeface="Calibri" pitchFamily="34" charset="-122"/>
                <a:cs typeface="Calibri" pitchFamily="34" charset="-120"/>
              </a:rPr>
              <a:t>Cache the Cypress binary</a:t>
            </a:r>
            <a:endParaRPr lang="en-US" sz="1600" dirty="0"/>
          </a:p>
        </p:txBody>
      </p:sp>
      <p:sp>
        <p:nvSpPr>
          <p:cNvPr id="23" name="Text 21"/>
          <p:cNvSpPr txBox="1"/>
          <p:nvPr/>
        </p:nvSpPr>
        <p:spPr>
          <a:xfrm>
            <a:off x="5303520" y="4983480"/>
            <a:ext cx="6217920" cy="457200"/>
          </a:xfrm>
          <a:prstGeom prst="rect">
            <a:avLst/>
          </a:prstGeom>
          <a:noFill/>
          <a:ln/>
        </p:spPr>
        <p:txBody>
          <a:bodyPr wrap="square" lIns="0" tIns="0" rIns="0" bIns="0" rtlCol="0" anchor="ctr"/>
          <a:lstStyle/>
          <a:p>
            <a:pPr indent="0" marL="0">
              <a:buNone/>
            </a:pPr>
            <a:r>
              <a:rPr lang="en-US" sz="1400" dirty="0">
                <a:solidFill>
                  <a:srgbClr val="55607A"/>
                </a:solidFill>
                <a:latin typeface="Calibri" pitchFamily="34" charset="0"/>
                <a:ea typeface="Calibri" pitchFamily="34" charset="-122"/>
                <a:cs typeface="Calibri" pitchFamily="34" charset="-120"/>
              </a:rPr>
              <a:t>Otherwise every CI shard re-downloads ~200 MB.</a:t>
            </a:r>
            <a:endParaRPr lang="en-US" sz="1400" dirty="0"/>
          </a:p>
        </p:txBody>
      </p:sp>
      <p:sp>
        <p:nvSpPr>
          <p:cNvPr id="24" name="Shape 22"/>
          <p:cNvSpPr/>
          <p:nvPr/>
        </p:nvSpPr>
        <p:spPr>
          <a:xfrm>
            <a:off x="640080" y="5815584"/>
            <a:ext cx="365760" cy="365760"/>
          </a:xfrm>
          <a:prstGeom prst="ellipse">
            <a:avLst/>
          </a:prstGeom>
          <a:solidFill>
            <a:srgbClr val="B45309"/>
          </a:solidFill>
          <a:ln/>
        </p:spPr>
      </p:sp>
      <p:sp>
        <p:nvSpPr>
          <p:cNvPr id="25" name="Text 23"/>
          <p:cNvSpPr txBox="1"/>
          <p:nvPr/>
        </p:nvSpPr>
        <p:spPr>
          <a:xfrm>
            <a:off x="640080" y="58155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Text 24"/>
          <p:cNvSpPr txBox="1"/>
          <p:nvPr/>
        </p:nvSpPr>
        <p:spPr>
          <a:xfrm>
            <a:off x="1188720" y="5760720"/>
            <a:ext cx="4023360" cy="365760"/>
          </a:xfrm>
          <a:prstGeom prst="rect">
            <a:avLst/>
          </a:prstGeom>
          <a:noFill/>
          <a:ln/>
        </p:spPr>
        <p:txBody>
          <a:bodyPr wrap="square" lIns="0" tIns="0" rIns="0" bIns="0" rtlCol="0" anchor="ctr"/>
          <a:lstStyle/>
          <a:p>
            <a:pPr indent="0" marL="0">
              <a:buNone/>
            </a:pPr>
            <a:r>
              <a:rPr lang="en-US" sz="1600" b="1" dirty="0">
                <a:solidFill>
                  <a:srgbClr val="10131A"/>
                </a:solidFill>
                <a:latin typeface="Calibri" pitchFamily="34" charset="0"/>
                <a:ea typeface="Calibri" pitchFamily="34" charset="-122"/>
                <a:cs typeface="Calibri" pitchFamily="34" charset="-120"/>
              </a:rPr>
              <a:t>App changes invalidate everything</a:t>
            </a:r>
            <a:endParaRPr lang="en-US" sz="1600" dirty="0"/>
          </a:p>
        </p:txBody>
      </p:sp>
      <p:sp>
        <p:nvSpPr>
          <p:cNvPr id="27" name="Text 25"/>
          <p:cNvSpPr txBox="1"/>
          <p:nvPr/>
        </p:nvSpPr>
        <p:spPr>
          <a:xfrm>
            <a:off x="5303520" y="5760720"/>
            <a:ext cx="6217920" cy="457200"/>
          </a:xfrm>
          <a:prstGeom prst="rect">
            <a:avLst/>
          </a:prstGeom>
          <a:noFill/>
          <a:ln/>
        </p:spPr>
        <p:txBody>
          <a:bodyPr wrap="square" lIns="0" tIns="0" rIns="0" bIns="0" rtlCol="0" anchor="ctr"/>
          <a:lstStyle/>
          <a:p>
            <a:pPr indent="0" marL="0">
              <a:buNone/>
            </a:pPr>
            <a:r>
              <a:rPr lang="en-US" sz="1400" dirty="0">
                <a:solidFill>
                  <a:srgbClr val="55607A"/>
                </a:solidFill>
                <a:latin typeface="Calibri" pitchFamily="34" charset="0"/>
                <a:ea typeface="Calibri" pitchFamily="34" charset="-122"/>
                <a:cs typeface="Calibri" pitchFamily="34" charset="-120"/>
              </a:rPr>
              <a:t>Correct, but it limits when failure-only retries help.</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Scaling E2E Tests the Smart Way with Nx</dc:title>
  <dc:subject>PptxGenJS Presentation</dc:subject>
  <dc:creator>Vladimir Radzivil</dc:creator>
  <cp:lastModifiedBy>Vladimir Radzivil</cp:lastModifiedBy>
  <cp:revision>1</cp:revision>
  <dcterms:created xsi:type="dcterms:W3CDTF">2026-09-08T02:40:03Z</dcterms:created>
  <dcterms:modified xsi:type="dcterms:W3CDTF">2026-09-08T02:40:03Z</dcterms:modified>
</cp:coreProperties>
</file>