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Actually ask these and actually wait. The italic lines are what usually happens, not something to read out. The third question is the one that stings — that is the gap you are here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for caring. Do not oversell AI — the point is only that the ratio moved. Generation is cheap, verification is not, so verification is where the leverage went.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it is orientation, not content. The one thing to point at is that the libs are shared unevenly: formatting by shop and admin, ui by admin and docs. That asymmetry is what makes the affected demo land later.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sp>
        <p:nvSpPr>
          <p:cNvPr id="6" name="Text 4"/>
          <p:cNvSpPr txBox="1"/>
          <p:nvPr/>
        </p:nvSpPr>
        <p:spPr>
          <a:xfrm>
            <a:off x="640080" y="4297680"/>
            <a:ext cx="786384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7" name="Text 5"/>
          <p:cNvSpPr txBox="1"/>
          <p:nvPr/>
        </p:nvSpPr>
        <p:spPr>
          <a:xfrm>
            <a:off x="640080" y="4709160"/>
            <a:ext cx="78638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SET YOUR ZUHLKE TITLE IN deck.js</a:t>
            </a:r>
            <a:endParaRPr lang="en-US" sz="1500" dirty="0"/>
          </a:p>
        </p:txBody>
      </p:sp>
      <p:sp>
        <p:nvSpPr>
          <p:cNvPr id="8" name="Shape 6"/>
          <p:cNvSpPr/>
          <p:nvPr/>
        </p:nvSpPr>
        <p:spPr>
          <a:xfrm>
            <a:off x="8869680" y="2011680"/>
            <a:ext cx="2286000" cy="2286000"/>
          </a:xfrm>
          <a:prstGeom prst="roundRect">
            <a:avLst>
              <a:gd name="adj" fmla="val 2400"/>
            </a:avLst>
          </a:prstGeom>
          <a:solidFill>
            <a:srgbClr val="1B2029"/>
          </a:solidFill>
          <a:ln w="19050">
            <a:solidFill>
              <a:srgbClr val="FB7185"/>
            </a:solidFill>
            <a:prstDash val="dash"/>
          </a:ln>
        </p:spPr>
      </p:sp>
      <p:sp>
        <p:nvSpPr>
          <p:cNvPr id="9" name="Text 7"/>
          <p:cNvSpPr txBox="1"/>
          <p:nvPr/>
        </p:nvSpPr>
        <p:spPr>
          <a:xfrm>
            <a:off x="8869680" y="2011680"/>
            <a:ext cx="2286000" cy="2286000"/>
          </a:xfrm>
          <a:prstGeom prst="rect">
            <a:avLst/>
          </a:prstGeom>
          <a:noFill/>
          <a:ln/>
        </p:spPr>
        <p:txBody>
          <a:bodyPr wrap="square" lIns="0" tIns="0" rIns="0" bIns="0" rtlCol="0" anchor="ctr"/>
          <a:lstStyle/>
          <a:p>
            <a:pPr algn="ctr" indent="0" marL="0">
              <a:buNone/>
            </a:pPr>
            <a:r>
              <a:rPr lang="en-US" sz="1300" dirty="0">
                <a:solidFill>
                  <a:srgbClr val="FB7185"/>
                </a:solidFill>
                <a:latin typeface="Calibri" pitchFamily="34" charset="0"/>
                <a:ea typeface="Calibri" pitchFamily="34" charset="-122"/>
                <a:cs typeface="Calibri" pitchFamily="34" charset="-120"/>
              </a:rPr>
              <a:t>LinkedIn QR</a:t>
            </a:r>
            <a:endParaRPr lang="en-US" sz="1300" dirty="0"/>
          </a:p>
          <a:p>
            <a:pPr algn="ctr" indent="0" marL="0">
              <a:buNone/>
            </a:pPr>
            <a:r>
              <a:rPr lang="en-US" sz="1300" dirty="0">
                <a:solidFill>
                  <a:srgbClr val="FB7185"/>
                </a:solidFill>
                <a:latin typeface="Calibri" pitchFamily="34" charset="0"/>
                <a:ea typeface="Calibri" pitchFamily="34" charset="-122"/>
                <a:cs typeface="Calibri" pitchFamily="34" charset="-120"/>
              </a:rPr>
              <a:t>not generated</a:t>
            </a:r>
            <a:endParaRPr lang="en-US" sz="1300" dirty="0"/>
          </a:p>
        </p:txBody>
      </p:sp>
      <p:sp>
        <p:nvSpPr>
          <p:cNvPr id="10" name="Text 8"/>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Three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gap between question one and question three is this talk. Nobody gates a PR on a suite that takes twenty minutes and fails for reasons nobody trusts.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920240"/>
            <a:ext cx="5257800" cy="2103120"/>
          </a:xfrm>
          <a:prstGeom prst="roundRect">
            <a:avLst>
              <a:gd name="adj" fmla="val 3913"/>
            </a:avLst>
          </a:prstGeom>
          <a:solidFill>
            <a:srgbClr val="1B2029"/>
          </a:solidFill>
          <a:ln w="19050">
            <a:solidFill>
              <a:srgbClr val="4ADE80"/>
            </a:solidFill>
            <a:prstDash val="solid"/>
          </a:ln>
        </p:spPr>
      </p:sp>
      <p:sp>
        <p:nvSpPr>
          <p:cNvPr id="5" name="Text 3"/>
          <p:cNvSpPr txBox="1"/>
          <p:nvPr/>
        </p:nvSpPr>
        <p:spPr>
          <a:xfrm>
            <a:off x="91440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Writing the change</a:t>
            </a:r>
            <a:endParaRPr lang="en-US" sz="2000" dirty="0"/>
          </a:p>
        </p:txBody>
      </p:sp>
      <p:sp>
        <p:nvSpPr>
          <p:cNvPr id="6" name="Text 4"/>
          <p:cNvSpPr txBox="1"/>
          <p:nvPr/>
        </p:nvSpPr>
        <p:spPr>
          <a:xfrm>
            <a:off x="914400" y="2606040"/>
            <a:ext cx="4709160" cy="365760"/>
          </a:xfrm>
          <a:prstGeom prst="rect">
            <a:avLst/>
          </a:prstGeom>
          <a:noFill/>
          <a:ln/>
        </p:spPr>
        <p:txBody>
          <a:bodyPr wrap="square" lIns="0" tIns="0" rIns="0" bIns="0" rtlCol="0" anchor="ctr"/>
          <a:lstStyle/>
          <a:p>
            <a:pPr indent="0" marL="0">
              <a:buNone/>
            </a:pPr>
            <a:r>
              <a:rPr lang="en-US" sz="2200" b="1" spc="100" kern="0" dirty="0">
                <a:solidFill>
                  <a:srgbClr val="4ADE80"/>
                </a:solidFill>
                <a:latin typeface="Courier New" pitchFamily="34" charset="0"/>
                <a:ea typeface="Courier New" pitchFamily="34" charset="-122"/>
                <a:cs typeface="Courier New" pitchFamily="34" charset="-120"/>
              </a:rPr>
              <a:t>MINUTES</a:t>
            </a:r>
            <a:endParaRPr lang="en-US" sz="2200" dirty="0"/>
          </a:p>
        </p:txBody>
      </p:sp>
      <p:sp>
        <p:nvSpPr>
          <p:cNvPr id="7" name="Text 5"/>
          <p:cNvSpPr txBox="1"/>
          <p:nvPr/>
        </p:nvSpPr>
        <p:spPr>
          <a:xfrm>
            <a:off x="91440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AI writes it, reviews it, refactors it. The cost collapsed this year.</a:t>
            </a:r>
            <a:endParaRPr lang="en-US" sz="1400" dirty="0"/>
          </a:p>
        </p:txBody>
      </p:sp>
      <p:sp>
        <p:nvSpPr>
          <p:cNvPr id="8" name="Shape 6"/>
          <p:cNvSpPr/>
          <p:nvPr/>
        </p:nvSpPr>
        <p:spPr>
          <a:xfrm>
            <a:off x="6263640" y="1920240"/>
            <a:ext cx="5257800" cy="2103120"/>
          </a:xfrm>
          <a:prstGeom prst="roundRect">
            <a:avLst>
              <a:gd name="adj" fmla="val 3913"/>
            </a:avLst>
          </a:prstGeom>
          <a:solidFill>
            <a:srgbClr val="1B2029"/>
          </a:solidFill>
          <a:ln w="19050">
            <a:solidFill>
              <a:srgbClr val="FB7185"/>
            </a:solidFill>
            <a:prstDash val="solid"/>
          </a:ln>
        </p:spPr>
      </p:sp>
      <p:sp>
        <p:nvSpPr>
          <p:cNvPr id="9" name="Text 7"/>
          <p:cNvSpPr txBox="1"/>
          <p:nvPr/>
        </p:nvSpPr>
        <p:spPr>
          <a:xfrm>
            <a:off x="6537960" y="2148840"/>
            <a:ext cx="4709160" cy="41148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Trusting the change</a:t>
            </a:r>
            <a:endParaRPr lang="en-US" sz="2000" dirty="0"/>
          </a:p>
        </p:txBody>
      </p:sp>
      <p:sp>
        <p:nvSpPr>
          <p:cNvPr id="10" name="Text 8"/>
          <p:cNvSpPr txBox="1"/>
          <p:nvPr/>
        </p:nvSpPr>
        <p:spPr>
          <a:xfrm>
            <a:off x="6537960" y="2606040"/>
            <a:ext cx="4709160" cy="365760"/>
          </a:xfrm>
          <a:prstGeom prst="rect">
            <a:avLst/>
          </a:prstGeom>
          <a:noFill/>
          <a:ln/>
        </p:spPr>
        <p:txBody>
          <a:bodyPr wrap="square" lIns="0" tIns="0" rIns="0" bIns="0" rtlCol="0" anchor="ctr"/>
          <a:lstStyle/>
          <a:p>
            <a:pPr indent="0" marL="0">
              <a:buNone/>
            </a:pPr>
            <a:r>
              <a:rPr lang="en-US" sz="2200" b="1" spc="100" kern="0" dirty="0">
                <a:solidFill>
                  <a:srgbClr val="FB7185"/>
                </a:solidFill>
                <a:latin typeface="Courier New" pitchFamily="34" charset="0"/>
                <a:ea typeface="Courier New" pitchFamily="34" charset="-122"/>
                <a:cs typeface="Courier New" pitchFamily="34" charset="-120"/>
              </a:rPr>
              <a:t>UNCHANGED</a:t>
            </a:r>
            <a:endParaRPr lang="en-US" sz="2200" dirty="0"/>
          </a:p>
        </p:txBody>
      </p:sp>
      <p:sp>
        <p:nvSpPr>
          <p:cNvPr id="11" name="Text 9"/>
          <p:cNvSpPr txBox="1"/>
          <p:nvPr/>
        </p:nvSpPr>
        <p:spPr>
          <a:xfrm>
            <a:off x="6537960" y="3063240"/>
            <a:ext cx="4709160" cy="77724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Still the same slow suite, still the same nightly run, still the same shrug.</a:t>
            </a:r>
            <a:endParaRPr lang="en-US" sz="1400" dirty="0"/>
          </a:p>
        </p:txBody>
      </p:sp>
      <p:sp>
        <p:nvSpPr>
          <p:cNvPr id="12" name="Text 10"/>
          <p:cNvSpPr txBox="1"/>
          <p:nvPr/>
        </p:nvSpPr>
        <p:spPr>
          <a:xfrm>
            <a:off x="640080" y="4434840"/>
            <a:ext cx="1088136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 quality gate you can run in a minute is worth more than one you can trust in principle.</a:t>
            </a:r>
            <a:endParaRPr lang="en-US" sz="1900" dirty="0"/>
          </a:p>
        </p:txBody>
      </p:sp>
      <p:sp>
        <p:nvSpPr>
          <p:cNvPr id="13" name="Text 11"/>
          <p:cNvSpPr txBox="1"/>
          <p:nvPr/>
        </p:nvSpPr>
        <p:spPr>
          <a:xfrm>
            <a:off x="640080" y="4983480"/>
            <a:ext cx="10881360" cy="91440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When a change costs an afternoon, a twenty-minute suite is a rounding error. When it costs four minutes, the suite is the bottleneck — and the thing standing between you and merging code you did not write line by line.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1828800" y="2743200"/>
            <a:ext cx="1463040" cy="1051560"/>
          </a:xfrm>
          <a:prstGeom prst="line">
            <a:avLst/>
          </a:prstGeom>
          <a:noFill/>
          <a:ln w="19050">
            <a:solidFill>
              <a:srgbClr val="B8C0CC"/>
            </a:solidFill>
            <a:prstDash val="solid"/>
          </a:ln>
        </p:spPr>
      </p:sp>
      <p:sp>
        <p:nvSpPr>
          <p:cNvPr id="5" name="Shape 3"/>
          <p:cNvSpPr/>
          <p:nvPr/>
        </p:nvSpPr>
        <p:spPr>
          <a:xfrm flipH="1">
            <a:off x="3291840" y="2743200"/>
            <a:ext cx="1645920" cy="1051560"/>
          </a:xfrm>
          <a:prstGeom prst="line">
            <a:avLst/>
          </a:prstGeom>
          <a:noFill/>
          <a:ln w="19050">
            <a:solidFill>
              <a:srgbClr val="B8C0CC"/>
            </a:solidFill>
            <a:prstDash val="solid"/>
          </a:ln>
        </p:spPr>
      </p:sp>
      <p:sp>
        <p:nvSpPr>
          <p:cNvPr id="6" name="Shape 4"/>
          <p:cNvSpPr/>
          <p:nvPr/>
        </p:nvSpPr>
        <p:spPr>
          <a:xfrm>
            <a:off x="4937760" y="2743200"/>
            <a:ext cx="1554480" cy="1051560"/>
          </a:xfrm>
          <a:prstGeom prst="line">
            <a:avLst/>
          </a:prstGeom>
          <a:noFill/>
          <a:ln w="19050">
            <a:solidFill>
              <a:srgbClr val="B8C0CC"/>
            </a:solidFill>
            <a:prstDash val="solid"/>
          </a:ln>
        </p:spPr>
      </p:sp>
      <p:sp>
        <p:nvSpPr>
          <p:cNvPr id="7" name="Shape 5"/>
          <p:cNvSpPr/>
          <p:nvPr/>
        </p:nvSpPr>
        <p:spPr>
          <a:xfrm flipH="1">
            <a:off x="6492240" y="2743200"/>
            <a:ext cx="1554480" cy="1051560"/>
          </a:xfrm>
          <a:prstGeom prst="line">
            <a:avLst/>
          </a:prstGeom>
          <a:noFill/>
          <a:ln w="19050">
            <a:solidFill>
              <a:srgbClr val="B8C0CC"/>
            </a:solidFill>
            <a:prstDash val="solid"/>
          </a:ln>
        </p:spPr>
      </p:sp>
      <p:sp>
        <p:nvSpPr>
          <p:cNvPr id="8" name="Shape 6"/>
          <p:cNvSpPr/>
          <p:nvPr/>
        </p:nvSpPr>
        <p:spPr>
          <a:xfrm>
            <a:off x="685800" y="2057400"/>
            <a:ext cx="2286000" cy="685800"/>
          </a:xfrm>
          <a:prstGeom prst="roundRect">
            <a:avLst>
              <a:gd name="adj" fmla="val 10667"/>
            </a:avLst>
          </a:prstGeom>
          <a:solidFill>
            <a:srgbClr val="10131A"/>
          </a:solidFill>
          <a:ln w="12700">
            <a:solidFill>
              <a:srgbClr val="10131A"/>
            </a:solidFill>
            <a:prstDash val="solid"/>
          </a:ln>
        </p:spPr>
      </p:sp>
      <p:sp>
        <p:nvSpPr>
          <p:cNvPr id="9" name="Text 7"/>
          <p:cNvSpPr txBox="1"/>
          <p:nvPr/>
        </p:nvSpPr>
        <p:spPr>
          <a:xfrm>
            <a:off x="68580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0" name="Text 8"/>
          <p:cNvSpPr txBox="1"/>
          <p:nvPr/>
        </p:nvSpPr>
        <p:spPr>
          <a:xfrm>
            <a:off x="68580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1" name="Shape 9"/>
          <p:cNvSpPr/>
          <p:nvPr/>
        </p:nvSpPr>
        <p:spPr>
          <a:xfrm>
            <a:off x="3794760" y="2057400"/>
            <a:ext cx="2286000" cy="685800"/>
          </a:xfrm>
          <a:prstGeom prst="roundRect">
            <a:avLst>
              <a:gd name="adj" fmla="val 10667"/>
            </a:avLst>
          </a:prstGeom>
          <a:solidFill>
            <a:srgbClr val="10131A"/>
          </a:solidFill>
          <a:ln w="12700">
            <a:solidFill>
              <a:srgbClr val="10131A"/>
            </a:solidFill>
            <a:prstDash val="solid"/>
          </a:ln>
        </p:spPr>
      </p:sp>
      <p:sp>
        <p:nvSpPr>
          <p:cNvPr id="12" name="Text 10"/>
          <p:cNvSpPr txBox="1"/>
          <p:nvPr/>
        </p:nvSpPr>
        <p:spPr>
          <a:xfrm>
            <a:off x="379476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3" name="Text 11"/>
          <p:cNvSpPr txBox="1"/>
          <p:nvPr/>
        </p:nvSpPr>
        <p:spPr>
          <a:xfrm>
            <a:off x="379476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4" name="Shape 12"/>
          <p:cNvSpPr/>
          <p:nvPr/>
        </p:nvSpPr>
        <p:spPr>
          <a:xfrm>
            <a:off x="6903720" y="2057400"/>
            <a:ext cx="2286000" cy="685800"/>
          </a:xfrm>
          <a:prstGeom prst="roundRect">
            <a:avLst>
              <a:gd name="adj" fmla="val 10667"/>
            </a:avLst>
          </a:prstGeom>
          <a:solidFill>
            <a:srgbClr val="10131A"/>
          </a:solidFill>
          <a:ln w="12700">
            <a:solidFill>
              <a:srgbClr val="10131A"/>
            </a:solidFill>
            <a:prstDash val="solid"/>
          </a:ln>
        </p:spPr>
      </p:sp>
      <p:sp>
        <p:nvSpPr>
          <p:cNvPr id="15" name="Text 13"/>
          <p:cNvSpPr txBox="1"/>
          <p:nvPr/>
        </p:nvSpPr>
        <p:spPr>
          <a:xfrm>
            <a:off x="6903720" y="2057400"/>
            <a:ext cx="228600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16" name="Text 14"/>
          <p:cNvSpPr txBox="1"/>
          <p:nvPr/>
        </p:nvSpPr>
        <p:spPr>
          <a:xfrm>
            <a:off x="6903720" y="1755648"/>
            <a:ext cx="2286000" cy="27432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7" name="Shape 15"/>
          <p:cNvSpPr/>
          <p:nvPr/>
        </p:nvSpPr>
        <p:spPr>
          <a:xfrm>
            <a:off x="2148840" y="3794760"/>
            <a:ext cx="2286000" cy="640080"/>
          </a:xfrm>
          <a:prstGeom prst="roundRect">
            <a:avLst>
              <a:gd name="adj" fmla="val 11429"/>
            </a:avLst>
          </a:prstGeom>
          <a:solidFill>
            <a:srgbClr val="FFFFFF"/>
          </a:solidFill>
          <a:ln w="19050">
            <a:solidFill>
              <a:srgbClr val="0B7A44"/>
            </a:solidFill>
            <a:prstDash val="solid"/>
          </a:ln>
        </p:spPr>
      </p:sp>
      <p:sp>
        <p:nvSpPr>
          <p:cNvPr id="18" name="Text 16"/>
          <p:cNvSpPr txBox="1"/>
          <p:nvPr/>
        </p:nvSpPr>
        <p:spPr>
          <a:xfrm>
            <a:off x="21488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19" name="Shape 17"/>
          <p:cNvSpPr/>
          <p:nvPr/>
        </p:nvSpPr>
        <p:spPr>
          <a:xfrm>
            <a:off x="5349240" y="3794760"/>
            <a:ext cx="2286000" cy="640080"/>
          </a:xfrm>
          <a:prstGeom prst="roundRect">
            <a:avLst>
              <a:gd name="adj" fmla="val 11429"/>
            </a:avLst>
          </a:prstGeom>
          <a:solidFill>
            <a:srgbClr val="FFFFFF"/>
          </a:solidFill>
          <a:ln w="19050">
            <a:solidFill>
              <a:srgbClr val="0B7A44"/>
            </a:solidFill>
            <a:prstDash val="solid"/>
          </a:ln>
        </p:spPr>
      </p:sp>
      <p:sp>
        <p:nvSpPr>
          <p:cNvPr id="20" name="Text 18"/>
          <p:cNvSpPr txBox="1"/>
          <p:nvPr/>
        </p:nvSpPr>
        <p:spPr>
          <a:xfrm>
            <a:off x="5349240" y="3794760"/>
            <a:ext cx="228600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1" name="Text 19"/>
          <p:cNvSpPr txBox="1"/>
          <p:nvPr/>
        </p:nvSpPr>
        <p:spPr>
          <a:xfrm>
            <a:off x="685800" y="3931920"/>
            <a:ext cx="1280160" cy="36576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2" name="Shape 20"/>
          <p:cNvSpPr/>
          <p:nvPr/>
        </p:nvSpPr>
        <p:spPr>
          <a:xfrm>
            <a:off x="9418320" y="1783080"/>
            <a:ext cx="2103120" cy="2743200"/>
          </a:xfrm>
          <a:prstGeom prst="roundRect">
            <a:avLst>
              <a:gd name="adj" fmla="val 3478"/>
            </a:avLst>
          </a:prstGeom>
          <a:solidFill>
            <a:srgbClr val="FFFFFF"/>
          </a:solidFill>
          <a:ln w="12700">
            <a:solidFill>
              <a:srgbClr val="E2E6ED"/>
            </a:solidFill>
            <a:prstDash val="solid"/>
          </a:ln>
        </p:spPr>
      </p:sp>
      <p:sp>
        <p:nvSpPr>
          <p:cNvPr id="23" name="Text 21"/>
          <p:cNvSpPr txBox="1"/>
          <p:nvPr/>
        </p:nvSpPr>
        <p:spPr>
          <a:xfrm>
            <a:off x="9646920" y="1965960"/>
            <a:ext cx="169164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What Nx is</a:t>
            </a:r>
            <a:endParaRPr lang="en-US" sz="1500" dirty="0"/>
          </a:p>
        </p:txBody>
      </p:sp>
      <p:sp>
        <p:nvSpPr>
          <p:cNvPr id="24" name="Text 22"/>
          <p:cNvSpPr txBox="1"/>
          <p:nvPr/>
        </p:nvSpPr>
        <p:spPr>
          <a:xfrm>
            <a:off x="9646920" y="2331720"/>
            <a:ext cx="1691640" cy="2103120"/>
          </a:xfrm>
          <a:prstGeom prst="rect">
            <a:avLst/>
          </a:prstGeom>
          <a:noFill/>
          <a:ln/>
        </p:spPr>
        <p:txBody>
          <a:bodyPr wrap="square" lIns="0" tIns="0" rIns="0" bIns="0" rtlCol="0" anchor="t"/>
          <a:lstStyle/>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A task graph over your repo.</a:t>
            </a:r>
            <a:endParaRPr lang="en-US" sz="1200" dirty="0"/>
          </a:p>
          <a:p>
            <a:pPr indent="0" marL="0">
              <a:spcAft>
                <a:spcPts val="800"/>
              </a:spcAft>
              <a:buNone/>
            </a:pPr>
            <a:r>
              <a:rPr lang="en-US" sz="1200" dirty="0">
                <a:solidFill>
                  <a:srgbClr val="5C6675"/>
                </a:solidFill>
                <a:latin typeface="Calibri" pitchFamily="34" charset="0"/>
                <a:ea typeface="Calibri" pitchFamily="34" charset="-122"/>
                <a:cs typeface="Calibri" pitchFamily="34" charset="-120"/>
              </a:rPr>
              <a:t>It knows what depends on what, runs tasks in the right order, and caches the results.</a:t>
            </a:r>
            <a:endParaRPr lang="en-US" sz="1200" dirty="0"/>
          </a:p>
          <a:p>
            <a:pPr indent="0" marL="0">
              <a:buNone/>
            </a:pPr>
            <a:r>
              <a:rPr lang="en-US" sz="1200" dirty="0">
                <a:solidFill>
                  <a:srgbClr val="5C6675"/>
                </a:solidFill>
                <a:latin typeface="Calibri" pitchFamily="34" charset="0"/>
                <a:ea typeface="Calibri" pitchFamily="34" charset="-122"/>
                <a:cs typeface="Calibri" pitchFamily="34" charset="-120"/>
              </a:rPr>
              <a:t>It is not a test runner. Cypress still runs the tests.</a:t>
            </a:r>
            <a:endParaRPr lang="en-US" sz="1200" dirty="0"/>
          </a:p>
        </p:txBody>
      </p:sp>
      <p:sp>
        <p:nvSpPr>
          <p:cNvPr id="25" name="Shape 23"/>
          <p:cNvSpPr/>
          <p:nvPr/>
        </p:nvSpPr>
        <p:spPr>
          <a:xfrm>
            <a:off x="640080" y="4846320"/>
            <a:ext cx="3429000" cy="1234440"/>
          </a:xfrm>
          <a:prstGeom prst="roundRect">
            <a:avLst>
              <a:gd name="adj" fmla="val 6667"/>
            </a:avLst>
          </a:prstGeom>
          <a:solidFill>
            <a:srgbClr val="FFFFFF"/>
          </a:solidFill>
          <a:ln w="12700">
            <a:solidFill>
              <a:srgbClr val="E2E6ED"/>
            </a:solidFill>
            <a:prstDash val="solid"/>
          </a:ln>
        </p:spPr>
      </p:sp>
      <p:sp>
        <p:nvSpPr>
          <p:cNvPr id="26" name="Text 24"/>
          <p:cNvSpPr txBox="1"/>
          <p:nvPr/>
        </p:nvSpPr>
        <p:spPr>
          <a:xfrm>
            <a:off x="868680" y="5010912"/>
            <a:ext cx="2971800" cy="603504"/>
          </a:xfrm>
          <a:prstGeom prst="rect">
            <a:avLst/>
          </a:prstGeom>
          <a:noFill/>
          <a:ln/>
        </p:spPr>
        <p:txBody>
          <a:bodyPr wrap="square" lIns="0" tIns="0" rIns="0" bIns="0" rtlCol="0" anchor="ctr"/>
          <a:lstStyle/>
          <a:p>
            <a:pPr indent="0" marL="0">
              <a:buNone/>
            </a:pPr>
            <a:r>
              <a:rPr lang="en-US" sz="3200" b="1" dirty="0">
                <a:solidFill>
                  <a:srgbClr val="0B7A44"/>
                </a:solidFill>
                <a:latin typeface="Cambria" pitchFamily="34" charset="0"/>
                <a:ea typeface="Cambria" pitchFamily="34" charset="-122"/>
                <a:cs typeface="Cambria" pitchFamily="34" charset="-120"/>
              </a:rPr>
              <a:t>30</a:t>
            </a:r>
            <a:endParaRPr lang="en-US" sz="3200" dirty="0"/>
          </a:p>
        </p:txBody>
      </p:sp>
      <p:sp>
        <p:nvSpPr>
          <p:cNvPr id="27" name="Text 25"/>
          <p:cNvSpPr txBox="1"/>
          <p:nvPr/>
        </p:nvSpPr>
        <p:spPr>
          <a:xfrm>
            <a:off x="86868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spec files</a:t>
            </a:r>
            <a:endParaRPr lang="en-US" sz="1400" dirty="0"/>
          </a:p>
        </p:txBody>
      </p:sp>
      <p:sp>
        <p:nvSpPr>
          <p:cNvPr id="28" name="Shape 26"/>
          <p:cNvSpPr/>
          <p:nvPr/>
        </p:nvSpPr>
        <p:spPr>
          <a:xfrm>
            <a:off x="4343400" y="4846320"/>
            <a:ext cx="3429000" cy="1234440"/>
          </a:xfrm>
          <a:prstGeom prst="roundRect">
            <a:avLst>
              <a:gd name="adj" fmla="val 6667"/>
            </a:avLst>
          </a:prstGeom>
          <a:solidFill>
            <a:srgbClr val="FFFFFF"/>
          </a:solidFill>
          <a:ln w="12700">
            <a:solidFill>
              <a:srgbClr val="E2E6ED"/>
            </a:solidFill>
            <a:prstDash val="solid"/>
          </a:ln>
        </p:spPr>
      </p:sp>
      <p:sp>
        <p:nvSpPr>
          <p:cNvPr id="29" name="Text 27"/>
          <p:cNvSpPr txBox="1"/>
          <p:nvPr/>
        </p:nvSpPr>
        <p:spPr>
          <a:xfrm>
            <a:off x="4572000" y="5010912"/>
            <a:ext cx="2971800" cy="603504"/>
          </a:xfrm>
          <a:prstGeom prst="rect">
            <a:avLst/>
          </a:prstGeom>
          <a:noFill/>
          <a:ln/>
        </p:spPr>
        <p:txBody>
          <a:bodyPr wrap="square" lIns="0" tIns="0" rIns="0" bIns="0" rtlCol="0" anchor="ctr"/>
          <a:lstStyle/>
          <a:p>
            <a:pPr indent="0" marL="0">
              <a:buNone/>
            </a:pPr>
            <a:r>
              <a:rPr lang="en-US" sz="3200" b="1" dirty="0">
                <a:solidFill>
                  <a:srgbClr val="10131A"/>
                </a:solidFill>
                <a:latin typeface="Cambria" pitchFamily="34" charset="0"/>
                <a:ea typeface="Cambria" pitchFamily="34" charset="-122"/>
                <a:cs typeface="Cambria" pitchFamily="34" charset="-120"/>
              </a:rPr>
              <a:t>202</a:t>
            </a:r>
            <a:endParaRPr lang="en-US" sz="3200" dirty="0"/>
          </a:p>
        </p:txBody>
      </p:sp>
      <p:sp>
        <p:nvSpPr>
          <p:cNvPr id="30" name="Text 28"/>
          <p:cNvSpPr txBox="1"/>
          <p:nvPr/>
        </p:nvSpPr>
        <p:spPr>
          <a:xfrm>
            <a:off x="457200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tests</a:t>
            </a:r>
            <a:endParaRPr lang="en-US" sz="1400" dirty="0"/>
          </a:p>
        </p:txBody>
      </p:sp>
      <p:sp>
        <p:nvSpPr>
          <p:cNvPr id="31" name="Shape 29"/>
          <p:cNvSpPr/>
          <p:nvPr/>
        </p:nvSpPr>
        <p:spPr>
          <a:xfrm>
            <a:off x="8046720" y="4846320"/>
            <a:ext cx="3429000" cy="1234440"/>
          </a:xfrm>
          <a:prstGeom prst="roundRect">
            <a:avLst>
              <a:gd name="adj" fmla="val 6667"/>
            </a:avLst>
          </a:prstGeom>
          <a:solidFill>
            <a:srgbClr val="FFFFFF"/>
          </a:solidFill>
          <a:ln w="12700">
            <a:solidFill>
              <a:srgbClr val="E2E6ED"/>
            </a:solidFill>
            <a:prstDash val="solid"/>
          </a:ln>
        </p:spPr>
      </p:sp>
      <p:sp>
        <p:nvSpPr>
          <p:cNvPr id="32" name="Text 30"/>
          <p:cNvSpPr txBox="1"/>
          <p:nvPr/>
        </p:nvSpPr>
        <p:spPr>
          <a:xfrm>
            <a:off x="8275320" y="5010912"/>
            <a:ext cx="2971800" cy="603504"/>
          </a:xfrm>
          <a:prstGeom prst="rect">
            <a:avLst/>
          </a:prstGeom>
          <a:noFill/>
          <a:ln/>
        </p:spPr>
        <p:txBody>
          <a:bodyPr wrap="square" lIns="0" tIns="0" rIns="0" bIns="0" rtlCol="0" anchor="ctr"/>
          <a:lstStyle/>
          <a:p>
            <a:pPr indent="0" marL="0">
              <a:buNone/>
            </a:pPr>
            <a:r>
              <a:rPr lang="en-US" sz="3200" b="1" dirty="0">
                <a:solidFill>
                  <a:srgbClr val="B45309"/>
                </a:solidFill>
                <a:latin typeface="Cambria" pitchFamily="34" charset="0"/>
                <a:ea typeface="Cambria" pitchFamily="34" charset="-122"/>
                <a:cs typeface="Cambria" pitchFamily="34" charset="-120"/>
              </a:rPr>
              <a:t>1</a:t>
            </a:r>
            <a:endParaRPr lang="en-US" sz="3200" dirty="0"/>
          </a:p>
        </p:txBody>
      </p:sp>
      <p:sp>
        <p:nvSpPr>
          <p:cNvPr id="33" name="Text 31"/>
          <p:cNvSpPr txBox="1"/>
          <p:nvPr/>
        </p:nvSpPr>
        <p:spPr>
          <a:xfrm>
            <a:off x="8275320" y="5614416"/>
            <a:ext cx="2971800" cy="32004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task, before we start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47472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Steal this.</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SET YOUR LINKEDIN HANDLE IN deck.js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2026-09-08T00:48:34Z</dcterms:created>
  <dcterms:modified xsi:type="dcterms:W3CDTF">2026-09-08T00:48:34Z</dcterms:modified>
</cp:coreProperties>
</file>