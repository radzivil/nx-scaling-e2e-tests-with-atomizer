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
BEFORE YOU PRESENT
  $ cd ~/IdeaProjects/nx-scaling-e2e-tests-with-atomizer
  $ npm ci &amp;&amp; npx cypress install
  $ npm run demo:status      → expect buggyDiscount: false
  $ npx nx reset             → cold cache, so the first number is honest
  Keep a terminal in the repo root on a second screen or a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then actually wait for the hands. Expect nearly everyone — that is the point, this is not a niche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question, same room. Expect far fewer hands and some laughter. Do not rush past that laugh — it is the whole talk in one reaction.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question kills it. Expect almost no hands — nobody gates a merge on a suite they cannot trust. Reveal the line at the bottom and move; you have earned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for caring, in one comparison. Do not oversell AI — the only claim is that the ratio moved: generation got cheap, verification did not, so verification is where the leverage is now. Ten minutes is not arbitrary; it is roughly what an isolated change costs once affected plus caching plus per-app runners are all doing their job, and it is what the real project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not content — keep it under a minute. Two things to point at. One: the libs are shared unevenly, formatting by shop and admin, ui by admin and docs, which is what makes the affected demo land later. Two: thirty spec files but only three runnable tasks, because nx e2e is one Cypress process per app. That three is the number the atomizer turns into thirty. Have `nx graph` open in a tab if you would rather show the real thing.
DEMO — show the real graph
  $ npx nx graph
  Opens a browser. Click shop, then ui, to show what depends on what.
  Ctrl+C when done. `npx nx graph --print` if the projector hates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
DEMO — the un-atomized baseline
  $ npx nx e2e shop-e2e
  ~1m 33s for ONE app. Start it, keep talking, come back to it.
  All three serially is 4m 20s — quote that, do not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
DEMO — what the atomizer generated
  $ npm run e2e:targets
  30 targets across 3 projects. Point out the names are file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
DEMO — where the targets come from
  $ npx nx show project shop-e2e --json
  (wide — use `npm run e2e:targets` if the JSON does not fit the screen)
  $ grep -A8 "cypress/plugin" nx.json
  Nine lines of config generate all thirty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 Nx 23 added the guard. Do not rush to the workaround: sit on the third bullet. For a lot of the room this is not a technical problem at all, it is a purchase order they are not going to win this quarter. The good news lands on the next slide.
DEMO — hit the gate, then walk around it
  $ npx nx run-many -t e2e-ci --parallel=5
  Fails, listing all three e2e-ci tasks. Read it out loud.
  $ npx nx run "shop-e2e:e2e-ci--src/e2e/catalog.cy.ts"
  Same plugin, one leaf target, green. ~25s from cold because it builds the
  app and starts preview first; a couple of seconds once those are cached.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
DEMO — parallel on one machine
  $ npx nx reset
  $ node tools/run-e2e.mjs --project=shop-e2e --parallel=5
  ~40-46s across runs, against the 1m 33s baseline from earlier.
  Whole workspace if you have time: node tools/run-e2e.mjs --parallel=5  (~2m 06s)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
DEMO — the same thing on CI
  $ gh run list --limit 5
  $ gh run view --web
  One job per app, and the matrix is generated from the graph:
  $ sed -n "1,40p" .github/workflows/e2e.yml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
DEMO — run it again
  $ node tools/run-e2e.mjs --project=shop-e2e --parallel=5
  Up-arrow, enter. Back in ~0.2s with 11/12 cache hits.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
DEMO — the money moment
  $ npm run demo:break
  $ node tools/run-e2e.mjs --project=shop-e2e --parallel=5   → ~40s, 2 fail
  $ node tools/run-e2e.mjs --project=shop-e2e --parallel=5   → ~28s, 9/10 cached
  Nothing changed between those two. Only the failures re-executed.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
DEMO — undo it
  $ npm run demo:fix
  $ node tools/run-e2e.mjs --project=shop-e2e --parallel=5
  ~0.2s. Reverting restored the old input hash, so the old results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are this laptop — the same machine they just watched the demo on — so the numbers match what they saw. The right column is an 18-core M5 for contrast. Two things to land. One: rung 2 is slower than not splitting on both machines, 31% here and 22% there, so the startup tax is real and not a quirk of old hardware. Two: on the M5 rung 3 beats rung 4, 48s against 55s. More cores beat more machines until you run out of cores — which is why CI still needs rung 4, because a CI runner is small.
DO NOT RUN THIS LIVE
  $ npm run e2e:benchmark
  ~15 minutes — it runs every rung from a cold cache.
  Run it the morning of the talk and read the numbers off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
DEMO — let the graph choose
  $ npm run e2e:affected                                    → nothing affected, instant
  $ echo "/* demo */" &gt;&gt; libs/ui/src/styles.css
  $ node tools/e2e-targets.mjs --affected --projects-json   → ["admin-e2e","docs-e2e"]
  $ git checkout -- libs/ui/src/styles.css
  Discovery is instant. Only run the full affected suite (~1m 22s) if you have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for the whole close. Put it up before the first question so the QR is on screen for the entire Q&amp;A — that is when people actually scan it. The recap is there for the room to read, not for you to read out. If nobody opens, the honest prompts are the Nx Cloud gate, Playwright instead of Cypress, and what the cache does and does not do for flaky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4 and 5 all bit this repo for real — worth telling as war stories rather than reading out. On item 2: five and eight came out at the same 141s mean, but eight failed two runs in five, and the spec that failed passes on its own in 13s. That is contention, not a bug — each atomized target is a Cypress process plus a browser, so the ceiling is well under your core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777240"/>
          </a:xfrm>
          <a:prstGeom prst="rect">
            <a:avLst/>
          </a:prstGeom>
          <a:noFill/>
          <a:ln/>
        </p:spPr>
        <p:txBody>
          <a:bodyPr wrap="square" lIns="0" tIns="0" rIns="0" bIns="0" rtlCol="0" anchor="ctr"/>
          <a:lstStyle/>
          <a:p>
            <a:pPr indent="0" marL="0">
              <a:lnSpc>
                <a:spcPct val="115000"/>
              </a:lnSpc>
              <a:buNone/>
            </a:pPr>
            <a:r>
              <a:rPr lang="en-US" sz="1700" dirty="0">
                <a:solidFill>
                  <a:srgbClr val="C3CAD6"/>
                </a:solidFill>
                <a:latin typeface="Calibri" pitchFamily="34" charset="0"/>
                <a:ea typeface="Calibri" pitchFamily="34" charset="-122"/>
                <a:cs typeface="Calibri" pitchFamily="34" charset="-120"/>
              </a:rPr>
              <a:t>Making your slowest quality gate fast enough</a:t>
            </a:r>
            <a:endParaRPr lang="en-US" sz="1700" dirty="0"/>
          </a:p>
          <a:p>
            <a:pPr indent="0" marL="0">
              <a:lnSpc>
                <a:spcPct val="115000"/>
              </a:lnSpc>
              <a:buNone/>
            </a:pPr>
            <a:r>
              <a:rPr lang="en-US" sz="1700" dirty="0">
                <a:solidFill>
                  <a:srgbClr val="C3CAD6"/>
                </a:solidFill>
                <a:latin typeface="Calibri" pitchFamily="34" charset="0"/>
                <a:ea typeface="Calibri" pitchFamily="34" charset="-122"/>
                <a:cs typeface="Calibri" pitchFamily="34" charset="-120"/>
              </a:rPr>
              <a:t>to actually use and trust on every pull request</a:t>
            </a:r>
            <a:endParaRPr lang="en-US" sz="1700" dirty="0"/>
          </a:p>
        </p:txBody>
      </p:sp>
      <p:sp>
        <p:nvSpPr>
          <p:cNvPr id="5" name="Shape 3"/>
          <p:cNvSpPr/>
          <p:nvPr/>
        </p:nvSpPr>
        <p:spPr>
          <a:xfrm>
            <a:off x="640080" y="4224528"/>
            <a:ext cx="1005840" cy="32004"/>
          </a:xfrm>
          <a:prstGeom prst="rect">
            <a:avLst/>
          </a:prstGeom>
          <a:solidFill>
            <a:srgbClr val="4ADE80"/>
          </a:solidFill>
          <a:ln w="12700">
            <a:solidFill>
              <a:srgbClr val="333333"/>
            </a:solidFill>
            <a:prstDash val="solid"/>
          </a:ln>
        </p:spPr>
      </p:sp>
      <p:pic>
        <p:nvPicPr>
          <p:cNvPr id="6" name="Image 0" descr="/Users/vra/IdeaProjects/nx-scaling-e2e-tests-with-atomizer/talk/assets/avatar.jpg">    </p:cNvPr>
          <p:cNvPicPr>
            <a:picLocks noChangeAspect="1"/>
          </p:cNvPicPr>
          <p:nvPr/>
        </p:nvPicPr>
        <p:blipFill>
          <a:blip r:embed="rId1"/>
          <a:stretch>
            <a:fillRect/>
          </a:stretch>
        </p:blipFill>
        <p:spPr>
          <a:xfrm>
            <a:off x="640080" y="4480560"/>
            <a:ext cx="1234440" cy="1234440"/>
          </a:xfrm>
          <a:prstGeom prst="ellipse">
            <a:avLst/>
          </a:prstGeom>
        </p:spPr>
      </p:pic>
      <p:sp>
        <p:nvSpPr>
          <p:cNvPr id="7" name="Text 4"/>
          <p:cNvSpPr txBox="1"/>
          <p:nvPr/>
        </p:nvSpPr>
        <p:spPr>
          <a:xfrm>
            <a:off x="2148840" y="4672584"/>
            <a:ext cx="630936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8" name="Text 5"/>
          <p:cNvSpPr txBox="1"/>
          <p:nvPr/>
        </p:nvSpPr>
        <p:spPr>
          <a:xfrm>
            <a:off x="2148840" y="5084064"/>
            <a:ext cx="630936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Principal Consultant &amp; Partner, Zühlke</a:t>
            </a:r>
            <a:endParaRPr lang="en-US" sz="1500" dirty="0"/>
          </a:p>
        </p:txBody>
      </p:sp>
      <p:sp>
        <p:nvSpPr>
          <p:cNvPr id="9" name="Shape 6"/>
          <p:cNvSpPr/>
          <p:nvPr/>
        </p:nvSpPr>
        <p:spPr>
          <a:xfrm>
            <a:off x="8869680" y="2011680"/>
            <a:ext cx="2286000" cy="2286000"/>
          </a:xfrm>
          <a:prstGeom prst="roundRect">
            <a:avLst>
              <a:gd name="adj" fmla="val 2400"/>
            </a:avLst>
          </a:prstGeom>
          <a:solidFill>
            <a:srgbClr val="FFFFFF"/>
          </a:solidFill>
          <a:ln w="12700">
            <a:solidFill>
              <a:srgbClr val="333333"/>
            </a:solidFill>
            <a:prstDash val="solid"/>
          </a:ln>
        </p:spPr>
      </p:sp>
      <p:pic>
        <p:nvPicPr>
          <p:cNvPr id="10" name="Image 1" descr="/Users/vra/IdeaProjects/nx-scaling-e2e-tests-with-atomizer/talk/assets/qr-linkedin.png">    </p:cNvPr>
          <p:cNvPicPr>
            <a:picLocks noChangeAspect="1"/>
          </p:cNvPicPr>
          <p:nvPr/>
        </p:nvPicPr>
        <p:blipFill>
          <a:blip r:embed="rId2"/>
          <a:stretch>
            <a:fillRect/>
          </a:stretch>
        </p:blipFill>
        <p:spPr>
          <a:xfrm>
            <a:off x="8988552" y="2130552"/>
            <a:ext cx="2048256" cy="2048256"/>
          </a:xfrm>
          <a:prstGeom prst="rect">
            <a:avLst/>
          </a:prstGeom>
        </p:spPr>
      </p:pic>
      <p:sp>
        <p:nvSpPr>
          <p:cNvPr id="11" name="Text 7"/>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2F4F7"/>
          </a:solidFill>
          <a:ln w="12700">
            <a:solidFill>
              <a:srgbClr val="DDE3EA"/>
            </a:solidFill>
            <a:prstDash val="dash"/>
          </a:ln>
        </p:spPr>
      </p:sp>
      <p:sp>
        <p:nvSpPr>
          <p:cNvPr id="9" name="Text 7"/>
          <p:cNvSpPr txBox="1"/>
          <p:nvPr/>
        </p:nvSpPr>
        <p:spPr>
          <a:xfrm>
            <a:off x="434340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2</a:t>
            </a:r>
            <a:endParaRPr lang="en-US" sz="4000" dirty="0"/>
          </a:p>
        </p:txBody>
      </p:sp>
      <p:sp>
        <p:nvSpPr>
          <p:cNvPr id="10" name="Shape 8"/>
          <p:cNvSpPr/>
          <p:nvPr/>
        </p:nvSpPr>
        <p:spPr>
          <a:xfrm>
            <a:off x="8046720" y="2011680"/>
            <a:ext cx="3429000" cy="1737360"/>
          </a:xfrm>
          <a:prstGeom prst="roundRect">
            <a:avLst>
              <a:gd name="adj" fmla="val 4737"/>
            </a:avLst>
          </a:prstGeom>
          <a:solidFill>
            <a:srgbClr val="F2F4F7"/>
          </a:solidFill>
          <a:ln w="12700">
            <a:solidFill>
              <a:srgbClr val="DDE3EA"/>
            </a:solidFill>
            <a:prstDash val="dash"/>
          </a:ln>
        </p:spPr>
      </p:sp>
      <p:sp>
        <p:nvSpPr>
          <p:cNvPr id="11" name="Text 9"/>
          <p:cNvSpPr txBox="1"/>
          <p:nvPr/>
        </p:nvSpPr>
        <p:spPr>
          <a:xfrm>
            <a:off x="804672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FFFFF"/>
          </a:solidFill>
          <a:ln w="12700">
            <a:solidFill>
              <a:srgbClr val="E2E6ED"/>
            </a:solidFill>
            <a:prstDash val="solid"/>
          </a:ln>
        </p:spPr>
      </p:sp>
      <p:sp>
        <p:nvSpPr>
          <p:cNvPr id="9" name="Shape 7"/>
          <p:cNvSpPr/>
          <p:nvPr/>
        </p:nvSpPr>
        <p:spPr>
          <a:xfrm>
            <a:off x="4572000" y="2240280"/>
            <a:ext cx="566928" cy="566928"/>
          </a:xfrm>
          <a:prstGeom prst="ellipse">
            <a:avLst/>
          </a:prstGeom>
          <a:solidFill>
            <a:srgbClr val="DCF5E7"/>
          </a:solidFill>
          <a:ln w="12700">
            <a:solidFill>
              <a:srgbClr val="333333"/>
            </a:solidFill>
            <a:prstDash val="solid"/>
          </a:ln>
        </p:spPr>
      </p:sp>
      <p:sp>
        <p:nvSpPr>
          <p:cNvPr id="10" name="Text 8"/>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457200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2" name="Shape 10"/>
          <p:cNvSpPr/>
          <p:nvPr/>
        </p:nvSpPr>
        <p:spPr>
          <a:xfrm>
            <a:off x="8046720" y="2011680"/>
            <a:ext cx="3429000" cy="1737360"/>
          </a:xfrm>
          <a:prstGeom prst="roundRect">
            <a:avLst>
              <a:gd name="adj" fmla="val 4737"/>
            </a:avLst>
          </a:prstGeom>
          <a:solidFill>
            <a:srgbClr val="F2F4F7"/>
          </a:solidFill>
          <a:ln w="12700">
            <a:solidFill>
              <a:srgbClr val="DDE3EA"/>
            </a:solidFill>
            <a:prstDash val="dash"/>
          </a:ln>
        </p:spPr>
      </p:sp>
      <p:sp>
        <p:nvSpPr>
          <p:cNvPr id="13" name="Text 11"/>
          <p:cNvSpPr txBox="1"/>
          <p:nvPr/>
        </p:nvSpPr>
        <p:spPr>
          <a:xfrm>
            <a:off x="804672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FFFFF"/>
          </a:solidFill>
          <a:ln w="12700">
            <a:solidFill>
              <a:srgbClr val="E2E6ED"/>
            </a:solidFill>
            <a:prstDash val="solid"/>
          </a:ln>
        </p:spPr>
      </p:sp>
      <p:sp>
        <p:nvSpPr>
          <p:cNvPr id="9" name="Shape 7"/>
          <p:cNvSpPr/>
          <p:nvPr/>
        </p:nvSpPr>
        <p:spPr>
          <a:xfrm>
            <a:off x="4572000" y="2240280"/>
            <a:ext cx="566928" cy="566928"/>
          </a:xfrm>
          <a:prstGeom prst="ellipse">
            <a:avLst/>
          </a:prstGeom>
          <a:solidFill>
            <a:srgbClr val="DCF5E7"/>
          </a:solidFill>
          <a:ln w="12700">
            <a:solidFill>
              <a:srgbClr val="333333"/>
            </a:solidFill>
            <a:prstDash val="solid"/>
          </a:ln>
        </p:spPr>
      </p:sp>
      <p:sp>
        <p:nvSpPr>
          <p:cNvPr id="10" name="Text 8"/>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457200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2" name="Shape 10"/>
          <p:cNvSpPr/>
          <p:nvPr/>
        </p:nvSpPr>
        <p:spPr>
          <a:xfrm>
            <a:off x="8046720" y="2011680"/>
            <a:ext cx="3429000" cy="1737360"/>
          </a:xfrm>
          <a:prstGeom prst="roundRect">
            <a:avLst>
              <a:gd name="adj" fmla="val 4737"/>
            </a:avLst>
          </a:prstGeom>
          <a:solidFill>
            <a:srgbClr val="FFFFFF"/>
          </a:solidFill>
          <a:ln w="12700">
            <a:solidFill>
              <a:srgbClr val="E2E6ED"/>
            </a:solidFill>
            <a:prstDash val="solid"/>
          </a:ln>
        </p:spPr>
      </p:sp>
      <p:sp>
        <p:nvSpPr>
          <p:cNvPr id="13" name="Shape 11"/>
          <p:cNvSpPr/>
          <p:nvPr/>
        </p:nvSpPr>
        <p:spPr>
          <a:xfrm>
            <a:off x="8275320" y="2240280"/>
            <a:ext cx="566928" cy="566928"/>
          </a:xfrm>
          <a:prstGeom prst="ellipse">
            <a:avLst/>
          </a:prstGeom>
          <a:solidFill>
            <a:srgbClr val="FBE0E2"/>
          </a:solidFill>
          <a:ln w="12700">
            <a:solidFill>
              <a:srgbClr val="333333"/>
            </a:solidFill>
            <a:prstDash val="solid"/>
          </a:ln>
        </p:spPr>
      </p:sp>
      <p:sp>
        <p:nvSpPr>
          <p:cNvPr id="14" name="Text 12"/>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827532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6" name="Shape 14"/>
          <p:cNvSpPr/>
          <p:nvPr/>
        </p:nvSpPr>
        <p:spPr>
          <a:xfrm>
            <a:off x="640080" y="4343400"/>
            <a:ext cx="10881360" cy="1051560"/>
          </a:xfrm>
          <a:prstGeom prst="roundRect">
            <a:avLst>
              <a:gd name="adj" fmla="val 6087"/>
            </a:avLst>
          </a:prstGeom>
          <a:solidFill>
            <a:srgbClr val="FFF7E6"/>
          </a:solidFill>
          <a:ln w="12700">
            <a:solidFill>
              <a:srgbClr val="F5A524"/>
            </a:solidFill>
            <a:prstDash val="solid"/>
          </a:ln>
        </p:spPr>
      </p:sp>
      <p:sp>
        <p:nvSpPr>
          <p:cNvPr id="17" name="Text 15"/>
          <p:cNvSpPr txBox="1"/>
          <p:nvPr/>
        </p:nvSpPr>
        <p:spPr>
          <a:xfrm>
            <a:off x="914400" y="45262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distance between the first hand and the last one is this talk. Nobody blocks a merge on a suite that takes an hour and fails for reasons nobody trusts.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783080"/>
            <a:ext cx="5257800" cy="1874520"/>
          </a:xfrm>
          <a:prstGeom prst="roundRect">
            <a:avLst>
              <a:gd name="adj" fmla="val 4390"/>
            </a:avLst>
          </a:prstGeom>
          <a:solidFill>
            <a:srgbClr val="1B2029"/>
          </a:solidFill>
          <a:ln w="19050">
            <a:solidFill>
              <a:srgbClr val="4ADE80"/>
            </a:solidFill>
            <a:prstDash val="solid"/>
          </a:ln>
        </p:spPr>
      </p:sp>
      <p:sp>
        <p:nvSpPr>
          <p:cNvPr id="5" name="Text 3"/>
          <p:cNvSpPr txBox="1"/>
          <p:nvPr/>
        </p:nvSpPr>
        <p:spPr>
          <a:xfrm>
            <a:off x="91440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Writing the change</a:t>
            </a:r>
            <a:endParaRPr lang="en-US" sz="1800" dirty="0"/>
          </a:p>
        </p:txBody>
      </p:sp>
      <p:sp>
        <p:nvSpPr>
          <p:cNvPr id="6" name="Text 4"/>
          <p:cNvSpPr txBox="1"/>
          <p:nvPr/>
        </p:nvSpPr>
        <p:spPr>
          <a:xfrm>
            <a:off x="914400" y="2359152"/>
            <a:ext cx="4709160" cy="411480"/>
          </a:xfrm>
          <a:prstGeom prst="rect">
            <a:avLst/>
          </a:prstGeom>
          <a:noFill/>
          <a:ln/>
        </p:spPr>
        <p:txBody>
          <a:bodyPr wrap="square" lIns="0" tIns="0" rIns="0" bIns="0" rtlCol="0" anchor="ctr"/>
          <a:lstStyle/>
          <a:p>
            <a:pPr indent="0" marL="0">
              <a:buNone/>
            </a:pPr>
            <a:r>
              <a:rPr lang="en-US" sz="2400" b="1" spc="100" kern="0" dirty="0">
                <a:solidFill>
                  <a:srgbClr val="4ADE80"/>
                </a:solidFill>
                <a:latin typeface="Courier New" pitchFamily="34" charset="0"/>
                <a:ea typeface="Courier New" pitchFamily="34" charset="-122"/>
                <a:cs typeface="Courier New" pitchFamily="34" charset="-120"/>
              </a:rPr>
              <a:t>MINUTES</a:t>
            </a:r>
            <a:endParaRPr lang="en-US" sz="2400" dirty="0"/>
          </a:p>
        </p:txBody>
      </p:sp>
      <p:sp>
        <p:nvSpPr>
          <p:cNvPr id="7" name="Text 5"/>
          <p:cNvSpPr txBox="1"/>
          <p:nvPr/>
        </p:nvSpPr>
        <p:spPr>
          <a:xfrm>
            <a:off x="91440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AI writes it, reviews it, refactors it. That cost collapsed this year.</a:t>
            </a:r>
            <a:endParaRPr lang="en-US" sz="1300" dirty="0"/>
          </a:p>
        </p:txBody>
      </p:sp>
      <p:sp>
        <p:nvSpPr>
          <p:cNvPr id="8" name="Shape 6"/>
          <p:cNvSpPr/>
          <p:nvPr/>
        </p:nvSpPr>
        <p:spPr>
          <a:xfrm>
            <a:off x="6263640" y="1783080"/>
            <a:ext cx="5257800" cy="1874520"/>
          </a:xfrm>
          <a:prstGeom prst="roundRect">
            <a:avLst>
              <a:gd name="adj" fmla="val 4390"/>
            </a:avLst>
          </a:prstGeom>
          <a:solidFill>
            <a:srgbClr val="1B2029"/>
          </a:solidFill>
          <a:ln w="19050">
            <a:solidFill>
              <a:srgbClr val="FB7185"/>
            </a:solidFill>
            <a:prstDash val="solid"/>
          </a:ln>
        </p:spPr>
      </p:sp>
      <p:sp>
        <p:nvSpPr>
          <p:cNvPr id="9" name="Text 7"/>
          <p:cNvSpPr txBox="1"/>
          <p:nvPr/>
        </p:nvSpPr>
        <p:spPr>
          <a:xfrm>
            <a:off x="653796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Trusting the change</a:t>
            </a:r>
            <a:endParaRPr lang="en-US" sz="1800" dirty="0"/>
          </a:p>
        </p:txBody>
      </p:sp>
      <p:sp>
        <p:nvSpPr>
          <p:cNvPr id="10" name="Text 8"/>
          <p:cNvSpPr txBox="1"/>
          <p:nvPr/>
        </p:nvSpPr>
        <p:spPr>
          <a:xfrm>
            <a:off x="6537960" y="2359152"/>
            <a:ext cx="4709160" cy="411480"/>
          </a:xfrm>
          <a:prstGeom prst="rect">
            <a:avLst/>
          </a:prstGeom>
          <a:noFill/>
          <a:ln/>
        </p:spPr>
        <p:txBody>
          <a:bodyPr wrap="square" lIns="0" tIns="0" rIns="0" bIns="0" rtlCol="0" anchor="ctr"/>
          <a:lstStyle/>
          <a:p>
            <a:pPr indent="0" marL="0">
              <a:buNone/>
            </a:pPr>
            <a:r>
              <a:rPr lang="en-US" sz="2400" b="1" spc="100" kern="0" dirty="0">
                <a:solidFill>
                  <a:srgbClr val="FB7185"/>
                </a:solidFill>
                <a:latin typeface="Courier New" pitchFamily="34" charset="0"/>
                <a:ea typeface="Courier New" pitchFamily="34" charset="-122"/>
                <a:cs typeface="Courier New" pitchFamily="34" charset="-120"/>
              </a:rPr>
              <a:t>AN HOUR</a:t>
            </a:r>
            <a:endParaRPr lang="en-US" sz="2400" dirty="0"/>
          </a:p>
        </p:txBody>
      </p:sp>
      <p:sp>
        <p:nvSpPr>
          <p:cNvPr id="11" name="Text 9"/>
          <p:cNvSpPr txBox="1"/>
          <p:nvPr/>
        </p:nvSpPr>
        <p:spPr>
          <a:xfrm>
            <a:off x="653796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suite, same nightly run, same shrug. That cost did not move.</a:t>
            </a:r>
            <a:endParaRPr lang="en-US" sz="1300" dirty="0"/>
          </a:p>
        </p:txBody>
      </p:sp>
      <p:sp>
        <p:nvSpPr>
          <p:cNvPr id="12" name="Text 10"/>
          <p:cNvSpPr txBox="1"/>
          <p:nvPr/>
        </p:nvSpPr>
        <p:spPr>
          <a:xfrm>
            <a:off x="640080" y="393192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What it should cost instead</a:t>
            </a:r>
            <a:endParaRPr lang="en-US" sz="1600" dirty="0"/>
          </a:p>
        </p:txBody>
      </p:sp>
      <p:sp>
        <p:nvSpPr>
          <p:cNvPr id="13" name="Text 11"/>
          <p:cNvSpPr txBox="1"/>
          <p:nvPr/>
        </p:nvSpPr>
        <p:spPr>
          <a:xfrm>
            <a:off x="640080" y="4434840"/>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Today — every change runs everything</a:t>
            </a:r>
            <a:endParaRPr lang="en-US" sz="1400" dirty="0"/>
          </a:p>
        </p:txBody>
      </p:sp>
      <p:sp>
        <p:nvSpPr>
          <p:cNvPr id="14" name="Shape 12"/>
          <p:cNvSpPr/>
          <p:nvPr/>
        </p:nvSpPr>
        <p:spPr>
          <a:xfrm>
            <a:off x="4754880" y="4498848"/>
            <a:ext cx="4937760" cy="274320"/>
          </a:xfrm>
          <a:prstGeom prst="roundRect">
            <a:avLst>
              <a:gd name="adj" fmla="val 13333"/>
            </a:avLst>
          </a:prstGeom>
          <a:solidFill>
            <a:srgbClr val="F5A524"/>
          </a:solidFill>
          <a:ln w="12700">
            <a:solidFill>
              <a:srgbClr val="333333"/>
            </a:solidFill>
            <a:prstDash val="solid"/>
          </a:ln>
        </p:spPr>
      </p:sp>
      <p:sp>
        <p:nvSpPr>
          <p:cNvPr id="15" name="Text 13"/>
          <p:cNvSpPr txBox="1"/>
          <p:nvPr/>
        </p:nvSpPr>
        <p:spPr>
          <a:xfrm>
            <a:off x="9829800" y="4434840"/>
            <a:ext cx="1463040" cy="384048"/>
          </a:xfrm>
          <a:prstGeom prst="rect">
            <a:avLst/>
          </a:prstGeom>
          <a:noFill/>
          <a:ln/>
        </p:spPr>
        <p:txBody>
          <a:bodyPr wrap="square" lIns="0" tIns="0" rIns="0" bIns="0" rtlCol="0" anchor="ctr"/>
          <a:lstStyle/>
          <a:p>
            <a:pPr indent="0" marL="0">
              <a:buNone/>
            </a:pPr>
            <a:r>
              <a:rPr lang="en-US" sz="1500" b="1" dirty="0">
                <a:solidFill>
                  <a:srgbClr val="F5A524"/>
                </a:solidFill>
                <a:latin typeface="Calibri" pitchFamily="34" charset="0"/>
                <a:ea typeface="Calibri" pitchFamily="34" charset="-122"/>
                <a:cs typeface="Calibri" pitchFamily="34" charset="-120"/>
              </a:rPr>
              <a:t>60 min</a:t>
            </a:r>
            <a:endParaRPr lang="en-US" sz="1500" dirty="0"/>
          </a:p>
        </p:txBody>
      </p:sp>
      <p:sp>
        <p:nvSpPr>
          <p:cNvPr id="16" name="Text 14"/>
          <p:cNvSpPr txBox="1"/>
          <p:nvPr/>
        </p:nvSpPr>
        <p:spPr>
          <a:xfrm>
            <a:off x="640080" y="5093208"/>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Target — an isolated change</a:t>
            </a:r>
            <a:endParaRPr lang="en-US" sz="1400" dirty="0"/>
          </a:p>
        </p:txBody>
      </p:sp>
      <p:sp>
        <p:nvSpPr>
          <p:cNvPr id="17" name="Shape 15"/>
          <p:cNvSpPr/>
          <p:nvPr/>
        </p:nvSpPr>
        <p:spPr>
          <a:xfrm>
            <a:off x="4754880" y="5157216"/>
            <a:ext cx="822960" cy="274320"/>
          </a:xfrm>
          <a:prstGeom prst="roundRect">
            <a:avLst>
              <a:gd name="adj" fmla="val 13333"/>
            </a:avLst>
          </a:prstGeom>
          <a:solidFill>
            <a:srgbClr val="4ADE80"/>
          </a:solidFill>
          <a:ln w="12700">
            <a:solidFill>
              <a:srgbClr val="333333"/>
            </a:solidFill>
            <a:prstDash val="solid"/>
          </a:ln>
        </p:spPr>
      </p:sp>
      <p:sp>
        <p:nvSpPr>
          <p:cNvPr id="18" name="Text 16"/>
          <p:cNvSpPr txBox="1"/>
          <p:nvPr/>
        </p:nvSpPr>
        <p:spPr>
          <a:xfrm>
            <a:off x="5715000" y="5093208"/>
            <a:ext cx="1463040" cy="384048"/>
          </a:xfrm>
          <a:prstGeom prst="rect">
            <a:avLst/>
          </a:prstGeom>
          <a:noFill/>
          <a:ln/>
        </p:spPr>
        <p:txBody>
          <a:bodyPr wrap="square" lIns="0" tIns="0" rIns="0" bIns="0" rtlCol="0" anchor="ctr"/>
          <a:lstStyle/>
          <a:p>
            <a:pPr indent="0" marL="0">
              <a:buNone/>
            </a:pPr>
            <a:r>
              <a:rPr lang="en-US" sz="1500" b="1" dirty="0">
                <a:solidFill>
                  <a:srgbClr val="4ADE80"/>
                </a:solidFill>
                <a:latin typeface="Calibri" pitchFamily="34" charset="0"/>
                <a:ea typeface="Calibri" pitchFamily="34" charset="-122"/>
                <a:cs typeface="Calibri" pitchFamily="34" charset="-120"/>
              </a:rPr>
              <a:t>10 min</a:t>
            </a:r>
            <a:endParaRPr lang="en-US" sz="1500" dirty="0"/>
          </a:p>
        </p:txBody>
      </p:sp>
      <p:sp>
        <p:nvSpPr>
          <p:cNvPr id="19" name="Text 17"/>
          <p:cNvSpPr txBox="1"/>
          <p:nvPr/>
        </p:nvSpPr>
        <p:spPr>
          <a:xfrm>
            <a:off x="640080" y="5806440"/>
            <a:ext cx="10881360" cy="54864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Ten minutes is a coffee. An hour is a context switch — so the suite moves to nightly, and nightly means nobody is gating on it.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640080" y="1572768"/>
            <a:ext cx="10881360" cy="841248"/>
          </a:xfrm>
          <a:prstGeom prst="roundRect">
            <a:avLst>
              <a:gd name="adj" fmla="val 8696"/>
            </a:avLst>
          </a:prstGeom>
          <a:solidFill>
            <a:srgbClr val="FFFFFF"/>
          </a:solidFill>
          <a:ln w="12700">
            <a:solidFill>
              <a:srgbClr val="E2E6ED"/>
            </a:solidFill>
            <a:prstDash val="solid"/>
          </a:ln>
        </p:spPr>
      </p:sp>
      <p:sp>
        <p:nvSpPr>
          <p:cNvPr id="5" name="Text 3"/>
          <p:cNvSpPr txBox="1"/>
          <p:nvPr/>
        </p:nvSpPr>
        <p:spPr>
          <a:xfrm>
            <a:off x="914400" y="1691640"/>
            <a:ext cx="1033272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“A build system with smart caching and task orchestration.”</a:t>
            </a:r>
            <a:pPr indent="0" marL="0">
              <a:buNone/>
            </a:pPr>
            <a:r>
              <a:rPr lang="en-US" sz="1200" dirty="0">
                <a:solidFill>
                  <a:srgbClr val="8A94A6"/>
                </a:solidFill>
                <a:latin typeface="Calibri" pitchFamily="34" charset="0"/>
                <a:ea typeface="Calibri" pitchFamily="34" charset="-122"/>
                <a:cs typeface="Calibri" pitchFamily="34" charset="-120"/>
              </a:rPr>
              <a:t>   nx.dev</a:t>
            </a:r>
            <a:endParaRPr lang="en-US" sz="1500" dirty="0"/>
          </a:p>
        </p:txBody>
      </p:sp>
      <p:sp>
        <p:nvSpPr>
          <p:cNvPr id="6" name="Text 4"/>
          <p:cNvSpPr txBox="1"/>
          <p:nvPr/>
        </p:nvSpPr>
        <p:spPr>
          <a:xfrm>
            <a:off x="914400" y="2011680"/>
            <a:ext cx="10332720" cy="320040"/>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It knows what depends on what, so it can skip work. It does not run your tests — Cypress still does that.</a:t>
            </a:r>
            <a:endParaRPr lang="en-US" sz="1300" dirty="0"/>
          </a:p>
        </p:txBody>
      </p:sp>
      <p:sp>
        <p:nvSpPr>
          <p:cNvPr id="7" name="Shape 5"/>
          <p:cNvSpPr/>
          <p:nvPr/>
        </p:nvSpPr>
        <p:spPr>
          <a:xfrm>
            <a:off x="2148840" y="3364992"/>
            <a:ext cx="1965960" cy="731520"/>
          </a:xfrm>
          <a:prstGeom prst="line">
            <a:avLst/>
          </a:prstGeom>
          <a:noFill/>
          <a:ln w="19050">
            <a:solidFill>
              <a:srgbClr val="B8C0CC"/>
            </a:solidFill>
            <a:prstDash val="solid"/>
          </a:ln>
        </p:spPr>
      </p:sp>
      <p:sp>
        <p:nvSpPr>
          <p:cNvPr id="8" name="Shape 6"/>
          <p:cNvSpPr/>
          <p:nvPr/>
        </p:nvSpPr>
        <p:spPr>
          <a:xfrm flipH="1">
            <a:off x="4114800" y="3364992"/>
            <a:ext cx="1965960" cy="731520"/>
          </a:xfrm>
          <a:prstGeom prst="line">
            <a:avLst/>
          </a:prstGeom>
          <a:noFill/>
          <a:ln w="19050">
            <a:solidFill>
              <a:srgbClr val="B8C0CC"/>
            </a:solidFill>
            <a:prstDash val="solid"/>
          </a:ln>
        </p:spPr>
      </p:sp>
      <p:sp>
        <p:nvSpPr>
          <p:cNvPr id="9" name="Shape 7"/>
          <p:cNvSpPr/>
          <p:nvPr/>
        </p:nvSpPr>
        <p:spPr>
          <a:xfrm>
            <a:off x="6080760" y="3364992"/>
            <a:ext cx="1965960" cy="731520"/>
          </a:xfrm>
          <a:prstGeom prst="line">
            <a:avLst/>
          </a:prstGeom>
          <a:noFill/>
          <a:ln w="19050">
            <a:solidFill>
              <a:srgbClr val="B8C0CC"/>
            </a:solidFill>
            <a:prstDash val="solid"/>
          </a:ln>
        </p:spPr>
      </p:sp>
      <p:sp>
        <p:nvSpPr>
          <p:cNvPr id="10" name="Shape 8"/>
          <p:cNvSpPr/>
          <p:nvPr/>
        </p:nvSpPr>
        <p:spPr>
          <a:xfrm flipH="1">
            <a:off x="8046720" y="3364992"/>
            <a:ext cx="1965960" cy="731520"/>
          </a:xfrm>
          <a:prstGeom prst="line">
            <a:avLst/>
          </a:prstGeom>
          <a:noFill/>
          <a:ln w="19050">
            <a:solidFill>
              <a:srgbClr val="B8C0CC"/>
            </a:solidFill>
            <a:prstDash val="solid"/>
          </a:ln>
        </p:spPr>
      </p:sp>
      <p:sp>
        <p:nvSpPr>
          <p:cNvPr id="11" name="Text 9"/>
          <p:cNvSpPr txBox="1"/>
          <p:nvPr/>
        </p:nvSpPr>
        <p:spPr>
          <a:xfrm>
            <a:off x="82296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2" name="Shape 10"/>
          <p:cNvSpPr/>
          <p:nvPr/>
        </p:nvSpPr>
        <p:spPr>
          <a:xfrm>
            <a:off x="822960" y="2679192"/>
            <a:ext cx="2651760" cy="685800"/>
          </a:xfrm>
          <a:prstGeom prst="roundRect">
            <a:avLst>
              <a:gd name="adj" fmla="val 10667"/>
            </a:avLst>
          </a:prstGeom>
          <a:solidFill>
            <a:srgbClr val="10131A"/>
          </a:solidFill>
          <a:ln w="12700">
            <a:solidFill>
              <a:srgbClr val="10131A"/>
            </a:solidFill>
            <a:prstDash val="solid"/>
          </a:ln>
        </p:spPr>
      </p:sp>
      <p:sp>
        <p:nvSpPr>
          <p:cNvPr id="13" name="Text 11"/>
          <p:cNvSpPr txBox="1"/>
          <p:nvPr/>
        </p:nvSpPr>
        <p:spPr>
          <a:xfrm>
            <a:off x="82296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4" name="Text 12"/>
          <p:cNvSpPr txBox="1"/>
          <p:nvPr/>
        </p:nvSpPr>
        <p:spPr>
          <a:xfrm>
            <a:off x="475488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5" name="Shape 13"/>
          <p:cNvSpPr/>
          <p:nvPr/>
        </p:nvSpPr>
        <p:spPr>
          <a:xfrm>
            <a:off x="4754880" y="2679192"/>
            <a:ext cx="2651760" cy="685800"/>
          </a:xfrm>
          <a:prstGeom prst="roundRect">
            <a:avLst>
              <a:gd name="adj" fmla="val 10667"/>
            </a:avLst>
          </a:prstGeom>
          <a:solidFill>
            <a:srgbClr val="10131A"/>
          </a:solidFill>
          <a:ln w="12700">
            <a:solidFill>
              <a:srgbClr val="10131A"/>
            </a:solidFill>
            <a:prstDash val="solid"/>
          </a:ln>
        </p:spPr>
      </p:sp>
      <p:sp>
        <p:nvSpPr>
          <p:cNvPr id="16" name="Text 14"/>
          <p:cNvSpPr txBox="1"/>
          <p:nvPr/>
        </p:nvSpPr>
        <p:spPr>
          <a:xfrm>
            <a:off x="475488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7" name="Text 15"/>
          <p:cNvSpPr txBox="1"/>
          <p:nvPr/>
        </p:nvSpPr>
        <p:spPr>
          <a:xfrm>
            <a:off x="868680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8" name="Shape 16"/>
          <p:cNvSpPr/>
          <p:nvPr/>
        </p:nvSpPr>
        <p:spPr>
          <a:xfrm>
            <a:off x="8686800" y="2679192"/>
            <a:ext cx="2651760" cy="685800"/>
          </a:xfrm>
          <a:prstGeom prst="roundRect">
            <a:avLst>
              <a:gd name="adj" fmla="val 10667"/>
            </a:avLst>
          </a:prstGeom>
          <a:solidFill>
            <a:srgbClr val="10131A"/>
          </a:solidFill>
          <a:ln w="12700">
            <a:solidFill>
              <a:srgbClr val="10131A"/>
            </a:solidFill>
            <a:prstDash val="solid"/>
          </a:ln>
        </p:spPr>
      </p:sp>
      <p:sp>
        <p:nvSpPr>
          <p:cNvPr id="19" name="Text 17"/>
          <p:cNvSpPr txBox="1"/>
          <p:nvPr/>
        </p:nvSpPr>
        <p:spPr>
          <a:xfrm>
            <a:off x="868680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20" name="Shape 18"/>
          <p:cNvSpPr/>
          <p:nvPr/>
        </p:nvSpPr>
        <p:spPr>
          <a:xfrm>
            <a:off x="2788920" y="4096512"/>
            <a:ext cx="2651760" cy="640080"/>
          </a:xfrm>
          <a:prstGeom prst="roundRect">
            <a:avLst>
              <a:gd name="adj" fmla="val 11429"/>
            </a:avLst>
          </a:prstGeom>
          <a:solidFill>
            <a:srgbClr val="FFFFFF"/>
          </a:solidFill>
          <a:ln w="19050">
            <a:solidFill>
              <a:srgbClr val="0B7A44"/>
            </a:solidFill>
            <a:prstDash val="solid"/>
          </a:ln>
        </p:spPr>
      </p:sp>
      <p:sp>
        <p:nvSpPr>
          <p:cNvPr id="21" name="Text 19"/>
          <p:cNvSpPr txBox="1"/>
          <p:nvPr/>
        </p:nvSpPr>
        <p:spPr>
          <a:xfrm>
            <a:off x="278892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22" name="Shape 20"/>
          <p:cNvSpPr/>
          <p:nvPr/>
        </p:nvSpPr>
        <p:spPr>
          <a:xfrm>
            <a:off x="6720840" y="4096512"/>
            <a:ext cx="2651760" cy="640080"/>
          </a:xfrm>
          <a:prstGeom prst="roundRect">
            <a:avLst>
              <a:gd name="adj" fmla="val 11429"/>
            </a:avLst>
          </a:prstGeom>
          <a:solidFill>
            <a:srgbClr val="FFFFFF"/>
          </a:solidFill>
          <a:ln w="19050">
            <a:solidFill>
              <a:srgbClr val="0B7A44"/>
            </a:solidFill>
            <a:prstDash val="solid"/>
          </a:ln>
        </p:spPr>
      </p:sp>
      <p:sp>
        <p:nvSpPr>
          <p:cNvPr id="23" name="Text 21"/>
          <p:cNvSpPr txBox="1"/>
          <p:nvPr/>
        </p:nvSpPr>
        <p:spPr>
          <a:xfrm>
            <a:off x="672084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4" name="Text 22"/>
          <p:cNvSpPr txBox="1"/>
          <p:nvPr/>
        </p:nvSpPr>
        <p:spPr>
          <a:xfrm>
            <a:off x="822960" y="4096512"/>
            <a:ext cx="1783080" cy="64008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5" name="Shape 23"/>
          <p:cNvSpPr/>
          <p:nvPr/>
        </p:nvSpPr>
        <p:spPr>
          <a:xfrm>
            <a:off x="640080" y="4983480"/>
            <a:ext cx="3429000" cy="1051560"/>
          </a:xfrm>
          <a:prstGeom prst="roundRect">
            <a:avLst>
              <a:gd name="adj" fmla="val 7826"/>
            </a:avLst>
          </a:prstGeom>
          <a:solidFill>
            <a:srgbClr val="FFFFFF"/>
          </a:solidFill>
          <a:ln w="12700">
            <a:solidFill>
              <a:srgbClr val="E2E6ED"/>
            </a:solidFill>
            <a:prstDash val="solid"/>
          </a:ln>
        </p:spPr>
      </p:sp>
      <p:sp>
        <p:nvSpPr>
          <p:cNvPr id="26" name="Text 24"/>
          <p:cNvSpPr txBox="1"/>
          <p:nvPr/>
        </p:nvSpPr>
        <p:spPr>
          <a:xfrm>
            <a:off x="868680" y="5120640"/>
            <a:ext cx="2971800" cy="548640"/>
          </a:xfrm>
          <a:prstGeom prst="rect">
            <a:avLst/>
          </a:prstGeom>
          <a:noFill/>
          <a:ln/>
        </p:spPr>
        <p:txBody>
          <a:bodyPr wrap="square" lIns="0" tIns="0" rIns="0" bIns="0" rtlCol="0" anchor="ctr"/>
          <a:lstStyle/>
          <a:p>
            <a:pPr indent="0" marL="0">
              <a:buNone/>
            </a:pPr>
            <a:r>
              <a:rPr lang="en-US" sz="3000" b="1" dirty="0">
                <a:solidFill>
                  <a:srgbClr val="0B7A44"/>
                </a:solidFill>
                <a:latin typeface="Cambria" pitchFamily="34" charset="0"/>
                <a:ea typeface="Cambria" pitchFamily="34" charset="-122"/>
                <a:cs typeface="Cambria" pitchFamily="34" charset="-120"/>
              </a:rPr>
              <a:t>30</a:t>
            </a:r>
            <a:endParaRPr lang="en-US" sz="3000" dirty="0"/>
          </a:p>
        </p:txBody>
      </p:sp>
      <p:sp>
        <p:nvSpPr>
          <p:cNvPr id="27" name="Text 25"/>
          <p:cNvSpPr txBox="1"/>
          <p:nvPr/>
        </p:nvSpPr>
        <p:spPr>
          <a:xfrm>
            <a:off x="86868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spec files</a:t>
            </a:r>
            <a:endParaRPr lang="en-US" sz="1300" dirty="0"/>
          </a:p>
        </p:txBody>
      </p:sp>
      <p:sp>
        <p:nvSpPr>
          <p:cNvPr id="28" name="Shape 26"/>
          <p:cNvSpPr/>
          <p:nvPr/>
        </p:nvSpPr>
        <p:spPr>
          <a:xfrm>
            <a:off x="4343400" y="4983480"/>
            <a:ext cx="3429000" cy="1051560"/>
          </a:xfrm>
          <a:prstGeom prst="roundRect">
            <a:avLst>
              <a:gd name="adj" fmla="val 7826"/>
            </a:avLst>
          </a:prstGeom>
          <a:solidFill>
            <a:srgbClr val="FFFFFF"/>
          </a:solidFill>
          <a:ln w="12700">
            <a:solidFill>
              <a:srgbClr val="E2E6ED"/>
            </a:solidFill>
            <a:prstDash val="solid"/>
          </a:ln>
        </p:spPr>
      </p:sp>
      <p:sp>
        <p:nvSpPr>
          <p:cNvPr id="29" name="Text 27"/>
          <p:cNvSpPr txBox="1"/>
          <p:nvPr/>
        </p:nvSpPr>
        <p:spPr>
          <a:xfrm>
            <a:off x="4572000" y="5120640"/>
            <a:ext cx="2971800" cy="548640"/>
          </a:xfrm>
          <a:prstGeom prst="rect">
            <a:avLst/>
          </a:prstGeom>
          <a:noFill/>
          <a:ln/>
        </p:spPr>
        <p:txBody>
          <a:bodyPr wrap="square" lIns="0" tIns="0" rIns="0" bIns="0" rtlCol="0" anchor="ctr"/>
          <a:lstStyle/>
          <a:p>
            <a:pPr indent="0" marL="0">
              <a:buNone/>
            </a:pPr>
            <a:r>
              <a:rPr lang="en-US" sz="3000" b="1" dirty="0">
                <a:solidFill>
                  <a:srgbClr val="10131A"/>
                </a:solidFill>
                <a:latin typeface="Cambria" pitchFamily="34" charset="0"/>
                <a:ea typeface="Cambria" pitchFamily="34" charset="-122"/>
                <a:cs typeface="Cambria" pitchFamily="34" charset="-120"/>
              </a:rPr>
              <a:t>202</a:t>
            </a:r>
            <a:endParaRPr lang="en-US" sz="3000" dirty="0"/>
          </a:p>
        </p:txBody>
      </p:sp>
      <p:sp>
        <p:nvSpPr>
          <p:cNvPr id="30" name="Text 28"/>
          <p:cNvSpPr txBox="1"/>
          <p:nvPr/>
        </p:nvSpPr>
        <p:spPr>
          <a:xfrm>
            <a:off x="457200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tests</a:t>
            </a:r>
            <a:endParaRPr lang="en-US" sz="1300" dirty="0"/>
          </a:p>
        </p:txBody>
      </p:sp>
      <p:sp>
        <p:nvSpPr>
          <p:cNvPr id="31" name="Shape 29"/>
          <p:cNvSpPr/>
          <p:nvPr/>
        </p:nvSpPr>
        <p:spPr>
          <a:xfrm>
            <a:off x="8046720" y="4983480"/>
            <a:ext cx="3429000" cy="1051560"/>
          </a:xfrm>
          <a:prstGeom prst="roundRect">
            <a:avLst>
              <a:gd name="adj" fmla="val 7826"/>
            </a:avLst>
          </a:prstGeom>
          <a:solidFill>
            <a:srgbClr val="FFFFFF"/>
          </a:solidFill>
          <a:ln w="12700">
            <a:solidFill>
              <a:srgbClr val="E2E6ED"/>
            </a:solidFill>
            <a:prstDash val="solid"/>
          </a:ln>
        </p:spPr>
      </p:sp>
      <p:sp>
        <p:nvSpPr>
          <p:cNvPr id="32" name="Text 30"/>
          <p:cNvSpPr txBox="1"/>
          <p:nvPr/>
        </p:nvSpPr>
        <p:spPr>
          <a:xfrm>
            <a:off x="8275320" y="5120640"/>
            <a:ext cx="2971800" cy="548640"/>
          </a:xfrm>
          <a:prstGeom prst="rect">
            <a:avLst/>
          </a:prstGeom>
          <a:noFill/>
          <a:ln/>
        </p:spPr>
        <p:txBody>
          <a:bodyPr wrap="square" lIns="0" tIns="0" rIns="0" bIns="0" rtlCol="0" anchor="ctr"/>
          <a:lstStyle/>
          <a:p>
            <a:pPr indent="0" marL="0">
              <a:buNone/>
            </a:pPr>
            <a:r>
              <a:rPr lang="en-US" sz="3000" b="1" dirty="0">
                <a:solidFill>
                  <a:srgbClr val="B45309"/>
                </a:solidFill>
                <a:latin typeface="Cambria" pitchFamily="34" charset="0"/>
                <a:ea typeface="Cambria" pitchFamily="34" charset="-122"/>
                <a:cs typeface="Cambria" pitchFamily="34" charset="-120"/>
              </a:rPr>
              <a:t>3</a:t>
            </a:r>
            <a:endParaRPr lang="en-US" sz="3000" dirty="0"/>
          </a:p>
        </p:txBody>
      </p:sp>
      <p:sp>
        <p:nvSpPr>
          <p:cNvPr id="33" name="Text 31"/>
          <p:cNvSpPr txBox="1"/>
          <p:nvPr/>
        </p:nvSpPr>
        <p:spPr>
          <a:xfrm>
            <a:off x="827532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tasks that can run them</a:t>
            </a:r>
            <a:endParaRPr lang="en-US" sz="1300" dirty="0"/>
          </a:p>
        </p:txBody>
      </p:sp>
      <p:sp>
        <p:nvSpPr>
          <p:cNvPr id="34" name="Text 32"/>
          <p:cNvSpPr txBox="1"/>
          <p:nvPr/>
        </p:nvSpPr>
        <p:spPr>
          <a:xfrm>
            <a:off x="640080" y="6144768"/>
            <a:ext cx="10881360" cy="365760"/>
          </a:xfrm>
          <a:prstGeom prst="rect">
            <a:avLst/>
          </a:prstGeom>
          <a:noFill/>
          <a:ln/>
        </p:spPr>
        <p:txBody>
          <a:bodyPr wrap="square" lIns="0" tIns="0" rIns="0" bIns="0" rtlCol="0" anchor="ctr"/>
          <a:lstStyle/>
          <a:p>
            <a:pPr indent="0" marL="0">
              <a:buNone/>
            </a:pPr>
            <a:r>
              <a:rPr lang="en-US" sz="1400" i="1" dirty="0">
                <a:solidFill>
                  <a:srgbClr val="5C6675"/>
                </a:solidFill>
                <a:latin typeface="Calibri" pitchFamily="34" charset="0"/>
                <a:ea typeface="Calibri" pitchFamily="34" charset="-122"/>
                <a:cs typeface="Calibri" pitchFamily="34" charset="-120"/>
              </a:rPr>
              <a:t>Thirty files, but only three things you can actually run — one e2e task per app. Closing that gap is the rest of the talk.</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783080"/>
          </a:xfrm>
          <a:prstGeom prst="roundRect">
            <a:avLst>
              <a:gd name="adj" fmla="val 3590"/>
            </a:avLst>
          </a:prstGeom>
          <a:solidFill>
            <a:srgbClr val="2A1116"/>
          </a:solidFill>
          <a:ln w="19050">
            <a:solidFill>
              <a:srgbClr val="FB7185"/>
            </a:solidFill>
            <a:prstDash val="solid"/>
          </a:ln>
        </p:spPr>
      </p:sp>
      <p:sp>
        <p:nvSpPr>
          <p:cNvPr id="7" name="Text 5"/>
          <p:cNvSpPr txBox="1"/>
          <p:nvPr/>
        </p:nvSpPr>
        <p:spPr>
          <a:xfrm>
            <a:off x="914400" y="2880360"/>
            <a:ext cx="10332720" cy="146304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following tasks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admin-e2e:e2e-ci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docs-e2e:e2e-ci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shop-e2e:e2e-ci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663440"/>
            <a:ext cx="10881360" cy="411480"/>
          </a:xfrm>
          <a:prstGeom prst="rect">
            <a:avLst/>
          </a:prstGeom>
          <a:noFill/>
          <a:ln/>
        </p:spPr>
        <p:txBody>
          <a:bodyPr wrap="square" lIns="0" tIns="0" rIns="0" bIns="0" rtlCol="0" anchor="ctr"/>
          <a:lstStyle/>
          <a:p>
            <a:pPr indent="0" marL="0">
              <a:buNone/>
            </a:pPr>
            <a:r>
              <a:rPr lang="en-US" sz="2400" b="1" dirty="0">
                <a:solidFill>
                  <a:srgbClr val="F5A524"/>
                </a:solidFill>
                <a:latin typeface="Cambria" pitchFamily="34" charset="0"/>
                <a:ea typeface="Cambria" pitchFamily="34" charset="-122"/>
                <a:cs typeface="Cambria" pitchFamily="34" charset="-120"/>
              </a:rPr>
              <a:t>So now it is a procurement question.</a:t>
            </a:r>
            <a:endParaRPr lang="en-US" sz="2400" dirty="0"/>
          </a:p>
        </p:txBody>
      </p:sp>
      <p:sp>
        <p:nvSpPr>
          <p:cNvPr id="9" name="Text 7"/>
          <p:cNvSpPr txBox="1"/>
          <p:nvPr/>
        </p:nvSpPr>
        <p:spPr>
          <a:xfrm>
            <a:off x="640080" y="5166360"/>
            <a:ext cx="10881360" cy="13716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Cloud is a premium service from Nx</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Is it approved in your organisation?</a:t>
            </a:r>
            <a:endParaRPr lang="en-US" sz="1500" dirty="0"/>
          </a:p>
          <a:p>
            <a:pPr marL="342900" indent="-342900">
              <a:spcAft>
                <a:spcPts val="1000"/>
              </a:spcAft>
              <a:buSzPct val="100000"/>
              <a:buChar char="•"/>
            </a:pPr>
            <a:r>
              <a:rPr lang="en-US" sz="1500" b="1" dirty="0">
                <a:solidFill>
                  <a:srgbClr val="FB7185"/>
                </a:solidFill>
                <a:latin typeface="Calibri" pitchFamily="34" charset="0"/>
                <a:ea typeface="Calibri" pitchFamily="34" charset="-122"/>
                <a:cs typeface="Calibri" pitchFamily="34" charset="-120"/>
              </a:rPr>
              <a:t>If not approved — you are blocked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29184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4617720" y="1627632"/>
            <a:ext cx="4572000" cy="274320"/>
          </a:xfrm>
          <a:prstGeom prst="rect">
            <a:avLst/>
          </a:prstGeom>
          <a:noFill/>
          <a:ln/>
        </p:spPr>
        <p:txBody>
          <a:bodyPr wrap="square" lIns="0" tIns="0" rIns="0" bIns="0" rtlCol="0" anchor="ctr"/>
          <a:lstStyle/>
          <a:p>
            <a:pPr indent="0" marL="0">
              <a:buNone/>
            </a:pPr>
            <a:r>
              <a:rPr lang="en-US" sz="1100" b="1" spc="100" kern="0" dirty="0">
                <a:solidFill>
                  <a:srgbClr val="0B7A44"/>
                </a:solidFill>
                <a:latin typeface="Calibri" pitchFamily="34" charset="0"/>
                <a:ea typeface="Calibri" pitchFamily="34" charset="-122"/>
                <a:cs typeface="Calibri" pitchFamily="34" charset="-120"/>
              </a:rPr>
              <a:t>M1 PRO · 10 CORES · LIVE DEMO</a:t>
            </a:r>
            <a:endParaRPr lang="en-US" sz="1100" dirty="0"/>
          </a:p>
        </p:txBody>
      </p:sp>
      <p:sp>
        <p:nvSpPr>
          <p:cNvPr id="5" name="Text 3"/>
          <p:cNvSpPr txBox="1"/>
          <p:nvPr/>
        </p:nvSpPr>
        <p:spPr>
          <a:xfrm>
            <a:off x="10104120" y="1627632"/>
            <a:ext cx="1645920" cy="274320"/>
          </a:xfrm>
          <a:prstGeom prst="rect">
            <a:avLst/>
          </a:prstGeom>
          <a:noFill/>
          <a:ln/>
        </p:spPr>
        <p:txBody>
          <a:bodyPr wrap="square" lIns="0" tIns="0" rIns="0" bIns="0" rtlCol="0" anchor="ctr"/>
          <a:lstStyle/>
          <a:p>
            <a:pPr indent="0" marL="0">
              <a:buNone/>
            </a:pPr>
            <a:r>
              <a:rPr lang="en-US" sz="1100" b="1" spc="100" kern="0" dirty="0">
                <a:solidFill>
                  <a:srgbClr val="8A94A6"/>
                </a:solidFill>
                <a:latin typeface="Calibri" pitchFamily="34" charset="0"/>
                <a:ea typeface="Calibri" pitchFamily="34" charset="-122"/>
                <a:cs typeface="Calibri" pitchFamily="34" charset="-120"/>
              </a:rPr>
              <a:t>M5 · 18 CORES</a:t>
            </a:r>
            <a:endParaRPr lang="en-US" sz="1100" dirty="0"/>
          </a:p>
        </p:txBody>
      </p:sp>
      <p:sp>
        <p:nvSpPr>
          <p:cNvPr id="6" name="Shape 4"/>
          <p:cNvSpPr/>
          <p:nvPr/>
        </p:nvSpPr>
        <p:spPr>
          <a:xfrm>
            <a:off x="9829800" y="1572768"/>
            <a:ext cx="10973" cy="3886200"/>
          </a:xfrm>
          <a:prstGeom prst="rect">
            <a:avLst/>
          </a:prstGeom>
          <a:solidFill>
            <a:srgbClr val="E2E6ED"/>
          </a:solidFill>
          <a:ln w="12700">
            <a:solidFill>
              <a:srgbClr val="333333"/>
            </a:solidFill>
            <a:prstDash val="solid"/>
          </a:ln>
        </p:spPr>
      </p:sp>
      <p:sp>
        <p:nvSpPr>
          <p:cNvPr id="7" name="Text 5"/>
          <p:cNvSpPr txBox="1"/>
          <p:nvPr/>
        </p:nvSpPr>
        <p:spPr>
          <a:xfrm>
            <a:off x="640080" y="201168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8" name="Text 6"/>
          <p:cNvSpPr txBox="1"/>
          <p:nvPr/>
        </p:nvSpPr>
        <p:spPr>
          <a:xfrm>
            <a:off x="1051560" y="2011680"/>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9" name="Shape 7"/>
          <p:cNvSpPr/>
          <p:nvPr/>
        </p:nvSpPr>
        <p:spPr>
          <a:xfrm>
            <a:off x="4617720" y="2075688"/>
            <a:ext cx="3146612" cy="292608"/>
          </a:xfrm>
          <a:prstGeom prst="roundRect">
            <a:avLst>
              <a:gd name="adj" fmla="val 12500"/>
            </a:avLst>
          </a:prstGeom>
          <a:solidFill>
            <a:srgbClr val="F5A524"/>
          </a:solidFill>
          <a:ln w="12700">
            <a:solidFill>
              <a:srgbClr val="F5A524"/>
            </a:solidFill>
            <a:prstDash val="solid"/>
          </a:ln>
        </p:spPr>
      </p:sp>
      <p:sp>
        <p:nvSpPr>
          <p:cNvPr id="10" name="Text 8"/>
          <p:cNvSpPr txBox="1"/>
          <p:nvPr/>
        </p:nvSpPr>
        <p:spPr>
          <a:xfrm>
            <a:off x="7855772" y="201168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11" name="Text 9"/>
          <p:cNvSpPr txBox="1"/>
          <p:nvPr/>
        </p:nvSpPr>
        <p:spPr>
          <a:xfrm>
            <a:off x="10104120" y="2011680"/>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3m 16s</a:t>
            </a:r>
            <a:endParaRPr lang="en-US" sz="1400" dirty="0"/>
          </a:p>
        </p:txBody>
      </p:sp>
      <p:sp>
        <p:nvSpPr>
          <p:cNvPr id="12" name="Text 10"/>
          <p:cNvSpPr txBox="1"/>
          <p:nvPr/>
        </p:nvSpPr>
        <p:spPr>
          <a:xfrm>
            <a:off x="640080" y="272491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13" name="Text 11"/>
          <p:cNvSpPr txBox="1"/>
          <p:nvPr/>
        </p:nvSpPr>
        <p:spPr>
          <a:xfrm>
            <a:off x="1051560" y="2724912"/>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4" name="Shape 12"/>
          <p:cNvSpPr/>
          <p:nvPr/>
        </p:nvSpPr>
        <p:spPr>
          <a:xfrm>
            <a:off x="4617720" y="2788920"/>
            <a:ext cx="4114800" cy="292608"/>
          </a:xfrm>
          <a:prstGeom prst="roundRect">
            <a:avLst>
              <a:gd name="adj" fmla="val 12500"/>
            </a:avLst>
          </a:prstGeom>
          <a:solidFill>
            <a:srgbClr val="C2410C"/>
          </a:solidFill>
          <a:ln w="12700">
            <a:solidFill>
              <a:srgbClr val="C2410C"/>
            </a:solidFill>
            <a:prstDash val="solid"/>
          </a:ln>
        </p:spPr>
      </p:sp>
      <p:sp>
        <p:nvSpPr>
          <p:cNvPr id="15" name="Text 13"/>
          <p:cNvSpPr txBox="1"/>
          <p:nvPr/>
        </p:nvSpPr>
        <p:spPr>
          <a:xfrm>
            <a:off x="8823960" y="2724912"/>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40s</a:t>
            </a:r>
            <a:endParaRPr lang="en-US" sz="1400" dirty="0"/>
          </a:p>
        </p:txBody>
      </p:sp>
      <p:sp>
        <p:nvSpPr>
          <p:cNvPr id="16" name="Text 14"/>
          <p:cNvSpPr txBox="1"/>
          <p:nvPr/>
        </p:nvSpPr>
        <p:spPr>
          <a:xfrm>
            <a:off x="10104120" y="2724912"/>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4m 00s</a:t>
            </a:r>
            <a:endParaRPr lang="en-US" sz="1400" dirty="0"/>
          </a:p>
        </p:txBody>
      </p:sp>
      <p:sp>
        <p:nvSpPr>
          <p:cNvPr id="17" name="Text 15"/>
          <p:cNvSpPr txBox="1"/>
          <p:nvPr/>
        </p:nvSpPr>
        <p:spPr>
          <a:xfrm>
            <a:off x="640080" y="343814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8" name="Text 16"/>
          <p:cNvSpPr txBox="1"/>
          <p:nvPr/>
        </p:nvSpPr>
        <p:spPr>
          <a:xfrm>
            <a:off x="1051560" y="3438144"/>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half your cores at once</a:t>
            </a:r>
            <a:endParaRPr lang="en-US" sz="1300" dirty="0"/>
          </a:p>
        </p:txBody>
      </p:sp>
      <p:sp>
        <p:nvSpPr>
          <p:cNvPr id="19" name="Shape 17"/>
          <p:cNvSpPr/>
          <p:nvPr/>
        </p:nvSpPr>
        <p:spPr>
          <a:xfrm>
            <a:off x="4617720" y="3502152"/>
            <a:ext cx="1694329" cy="292608"/>
          </a:xfrm>
          <a:prstGeom prst="roundRect">
            <a:avLst>
              <a:gd name="adj" fmla="val 12500"/>
            </a:avLst>
          </a:prstGeom>
          <a:solidFill>
            <a:srgbClr val="0B7A44"/>
          </a:solidFill>
          <a:ln w="12700">
            <a:solidFill>
              <a:srgbClr val="0B7A44"/>
            </a:solidFill>
            <a:prstDash val="solid"/>
          </a:ln>
        </p:spPr>
      </p:sp>
      <p:sp>
        <p:nvSpPr>
          <p:cNvPr id="20" name="Text 18"/>
          <p:cNvSpPr txBox="1"/>
          <p:nvPr/>
        </p:nvSpPr>
        <p:spPr>
          <a:xfrm>
            <a:off x="6403489" y="3438144"/>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20s</a:t>
            </a:r>
            <a:endParaRPr lang="en-US" sz="1400" dirty="0"/>
          </a:p>
        </p:txBody>
      </p:sp>
      <p:sp>
        <p:nvSpPr>
          <p:cNvPr id="21" name="Text 19"/>
          <p:cNvSpPr txBox="1"/>
          <p:nvPr/>
        </p:nvSpPr>
        <p:spPr>
          <a:xfrm>
            <a:off x="10104120" y="3438144"/>
            <a:ext cx="1371600" cy="365760"/>
          </a:xfrm>
          <a:prstGeom prst="rect">
            <a:avLst/>
          </a:prstGeom>
          <a:noFill/>
          <a:ln/>
        </p:spPr>
        <p:txBody>
          <a:bodyPr wrap="square" lIns="0" tIns="0" rIns="0" bIns="0" rtlCol="0" anchor="ctr"/>
          <a:lstStyle/>
          <a:p>
            <a:pPr indent="0" marL="0">
              <a:buNone/>
            </a:pPr>
            <a:r>
              <a:rPr lang="en-US" sz="1400" b="1" dirty="0">
                <a:solidFill>
                  <a:srgbClr val="0B7A44"/>
                </a:solidFill>
                <a:latin typeface="Calibri" pitchFamily="34" charset="0"/>
                <a:ea typeface="Calibri" pitchFamily="34" charset="-122"/>
                <a:cs typeface="Calibri" pitchFamily="34" charset="-120"/>
              </a:rPr>
              <a:t>48s</a:t>
            </a:r>
            <a:endParaRPr lang="en-US" sz="1400" dirty="0"/>
          </a:p>
        </p:txBody>
      </p:sp>
      <p:sp>
        <p:nvSpPr>
          <p:cNvPr id="22" name="Text 20"/>
          <p:cNvSpPr txBox="1"/>
          <p:nvPr/>
        </p:nvSpPr>
        <p:spPr>
          <a:xfrm>
            <a:off x="640080" y="415137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23" name="Text 21"/>
          <p:cNvSpPr txBox="1"/>
          <p:nvPr/>
        </p:nvSpPr>
        <p:spPr>
          <a:xfrm>
            <a:off x="1051560" y="4151376"/>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24" name="Shape 22"/>
          <p:cNvSpPr/>
          <p:nvPr/>
        </p:nvSpPr>
        <p:spPr>
          <a:xfrm>
            <a:off x="4617720" y="4215384"/>
            <a:ext cx="665629" cy="292608"/>
          </a:xfrm>
          <a:prstGeom prst="roundRect">
            <a:avLst>
              <a:gd name="adj" fmla="val 12500"/>
            </a:avLst>
          </a:prstGeom>
          <a:solidFill>
            <a:srgbClr val="0B7A44"/>
          </a:solidFill>
          <a:ln w="12700">
            <a:solidFill>
              <a:srgbClr val="0B7A44"/>
            </a:solidFill>
            <a:prstDash val="solid"/>
          </a:ln>
        </p:spPr>
      </p:sp>
      <p:sp>
        <p:nvSpPr>
          <p:cNvPr id="25" name="Text 23"/>
          <p:cNvSpPr txBox="1"/>
          <p:nvPr/>
        </p:nvSpPr>
        <p:spPr>
          <a:xfrm>
            <a:off x="5374789" y="4151376"/>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6" name="Text 24"/>
          <p:cNvSpPr txBox="1"/>
          <p:nvPr/>
        </p:nvSpPr>
        <p:spPr>
          <a:xfrm>
            <a:off x="10104120" y="4151376"/>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55s</a:t>
            </a:r>
            <a:endParaRPr lang="en-US" sz="1400" dirty="0"/>
          </a:p>
        </p:txBody>
      </p:sp>
      <p:sp>
        <p:nvSpPr>
          <p:cNvPr id="27" name="Text 25"/>
          <p:cNvSpPr txBox="1"/>
          <p:nvPr/>
        </p:nvSpPr>
        <p:spPr>
          <a:xfrm>
            <a:off x="640080" y="486460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8" name="Text 26"/>
          <p:cNvSpPr txBox="1"/>
          <p:nvPr/>
        </p:nvSpPr>
        <p:spPr>
          <a:xfrm>
            <a:off x="1051560" y="4864608"/>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9" name="Shape 27"/>
          <p:cNvSpPr/>
          <p:nvPr/>
        </p:nvSpPr>
        <p:spPr>
          <a:xfrm>
            <a:off x="4617720" y="4928616"/>
            <a:ext cx="73152" cy="292608"/>
          </a:xfrm>
          <a:prstGeom prst="roundRect">
            <a:avLst>
              <a:gd name="adj" fmla="val 50000"/>
            </a:avLst>
          </a:prstGeom>
          <a:solidFill>
            <a:srgbClr val="15803D"/>
          </a:solidFill>
          <a:ln w="12700">
            <a:solidFill>
              <a:srgbClr val="15803D"/>
            </a:solidFill>
            <a:prstDash val="solid"/>
          </a:ln>
        </p:spPr>
      </p:sp>
      <p:sp>
        <p:nvSpPr>
          <p:cNvPr id="30" name="Text 28"/>
          <p:cNvSpPr txBox="1"/>
          <p:nvPr/>
        </p:nvSpPr>
        <p:spPr>
          <a:xfrm>
            <a:off x="4782312" y="4864608"/>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31" name="Text 29"/>
          <p:cNvSpPr txBox="1"/>
          <p:nvPr/>
        </p:nvSpPr>
        <p:spPr>
          <a:xfrm>
            <a:off x="10104120" y="4864608"/>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5s</a:t>
            </a:r>
            <a:endParaRPr lang="en-US" sz="1400" dirty="0"/>
          </a:p>
        </p:txBody>
      </p:sp>
      <p:sp>
        <p:nvSpPr>
          <p:cNvPr id="32" name="Shape 30"/>
          <p:cNvSpPr/>
          <p:nvPr/>
        </p:nvSpPr>
        <p:spPr>
          <a:xfrm>
            <a:off x="640080" y="5623560"/>
            <a:ext cx="10881360" cy="914400"/>
          </a:xfrm>
          <a:prstGeom prst="roundRect">
            <a:avLst>
              <a:gd name="adj" fmla="val 7000"/>
            </a:avLst>
          </a:prstGeom>
          <a:solidFill>
            <a:srgbClr val="FFF7E6"/>
          </a:solidFill>
          <a:ln w="12700">
            <a:solidFill>
              <a:srgbClr val="F5A524"/>
            </a:solidFill>
            <a:prstDash val="solid"/>
          </a:ln>
        </p:spPr>
      </p:sp>
      <p:sp>
        <p:nvSpPr>
          <p:cNvPr id="33" name="Text 31"/>
          <p:cNvSpPr txBox="1"/>
          <p:nvPr/>
        </p:nvSpPr>
        <p:spPr>
          <a:xfrm>
            <a:off x="914400" y="5760720"/>
            <a:ext cx="10332720" cy="685800"/>
          </a:xfrm>
          <a:prstGeom prst="rect">
            <a:avLst/>
          </a:prstGeom>
          <a:noFill/>
          <a:ln/>
        </p:spPr>
        <p:txBody>
          <a:bodyPr wrap="square" lIns="0" tIns="0" rIns="0" bIns="0" rtlCol="0" anchor="ctr"/>
          <a:lstStyle/>
          <a:p>
            <a:pPr indent="0" marL="0">
              <a:lnSpc>
                <a:spcPct val="115000"/>
              </a:lnSpc>
              <a:buNone/>
            </a:pPr>
            <a:r>
              <a:rPr lang="en-US" sz="1300" b="1" dirty="0">
                <a:solidFill>
                  <a:srgbClr val="5B4308"/>
                </a:solidFill>
                <a:latin typeface="Calibri" pitchFamily="34" charset="0"/>
                <a:ea typeface="Calibri" pitchFamily="34" charset="-122"/>
                <a:cs typeface="Calibri" pitchFamily="34" charset="-120"/>
              </a:rPr>
              <a:t>Rung 2 is the honest one — </a:t>
            </a:r>
            <a:pPr indent="0" marL="0">
              <a:lnSpc>
                <a:spcPct val="115000"/>
              </a:lnSpc>
              <a:buNone/>
            </a:pPr>
            <a:r>
              <a:rPr lang="en-US" sz="1300" dirty="0">
                <a:solidFill>
                  <a:srgbClr val="5B4308"/>
                </a:solidFill>
                <a:latin typeface="Calibri" pitchFamily="34" charset="0"/>
                <a:ea typeface="Calibri" pitchFamily="34" charset="-122"/>
                <a:cs typeface="Calibri" pitchFamily="34" charset="-120"/>
              </a:rPr>
              <a:t>atomizing without parallelism is slower than not atomizing at all. On both machines.</a:t>
            </a:r>
            <a:endParaRPr lang="en-US" sz="1300" dirty="0"/>
          </a:p>
          <a:p>
            <a:pPr indent="0" marL="0">
              <a:lnSpc>
                <a:spcPct val="115000"/>
              </a:lnSpc>
              <a:buNone/>
            </a:pPr>
            <a:r>
              <a:rPr lang="en-US" sz="1300" b="1" dirty="0">
                <a:solidFill>
                  <a:srgbClr val="5B4308"/>
                </a:solidFill>
                <a:latin typeface="Calibri" pitchFamily="34" charset="0"/>
                <a:ea typeface="Calibri" pitchFamily="34" charset="-122"/>
                <a:cs typeface="Calibri" pitchFamily="34" charset="-120"/>
              </a:rPr>
              <a:t>Rung 4 is not always a rung — </a:t>
            </a:r>
            <a:pPr indent="0" marL="0">
              <a:lnSpc>
                <a:spcPct val="115000"/>
              </a:lnSpc>
              <a:buNone/>
            </a:pPr>
            <a:r>
              <a:rPr lang="en-US" sz="1300" dirty="0">
                <a:solidFill>
                  <a:srgbClr val="5B4308"/>
                </a:solidFill>
                <a:latin typeface="Calibri" pitchFamily="34" charset="0"/>
                <a:ea typeface="Calibri" pitchFamily="34" charset="-122"/>
                <a:cs typeface="Calibri" pitchFamily="34" charset="-120"/>
              </a:rPr>
              <a:t>on 18 cores, nine local processes beat three runners. Distribution pays once one machine runs out of cores.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Start here.</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Feedback &amp; Q&amp;A</a:t>
            </a:r>
            <a:endParaRPr lang="en-US" sz="3800" dirty="0"/>
          </a:p>
        </p:txBody>
      </p:sp>
      <p:sp>
        <p:nvSpPr>
          <p:cNvPr id="4" name="Text 2"/>
          <p:cNvSpPr txBox="1"/>
          <p:nvPr/>
        </p:nvSpPr>
        <p:spPr>
          <a:xfrm>
            <a:off x="640080" y="1874520"/>
            <a:ext cx="72237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Take a minute to give your feedback — it makes the next session better.</a:t>
            </a:r>
            <a:endParaRPr lang="en-US" sz="1900" dirty="0"/>
          </a:p>
        </p:txBody>
      </p:sp>
      <p:sp>
        <p:nvSpPr>
          <p:cNvPr id="5" name="Text 3"/>
          <p:cNvSpPr txBox="1"/>
          <p:nvPr/>
        </p:nvSpPr>
        <p:spPr>
          <a:xfrm>
            <a:off x="640080" y="2651760"/>
            <a:ext cx="72237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063240"/>
            <a:ext cx="72237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412480" y="1874520"/>
            <a:ext cx="2834640" cy="2834640"/>
          </a:xfrm>
          <a:prstGeom prst="roundRect">
            <a:avLst>
              <a:gd name="adj" fmla="val 193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531352" y="1993392"/>
            <a:ext cx="2596896" cy="2596896"/>
          </a:xfrm>
          <a:prstGeom prst="rect">
            <a:avLst/>
          </a:prstGeom>
        </p:spPr>
      </p:pic>
      <p:sp>
        <p:nvSpPr>
          <p:cNvPr id="9" name="Text 6"/>
          <p:cNvSpPr txBox="1"/>
          <p:nvPr/>
        </p:nvSpPr>
        <p:spPr>
          <a:xfrm>
            <a:off x="8412480" y="4837176"/>
            <a:ext cx="283464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7223760" cy="320040"/>
          </a:xfrm>
          <a:prstGeom prst="rect">
            <a:avLst/>
          </a:prstGeom>
          <a:noFill/>
          <a:ln/>
        </p:spPr>
        <p:txBody>
          <a:bodyPr wrap="square" lIns="0" tIns="0" rIns="0" bIns="0" rtlCol="0" anchor="ctr"/>
          <a:lstStyle/>
          <a:p>
            <a:pPr indent="0" marL="0">
              <a:buNone/>
            </a:pPr>
            <a:r>
              <a:rPr lang="en-US" sz="1300" dirty="0">
                <a:solidFill>
                  <a:srgbClr val="5C6675"/>
                </a:solidFill>
                <a:latin typeface="Courier New" pitchFamily="34" charset="0"/>
                <a:ea typeface="Courier New" pitchFamily="34" charset="-122"/>
                <a:cs typeface="Courier New" pitchFamily="34" charset="-120"/>
              </a:rPr>
              <a:t>github.com/radzivil/nx-scaling-e2e-tests-with-atomizer</a:t>
            </a:r>
            <a:endParaRPr lang="en-US" sz="1300" dirty="0"/>
          </a:p>
        </p:txBody>
      </p:sp>
      <p:sp>
        <p:nvSpPr>
          <p:cNvPr id="11" name="Text 8"/>
          <p:cNvSpPr txBox="1"/>
          <p:nvPr/>
        </p:nvSpPr>
        <p:spPr>
          <a:xfrm>
            <a:off x="640080" y="6144768"/>
            <a:ext cx="7223760" cy="32004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Vladimir Radzivil · linkedin.com/in/vladimirradzivil</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Seven things that will bite you</a:t>
            </a:r>
            <a:endParaRPr lang="en-US" sz="3800" dirty="0"/>
          </a:p>
        </p:txBody>
      </p:sp>
      <p:sp>
        <p:nvSpPr>
          <p:cNvPr id="4" name="Shape 2"/>
          <p:cNvSpPr/>
          <p:nvPr/>
        </p:nvSpPr>
        <p:spPr>
          <a:xfrm>
            <a:off x="640080" y="1837944"/>
            <a:ext cx="365760" cy="365760"/>
          </a:xfrm>
          <a:prstGeom prst="ellipse">
            <a:avLst/>
          </a:prstGeom>
          <a:solidFill>
            <a:srgbClr val="B45309"/>
          </a:solidFill>
          <a:ln/>
        </p:spPr>
      </p:sp>
      <p:sp>
        <p:nvSpPr>
          <p:cNvPr id="5" name="Text 3"/>
          <p:cNvSpPr txBox="1"/>
          <p:nvPr/>
        </p:nvSpPr>
        <p:spPr>
          <a:xfrm>
            <a:off x="640080" y="18379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7830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7830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514600"/>
            <a:ext cx="365760" cy="365760"/>
          </a:xfrm>
          <a:prstGeom prst="ellipse">
            <a:avLst/>
          </a:prstGeom>
          <a:solidFill>
            <a:srgbClr val="B45309"/>
          </a:solidFill>
          <a:ln/>
        </p:spPr>
      </p:sp>
      <p:sp>
        <p:nvSpPr>
          <p:cNvPr id="9" name="Text 7"/>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459736"/>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More parallel is not more faster</a:t>
            </a:r>
            <a:endParaRPr lang="en-US" sz="1600" dirty="0"/>
          </a:p>
        </p:txBody>
      </p:sp>
      <p:sp>
        <p:nvSpPr>
          <p:cNvPr id="11" name="Text 9"/>
          <p:cNvSpPr txBox="1"/>
          <p:nvPr/>
        </p:nvSpPr>
        <p:spPr>
          <a:xfrm>
            <a:off x="5303520" y="2459736"/>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On a 10-core laptop --parallel=8 was no quicker than 5, and went red 2 runs in 5. Each target is a browser too.</a:t>
            </a:r>
            <a:endParaRPr lang="en-US" sz="1400" dirty="0"/>
          </a:p>
        </p:txBody>
      </p:sp>
      <p:sp>
        <p:nvSpPr>
          <p:cNvPr id="12" name="Shape 10"/>
          <p:cNvSpPr/>
          <p:nvPr/>
        </p:nvSpPr>
        <p:spPr>
          <a:xfrm>
            <a:off x="640080" y="3191256"/>
            <a:ext cx="365760" cy="365760"/>
          </a:xfrm>
          <a:prstGeom prst="ellipse">
            <a:avLst/>
          </a:prstGeom>
          <a:solidFill>
            <a:srgbClr val="B45309"/>
          </a:solidFill>
          <a:ln/>
        </p:spPr>
      </p:sp>
      <p:sp>
        <p:nvSpPr>
          <p:cNvPr id="13" name="Text 11"/>
          <p:cNvSpPr txBox="1"/>
          <p:nvPr/>
        </p:nvSpPr>
        <p:spPr>
          <a:xfrm>
            <a:off x="640080" y="319125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136392"/>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5" name="Text 13"/>
          <p:cNvSpPr txBox="1"/>
          <p:nvPr/>
        </p:nvSpPr>
        <p:spPr>
          <a:xfrm>
            <a:off x="5303520" y="3136392"/>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6" name="Shape 14"/>
          <p:cNvSpPr/>
          <p:nvPr/>
        </p:nvSpPr>
        <p:spPr>
          <a:xfrm>
            <a:off x="640080" y="3867912"/>
            <a:ext cx="365760" cy="365760"/>
          </a:xfrm>
          <a:prstGeom prst="ellipse">
            <a:avLst/>
          </a:prstGeom>
          <a:solidFill>
            <a:srgbClr val="B45309"/>
          </a:solidFill>
          <a:ln/>
        </p:spPr>
      </p:sp>
      <p:sp>
        <p:nvSpPr>
          <p:cNvPr id="17" name="Text 15"/>
          <p:cNvSpPr txBox="1"/>
          <p:nvPr/>
        </p:nvSpPr>
        <p:spPr>
          <a:xfrm>
            <a:off x="640080" y="386791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3813048"/>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9" name="Text 17"/>
          <p:cNvSpPr txBox="1"/>
          <p:nvPr/>
        </p:nvSpPr>
        <p:spPr>
          <a:xfrm>
            <a:off x="5303520" y="3813048"/>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20" name="Shape 18"/>
          <p:cNvSpPr/>
          <p:nvPr/>
        </p:nvSpPr>
        <p:spPr>
          <a:xfrm>
            <a:off x="640080" y="4544568"/>
            <a:ext cx="365760" cy="365760"/>
          </a:xfrm>
          <a:prstGeom prst="ellipse">
            <a:avLst/>
          </a:prstGeom>
          <a:solidFill>
            <a:srgbClr val="B45309"/>
          </a:solidFill>
          <a:ln/>
        </p:spPr>
      </p:sp>
      <p:sp>
        <p:nvSpPr>
          <p:cNvPr id="21" name="Text 19"/>
          <p:cNvSpPr txBox="1"/>
          <p:nvPr/>
        </p:nvSpPr>
        <p:spPr>
          <a:xfrm>
            <a:off x="640080" y="454456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489704"/>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23" name="Text 21"/>
          <p:cNvSpPr txBox="1"/>
          <p:nvPr/>
        </p:nvSpPr>
        <p:spPr>
          <a:xfrm>
            <a:off x="5303520" y="4489704"/>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4" name="Shape 22"/>
          <p:cNvSpPr/>
          <p:nvPr/>
        </p:nvSpPr>
        <p:spPr>
          <a:xfrm>
            <a:off x="640080" y="5221224"/>
            <a:ext cx="365760" cy="365760"/>
          </a:xfrm>
          <a:prstGeom prst="ellipse">
            <a:avLst/>
          </a:prstGeom>
          <a:solidFill>
            <a:srgbClr val="B45309"/>
          </a:solidFill>
          <a:ln/>
        </p:spPr>
      </p:sp>
      <p:sp>
        <p:nvSpPr>
          <p:cNvPr id="25" name="Text 23"/>
          <p:cNvSpPr txBox="1"/>
          <p:nvPr/>
        </p:nvSpPr>
        <p:spPr>
          <a:xfrm>
            <a:off x="640080" y="52212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1663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7" name="Text 25"/>
          <p:cNvSpPr txBox="1"/>
          <p:nvPr/>
        </p:nvSpPr>
        <p:spPr>
          <a:xfrm>
            <a:off x="5303520" y="51663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8" name="Shape 26"/>
          <p:cNvSpPr/>
          <p:nvPr/>
        </p:nvSpPr>
        <p:spPr>
          <a:xfrm>
            <a:off x="640080" y="5897880"/>
            <a:ext cx="365760" cy="365760"/>
          </a:xfrm>
          <a:prstGeom prst="ellipse">
            <a:avLst/>
          </a:prstGeom>
          <a:solidFill>
            <a:srgbClr val="B45309"/>
          </a:solidFill>
          <a:ln/>
        </p:spPr>
      </p:sp>
      <p:sp>
        <p:nvSpPr>
          <p:cNvPr id="29" name="Text 27"/>
          <p:cNvSpPr txBox="1"/>
          <p:nvPr/>
        </p:nvSpPr>
        <p:spPr>
          <a:xfrm>
            <a:off x="640080" y="58978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0" name="Text 28"/>
          <p:cNvSpPr txBox="1"/>
          <p:nvPr/>
        </p:nvSpPr>
        <p:spPr>
          <a:xfrm>
            <a:off x="1188720" y="5843016"/>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31" name="Text 29"/>
          <p:cNvSpPr txBox="1"/>
          <p:nvPr/>
        </p:nvSpPr>
        <p:spPr>
          <a:xfrm>
            <a:off x="5303520" y="5843016"/>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2026-09-09T02:47:37Z</dcterms:created>
  <dcterms:modified xsi:type="dcterms:W3CDTF">2026-09-09T02:47:37Z</dcterms:modified>
</cp:coreProperties>
</file>