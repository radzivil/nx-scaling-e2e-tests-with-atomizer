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
Every command this talk runs is in demo.md at the repo root, in slide order — keep it open on a second screen rather than reading commands off these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Expect nearly everyone — that is the point,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Expect far fewer hands and some laughter. Do not rush past that laugh —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Expect almost no hands — nobody gates a merge on a suite they cannot trust. Reveal the line at the bottom and move;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 Nx 23 added the guard. Do not rush to the workaround: sit on the third bullet. For a lot of the room this is not a technical problem at all, it is a purchase order they are not going to win this quarter. The good news lands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on the public repo — offer the link if anyone wants to check it. Three things to point at. The per-app matrix is generated from the graph, so those three jobs appeared without anyone editing the workflow. They finish within four seconds of each other, which is what a balanced split looks like. And discover costs 32s before any test starts — the honest price of building the matrix dynamically. Hardcode the matrix and you get that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are this laptop — the same machine they just watched the demo on — so the numbers match what they saw. The right column is an 18-core M5 for contrast. Two things to land. One: rung 2 is slower than not splitting on both machines, 31% here and 22% there, so the startup tax is real and not a quirk of old hardware. Two: on the M5 rung 3 beats rung 4, 48s against 55s. More cores beat more machines until you run out of cores — which is why CI still needs rung 4, because a CI runner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close. Put it up before the first question so the QR is on screen for the entire Q&amp;A — that is when people actually scan it. The recap is there for the room to read, not for you to read out. If nobody opens, the honest prompts are the Nx Cloud gate, Playwright instead of Cypress, and what the cache does and does not do for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4 and 5 all bit this repo for real — worth telling as war stories rather than reading out. On item 2: on this laptop five and eight came out at the same 141s mean, but eight failed two runs in five, and the spec that failed passes on its own in 13s. On an 18-core M5 the opposite happened — 18 beat 9 by 29% and stayed green. Memory was not the constraint on either machine. The real limit here is the 8 performance cores, and a Cypress target wants about 1.5 of them, which puts the ceiling near 5. Divide performance cores by what a task costs, then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against @nx/playwright 23.2.0 rather than from memory: the plugin builds target names as `${ciTargetName}--${relativeSpecFilePath}` and sets the same nonAtomizedTarget marker, which is what triggers the Nx Cloud refusal. One extra detail if someone digs: Playwright's plugin also emits an e2e-ci--wait-for-webserver target, because it coordinates the shared dev server across atomized runs differently from Cypress. If the questioner owns a Playwright suite, the honest advice is to take section 05 and skip section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do not present this, it is for you when a question lands. Numbers 1, 4 and 9 are the ones that actually come up. On 1: do not be defensive, Nx Cloud is a good product and the talk only claims the free tier is unclaimed. On 8: this is the honest answer that separates people who have done it from people who have read about it — parallel-safe test data is the real project, the Nx config is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777240"/>
          </a:xfrm>
          <a:prstGeom prst="rect">
            <a:avLst/>
          </a:prstGeom>
          <a:noFill/>
          <a:ln/>
        </p:spPr>
        <p:txBody>
          <a:bodyPr wrap="square" lIns="0" tIns="0" rIns="0" bIns="0" rtlCol="0" anchor="ctr"/>
          <a:lstStyle/>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Making your slowest quality gate fast enough</a:t>
            </a:r>
            <a:endParaRPr lang="en-US" sz="1700" dirty="0"/>
          </a:p>
          <a:p>
            <a:pPr indent="0" marL="0">
              <a:lnSpc>
                <a:spcPct val="115000"/>
              </a:lnSpc>
              <a:buNone/>
            </a:pPr>
            <a:r>
              <a:rPr lang="en-US" sz="1700" dirty="0">
                <a:solidFill>
                  <a:srgbClr val="C3CAD6"/>
                </a:solidFill>
                <a:latin typeface="Calibri" pitchFamily="34" charset="0"/>
                <a:ea typeface="Calibri" pitchFamily="34" charset="-122"/>
                <a:cs typeface="Calibri" pitchFamily="34" charset="-120"/>
              </a:rPr>
              <a:t>to actually use and trust on every pull request</a:t>
            </a:r>
            <a:endParaRPr lang="en-US" sz="1700" dirty="0"/>
          </a:p>
        </p:txBody>
      </p:sp>
      <p:sp>
        <p:nvSpPr>
          <p:cNvPr id="5" name="Shape 3"/>
          <p:cNvSpPr/>
          <p:nvPr/>
        </p:nvSpPr>
        <p:spPr>
          <a:xfrm>
            <a:off x="640080" y="4224528"/>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480560"/>
            <a:ext cx="1234440" cy="1234440"/>
          </a:xfrm>
          <a:prstGeom prst="ellipse">
            <a:avLst/>
          </a:prstGeom>
        </p:spPr>
      </p:pic>
      <p:sp>
        <p:nvSpPr>
          <p:cNvPr id="7" name="Text 4"/>
          <p:cNvSpPr txBox="1"/>
          <p:nvPr/>
        </p:nvSpPr>
        <p:spPr>
          <a:xfrm>
            <a:off x="2148840" y="4672584"/>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5084064"/>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2F4F7"/>
          </a:solidFill>
          <a:ln w="12700">
            <a:solidFill>
              <a:srgbClr val="DDE3EA"/>
            </a:solidFill>
            <a:prstDash val="dash"/>
          </a:ln>
        </p:spPr>
      </p:sp>
      <p:sp>
        <p:nvSpPr>
          <p:cNvPr id="9" name="Text 7"/>
          <p:cNvSpPr txBox="1"/>
          <p:nvPr/>
        </p:nvSpPr>
        <p:spPr>
          <a:xfrm>
            <a:off x="434340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0" name="Shape 8"/>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1" name="Text 9"/>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2F4F7"/>
          </a:solidFill>
          <a:ln w="12700">
            <a:solidFill>
              <a:srgbClr val="DDE3EA"/>
            </a:solidFill>
            <a:prstDash val="dash"/>
          </a:ln>
        </p:spPr>
      </p:sp>
      <p:sp>
        <p:nvSpPr>
          <p:cNvPr id="13" name="Text 11"/>
          <p:cNvSpPr txBox="1"/>
          <p:nvPr/>
        </p:nvSpPr>
        <p:spPr>
          <a:xfrm>
            <a:off x="8046720" y="2011680"/>
            <a:ext cx="3429000" cy="173736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1737360"/>
          </a:xfrm>
          <a:prstGeom prst="roundRect">
            <a:avLst>
              <a:gd name="adj" fmla="val 4737"/>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is using E2E tests?</a:t>
            </a:r>
            <a:endParaRPr lang="en-US" sz="1900" dirty="0"/>
          </a:p>
        </p:txBody>
      </p:sp>
      <p:sp>
        <p:nvSpPr>
          <p:cNvPr id="8" name="Shape 6"/>
          <p:cNvSpPr/>
          <p:nvPr/>
        </p:nvSpPr>
        <p:spPr>
          <a:xfrm>
            <a:off x="4343400" y="2011680"/>
            <a:ext cx="3429000" cy="1737360"/>
          </a:xfrm>
          <a:prstGeom prst="roundRect">
            <a:avLst>
              <a:gd name="adj" fmla="val 4737"/>
            </a:avLst>
          </a:prstGeom>
          <a:solidFill>
            <a:srgbClr val="FFFFFF"/>
          </a:solidFill>
          <a:ln w="12700">
            <a:solidFill>
              <a:srgbClr val="E2E6ED"/>
            </a:solidFill>
            <a:prstDash val="solid"/>
          </a:ln>
        </p:spPr>
      </p:sp>
      <p:sp>
        <p:nvSpPr>
          <p:cNvPr id="9" name="Shape 7"/>
          <p:cNvSpPr/>
          <p:nvPr/>
        </p:nvSpPr>
        <p:spPr>
          <a:xfrm>
            <a:off x="4572000" y="2240280"/>
            <a:ext cx="566928" cy="566928"/>
          </a:xfrm>
          <a:prstGeom prst="ellipse">
            <a:avLst/>
          </a:prstGeom>
          <a:solidFill>
            <a:srgbClr val="DCF5E7"/>
          </a:solidFill>
          <a:ln w="12700">
            <a:solidFill>
              <a:srgbClr val="333333"/>
            </a:solidFill>
            <a:prstDash val="solid"/>
          </a:ln>
        </p:spPr>
      </p:sp>
      <p:sp>
        <p:nvSpPr>
          <p:cNvPr id="10" name="Text 8"/>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457200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2" name="Shape 10"/>
          <p:cNvSpPr/>
          <p:nvPr/>
        </p:nvSpPr>
        <p:spPr>
          <a:xfrm>
            <a:off x="8046720" y="2011680"/>
            <a:ext cx="3429000" cy="1737360"/>
          </a:xfrm>
          <a:prstGeom prst="roundRect">
            <a:avLst>
              <a:gd name="adj" fmla="val 4737"/>
            </a:avLst>
          </a:prstGeom>
          <a:solidFill>
            <a:srgbClr val="FFFFFF"/>
          </a:solidFill>
          <a:ln w="12700">
            <a:solidFill>
              <a:srgbClr val="E2E6ED"/>
            </a:solidFill>
            <a:prstDash val="solid"/>
          </a:ln>
        </p:spPr>
      </p:sp>
      <p:sp>
        <p:nvSpPr>
          <p:cNvPr id="13" name="Shape 11"/>
          <p:cNvSpPr/>
          <p:nvPr/>
        </p:nvSpPr>
        <p:spPr>
          <a:xfrm>
            <a:off x="8275320" y="2240280"/>
            <a:ext cx="566928" cy="566928"/>
          </a:xfrm>
          <a:prstGeom prst="ellipse">
            <a:avLst/>
          </a:prstGeom>
          <a:solidFill>
            <a:srgbClr val="FBE0E2"/>
          </a:solidFill>
          <a:ln w="12700">
            <a:solidFill>
              <a:srgbClr val="333333"/>
            </a:solidFill>
            <a:prstDash val="solid"/>
          </a:ln>
        </p:spPr>
      </p:sp>
      <p:sp>
        <p:nvSpPr>
          <p:cNvPr id="14" name="Text 12"/>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8275320" y="2944368"/>
            <a:ext cx="2971800" cy="73152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6" name="Shape 14"/>
          <p:cNvSpPr/>
          <p:nvPr/>
        </p:nvSpPr>
        <p:spPr>
          <a:xfrm>
            <a:off x="640080" y="4343400"/>
            <a:ext cx="10881360" cy="1051560"/>
          </a:xfrm>
          <a:prstGeom prst="roundRect">
            <a:avLst>
              <a:gd name="adj" fmla="val 6087"/>
            </a:avLst>
          </a:prstGeom>
          <a:solidFill>
            <a:srgbClr val="FFF7E6"/>
          </a:solidFill>
          <a:ln w="12700">
            <a:solidFill>
              <a:srgbClr val="F5A524"/>
            </a:solidFill>
            <a:prstDash val="solid"/>
          </a:ln>
        </p:spPr>
      </p:sp>
      <p:sp>
        <p:nvSpPr>
          <p:cNvPr id="17" name="Text 15"/>
          <p:cNvSpPr txBox="1"/>
          <p:nvPr/>
        </p:nvSpPr>
        <p:spPr>
          <a:xfrm>
            <a:off x="914400" y="45262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783080"/>
          </a:xfrm>
          <a:prstGeom prst="roundRect">
            <a:avLst>
              <a:gd name="adj" fmla="val 3590"/>
            </a:avLst>
          </a:prstGeom>
          <a:solidFill>
            <a:srgbClr val="2A1116"/>
          </a:solidFill>
          <a:ln w="19050">
            <a:solidFill>
              <a:srgbClr val="FB7185"/>
            </a:solidFill>
            <a:prstDash val="solid"/>
          </a:ln>
        </p:spPr>
      </p:sp>
      <p:sp>
        <p:nvSpPr>
          <p:cNvPr id="7" name="Text 5"/>
          <p:cNvSpPr txBox="1"/>
          <p:nvPr/>
        </p:nvSpPr>
        <p:spPr>
          <a:xfrm>
            <a:off x="914400" y="2880360"/>
            <a:ext cx="10332720" cy="146304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following tasks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admin-e2e:e2e-ci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docs-e2e:e2e-ci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       - shop-e2e:e2e-ci</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663440"/>
            <a:ext cx="10881360" cy="411480"/>
          </a:xfrm>
          <a:prstGeom prst="rect">
            <a:avLst/>
          </a:prstGeom>
          <a:noFill/>
          <a:ln/>
        </p:spPr>
        <p:txBody>
          <a:bodyPr wrap="square" lIns="0" tIns="0" rIns="0" bIns="0" rtlCol="0" anchor="ctr"/>
          <a:lstStyle/>
          <a:p>
            <a:pPr indent="0" marL="0">
              <a:buNone/>
            </a:pPr>
            <a:r>
              <a:rPr lang="en-US" sz="2400" b="1" dirty="0">
                <a:solidFill>
                  <a:srgbClr val="F5A524"/>
                </a:solidFill>
                <a:latin typeface="Cambria" pitchFamily="34" charset="0"/>
                <a:ea typeface="Cambria" pitchFamily="34" charset="-122"/>
                <a:cs typeface="Cambria" pitchFamily="34" charset="-120"/>
              </a:rPr>
              <a:t>So now it is a procurement question.</a:t>
            </a:r>
            <a:endParaRPr lang="en-US" sz="2400" dirty="0"/>
          </a:p>
        </p:txBody>
      </p:sp>
      <p:sp>
        <p:nvSpPr>
          <p:cNvPr id="9" name="Text 7"/>
          <p:cNvSpPr txBox="1"/>
          <p:nvPr/>
        </p:nvSpPr>
        <p:spPr>
          <a:xfrm>
            <a:off x="640080" y="5166360"/>
            <a:ext cx="10881360" cy="1371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Cloud is a premium service from Nx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Is it approved in your organisation?</a:t>
            </a:r>
            <a:endParaRPr lang="en-US" sz="1500" dirty="0"/>
          </a:p>
          <a:p>
            <a:pPr marL="342900" indent="-342900">
              <a:spcAft>
                <a:spcPts val="1000"/>
              </a:spcAft>
              <a:buSzPct val="100000"/>
              <a:buChar char="•"/>
            </a:pPr>
            <a:r>
              <a:rPr lang="en-US" sz="1500" b="1" dirty="0">
                <a:solidFill>
                  <a:srgbClr val="FB7185"/>
                </a:solidFill>
                <a:latin typeface="Calibri" pitchFamily="34" charset="0"/>
                <a:ea typeface="Calibri" pitchFamily="34" charset="-122"/>
                <a:cs typeface="Calibri" pitchFamily="34" charset="-120"/>
              </a:rPr>
              <a:t>If not approved — you are blocked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04 · PROOF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That run, on this repo</a:t>
            </a:r>
            <a:endParaRPr lang="en-US" sz="3800" dirty="0"/>
          </a:p>
        </p:txBody>
      </p:sp>
      <p:pic>
        <p:nvPicPr>
          <p:cNvPr id="4" name="Image 0" descr="assets/ci-parallel-run.png">    </p:cNvPr>
          <p:cNvPicPr>
            <a:picLocks noChangeAspect="1"/>
          </p:cNvPicPr>
          <p:nvPr/>
        </p:nvPicPr>
        <p:blipFill>
          <a:blip r:embed="rId1"/>
          <a:stretch>
            <a:fillRect/>
          </a:stretch>
        </p:blipFill>
        <p:spPr>
          <a:xfrm>
            <a:off x="1874520" y="1572768"/>
            <a:ext cx="8412480" cy="3937420"/>
          </a:xfrm>
          <a:prstGeom prst="rect">
            <a:avLst/>
          </a:prstGeom>
        </p:spPr>
      </p:pic>
      <p:sp>
        <p:nvSpPr>
          <p:cNvPr id="5" name="Shape 2"/>
          <p:cNvSpPr/>
          <p:nvPr/>
        </p:nvSpPr>
        <p:spPr>
          <a:xfrm>
            <a:off x="1874520" y="1572768"/>
            <a:ext cx="8412480" cy="3937420"/>
          </a:xfrm>
          <a:prstGeom prst="rect">
            <a:avLst/>
          </a:prstGeom>
          <a:solidFill>
            <a:srgbClr val="FFFFFF">
              <a:alpha val="0"/>
            </a:srgbClr>
          </a:solidFill>
          <a:ln w="12700">
            <a:solidFill>
              <a:srgbClr val="E2E6ED"/>
            </a:solidFill>
            <a:prstDash val="solid"/>
          </a:ln>
        </p:spPr>
      </p:sp>
      <p:sp>
        <p:nvSpPr>
          <p:cNvPr id="6" name="Text 3"/>
          <p:cNvSpPr txBox="1"/>
          <p:nvPr/>
        </p:nvSpPr>
        <p:spPr>
          <a:xfrm>
            <a:off x="640080" y="5760720"/>
            <a:ext cx="3429000" cy="411480"/>
          </a:xfrm>
          <a:prstGeom prst="rect">
            <a:avLst/>
          </a:prstGeom>
          <a:noFill/>
          <a:ln/>
        </p:spPr>
        <p:txBody>
          <a:bodyPr wrap="square" lIns="0" tIns="0" rIns="0" bIns="0" rtlCol="0" anchor="ctr"/>
          <a:lstStyle/>
          <a:p>
            <a:pPr indent="0" marL="0">
              <a:buNone/>
            </a:pPr>
            <a:r>
              <a:rPr lang="en-US" sz="2200" b="1" dirty="0">
                <a:solidFill>
                  <a:srgbClr val="0B7A44"/>
                </a:solidFill>
                <a:latin typeface="Cambria" pitchFamily="34" charset="0"/>
                <a:ea typeface="Cambria" pitchFamily="34" charset="-122"/>
                <a:cs typeface="Cambria" pitchFamily="34" charset="-120"/>
              </a:rPr>
              <a:t>1m 24s</a:t>
            </a:r>
            <a:endParaRPr lang="en-US" sz="2200" dirty="0"/>
          </a:p>
        </p:txBody>
      </p:sp>
      <p:sp>
        <p:nvSpPr>
          <p:cNvPr id="7" name="Text 4"/>
          <p:cNvSpPr txBox="1"/>
          <p:nvPr/>
        </p:nvSpPr>
        <p:spPr>
          <a:xfrm>
            <a:off x="640080" y="6190488"/>
            <a:ext cx="3429000" cy="320040"/>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end to end, including npm ci</a:t>
            </a:r>
            <a:endParaRPr lang="en-US" sz="1200" dirty="0"/>
          </a:p>
        </p:txBody>
      </p:sp>
      <p:sp>
        <p:nvSpPr>
          <p:cNvPr id="8" name="Text 5"/>
          <p:cNvSpPr txBox="1"/>
          <p:nvPr/>
        </p:nvSpPr>
        <p:spPr>
          <a:xfrm>
            <a:off x="4343400" y="5760720"/>
            <a:ext cx="3429000" cy="411480"/>
          </a:xfrm>
          <a:prstGeom prst="rect">
            <a:avLst/>
          </a:prstGeom>
          <a:noFill/>
          <a:ln/>
        </p:spPr>
        <p:txBody>
          <a:bodyPr wrap="square" lIns="0" tIns="0" rIns="0" bIns="0" rtlCol="0" anchor="ctr"/>
          <a:lstStyle/>
          <a:p>
            <a:pPr indent="0" marL="0">
              <a:buNone/>
            </a:pPr>
            <a:r>
              <a:rPr lang="en-US" sz="2200" b="1" dirty="0">
                <a:solidFill>
                  <a:srgbClr val="0B7A44"/>
                </a:solidFill>
                <a:latin typeface="Cambria" pitchFamily="34" charset="0"/>
                <a:ea typeface="Cambria" pitchFamily="34" charset="-122"/>
                <a:cs typeface="Cambria" pitchFamily="34" charset="-120"/>
              </a:rPr>
              <a:t>41-45s</a:t>
            </a:r>
            <a:endParaRPr lang="en-US" sz="2200" dirty="0"/>
          </a:p>
        </p:txBody>
      </p:sp>
      <p:sp>
        <p:nvSpPr>
          <p:cNvPr id="9" name="Text 6"/>
          <p:cNvSpPr txBox="1"/>
          <p:nvPr/>
        </p:nvSpPr>
        <p:spPr>
          <a:xfrm>
            <a:off x="4343400" y="6190488"/>
            <a:ext cx="3429000" cy="320040"/>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per app, all three at once</a:t>
            </a:r>
            <a:endParaRPr lang="en-US" sz="1200" dirty="0"/>
          </a:p>
        </p:txBody>
      </p:sp>
      <p:sp>
        <p:nvSpPr>
          <p:cNvPr id="10" name="Text 7"/>
          <p:cNvSpPr txBox="1"/>
          <p:nvPr/>
        </p:nvSpPr>
        <p:spPr>
          <a:xfrm>
            <a:off x="8046720" y="5760720"/>
            <a:ext cx="3429000" cy="411480"/>
          </a:xfrm>
          <a:prstGeom prst="rect">
            <a:avLst/>
          </a:prstGeom>
          <a:noFill/>
          <a:ln/>
        </p:spPr>
        <p:txBody>
          <a:bodyPr wrap="square" lIns="0" tIns="0" rIns="0" bIns="0" rtlCol="0" anchor="ctr"/>
          <a:lstStyle/>
          <a:p>
            <a:pPr indent="0" marL="0">
              <a:buNone/>
            </a:pPr>
            <a:r>
              <a:rPr lang="en-US" sz="2200" b="1" dirty="0">
                <a:solidFill>
                  <a:srgbClr val="B45309"/>
                </a:solidFill>
                <a:latin typeface="Cambria" pitchFamily="34" charset="0"/>
                <a:ea typeface="Cambria" pitchFamily="34" charset="-122"/>
                <a:cs typeface="Cambria" pitchFamily="34" charset="-120"/>
              </a:rPr>
              <a:t>32s</a:t>
            </a:r>
            <a:endParaRPr lang="en-US" sz="2200" dirty="0"/>
          </a:p>
        </p:txBody>
      </p:sp>
      <p:sp>
        <p:nvSpPr>
          <p:cNvPr id="11" name="Text 8"/>
          <p:cNvSpPr txBox="1"/>
          <p:nvPr/>
        </p:nvSpPr>
        <p:spPr>
          <a:xfrm>
            <a:off x="8046720" y="6190488"/>
            <a:ext cx="3429000" cy="320040"/>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discover, before anything starts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4617720" y="1627632"/>
            <a:ext cx="4572000" cy="274320"/>
          </a:xfrm>
          <a:prstGeom prst="rect">
            <a:avLst/>
          </a:prstGeom>
          <a:noFill/>
          <a:ln/>
        </p:spPr>
        <p:txBody>
          <a:bodyPr wrap="square" lIns="0" tIns="0" rIns="0" bIns="0" rtlCol="0" anchor="ctr"/>
          <a:lstStyle/>
          <a:p>
            <a:pPr indent="0" marL="0">
              <a:buNone/>
            </a:pPr>
            <a:r>
              <a:rPr lang="en-US" sz="1100" b="1" spc="100" kern="0" dirty="0">
                <a:solidFill>
                  <a:srgbClr val="0B7A44"/>
                </a:solidFill>
                <a:latin typeface="Calibri" pitchFamily="34" charset="0"/>
                <a:ea typeface="Calibri" pitchFamily="34" charset="-122"/>
                <a:cs typeface="Calibri" pitchFamily="34" charset="-120"/>
              </a:rPr>
              <a:t>M1 PRO · 10 CORES · LIVE DEMO</a:t>
            </a:r>
            <a:endParaRPr lang="en-US" sz="1100" dirty="0"/>
          </a:p>
        </p:txBody>
      </p:sp>
      <p:sp>
        <p:nvSpPr>
          <p:cNvPr id="5" name="Text 3"/>
          <p:cNvSpPr txBox="1"/>
          <p:nvPr/>
        </p:nvSpPr>
        <p:spPr>
          <a:xfrm>
            <a:off x="10104120" y="1627632"/>
            <a:ext cx="1645920" cy="274320"/>
          </a:xfrm>
          <a:prstGeom prst="rect">
            <a:avLst/>
          </a:prstGeom>
          <a:noFill/>
          <a:ln/>
        </p:spPr>
        <p:txBody>
          <a:bodyPr wrap="square" lIns="0" tIns="0" rIns="0" bIns="0" rtlCol="0" anchor="ctr"/>
          <a:lstStyle/>
          <a:p>
            <a:pPr indent="0" marL="0">
              <a:buNone/>
            </a:pPr>
            <a:r>
              <a:rPr lang="en-US" sz="1100" b="1" spc="100" kern="0" dirty="0">
                <a:solidFill>
                  <a:srgbClr val="8A94A6"/>
                </a:solidFill>
                <a:latin typeface="Calibri" pitchFamily="34" charset="0"/>
                <a:ea typeface="Calibri" pitchFamily="34" charset="-122"/>
                <a:cs typeface="Calibri" pitchFamily="34" charset="-120"/>
              </a:rPr>
              <a:t>M5 · 18 CORES</a:t>
            </a:r>
            <a:endParaRPr lang="en-US" sz="1100" dirty="0"/>
          </a:p>
        </p:txBody>
      </p:sp>
      <p:sp>
        <p:nvSpPr>
          <p:cNvPr id="6" name="Shape 4"/>
          <p:cNvSpPr/>
          <p:nvPr/>
        </p:nvSpPr>
        <p:spPr>
          <a:xfrm>
            <a:off x="9829800" y="1572768"/>
            <a:ext cx="10973" cy="3703320"/>
          </a:xfrm>
          <a:prstGeom prst="rect">
            <a:avLst/>
          </a:prstGeom>
          <a:solidFill>
            <a:srgbClr val="E2E6ED"/>
          </a:solidFill>
          <a:ln w="12700">
            <a:solidFill>
              <a:srgbClr val="333333"/>
            </a:solidFill>
            <a:prstDash val="solid"/>
          </a:ln>
        </p:spPr>
      </p:sp>
      <p:sp>
        <p:nvSpPr>
          <p:cNvPr id="7" name="Text 5"/>
          <p:cNvSpPr txBox="1"/>
          <p:nvPr/>
        </p:nvSpPr>
        <p:spPr>
          <a:xfrm>
            <a:off x="640080" y="201168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8" name="Text 6"/>
          <p:cNvSpPr txBox="1"/>
          <p:nvPr/>
        </p:nvSpPr>
        <p:spPr>
          <a:xfrm>
            <a:off x="1051560" y="2011680"/>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9" name="Shape 7"/>
          <p:cNvSpPr/>
          <p:nvPr/>
        </p:nvSpPr>
        <p:spPr>
          <a:xfrm>
            <a:off x="4617720" y="2075688"/>
            <a:ext cx="3146612" cy="292608"/>
          </a:xfrm>
          <a:prstGeom prst="roundRect">
            <a:avLst>
              <a:gd name="adj" fmla="val 12500"/>
            </a:avLst>
          </a:prstGeom>
          <a:solidFill>
            <a:srgbClr val="F5A524"/>
          </a:solidFill>
          <a:ln w="12700">
            <a:solidFill>
              <a:srgbClr val="F5A524"/>
            </a:solidFill>
            <a:prstDash val="solid"/>
          </a:ln>
        </p:spPr>
      </p:sp>
      <p:sp>
        <p:nvSpPr>
          <p:cNvPr id="10" name="Text 8"/>
          <p:cNvSpPr txBox="1"/>
          <p:nvPr/>
        </p:nvSpPr>
        <p:spPr>
          <a:xfrm>
            <a:off x="7855772" y="201168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11" name="Text 9"/>
          <p:cNvSpPr txBox="1"/>
          <p:nvPr/>
        </p:nvSpPr>
        <p:spPr>
          <a:xfrm>
            <a:off x="10104120" y="2011680"/>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3m 16s</a:t>
            </a:r>
            <a:endParaRPr lang="en-US" sz="1400" dirty="0"/>
          </a:p>
        </p:txBody>
      </p:sp>
      <p:sp>
        <p:nvSpPr>
          <p:cNvPr id="12" name="Text 10"/>
          <p:cNvSpPr txBox="1"/>
          <p:nvPr/>
        </p:nvSpPr>
        <p:spPr>
          <a:xfrm>
            <a:off x="640080" y="272491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13" name="Text 11"/>
          <p:cNvSpPr txBox="1"/>
          <p:nvPr/>
        </p:nvSpPr>
        <p:spPr>
          <a:xfrm>
            <a:off x="1051560" y="2724912"/>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4" name="Shape 12"/>
          <p:cNvSpPr/>
          <p:nvPr/>
        </p:nvSpPr>
        <p:spPr>
          <a:xfrm>
            <a:off x="4617720" y="2788920"/>
            <a:ext cx="4114800" cy="292608"/>
          </a:xfrm>
          <a:prstGeom prst="roundRect">
            <a:avLst>
              <a:gd name="adj" fmla="val 12500"/>
            </a:avLst>
          </a:prstGeom>
          <a:solidFill>
            <a:srgbClr val="C2410C"/>
          </a:solidFill>
          <a:ln w="12700">
            <a:solidFill>
              <a:srgbClr val="C2410C"/>
            </a:solidFill>
            <a:prstDash val="solid"/>
          </a:ln>
        </p:spPr>
      </p:sp>
      <p:sp>
        <p:nvSpPr>
          <p:cNvPr id="15" name="Text 13"/>
          <p:cNvSpPr txBox="1"/>
          <p:nvPr/>
        </p:nvSpPr>
        <p:spPr>
          <a:xfrm>
            <a:off x="8823960" y="2724912"/>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40s</a:t>
            </a:r>
            <a:endParaRPr lang="en-US" sz="1400" dirty="0"/>
          </a:p>
        </p:txBody>
      </p:sp>
      <p:sp>
        <p:nvSpPr>
          <p:cNvPr id="16" name="Text 14"/>
          <p:cNvSpPr txBox="1"/>
          <p:nvPr/>
        </p:nvSpPr>
        <p:spPr>
          <a:xfrm>
            <a:off x="10104120" y="2724912"/>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4m 00s</a:t>
            </a:r>
            <a:endParaRPr lang="en-US" sz="1400" dirty="0"/>
          </a:p>
        </p:txBody>
      </p:sp>
      <p:sp>
        <p:nvSpPr>
          <p:cNvPr id="17" name="Text 15"/>
          <p:cNvSpPr txBox="1"/>
          <p:nvPr/>
        </p:nvSpPr>
        <p:spPr>
          <a:xfrm>
            <a:off x="640080" y="343814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8" name="Text 16"/>
          <p:cNvSpPr txBox="1"/>
          <p:nvPr/>
        </p:nvSpPr>
        <p:spPr>
          <a:xfrm>
            <a:off x="1051560" y="3438144"/>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half your cores at once</a:t>
            </a:r>
            <a:endParaRPr lang="en-US" sz="1300" dirty="0"/>
          </a:p>
        </p:txBody>
      </p:sp>
      <p:sp>
        <p:nvSpPr>
          <p:cNvPr id="19" name="Shape 17"/>
          <p:cNvSpPr/>
          <p:nvPr/>
        </p:nvSpPr>
        <p:spPr>
          <a:xfrm>
            <a:off x="4617720" y="3502152"/>
            <a:ext cx="1694329" cy="292608"/>
          </a:xfrm>
          <a:prstGeom prst="roundRect">
            <a:avLst>
              <a:gd name="adj" fmla="val 12500"/>
            </a:avLst>
          </a:prstGeom>
          <a:solidFill>
            <a:srgbClr val="0B7A44"/>
          </a:solidFill>
          <a:ln w="12700">
            <a:solidFill>
              <a:srgbClr val="0B7A44"/>
            </a:solidFill>
            <a:prstDash val="solid"/>
          </a:ln>
        </p:spPr>
      </p:sp>
      <p:sp>
        <p:nvSpPr>
          <p:cNvPr id="20" name="Text 18"/>
          <p:cNvSpPr txBox="1"/>
          <p:nvPr/>
        </p:nvSpPr>
        <p:spPr>
          <a:xfrm>
            <a:off x="6403489" y="3438144"/>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20s</a:t>
            </a:r>
            <a:endParaRPr lang="en-US" sz="1400" dirty="0"/>
          </a:p>
        </p:txBody>
      </p:sp>
      <p:sp>
        <p:nvSpPr>
          <p:cNvPr id="21" name="Text 19"/>
          <p:cNvSpPr txBox="1"/>
          <p:nvPr/>
        </p:nvSpPr>
        <p:spPr>
          <a:xfrm>
            <a:off x="10104120" y="3438144"/>
            <a:ext cx="1371600" cy="365760"/>
          </a:xfrm>
          <a:prstGeom prst="rect">
            <a:avLst/>
          </a:prstGeom>
          <a:noFill/>
          <a:ln/>
        </p:spPr>
        <p:txBody>
          <a:bodyPr wrap="square" lIns="0" tIns="0" rIns="0" bIns="0" rtlCol="0" anchor="ctr"/>
          <a:lstStyle/>
          <a:p>
            <a:pPr indent="0" marL="0">
              <a:buNone/>
            </a:pPr>
            <a:r>
              <a:rPr lang="en-US" sz="1400" b="1" dirty="0">
                <a:solidFill>
                  <a:srgbClr val="0B7A44"/>
                </a:solidFill>
                <a:latin typeface="Calibri" pitchFamily="34" charset="0"/>
                <a:ea typeface="Calibri" pitchFamily="34" charset="-122"/>
                <a:cs typeface="Calibri" pitchFamily="34" charset="-120"/>
              </a:rPr>
              <a:t>48s</a:t>
            </a:r>
            <a:endParaRPr lang="en-US" sz="1400" dirty="0"/>
          </a:p>
        </p:txBody>
      </p:sp>
      <p:sp>
        <p:nvSpPr>
          <p:cNvPr id="22" name="Text 20"/>
          <p:cNvSpPr txBox="1"/>
          <p:nvPr/>
        </p:nvSpPr>
        <p:spPr>
          <a:xfrm>
            <a:off x="640080" y="415137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23" name="Text 21"/>
          <p:cNvSpPr txBox="1"/>
          <p:nvPr/>
        </p:nvSpPr>
        <p:spPr>
          <a:xfrm>
            <a:off x="1051560" y="4151376"/>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24" name="Shape 22"/>
          <p:cNvSpPr/>
          <p:nvPr/>
        </p:nvSpPr>
        <p:spPr>
          <a:xfrm>
            <a:off x="4617720" y="4215384"/>
            <a:ext cx="665629" cy="292608"/>
          </a:xfrm>
          <a:prstGeom prst="roundRect">
            <a:avLst>
              <a:gd name="adj" fmla="val 12500"/>
            </a:avLst>
          </a:prstGeom>
          <a:solidFill>
            <a:srgbClr val="0B7A44"/>
          </a:solidFill>
          <a:ln w="12700">
            <a:solidFill>
              <a:srgbClr val="0B7A44"/>
            </a:solidFill>
            <a:prstDash val="solid"/>
          </a:ln>
        </p:spPr>
      </p:sp>
      <p:sp>
        <p:nvSpPr>
          <p:cNvPr id="25" name="Text 23"/>
          <p:cNvSpPr txBox="1"/>
          <p:nvPr/>
        </p:nvSpPr>
        <p:spPr>
          <a:xfrm>
            <a:off x="5374789" y="4151376"/>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6" name="Text 24"/>
          <p:cNvSpPr txBox="1"/>
          <p:nvPr/>
        </p:nvSpPr>
        <p:spPr>
          <a:xfrm>
            <a:off x="10104120" y="4151376"/>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55s</a:t>
            </a:r>
            <a:endParaRPr lang="en-US" sz="1400" dirty="0"/>
          </a:p>
        </p:txBody>
      </p:sp>
      <p:sp>
        <p:nvSpPr>
          <p:cNvPr id="27" name="Text 25"/>
          <p:cNvSpPr txBox="1"/>
          <p:nvPr/>
        </p:nvSpPr>
        <p:spPr>
          <a:xfrm>
            <a:off x="640080" y="486460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8" name="Text 26"/>
          <p:cNvSpPr txBox="1"/>
          <p:nvPr/>
        </p:nvSpPr>
        <p:spPr>
          <a:xfrm>
            <a:off x="1051560" y="4864608"/>
            <a:ext cx="352044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9" name="Shape 27"/>
          <p:cNvSpPr/>
          <p:nvPr/>
        </p:nvSpPr>
        <p:spPr>
          <a:xfrm>
            <a:off x="4617720" y="4928616"/>
            <a:ext cx="73152" cy="292608"/>
          </a:xfrm>
          <a:prstGeom prst="roundRect">
            <a:avLst>
              <a:gd name="adj" fmla="val 50000"/>
            </a:avLst>
          </a:prstGeom>
          <a:solidFill>
            <a:srgbClr val="15803D"/>
          </a:solidFill>
          <a:ln w="12700">
            <a:solidFill>
              <a:srgbClr val="15803D"/>
            </a:solidFill>
            <a:prstDash val="solid"/>
          </a:ln>
        </p:spPr>
      </p:sp>
      <p:sp>
        <p:nvSpPr>
          <p:cNvPr id="30" name="Text 28"/>
          <p:cNvSpPr txBox="1"/>
          <p:nvPr/>
        </p:nvSpPr>
        <p:spPr>
          <a:xfrm>
            <a:off x="4782312" y="4864608"/>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31" name="Text 29"/>
          <p:cNvSpPr txBox="1"/>
          <p:nvPr/>
        </p:nvSpPr>
        <p:spPr>
          <a:xfrm>
            <a:off x="10104120" y="4864608"/>
            <a:ext cx="137160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5s</a:t>
            </a:r>
            <a:endParaRPr lang="en-US" sz="1400" dirty="0"/>
          </a:p>
        </p:txBody>
      </p:sp>
      <p:sp>
        <p:nvSpPr>
          <p:cNvPr id="32" name="Shape 30"/>
          <p:cNvSpPr/>
          <p:nvPr/>
        </p:nvSpPr>
        <p:spPr>
          <a:xfrm>
            <a:off x="640080" y="5440680"/>
            <a:ext cx="10881360" cy="1170432"/>
          </a:xfrm>
          <a:prstGeom prst="roundRect">
            <a:avLst>
              <a:gd name="adj" fmla="val 5469"/>
            </a:avLst>
          </a:prstGeom>
          <a:solidFill>
            <a:srgbClr val="FFF7E6"/>
          </a:solidFill>
          <a:ln w="12700">
            <a:solidFill>
              <a:srgbClr val="F5A524"/>
            </a:solidFill>
            <a:prstDash val="solid"/>
          </a:ln>
        </p:spPr>
      </p:sp>
      <p:sp>
        <p:nvSpPr>
          <p:cNvPr id="33" name="Text 31"/>
          <p:cNvSpPr txBox="1"/>
          <p:nvPr/>
        </p:nvSpPr>
        <p:spPr>
          <a:xfrm>
            <a:off x="914400" y="5577840"/>
            <a:ext cx="10332720" cy="914400"/>
          </a:xfrm>
          <a:prstGeom prst="rect">
            <a:avLst/>
          </a:prstGeom>
          <a:noFill/>
          <a:ln/>
        </p:spPr>
        <p:txBody>
          <a:bodyPr wrap="square" lIns="0" tIns="0" rIns="0" bIns="0" rtlCol="0" anchor="ctr"/>
          <a:lstStyle/>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2 is the honest one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atomizing without parallelism is slower than not atomizing at all. On both machines.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Rung 4 is not always a rung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on 18 cores, nine local processes beat three runners. Distribution pays once one machine runs out of cores.</a:t>
            </a:r>
            <a:endParaRPr lang="en-US" sz="1300" dirty="0"/>
          </a:p>
          <a:p>
            <a:pPr indent="0" marL="0">
              <a:lnSpc>
                <a:spcPct val="115000"/>
              </a:lnSpc>
              <a:buNone/>
            </a:pPr>
            <a:r>
              <a:rPr lang="en-US" sz="1300" b="1" dirty="0">
                <a:solidFill>
                  <a:srgbClr val="5B4308"/>
                </a:solidFill>
                <a:latin typeface="Calibri" pitchFamily="34" charset="0"/>
                <a:ea typeface="Calibri" pitchFamily="34" charset="-122"/>
                <a:cs typeface="Calibri" pitchFamily="34" charset="-120"/>
              </a:rPr>
              <a:t>And the ceiling moves — </a:t>
            </a:r>
            <a:pPr indent="0" marL="0">
              <a:lnSpc>
                <a:spcPct val="115000"/>
              </a:lnSpc>
              <a:buNone/>
            </a:pPr>
            <a:r>
              <a:rPr lang="en-US" sz="1300" dirty="0">
                <a:solidFill>
                  <a:srgbClr val="5B4308"/>
                </a:solidFill>
                <a:latin typeface="Calibri" pitchFamily="34" charset="0"/>
                <a:ea typeface="Calibri" pitchFamily="34" charset="-122"/>
                <a:cs typeface="Calibri" pitchFamily="34" charset="-120"/>
              </a:rPr>
              <a:t>the M5 at all 18 cores reached 34s, while this laptop got slower and flakier past 5. Measure your own.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Start here.</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Feedback &amp; Q&amp;A</a:t>
            </a:r>
            <a:endParaRPr lang="en-US" sz="3800" dirty="0"/>
          </a:p>
        </p:txBody>
      </p:sp>
      <p:sp>
        <p:nvSpPr>
          <p:cNvPr id="4" name="Text 2"/>
          <p:cNvSpPr txBox="1"/>
          <p:nvPr/>
        </p:nvSpPr>
        <p:spPr>
          <a:xfrm>
            <a:off x="640080" y="1874520"/>
            <a:ext cx="72237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Take a minute to give your feedback — it makes the next session better.</a:t>
            </a:r>
            <a:endParaRPr lang="en-US" sz="1900" dirty="0"/>
          </a:p>
        </p:txBody>
      </p:sp>
      <p:sp>
        <p:nvSpPr>
          <p:cNvPr id="5" name="Text 3"/>
          <p:cNvSpPr txBox="1"/>
          <p:nvPr/>
        </p:nvSpPr>
        <p:spPr>
          <a:xfrm>
            <a:off x="640080" y="2651760"/>
            <a:ext cx="72237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063240"/>
            <a:ext cx="72237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412480" y="1874520"/>
            <a:ext cx="2834640" cy="2834640"/>
          </a:xfrm>
          <a:prstGeom prst="roundRect">
            <a:avLst>
              <a:gd name="adj" fmla="val 193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531352" y="1993392"/>
            <a:ext cx="2596896" cy="2596896"/>
          </a:xfrm>
          <a:prstGeom prst="rect">
            <a:avLst/>
          </a:prstGeom>
        </p:spPr>
      </p:pic>
      <p:sp>
        <p:nvSpPr>
          <p:cNvPr id="9" name="Text 6"/>
          <p:cNvSpPr txBox="1"/>
          <p:nvPr/>
        </p:nvSpPr>
        <p:spPr>
          <a:xfrm>
            <a:off x="8412480" y="4837176"/>
            <a:ext cx="283464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7223760" cy="320040"/>
          </a:xfrm>
          <a:prstGeom prst="rect">
            <a:avLst/>
          </a:prstGeom>
          <a:noFill/>
          <a:ln/>
        </p:spPr>
        <p:txBody>
          <a:bodyPr wrap="square" lIns="0" tIns="0" rIns="0" bIns="0" rtlCol="0" anchor="ctr"/>
          <a:lstStyle/>
          <a:p>
            <a:pPr indent="0" marL="0">
              <a:buNone/>
            </a:pPr>
            <a:r>
              <a:rPr lang="en-US" sz="1300" dirty="0">
                <a:solidFill>
                  <a:srgbClr val="5C6675"/>
                </a:solidFill>
                <a:latin typeface="Courier New" pitchFamily="34" charset="0"/>
                <a:ea typeface="Courier New" pitchFamily="34" charset="-122"/>
                <a:cs typeface="Courier New" pitchFamily="34" charset="-120"/>
              </a:rPr>
              <a:t>github.com/radzivil/nx-scaling-e2e-tests-with-atomizer</a:t>
            </a:r>
            <a:endParaRPr lang="en-US" sz="1300" dirty="0"/>
          </a:p>
        </p:txBody>
      </p:sp>
      <p:sp>
        <p:nvSpPr>
          <p:cNvPr id="11" name="Text 8"/>
          <p:cNvSpPr txBox="1"/>
          <p:nvPr/>
        </p:nvSpPr>
        <p:spPr>
          <a:xfrm>
            <a:off x="640080" y="6144768"/>
            <a:ext cx="7223760" cy="32004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Vladimir Radzivil · linkedin.com/in/vladimirradzivil</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Seven things that will bite you</a:t>
            </a:r>
            <a:endParaRPr lang="en-US" sz="3800" dirty="0"/>
          </a:p>
        </p:txBody>
      </p:sp>
      <p:sp>
        <p:nvSpPr>
          <p:cNvPr id="4" name="Shape 2"/>
          <p:cNvSpPr/>
          <p:nvPr/>
        </p:nvSpPr>
        <p:spPr>
          <a:xfrm>
            <a:off x="640080" y="1837944"/>
            <a:ext cx="365760" cy="365760"/>
          </a:xfrm>
          <a:prstGeom prst="ellipse">
            <a:avLst/>
          </a:prstGeom>
          <a:solidFill>
            <a:srgbClr val="B45309"/>
          </a:solidFill>
          <a:ln/>
        </p:spPr>
      </p:sp>
      <p:sp>
        <p:nvSpPr>
          <p:cNvPr id="5" name="Text 3"/>
          <p:cNvSpPr txBox="1"/>
          <p:nvPr/>
        </p:nvSpPr>
        <p:spPr>
          <a:xfrm>
            <a:off x="640080" y="18379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7830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7830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514600"/>
            <a:ext cx="365760" cy="365760"/>
          </a:xfrm>
          <a:prstGeom prst="ellipse">
            <a:avLst/>
          </a:prstGeom>
          <a:solidFill>
            <a:srgbClr val="B45309"/>
          </a:solidFill>
          <a:ln/>
        </p:spPr>
      </p:sp>
      <p:sp>
        <p:nvSpPr>
          <p:cNvPr id="9" name="Text 7"/>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45973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Parallelism has a ceiling — find yours</a:t>
            </a:r>
            <a:endParaRPr lang="en-US" sz="1600" dirty="0"/>
          </a:p>
        </p:txBody>
      </p:sp>
      <p:sp>
        <p:nvSpPr>
          <p:cNvPr id="11" name="Text 9"/>
          <p:cNvSpPr txBox="1"/>
          <p:nvPr/>
        </p:nvSpPr>
        <p:spPr>
          <a:xfrm>
            <a:off x="5303520" y="245973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10-core M1: 8 was no faster than 5, and went red 2 runs in 5. 18-core M5: 18 beat 9 by 29%. Measure, do not assume.</a:t>
            </a:r>
            <a:endParaRPr lang="en-US" sz="1400" dirty="0"/>
          </a:p>
        </p:txBody>
      </p:sp>
      <p:sp>
        <p:nvSpPr>
          <p:cNvPr id="12" name="Shape 10"/>
          <p:cNvSpPr/>
          <p:nvPr/>
        </p:nvSpPr>
        <p:spPr>
          <a:xfrm>
            <a:off x="640080" y="3191256"/>
            <a:ext cx="365760" cy="365760"/>
          </a:xfrm>
          <a:prstGeom prst="ellipse">
            <a:avLst/>
          </a:prstGeom>
          <a:solidFill>
            <a:srgbClr val="B45309"/>
          </a:solidFill>
          <a:ln/>
        </p:spPr>
      </p:sp>
      <p:sp>
        <p:nvSpPr>
          <p:cNvPr id="13" name="Text 11"/>
          <p:cNvSpPr txBox="1"/>
          <p:nvPr/>
        </p:nvSpPr>
        <p:spPr>
          <a:xfrm>
            <a:off x="640080" y="31912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136392"/>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5" name="Text 13"/>
          <p:cNvSpPr txBox="1"/>
          <p:nvPr/>
        </p:nvSpPr>
        <p:spPr>
          <a:xfrm>
            <a:off x="5303520" y="3136392"/>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6" name="Shape 14"/>
          <p:cNvSpPr/>
          <p:nvPr/>
        </p:nvSpPr>
        <p:spPr>
          <a:xfrm>
            <a:off x="640080" y="3867912"/>
            <a:ext cx="365760" cy="365760"/>
          </a:xfrm>
          <a:prstGeom prst="ellipse">
            <a:avLst/>
          </a:prstGeom>
          <a:solidFill>
            <a:srgbClr val="B45309"/>
          </a:solidFill>
          <a:ln/>
        </p:spPr>
      </p:sp>
      <p:sp>
        <p:nvSpPr>
          <p:cNvPr id="17" name="Text 15"/>
          <p:cNvSpPr txBox="1"/>
          <p:nvPr/>
        </p:nvSpPr>
        <p:spPr>
          <a:xfrm>
            <a:off x="640080" y="386791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3813048"/>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9" name="Text 17"/>
          <p:cNvSpPr txBox="1"/>
          <p:nvPr/>
        </p:nvSpPr>
        <p:spPr>
          <a:xfrm>
            <a:off x="5303520" y="3813048"/>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20" name="Shape 18"/>
          <p:cNvSpPr/>
          <p:nvPr/>
        </p:nvSpPr>
        <p:spPr>
          <a:xfrm>
            <a:off x="640080" y="4544568"/>
            <a:ext cx="365760" cy="365760"/>
          </a:xfrm>
          <a:prstGeom prst="ellipse">
            <a:avLst/>
          </a:prstGeom>
          <a:solidFill>
            <a:srgbClr val="B45309"/>
          </a:solidFill>
          <a:ln/>
        </p:spPr>
      </p:sp>
      <p:sp>
        <p:nvSpPr>
          <p:cNvPr id="21" name="Text 19"/>
          <p:cNvSpPr txBox="1"/>
          <p:nvPr/>
        </p:nvSpPr>
        <p:spPr>
          <a:xfrm>
            <a:off x="640080" y="454456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489704"/>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23" name="Text 21"/>
          <p:cNvSpPr txBox="1"/>
          <p:nvPr/>
        </p:nvSpPr>
        <p:spPr>
          <a:xfrm>
            <a:off x="5303520" y="4489704"/>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4" name="Shape 22"/>
          <p:cNvSpPr/>
          <p:nvPr/>
        </p:nvSpPr>
        <p:spPr>
          <a:xfrm>
            <a:off x="640080" y="5221224"/>
            <a:ext cx="365760" cy="365760"/>
          </a:xfrm>
          <a:prstGeom prst="ellipse">
            <a:avLst/>
          </a:prstGeom>
          <a:solidFill>
            <a:srgbClr val="B45309"/>
          </a:solidFill>
          <a:ln/>
        </p:spPr>
      </p:sp>
      <p:sp>
        <p:nvSpPr>
          <p:cNvPr id="25" name="Text 23"/>
          <p:cNvSpPr txBox="1"/>
          <p:nvPr/>
        </p:nvSpPr>
        <p:spPr>
          <a:xfrm>
            <a:off x="640080" y="52212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1663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7" name="Text 25"/>
          <p:cNvSpPr txBox="1"/>
          <p:nvPr/>
        </p:nvSpPr>
        <p:spPr>
          <a:xfrm>
            <a:off x="5303520" y="51663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8" name="Shape 26"/>
          <p:cNvSpPr/>
          <p:nvPr/>
        </p:nvSpPr>
        <p:spPr>
          <a:xfrm>
            <a:off x="640080" y="5897880"/>
            <a:ext cx="365760" cy="365760"/>
          </a:xfrm>
          <a:prstGeom prst="ellipse">
            <a:avLst/>
          </a:prstGeom>
          <a:solidFill>
            <a:srgbClr val="B45309"/>
          </a:solidFill>
          <a:ln/>
        </p:spPr>
      </p:sp>
      <p:sp>
        <p:nvSpPr>
          <p:cNvPr id="29" name="Text 27"/>
          <p:cNvSpPr txBox="1"/>
          <p:nvPr/>
        </p:nvSpPr>
        <p:spPr>
          <a:xfrm>
            <a:off x="640080" y="5897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0" name="Text 28"/>
          <p:cNvSpPr txBox="1"/>
          <p:nvPr/>
        </p:nvSpPr>
        <p:spPr>
          <a:xfrm>
            <a:off x="1188720" y="584301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31" name="Text 29"/>
          <p:cNvSpPr txBox="1"/>
          <p:nvPr/>
        </p:nvSpPr>
        <p:spPr>
          <a:xfrm>
            <a:off x="5303520" y="584301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APPENDIX · THE QUESTION THAT ALWAYS COMES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What about Playwright?</a:t>
            </a:r>
            <a:endParaRPr lang="en-US" sz="3800" dirty="0"/>
          </a:p>
        </p:txBody>
      </p:sp>
      <p:sp>
        <p:nvSpPr>
          <p:cNvPr id="4" name="Shape 2"/>
          <p:cNvSpPr/>
          <p:nvPr/>
        </p:nvSpPr>
        <p:spPr>
          <a:xfrm>
            <a:off x="640080" y="1828800"/>
            <a:ext cx="5349240" cy="3200400"/>
          </a:xfrm>
          <a:prstGeom prst="roundRect">
            <a:avLst>
              <a:gd name="adj" fmla="val 2286"/>
            </a:avLst>
          </a:prstGeom>
          <a:solidFill>
            <a:srgbClr val="F1FAF5"/>
          </a:solidFill>
          <a:ln w="12700">
            <a:solidFill>
              <a:srgbClr val="0B7A44"/>
            </a:solidFill>
            <a:prstDash val="solid"/>
          </a:ln>
        </p:spPr>
      </p:sp>
      <p:sp>
        <p:nvSpPr>
          <p:cNvPr id="5" name="Text 3"/>
          <p:cNvSpPr txBox="1"/>
          <p:nvPr/>
        </p:nvSpPr>
        <p:spPr>
          <a:xfrm>
            <a:off x="914400" y="2011680"/>
            <a:ext cx="4800600" cy="320040"/>
          </a:xfrm>
          <a:prstGeom prst="rect">
            <a:avLst/>
          </a:prstGeom>
          <a:noFill/>
          <a:ln/>
        </p:spPr>
        <p:txBody>
          <a:bodyPr wrap="square" lIns="0" tIns="0" rIns="0" bIns="0" rtlCol="0" anchor="ctr"/>
          <a:lstStyle/>
          <a:p>
            <a:pPr indent="0" marL="0">
              <a:buNone/>
            </a:pPr>
            <a:r>
              <a:rPr lang="en-US" sz="1600" b="1" dirty="0">
                <a:solidFill>
                  <a:srgbClr val="0B7A44"/>
                </a:solidFill>
                <a:latin typeface="Calibri" pitchFamily="34" charset="0"/>
                <a:ea typeface="Calibri" pitchFamily="34" charset="-122"/>
                <a:cs typeface="Calibri" pitchFamily="34" charset="-120"/>
              </a:rPr>
              <a:t>Carries over unchanged</a:t>
            </a:r>
            <a:endParaRPr lang="en-US" sz="1600" dirty="0"/>
          </a:p>
        </p:txBody>
      </p:sp>
      <p:sp>
        <p:nvSpPr>
          <p:cNvPr id="6" name="Shape 4"/>
          <p:cNvSpPr/>
          <p:nvPr/>
        </p:nvSpPr>
        <p:spPr>
          <a:xfrm>
            <a:off x="932688" y="2500884"/>
            <a:ext cx="82296" cy="82296"/>
          </a:xfrm>
          <a:prstGeom prst="ellipse">
            <a:avLst/>
          </a:prstGeom>
          <a:solidFill>
            <a:srgbClr val="0B7A44"/>
          </a:solidFill>
          <a:ln w="12700">
            <a:solidFill>
              <a:srgbClr val="333333"/>
            </a:solidFill>
            <a:prstDash val="solid"/>
          </a:ln>
        </p:spPr>
      </p:sp>
      <p:sp>
        <p:nvSpPr>
          <p:cNvPr id="7" name="Text 5"/>
          <p:cNvSpPr txBox="1"/>
          <p:nvPr/>
        </p:nvSpPr>
        <p:spPr>
          <a:xfrm>
            <a:off x="1170432" y="2450592"/>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@nx/playwright has the same atomizer — one target per spec file</a:t>
            </a:r>
            <a:endParaRPr lang="en-US" sz="1200" dirty="0"/>
          </a:p>
        </p:txBody>
      </p:sp>
      <p:sp>
        <p:nvSpPr>
          <p:cNvPr id="8" name="Shape 6"/>
          <p:cNvSpPr/>
          <p:nvPr/>
        </p:nvSpPr>
        <p:spPr>
          <a:xfrm>
            <a:off x="932688" y="3122676"/>
            <a:ext cx="82296" cy="82296"/>
          </a:xfrm>
          <a:prstGeom prst="ellipse">
            <a:avLst/>
          </a:prstGeom>
          <a:solidFill>
            <a:srgbClr val="0B7A44"/>
          </a:solidFill>
          <a:ln w="12700">
            <a:solidFill>
              <a:srgbClr val="333333"/>
            </a:solidFill>
            <a:prstDash val="solid"/>
          </a:ln>
        </p:spPr>
      </p:sp>
      <p:sp>
        <p:nvSpPr>
          <p:cNvPr id="9" name="Text 7"/>
          <p:cNvSpPr txBox="1"/>
          <p:nvPr/>
        </p:nvSpPr>
        <p:spPr>
          <a:xfrm>
            <a:off x="1170432" y="3072384"/>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Same names: e2e-ci--src/e2e/checkout.spec.ts</a:t>
            </a:r>
            <a:endParaRPr lang="en-US" sz="1200" dirty="0"/>
          </a:p>
        </p:txBody>
      </p:sp>
      <p:sp>
        <p:nvSpPr>
          <p:cNvPr id="10" name="Shape 8"/>
          <p:cNvSpPr/>
          <p:nvPr/>
        </p:nvSpPr>
        <p:spPr>
          <a:xfrm>
            <a:off x="932688" y="3744468"/>
            <a:ext cx="82296" cy="82296"/>
          </a:xfrm>
          <a:prstGeom prst="ellipse">
            <a:avLst/>
          </a:prstGeom>
          <a:solidFill>
            <a:srgbClr val="0B7A44"/>
          </a:solidFill>
          <a:ln w="12700">
            <a:solidFill>
              <a:srgbClr val="333333"/>
            </a:solidFill>
            <a:prstDash val="solid"/>
          </a:ln>
        </p:spPr>
      </p:sp>
      <p:sp>
        <p:nvSpPr>
          <p:cNvPr id="11" name="Text 9"/>
          <p:cNvSpPr txBox="1"/>
          <p:nvPr/>
        </p:nvSpPr>
        <p:spPr>
          <a:xfrm>
            <a:off x="1170432" y="3694176"/>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Same Nx Cloud gate on the e2e-ci wrapper</a:t>
            </a:r>
            <a:endParaRPr lang="en-US" sz="1200" dirty="0"/>
          </a:p>
        </p:txBody>
      </p:sp>
      <p:sp>
        <p:nvSpPr>
          <p:cNvPr id="12" name="Shape 10"/>
          <p:cNvSpPr/>
          <p:nvPr/>
        </p:nvSpPr>
        <p:spPr>
          <a:xfrm>
            <a:off x="932688" y="4366260"/>
            <a:ext cx="82296" cy="82296"/>
          </a:xfrm>
          <a:prstGeom prst="ellipse">
            <a:avLst/>
          </a:prstGeom>
          <a:solidFill>
            <a:srgbClr val="0B7A44"/>
          </a:solidFill>
          <a:ln w="12700">
            <a:solidFill>
              <a:srgbClr val="333333"/>
            </a:solidFill>
            <a:prstDash val="solid"/>
          </a:ln>
        </p:spPr>
      </p:sp>
      <p:sp>
        <p:nvSpPr>
          <p:cNvPr id="13" name="Text 11"/>
          <p:cNvSpPr txBox="1"/>
          <p:nvPr/>
        </p:nvSpPr>
        <p:spPr>
          <a:xfrm>
            <a:off x="1170432" y="4315968"/>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run-e2e.mjs needs no changes — it only reads the graph</a:t>
            </a:r>
            <a:endParaRPr lang="en-US" sz="1200" dirty="0"/>
          </a:p>
        </p:txBody>
      </p:sp>
      <p:sp>
        <p:nvSpPr>
          <p:cNvPr id="14" name="Shape 12"/>
          <p:cNvSpPr/>
          <p:nvPr/>
        </p:nvSpPr>
        <p:spPr>
          <a:xfrm>
            <a:off x="6263640" y="1828800"/>
            <a:ext cx="5349240" cy="3200400"/>
          </a:xfrm>
          <a:prstGeom prst="roundRect">
            <a:avLst>
              <a:gd name="adj" fmla="val 2286"/>
            </a:avLst>
          </a:prstGeom>
          <a:solidFill>
            <a:srgbClr val="FFF7E6"/>
          </a:solidFill>
          <a:ln w="12700">
            <a:solidFill>
              <a:srgbClr val="B45309"/>
            </a:solidFill>
            <a:prstDash val="solid"/>
          </a:ln>
        </p:spPr>
      </p:sp>
      <p:sp>
        <p:nvSpPr>
          <p:cNvPr id="15" name="Text 13"/>
          <p:cNvSpPr txBox="1"/>
          <p:nvPr/>
        </p:nvSpPr>
        <p:spPr>
          <a:xfrm>
            <a:off x="6537960" y="2011680"/>
            <a:ext cx="4800600" cy="320040"/>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What changes</a:t>
            </a:r>
            <a:endParaRPr lang="en-US" sz="1600" dirty="0"/>
          </a:p>
        </p:txBody>
      </p:sp>
      <p:sp>
        <p:nvSpPr>
          <p:cNvPr id="16" name="Shape 14"/>
          <p:cNvSpPr/>
          <p:nvPr/>
        </p:nvSpPr>
        <p:spPr>
          <a:xfrm>
            <a:off x="6556248" y="2500884"/>
            <a:ext cx="82296" cy="82296"/>
          </a:xfrm>
          <a:prstGeom prst="ellipse">
            <a:avLst/>
          </a:prstGeom>
          <a:solidFill>
            <a:srgbClr val="B45309"/>
          </a:solidFill>
          <a:ln w="12700">
            <a:solidFill>
              <a:srgbClr val="333333"/>
            </a:solidFill>
            <a:prstDash val="solid"/>
          </a:ln>
        </p:spPr>
      </p:sp>
      <p:sp>
        <p:nvSpPr>
          <p:cNvPr id="17" name="Text 15"/>
          <p:cNvSpPr txBox="1"/>
          <p:nvPr/>
        </p:nvSpPr>
        <p:spPr>
          <a:xfrm>
            <a:off x="6793992" y="2450592"/>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Playwright already runs spec files across worker processes. Cypress does not — that gap is most of the win here</a:t>
            </a:r>
            <a:endParaRPr lang="en-US" sz="1200" dirty="0"/>
          </a:p>
        </p:txBody>
      </p:sp>
      <p:sp>
        <p:nvSpPr>
          <p:cNvPr id="18" name="Shape 16"/>
          <p:cNvSpPr/>
          <p:nvPr/>
        </p:nvSpPr>
        <p:spPr>
          <a:xfrm>
            <a:off x="6556248" y="3122676"/>
            <a:ext cx="82296" cy="82296"/>
          </a:xfrm>
          <a:prstGeom prst="ellipse">
            <a:avLst/>
          </a:prstGeom>
          <a:solidFill>
            <a:srgbClr val="B45309"/>
          </a:solidFill>
          <a:ln w="12700">
            <a:solidFill>
              <a:srgbClr val="333333"/>
            </a:solidFill>
            <a:prstDash val="solid"/>
          </a:ln>
        </p:spPr>
      </p:sp>
      <p:sp>
        <p:nvSpPr>
          <p:cNvPr id="19" name="Text 17"/>
          <p:cNvSpPr txBox="1"/>
          <p:nvPr/>
        </p:nvSpPr>
        <p:spPr>
          <a:xfrm>
            <a:off x="6793992" y="3072384"/>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Atomizing swaps that warm pool for one cold browser launch per target</a:t>
            </a:r>
            <a:endParaRPr lang="en-US" sz="1200" dirty="0"/>
          </a:p>
        </p:txBody>
      </p:sp>
      <p:sp>
        <p:nvSpPr>
          <p:cNvPr id="20" name="Shape 18"/>
          <p:cNvSpPr/>
          <p:nvPr/>
        </p:nvSpPr>
        <p:spPr>
          <a:xfrm>
            <a:off x="6556248" y="3744468"/>
            <a:ext cx="82296" cy="82296"/>
          </a:xfrm>
          <a:prstGeom prst="ellipse">
            <a:avLst/>
          </a:prstGeom>
          <a:solidFill>
            <a:srgbClr val="B45309"/>
          </a:solidFill>
          <a:ln w="12700">
            <a:solidFill>
              <a:srgbClr val="333333"/>
            </a:solidFill>
            <a:prstDash val="solid"/>
          </a:ln>
        </p:spPr>
      </p:sp>
      <p:sp>
        <p:nvSpPr>
          <p:cNvPr id="21" name="Text 19"/>
          <p:cNvSpPr txBox="1"/>
          <p:nvPr/>
        </p:nvSpPr>
        <p:spPr>
          <a:xfrm>
            <a:off x="6793992" y="3694176"/>
            <a:ext cx="4526280" cy="566928"/>
          </a:xfrm>
          <a:prstGeom prst="rect">
            <a:avLst/>
          </a:prstGeom>
          <a:noFill/>
          <a:ln/>
        </p:spPr>
        <p:txBody>
          <a:bodyPr wrap="square" lIns="0" tIns="0" rIns="0" bIns="0" rtlCol="0" anchor="t"/>
          <a:lstStyle/>
          <a:p>
            <a:pPr indent="0" marL="0">
              <a:buNone/>
            </a:pPr>
            <a:r>
              <a:rPr lang="en-US" sz="1200" dirty="0">
                <a:solidFill>
                  <a:srgbClr val="10131A"/>
                </a:solidFill>
                <a:latin typeface="Calibri" pitchFamily="34" charset="0"/>
                <a:ea typeface="Calibri" pitchFamily="34" charset="-122"/>
                <a:cs typeface="Calibri" pitchFamily="34" charset="-120"/>
              </a:rPr>
              <a:t>Playwright ships native --shard, so rung 4 needs no Nx either</a:t>
            </a:r>
            <a:endParaRPr lang="en-US" sz="1200" dirty="0"/>
          </a:p>
        </p:txBody>
      </p:sp>
      <p:sp>
        <p:nvSpPr>
          <p:cNvPr id="22" name="Shape 20"/>
          <p:cNvSpPr/>
          <p:nvPr/>
        </p:nvSpPr>
        <p:spPr>
          <a:xfrm>
            <a:off x="640080" y="5212080"/>
            <a:ext cx="10881360" cy="1097280"/>
          </a:xfrm>
          <a:prstGeom prst="roundRect">
            <a:avLst>
              <a:gd name="adj" fmla="val 5833"/>
            </a:avLst>
          </a:prstGeom>
          <a:solidFill>
            <a:srgbClr val="FFFFFF"/>
          </a:solidFill>
          <a:ln w="12700">
            <a:solidFill>
              <a:srgbClr val="E2E6ED"/>
            </a:solidFill>
            <a:prstDash val="solid"/>
          </a:ln>
        </p:spPr>
      </p:sp>
      <p:sp>
        <p:nvSpPr>
          <p:cNvPr id="23" name="Text 21"/>
          <p:cNvSpPr txBox="1"/>
          <p:nvPr/>
        </p:nvSpPr>
        <p:spPr>
          <a:xfrm>
            <a:off x="914400" y="5349240"/>
            <a:ext cx="10332720" cy="868680"/>
          </a:xfrm>
          <a:prstGeom prst="rect">
            <a:avLst/>
          </a:prstGeom>
          <a:noFill/>
          <a:ln/>
        </p:spPr>
        <p:txBody>
          <a:bodyPr wrap="square" lIns="0" tIns="0" rIns="0" bIns="0" rtlCol="0" anchor="t"/>
          <a:lstStyle/>
          <a:p>
            <a:pPr indent="0" marL="0">
              <a:lnSpc>
                <a:spcPct val="115000"/>
              </a:lnSpc>
              <a:buNone/>
            </a:pPr>
            <a:r>
              <a:rPr lang="en-US" sz="1300" b="1" dirty="0">
                <a:solidFill>
                  <a:srgbClr val="10131A"/>
                </a:solidFill>
                <a:latin typeface="Calibri" pitchFamily="34" charset="0"/>
                <a:ea typeface="Calibri" pitchFamily="34" charset="-122"/>
                <a:cs typeface="Calibri" pitchFamily="34" charset="-120"/>
              </a:rPr>
              <a:t>The short answer — </a:t>
            </a:r>
            <a:pPr indent="0" marL="0">
              <a:lnSpc>
                <a:spcPct val="115000"/>
              </a:lnSpc>
              <a:buNone/>
            </a:pPr>
            <a:r>
              <a:rPr lang="en-US" sz="1300" dirty="0">
                <a:solidFill>
                  <a:srgbClr val="10131A"/>
                </a:solidFill>
                <a:latin typeface="Calibri" pitchFamily="34" charset="0"/>
                <a:ea typeface="Calibri" pitchFamily="34" charset="-122"/>
                <a:cs typeface="Calibri" pitchFamily="34" charset="-120"/>
              </a:rPr>
              <a:t>on Cypress the atomizer buys you parallelism and caching. On Playwright it mostly buys caching, because the parallelism was already there.</a:t>
            </a:r>
            <a:endParaRPr lang="en-US" sz="1300" dirty="0"/>
          </a:p>
          <a:p>
            <a:pPr indent="0" marL="0">
              <a:lnSpc>
                <a:spcPct val="115000"/>
              </a:lnSpc>
              <a:buNone/>
            </a:pPr>
            <a:r>
              <a:rPr lang="en-US" sz="1300" dirty="0">
                <a:solidFill>
                  <a:srgbClr val="5C6675"/>
                </a:solidFill>
                <a:latin typeface="Calibri" pitchFamily="34" charset="0"/>
                <a:ea typeface="Calibri" pitchFamily="34" charset="-122"/>
                <a:cs typeface="Calibri" pitchFamily="34" charset="-120"/>
              </a:rPr>
              <a:t>Still worth it: the cache and failure-only retries have no Playwright equivalent, and affected does not care which runner you use. Measure before you trade away the worker pool.</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APPENDIX · PREPARED ANSWERS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Ten questions you will probably get</a:t>
            </a:r>
            <a:endParaRPr lang="en-US" sz="3800" dirty="0"/>
          </a:p>
        </p:txBody>
      </p:sp>
      <p:sp>
        <p:nvSpPr>
          <p:cNvPr id="4" name="Text 2"/>
          <p:cNvSpPr txBox="1"/>
          <p:nvPr/>
        </p:nvSpPr>
        <p:spPr>
          <a:xfrm>
            <a:off x="640080" y="1700784"/>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01</a:t>
            </a:r>
            <a:endParaRPr lang="en-US" sz="1100" dirty="0"/>
          </a:p>
        </p:txBody>
      </p:sp>
      <p:sp>
        <p:nvSpPr>
          <p:cNvPr id="5" name="Text 3"/>
          <p:cNvSpPr txBox="1"/>
          <p:nvPr/>
        </p:nvSpPr>
        <p:spPr>
          <a:xfrm>
            <a:off x="1051560" y="1700784"/>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Why not just pay for Nx Cloud?</a:t>
            </a:r>
            <a:endParaRPr lang="en-US" sz="1250" dirty="0"/>
          </a:p>
        </p:txBody>
      </p:sp>
      <p:sp>
        <p:nvSpPr>
          <p:cNvPr id="6" name="Text 4"/>
          <p:cNvSpPr txBox="1"/>
          <p:nvPr/>
        </p:nvSpPr>
        <p:spPr>
          <a:xfrm>
            <a:off x="1051560" y="1984248"/>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Often the right call. It adds distribution by measured duration, a shared cache and flaky detection. This is the free half of the same idea.</a:t>
            </a:r>
            <a:endParaRPr lang="en-US" sz="1050" dirty="0"/>
          </a:p>
        </p:txBody>
      </p:sp>
      <p:sp>
        <p:nvSpPr>
          <p:cNvPr id="7" name="Text 5"/>
          <p:cNvSpPr txBox="1"/>
          <p:nvPr/>
        </p:nvSpPr>
        <p:spPr>
          <a:xfrm>
            <a:off x="640080" y="2651760"/>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02</a:t>
            </a:r>
            <a:endParaRPr lang="en-US" sz="1100" dirty="0"/>
          </a:p>
        </p:txBody>
      </p:sp>
      <p:sp>
        <p:nvSpPr>
          <p:cNvPr id="8" name="Text 6"/>
          <p:cNvSpPr txBox="1"/>
          <p:nvPr/>
        </p:nvSpPr>
        <p:spPr>
          <a:xfrm>
            <a:off x="1051560" y="2651760"/>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Does the cache fix flaky tests?</a:t>
            </a:r>
            <a:endParaRPr lang="en-US" sz="1250" dirty="0"/>
          </a:p>
        </p:txBody>
      </p:sp>
      <p:sp>
        <p:nvSpPr>
          <p:cNvPr id="9" name="Text 7"/>
          <p:cNvSpPr txBox="1"/>
          <p:nvPr/>
        </p:nvSpPr>
        <p:spPr>
          <a:xfrm>
            <a:off x="1051560" y="2935224"/>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No. It makes retries cheap. A flake fails, is never cached, and re-runs on its own while everything else replays.</a:t>
            </a:r>
            <a:endParaRPr lang="en-US" sz="1050" dirty="0"/>
          </a:p>
        </p:txBody>
      </p:sp>
      <p:sp>
        <p:nvSpPr>
          <p:cNvPr id="10" name="Text 8"/>
          <p:cNvSpPr txBox="1"/>
          <p:nvPr/>
        </p:nvSpPr>
        <p:spPr>
          <a:xfrm>
            <a:off x="640080" y="3602736"/>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03</a:t>
            </a:r>
            <a:endParaRPr lang="en-US" sz="1100" dirty="0"/>
          </a:p>
        </p:txBody>
      </p:sp>
      <p:sp>
        <p:nvSpPr>
          <p:cNvPr id="11" name="Text 9"/>
          <p:cNvSpPr txBox="1"/>
          <p:nvPr/>
        </p:nvSpPr>
        <p:spPr>
          <a:xfrm>
            <a:off x="1051560" y="3602736"/>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Can the cache hand back a wrong result?</a:t>
            </a:r>
            <a:endParaRPr lang="en-US" sz="1250" dirty="0"/>
          </a:p>
        </p:txBody>
      </p:sp>
      <p:sp>
        <p:nvSpPr>
          <p:cNvPr id="12" name="Text 10"/>
          <p:cNvSpPr txBox="1"/>
          <p:nvPr/>
        </p:nvSpPr>
        <p:spPr>
          <a:xfrm>
            <a:off x="1051560" y="3886200"/>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Only if a task has inputs Nx cannot see — a live API, the clock, a shared database. Declare them as inputs or mark the task uncacheable.</a:t>
            </a:r>
            <a:endParaRPr lang="en-US" sz="1050" dirty="0"/>
          </a:p>
        </p:txBody>
      </p:sp>
      <p:sp>
        <p:nvSpPr>
          <p:cNvPr id="13" name="Text 11"/>
          <p:cNvSpPr txBox="1"/>
          <p:nvPr/>
        </p:nvSpPr>
        <p:spPr>
          <a:xfrm>
            <a:off x="640080" y="4553712"/>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04</a:t>
            </a:r>
            <a:endParaRPr lang="en-US" sz="1100" dirty="0"/>
          </a:p>
        </p:txBody>
      </p:sp>
      <p:sp>
        <p:nvSpPr>
          <p:cNvPr id="14" name="Text 12"/>
          <p:cNvSpPr txBox="1"/>
          <p:nvPr/>
        </p:nvSpPr>
        <p:spPr>
          <a:xfrm>
            <a:off x="1051560" y="4553712"/>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Can the team share one cache?</a:t>
            </a:r>
            <a:endParaRPr lang="en-US" sz="1250" dirty="0"/>
          </a:p>
        </p:txBody>
      </p:sp>
      <p:sp>
        <p:nvSpPr>
          <p:cNvPr id="15" name="Text 13"/>
          <p:cNvSpPr txBox="1"/>
          <p:nvPr/>
        </p:nvSpPr>
        <p:spPr>
          <a:xfrm>
            <a:off x="1051560" y="4837176"/>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Not on the free tier: it is per-machine and per-CI-job. A shared remote cache is the main thing Nx Cloud actually sells.</a:t>
            </a:r>
            <a:endParaRPr lang="en-US" sz="1050" dirty="0"/>
          </a:p>
        </p:txBody>
      </p:sp>
      <p:sp>
        <p:nvSpPr>
          <p:cNvPr id="16" name="Text 14"/>
          <p:cNvSpPr txBox="1"/>
          <p:nvPr/>
        </p:nvSpPr>
        <p:spPr>
          <a:xfrm>
            <a:off x="640080" y="5504688"/>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05</a:t>
            </a:r>
            <a:endParaRPr lang="en-US" sz="1100" dirty="0"/>
          </a:p>
        </p:txBody>
      </p:sp>
      <p:sp>
        <p:nvSpPr>
          <p:cNvPr id="17" name="Text 15"/>
          <p:cNvSpPr txBox="1"/>
          <p:nvPr/>
        </p:nvSpPr>
        <p:spPr>
          <a:xfrm>
            <a:off x="1051560" y="5504688"/>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Do I need a monorepo for this?</a:t>
            </a:r>
            <a:endParaRPr lang="en-US" sz="1250" dirty="0"/>
          </a:p>
        </p:txBody>
      </p:sp>
      <p:sp>
        <p:nvSpPr>
          <p:cNvPr id="18" name="Text 16"/>
          <p:cNvSpPr txBox="1"/>
          <p:nvPr/>
        </p:nvSpPr>
        <p:spPr>
          <a:xfrm>
            <a:off x="1051560" y="5788152"/>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No. The atomizer works on a single project. It is affected that needs several projects before it earns its keep.</a:t>
            </a:r>
            <a:endParaRPr lang="en-US" sz="1050" dirty="0"/>
          </a:p>
        </p:txBody>
      </p:sp>
      <p:sp>
        <p:nvSpPr>
          <p:cNvPr id="19" name="Text 17"/>
          <p:cNvSpPr txBox="1"/>
          <p:nvPr/>
        </p:nvSpPr>
        <p:spPr>
          <a:xfrm>
            <a:off x="6263640" y="1700784"/>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06</a:t>
            </a:r>
            <a:endParaRPr lang="en-US" sz="1100" dirty="0"/>
          </a:p>
        </p:txBody>
      </p:sp>
      <p:sp>
        <p:nvSpPr>
          <p:cNvPr id="20" name="Text 18"/>
          <p:cNvSpPr txBox="1"/>
          <p:nvPr/>
        </p:nvSpPr>
        <p:spPr>
          <a:xfrm>
            <a:off x="6675120" y="1700784"/>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One app has 200 specs, the others have 5?</a:t>
            </a:r>
            <a:endParaRPr lang="en-US" sz="1250" dirty="0"/>
          </a:p>
        </p:txBody>
      </p:sp>
      <p:sp>
        <p:nvSpPr>
          <p:cNvPr id="21" name="Text 19"/>
          <p:cNvSpPr txBox="1"/>
          <p:nvPr/>
        </p:nvSpPr>
        <p:spPr>
          <a:xfrm>
            <a:off x="6675120" y="1984248"/>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That is exactly when sharding beats a per-app matrix. Shard the big one; leave the small ones a runner each.</a:t>
            </a:r>
            <a:endParaRPr lang="en-US" sz="1050" dirty="0"/>
          </a:p>
        </p:txBody>
      </p:sp>
      <p:sp>
        <p:nvSpPr>
          <p:cNvPr id="22" name="Text 20"/>
          <p:cNvSpPr txBox="1"/>
          <p:nvPr/>
        </p:nvSpPr>
        <p:spPr>
          <a:xfrm>
            <a:off x="6263640" y="2651760"/>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07</a:t>
            </a:r>
            <a:endParaRPr lang="en-US" sz="1100" dirty="0"/>
          </a:p>
        </p:txBody>
      </p:sp>
      <p:sp>
        <p:nvSpPr>
          <p:cNvPr id="23" name="Text 21"/>
          <p:cNvSpPr txBox="1"/>
          <p:nvPr/>
        </p:nvSpPr>
        <p:spPr>
          <a:xfrm>
            <a:off x="6675120" y="2651760"/>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Will 30 targets cost more CI minutes?</a:t>
            </a:r>
            <a:endParaRPr lang="en-US" sz="1250" dirty="0"/>
          </a:p>
        </p:txBody>
      </p:sp>
      <p:sp>
        <p:nvSpPr>
          <p:cNvPr id="24" name="Text 22"/>
          <p:cNvSpPr txBox="1"/>
          <p:nvPr/>
        </p:nvSpPr>
        <p:spPr>
          <a:xfrm>
            <a:off x="6675120" y="2935224"/>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It went 48m to 25m on the real project, and a replayed job bills almost nothing. More runners does mean more concurrency — measure yours.</a:t>
            </a:r>
            <a:endParaRPr lang="en-US" sz="1050" dirty="0"/>
          </a:p>
        </p:txBody>
      </p:sp>
      <p:sp>
        <p:nvSpPr>
          <p:cNvPr id="25" name="Text 23"/>
          <p:cNvSpPr txBox="1"/>
          <p:nvPr/>
        </p:nvSpPr>
        <p:spPr>
          <a:xfrm>
            <a:off x="6263640" y="3602736"/>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08</a:t>
            </a:r>
            <a:endParaRPr lang="en-US" sz="1100" dirty="0"/>
          </a:p>
        </p:txBody>
      </p:sp>
      <p:sp>
        <p:nvSpPr>
          <p:cNvPr id="26" name="Text 24"/>
          <p:cNvSpPr txBox="1"/>
          <p:nvPr/>
        </p:nvSpPr>
        <p:spPr>
          <a:xfrm>
            <a:off x="6675120" y="3602736"/>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What about shared test data?</a:t>
            </a:r>
            <a:endParaRPr lang="en-US" sz="1250" dirty="0"/>
          </a:p>
        </p:txBody>
      </p:sp>
      <p:sp>
        <p:nvSpPr>
          <p:cNvPr id="27" name="Text 25"/>
          <p:cNvSpPr txBox="1"/>
          <p:nvPr/>
        </p:nvSpPr>
        <p:spPr>
          <a:xfrm>
            <a:off x="6675120" y="3886200"/>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The real blocker, and it is not an Nx problem. Specs must be independent before you can run them at once. Usually more work than the config.</a:t>
            </a:r>
            <a:endParaRPr lang="en-US" sz="1050" dirty="0"/>
          </a:p>
        </p:txBody>
      </p:sp>
      <p:sp>
        <p:nvSpPr>
          <p:cNvPr id="28" name="Text 26"/>
          <p:cNvSpPr txBox="1"/>
          <p:nvPr/>
        </p:nvSpPr>
        <p:spPr>
          <a:xfrm>
            <a:off x="6263640" y="4553712"/>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09</a:t>
            </a:r>
            <a:endParaRPr lang="en-US" sz="1100" dirty="0"/>
          </a:p>
        </p:txBody>
      </p:sp>
      <p:sp>
        <p:nvSpPr>
          <p:cNvPr id="29" name="Text 27"/>
          <p:cNvSpPr txBox="1"/>
          <p:nvPr/>
        </p:nvSpPr>
        <p:spPr>
          <a:xfrm>
            <a:off x="6675120" y="4553712"/>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Does this work with Playwright?</a:t>
            </a:r>
            <a:endParaRPr lang="en-US" sz="1250" dirty="0"/>
          </a:p>
        </p:txBody>
      </p:sp>
      <p:sp>
        <p:nvSpPr>
          <p:cNvPr id="30" name="Text 28"/>
          <p:cNvSpPr txBox="1"/>
          <p:nvPr/>
        </p:nvSpPr>
        <p:spPr>
          <a:xfrm>
            <a:off x="6675120" y="4837176"/>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Same atomizer, same gate. But Playwright already parallelises, so you mostly gain the cache. Previous slide has the detail.</a:t>
            </a:r>
            <a:endParaRPr lang="en-US" sz="1050" dirty="0"/>
          </a:p>
        </p:txBody>
      </p:sp>
      <p:sp>
        <p:nvSpPr>
          <p:cNvPr id="31" name="Text 29"/>
          <p:cNvSpPr txBox="1"/>
          <p:nvPr/>
        </p:nvSpPr>
        <p:spPr>
          <a:xfrm>
            <a:off x="6263640" y="5504688"/>
            <a:ext cx="365760" cy="274320"/>
          </a:xfrm>
          <a:prstGeom prst="rect">
            <a:avLst/>
          </a:prstGeom>
          <a:noFill/>
          <a:ln/>
        </p:spPr>
        <p:txBody>
          <a:bodyPr wrap="square" lIns="0" tIns="0" rIns="0" bIns="0" rtlCol="0" anchor="ctr"/>
          <a:lstStyle/>
          <a:p>
            <a:pPr indent="0" marL="0">
              <a:buNone/>
            </a:pPr>
            <a:r>
              <a:rPr lang="en-US" sz="1100" b="1" dirty="0">
                <a:solidFill>
                  <a:srgbClr val="B45309"/>
                </a:solidFill>
                <a:latin typeface="Courier New" pitchFamily="34" charset="0"/>
                <a:ea typeface="Courier New" pitchFamily="34" charset="-122"/>
                <a:cs typeface="Courier New" pitchFamily="34" charset="-120"/>
              </a:rPr>
              <a:t>10</a:t>
            </a:r>
            <a:endParaRPr lang="en-US" sz="1100" dirty="0"/>
          </a:p>
        </p:txBody>
      </p:sp>
      <p:sp>
        <p:nvSpPr>
          <p:cNvPr id="32" name="Text 30"/>
          <p:cNvSpPr txBox="1"/>
          <p:nvPr/>
        </p:nvSpPr>
        <p:spPr>
          <a:xfrm>
            <a:off x="6675120" y="5504688"/>
            <a:ext cx="4937760" cy="274320"/>
          </a:xfrm>
          <a:prstGeom prst="rect">
            <a:avLst/>
          </a:prstGeom>
          <a:noFill/>
          <a:ln/>
        </p:spPr>
        <p:txBody>
          <a:bodyPr wrap="square" lIns="0" tIns="0" rIns="0" bIns="0" rtlCol="0" anchor="t"/>
          <a:lstStyle/>
          <a:p>
            <a:pPr indent="0" marL="0">
              <a:buNone/>
            </a:pPr>
            <a:r>
              <a:rPr lang="en-US" sz="1250" b="1" dirty="0">
                <a:solidFill>
                  <a:srgbClr val="10131A"/>
                </a:solidFill>
                <a:latin typeface="Calibri" pitchFamily="34" charset="0"/>
                <a:ea typeface="Calibri" pitchFamily="34" charset="-122"/>
                <a:cs typeface="Calibri" pitchFamily="34" charset="-120"/>
              </a:rPr>
              <a:t>How long did this take to set up?</a:t>
            </a:r>
            <a:endParaRPr lang="en-US" sz="1250" dirty="0"/>
          </a:p>
        </p:txBody>
      </p:sp>
      <p:sp>
        <p:nvSpPr>
          <p:cNvPr id="33" name="Text 31"/>
          <p:cNvSpPr txBox="1"/>
          <p:nvPr/>
        </p:nvSpPr>
        <p:spPr>
          <a:xfrm>
            <a:off x="6675120" y="5788152"/>
            <a:ext cx="4937760" cy="603504"/>
          </a:xfrm>
          <a:prstGeom prst="rect">
            <a:avLst/>
          </a:prstGeom>
          <a:noFill/>
          <a:ln/>
        </p:spPr>
        <p:txBody>
          <a:bodyPr wrap="square" lIns="0" tIns="0" rIns="0" bIns="0" rtlCol="0" anchor="t"/>
          <a:lstStyle/>
          <a:p>
            <a:pPr indent="0" marL="0">
              <a:buNone/>
            </a:pPr>
            <a:r>
              <a:rPr lang="en-US" sz="1050" dirty="0">
                <a:solidFill>
                  <a:srgbClr val="5C6675"/>
                </a:solidFill>
                <a:latin typeface="Calibri" pitchFamily="34" charset="0"/>
                <a:ea typeface="Calibri" pitchFamily="34" charset="-122"/>
                <a:cs typeface="Calibri" pitchFamily="34" charset="-120"/>
              </a:rPr>
              <a:t>The config is minutes. Reviewing a thousand tests took months. The tooling was never the hard part.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2026-09-09T03:38:17Z</dcterms:created>
  <dcterms:modified xsi:type="dcterms:W3CDTF">2026-09-09T03:38:17Z</dcterms:modified>
</cp:coreProperties>
</file>