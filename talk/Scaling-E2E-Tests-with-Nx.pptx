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who you are, then move. The QR stays useful all talk — people scan it while you set up the demo. Everything in this deck was measured on the repo linked at the end; nothing needs an Nx Cloud account.
BEFORE YOU PRESENT
  $ cd ~/IdeaProjects/nx-scaling-e2e-tests-with-atomizer
  $ npm ci &amp;&amp; npx cypress install
  $ npm run demo:status      → expect buggyDiscount: false
  $ npx nx reset             → cold cache, so the first number is honest
  Keep a terminal in the repo root on a second screen or a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quiet part: every other talk today has AI in the title. This one earns attention by being the unglamorous thing that makes the glamorous thing safe. The last line sets up the next slide, so land it and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Point at 05 and 06 as the parts worth staying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then actually wait for the hands. Expect nearly everyone — that is the point, this is not a niche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question, same room. Expect far fewer hands and some laughter. Do not rush past that laugh — it is the whole talk in one reaction.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question kills it. Expect almost no hands — nobody gates a merge on a suite they cannot trust. Reveal the line at the bottom and move; you have earned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for caring, in one comparison. Do not oversell AI — the only claim is that the ratio moved: generation got cheap, verification did not, so verification is where the leverage is now. Ten minutes is not arbitrary; it is roughly what an isolated change costs once affected plus caching plus per-app runners are all doing their job, and it is what the real project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not content — keep it under a minute. Two things to point at. One: the libs are shared unevenly, formatting by shop and admin, ui by admin and docs, which is what makes the affected demo land later. Two: thirty spec files but only three runnable tasks, because nx e2e is one Cypress process per app. That three is the number the atomizer turns into thirty. Have `nx graph` open in a tab if you would rather show the real thing.
DEMO — show the real graph
  $ npx nx graph
  Opens a browser. Click shop, then ui, to show what depends on what.
  Ctrl+C when done. `npx nx graph --print` if the projector hates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if the timing works, otherwise show the recording. The number to sit with is 4m20s on a toy repo with 30 specs — the audience can extrapolate to their own suite faster than you can do it for them.
DEMO — the un-atomized baseline
  $ npx nx e2e shop-e2e
  ~1m 33s for ONE app. Start it, keep talking, come back to it.
  All three serially is 4m 20s — quote that, do not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promise slide — everything after it is delivery. Read the four out loud; they map one-to-one onto the rest of the talk, in order. The closing line is the hook: people expect this to be a paid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
DEMO — what the atomizer generated
  $ npm run e2e:targets
  30 targets across 3 projects. Point out the names are file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
DEMO — where the targets come from
  $ npx nx show project shop-e2e --json
  (wide — use `npm run e2e:targets` if the JSON does not fit the screen)
  $ grep -A8 "cypress/plugin" nx.json
  Nine lines of config generate all thirty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 Nx 23 added the guard. Do not rush to the workaround: sit on the third bullet. For a lot of the room this is not a technical problem at all, it is a purchase order they are not going to win this quarter. The good news lands on the next slide.
DEMO — hit the gate, then walk around it
  $ npx nx run-many -t e2e-ci --parallel=5
  Fails, listing all three e2e-ci tasks. Read it out loud.
  $ npx nx run "shop-e2e:e2e-ci--src/e2e/catalog.cy.ts"
  Same plugin, one leaf target, green. ~25s from cold because it builds the
  app and starts preview first; a couple of seconds once those are cached.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is twenty lines and does two things: ask Nx for the target list, hand it to run-many. Do not hand-roll a process pool — you lose the cache and the usual first attempt swallows exit codes. The amber box buys you credibility for the cache claims coming next, so do not rush it.
DEMO — parallel on one machine
  $ npx nx reset
  $ node tools/run-e2e.mjs --project=shop-e2e --parallel=5
  ~40-46s across runs, against the 1m 33s baseline from earlier.
  Whole workspace if you have time: node tools/run-e2e.mjs --parallel=5  (~2m 06s)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
DEMO — the same thing on CI
  $ gh run list --limit 5
  $ gh run view --web
  One job per app, and the matrix is generated from the graph:
  $ sed -n "1,40p" .github/workflows/e2e.yml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
DEMO — run it again
  $ node tools/run-e2e.mjs --project=shop-e2e --parallel=5
  Up-arrow, enter. Back in ~0.2s with 11/12 cache hits.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
DEMO — the money moment
  $ npm run demo:break
  $ node tools/run-e2e.mjs --project=shop-e2e --parallel=5   → ~40s, 2 fail
  $ node tools/run-e2e.mjs --project=shop-e2e --parallel=5   → ~28s, 9/10 cached
  Nothing changed between those two. Only the failures re-executed.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
DEMO — undo it
  $ npm run demo:fix
  $ node tools/run-e2e.mjs --project=shop-e2e --parallel=5
  ~0.2s. Reverting restored the old input hash, so the old results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are this laptop — the same machine they just watched the demo on — so the numbers match what they saw. The right column is an 18-core M5 for contrast. Two things to land. One: rung 2 is slower than not splitting on both machines, 31% here and 22% there, so the startup tax is real and not a quirk of old hardware. Two: on the M5 rung 3 beats rung 4, 48s against 55s. More cores beat more machines until you run out of cores — which is why CI still needs rung 4, because a CI runner is small.
DO NOT RUN THIS LIVE
  $ npm run e2e:benchmark
  ~15 minutes — it runs every rung from a cold cache.
  Run it the morning of the talk and read the numbers off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
DEMO — let the graph choose
  $ npm run e2e:affected                                    → nothing affected, instant
  $ echo "/* demo */" &gt;&gt; libs/ui/src/styles.css
  $ node tools/e2e-targets.mjs --affected --projects-json   → ["admin-e2e","docs-e2e"]
  $ git checkout -- libs/ui/src/styles.css
  Discovery is instant. Only run the full affected suite (~1m 22s) if you have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story: the suite was already stable-ish, about a thousand tests. We read all of them, deleted a lot that tested nothing, and added more that tested something — ending near 1,500 with 85% coverage. The 48 to 25 minutes is a full rebuild; the number people actually feel day to day is under ten minutes for a change in one app. That is the affected graph doing the work, and it shows up on the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realistic ask is not "rebuild your CI this week". It is "clone it, let your agent read it, and run the benchmark". Step three matters most — the numbers in this deck are from my laptop and my suite, and the only ones that will convince their team are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for the whole close. Put it up before the first question so the QR is on screen for the entire Q&amp;A — that is when people actually scan it. The recap is there for the room to read, not for you to read out. If nobody opens, the honest prompts are the Nx Cloud gate, Playwright instead of Cypress, and what the cache does and does not do for flaky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past this unless someone asks. The gotchas slide behind it is the one people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4 and 5 all bit this repo for real — worth telling as war stories rather than reading out. On item 2: five and eight came out at the same 141s mean, but eight failed two runs in five, and the spec that failed passes on its own in 13s. That is contention, not a bug — each atomized target is a Cypress process plus a browser, so the ceiling is well under your core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417320"/>
            <a:ext cx="786384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Scaling E2E Tests</a:t>
            </a:r>
            <a:endParaRPr lang="en-US" sz="5000" dirty="0"/>
          </a:p>
        </p:txBody>
      </p:sp>
      <p:sp>
        <p:nvSpPr>
          <p:cNvPr id="3" name="Text 1"/>
          <p:cNvSpPr txBox="1"/>
          <p:nvPr/>
        </p:nvSpPr>
        <p:spPr>
          <a:xfrm>
            <a:off x="640080" y="2212848"/>
            <a:ext cx="7863840" cy="868680"/>
          </a:xfrm>
          <a:prstGeom prst="rect">
            <a:avLst/>
          </a:prstGeom>
          <a:noFill/>
          <a:ln/>
        </p:spPr>
        <p:txBody>
          <a:bodyPr wrap="square" lIns="0" tIns="0" rIns="0" bIns="0" rtlCol="0" anchor="ctr"/>
          <a:lstStyle/>
          <a:p>
            <a:pPr indent="0" marL="0">
              <a:buNone/>
            </a:pPr>
            <a:r>
              <a:rPr lang="en-US" sz="5000" b="1" dirty="0">
                <a:solidFill>
                  <a:srgbClr val="4ADE80"/>
                </a:solidFill>
                <a:latin typeface="Cambria" pitchFamily="34" charset="0"/>
                <a:ea typeface="Cambria" pitchFamily="34" charset="-122"/>
                <a:cs typeface="Cambria" pitchFamily="34" charset="-120"/>
              </a:rPr>
              <a:t>the Smart Way with Nx</a:t>
            </a:r>
            <a:endParaRPr lang="en-US" sz="5000" dirty="0"/>
          </a:p>
        </p:txBody>
      </p:sp>
      <p:sp>
        <p:nvSpPr>
          <p:cNvPr id="4" name="Text 2"/>
          <p:cNvSpPr txBox="1"/>
          <p:nvPr/>
        </p:nvSpPr>
        <p:spPr>
          <a:xfrm>
            <a:off x="640080" y="3200400"/>
            <a:ext cx="7863840" cy="777240"/>
          </a:xfrm>
          <a:prstGeom prst="rect">
            <a:avLst/>
          </a:prstGeom>
          <a:noFill/>
          <a:ln/>
        </p:spPr>
        <p:txBody>
          <a:bodyPr wrap="square" lIns="0" tIns="0" rIns="0" bIns="0" rtlCol="0" anchor="ctr"/>
          <a:lstStyle/>
          <a:p>
            <a:pPr indent="0" marL="0">
              <a:lnSpc>
                <a:spcPct val="115000"/>
              </a:lnSpc>
              <a:buNone/>
            </a:pPr>
            <a:r>
              <a:rPr lang="en-US" sz="1700" dirty="0">
                <a:solidFill>
                  <a:srgbClr val="C3CAD6"/>
                </a:solidFill>
                <a:latin typeface="Calibri" pitchFamily="34" charset="0"/>
                <a:ea typeface="Calibri" pitchFamily="34" charset="-122"/>
                <a:cs typeface="Calibri" pitchFamily="34" charset="-120"/>
              </a:rPr>
              <a:t>Making your slowest quality gate fast enough</a:t>
            </a:r>
            <a:endParaRPr lang="en-US" sz="1700" dirty="0"/>
          </a:p>
          <a:p>
            <a:pPr indent="0" marL="0">
              <a:lnSpc>
                <a:spcPct val="115000"/>
              </a:lnSpc>
              <a:buNone/>
            </a:pPr>
            <a:r>
              <a:rPr lang="en-US" sz="1700" dirty="0">
                <a:solidFill>
                  <a:srgbClr val="C3CAD6"/>
                </a:solidFill>
                <a:latin typeface="Calibri" pitchFamily="34" charset="0"/>
                <a:ea typeface="Calibri" pitchFamily="34" charset="-122"/>
                <a:cs typeface="Calibri" pitchFamily="34" charset="-120"/>
              </a:rPr>
              <a:t>to actually use and trust on every pull request</a:t>
            </a:r>
            <a:endParaRPr lang="en-US" sz="1700" dirty="0"/>
          </a:p>
        </p:txBody>
      </p:sp>
      <p:sp>
        <p:nvSpPr>
          <p:cNvPr id="5" name="Shape 3"/>
          <p:cNvSpPr/>
          <p:nvPr/>
        </p:nvSpPr>
        <p:spPr>
          <a:xfrm>
            <a:off x="640080" y="4224528"/>
            <a:ext cx="1005840" cy="32004"/>
          </a:xfrm>
          <a:prstGeom prst="rect">
            <a:avLst/>
          </a:prstGeom>
          <a:solidFill>
            <a:srgbClr val="4ADE80"/>
          </a:solidFill>
          <a:ln w="12700">
            <a:solidFill>
              <a:srgbClr val="333333"/>
            </a:solidFill>
            <a:prstDash val="solid"/>
          </a:ln>
        </p:spPr>
      </p:sp>
      <p:pic>
        <p:nvPicPr>
          <p:cNvPr id="6" name="Image 0" descr="/Users/vra/IdeaProjects/nx-scaling-e2e-tests-with-atomizer/talk/assets/avatar.jpg">    </p:cNvPr>
          <p:cNvPicPr>
            <a:picLocks noChangeAspect="1"/>
          </p:cNvPicPr>
          <p:nvPr/>
        </p:nvPicPr>
        <p:blipFill>
          <a:blip r:embed="rId1"/>
          <a:stretch>
            <a:fillRect/>
          </a:stretch>
        </p:blipFill>
        <p:spPr>
          <a:xfrm>
            <a:off x="640080" y="4480560"/>
            <a:ext cx="1234440" cy="1234440"/>
          </a:xfrm>
          <a:prstGeom prst="ellipse">
            <a:avLst/>
          </a:prstGeom>
        </p:spPr>
      </p:pic>
      <p:sp>
        <p:nvSpPr>
          <p:cNvPr id="7" name="Text 4"/>
          <p:cNvSpPr txBox="1"/>
          <p:nvPr/>
        </p:nvSpPr>
        <p:spPr>
          <a:xfrm>
            <a:off x="2148840" y="4672584"/>
            <a:ext cx="630936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Vladimir Radzivil</a:t>
            </a:r>
            <a:endParaRPr lang="en-US" sz="2200" dirty="0"/>
          </a:p>
        </p:txBody>
      </p:sp>
      <p:sp>
        <p:nvSpPr>
          <p:cNvPr id="8" name="Text 5"/>
          <p:cNvSpPr txBox="1"/>
          <p:nvPr/>
        </p:nvSpPr>
        <p:spPr>
          <a:xfrm>
            <a:off x="2148840" y="5084064"/>
            <a:ext cx="630936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Principal Consultant &amp; Partner, Zühlke</a:t>
            </a:r>
            <a:endParaRPr lang="en-US" sz="1500" dirty="0"/>
          </a:p>
        </p:txBody>
      </p:sp>
      <p:sp>
        <p:nvSpPr>
          <p:cNvPr id="9" name="Shape 6"/>
          <p:cNvSpPr/>
          <p:nvPr/>
        </p:nvSpPr>
        <p:spPr>
          <a:xfrm>
            <a:off x="8869680" y="2011680"/>
            <a:ext cx="2286000" cy="2286000"/>
          </a:xfrm>
          <a:prstGeom prst="roundRect">
            <a:avLst>
              <a:gd name="adj" fmla="val 2400"/>
            </a:avLst>
          </a:prstGeom>
          <a:solidFill>
            <a:srgbClr val="FFFFFF"/>
          </a:solidFill>
          <a:ln w="12700">
            <a:solidFill>
              <a:srgbClr val="333333"/>
            </a:solidFill>
            <a:prstDash val="solid"/>
          </a:ln>
        </p:spPr>
      </p:sp>
      <p:pic>
        <p:nvPicPr>
          <p:cNvPr id="10" name="Image 1" descr="/Users/vra/IdeaProjects/nx-scaling-e2e-tests-with-atomizer/talk/assets/qr-linkedin.png">    </p:cNvPr>
          <p:cNvPicPr>
            <a:picLocks noChangeAspect="1"/>
          </p:cNvPicPr>
          <p:nvPr/>
        </p:nvPicPr>
        <p:blipFill>
          <a:blip r:embed="rId2"/>
          <a:stretch>
            <a:fillRect/>
          </a:stretch>
        </p:blipFill>
        <p:spPr>
          <a:xfrm>
            <a:off x="8988552" y="2130552"/>
            <a:ext cx="2048256" cy="2048256"/>
          </a:xfrm>
          <a:prstGeom prst="rect">
            <a:avLst/>
          </a:prstGeom>
        </p:spPr>
      </p:pic>
      <p:sp>
        <p:nvSpPr>
          <p:cNvPr id="11" name="Text 7"/>
          <p:cNvSpPr txBox="1"/>
          <p:nvPr/>
        </p:nvSpPr>
        <p:spPr>
          <a:xfrm>
            <a:off x="8869680" y="4425696"/>
            <a:ext cx="228600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Connect on LinkedIn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WHY THIS TOPIC</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This one is not about AI</a:t>
            </a:r>
            <a:endParaRPr lang="en-US" sz="3800" dirty="0"/>
          </a:p>
        </p:txBody>
      </p:sp>
      <p:sp>
        <p:nvSpPr>
          <p:cNvPr id="4" name="Shape 2"/>
          <p:cNvSpPr/>
          <p:nvPr/>
        </p:nvSpPr>
        <p:spPr>
          <a:xfrm>
            <a:off x="640080" y="2011680"/>
            <a:ext cx="45720" cy="749808"/>
          </a:xfrm>
          <a:prstGeom prst="rect">
            <a:avLst/>
          </a:prstGeom>
          <a:solidFill>
            <a:srgbClr val="0B7A44"/>
          </a:solidFill>
          <a:ln w="12700">
            <a:solidFill>
              <a:srgbClr val="333333"/>
            </a:solidFill>
            <a:prstDash val="solid"/>
          </a:ln>
        </p:spPr>
      </p:sp>
      <p:sp>
        <p:nvSpPr>
          <p:cNvPr id="5" name="Text 3"/>
          <p:cNvSpPr txBox="1"/>
          <p:nvPr/>
        </p:nvSpPr>
        <p:spPr>
          <a:xfrm>
            <a:off x="914400" y="1965960"/>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engineering</a:t>
            </a:r>
            <a:endParaRPr lang="en-US" sz="1900" dirty="0"/>
          </a:p>
        </p:txBody>
      </p:sp>
      <p:sp>
        <p:nvSpPr>
          <p:cNvPr id="6" name="Text 4"/>
          <p:cNvSpPr txBox="1"/>
          <p:nvPr/>
        </p:nvSpPr>
        <p:spPr>
          <a:xfrm>
            <a:off x="914400" y="2368296"/>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Configuration and a task graph. No model, no prompt, no vendor.</a:t>
            </a:r>
            <a:endParaRPr lang="en-US" sz="1400" dirty="0"/>
          </a:p>
        </p:txBody>
      </p:sp>
      <p:sp>
        <p:nvSpPr>
          <p:cNvPr id="7" name="Shape 5"/>
          <p:cNvSpPr/>
          <p:nvPr/>
        </p:nvSpPr>
        <p:spPr>
          <a:xfrm>
            <a:off x="640080" y="3035808"/>
            <a:ext cx="45720" cy="749808"/>
          </a:xfrm>
          <a:prstGeom prst="rect">
            <a:avLst/>
          </a:prstGeom>
          <a:solidFill>
            <a:srgbClr val="0B7A44"/>
          </a:solidFill>
          <a:ln w="12700">
            <a:solidFill>
              <a:srgbClr val="333333"/>
            </a:solidFill>
            <a:prstDash val="solid"/>
          </a:ln>
        </p:spPr>
      </p:sp>
      <p:sp>
        <p:nvSpPr>
          <p:cNvPr id="8" name="Text 6"/>
          <p:cNvSpPr txBox="1"/>
          <p:nvPr/>
        </p:nvSpPr>
        <p:spPr>
          <a:xfrm>
            <a:off x="914400" y="2990088"/>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from a real project</a:t>
            </a:r>
            <a:endParaRPr lang="en-US" sz="1900" dirty="0"/>
          </a:p>
        </p:txBody>
      </p:sp>
      <p:sp>
        <p:nvSpPr>
          <p:cNvPr id="9" name="Text 7"/>
          <p:cNvSpPr txBox="1"/>
          <p:nvPr/>
        </p:nvSpPr>
        <p:spPr>
          <a:xfrm>
            <a:off x="914400" y="3392424"/>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Fifteen applications, a suite that had grown past what one machine could run.</a:t>
            </a:r>
            <a:endParaRPr lang="en-US" sz="1400" dirty="0"/>
          </a:p>
        </p:txBody>
      </p:sp>
      <p:sp>
        <p:nvSpPr>
          <p:cNvPr id="10" name="Shape 8"/>
          <p:cNvSpPr/>
          <p:nvPr/>
        </p:nvSpPr>
        <p:spPr>
          <a:xfrm>
            <a:off x="640080" y="4059936"/>
            <a:ext cx="45720" cy="749808"/>
          </a:xfrm>
          <a:prstGeom prst="rect">
            <a:avLst/>
          </a:prstGeom>
          <a:solidFill>
            <a:srgbClr val="0B7A44"/>
          </a:solidFill>
          <a:ln w="12700">
            <a:solidFill>
              <a:srgbClr val="333333"/>
            </a:solidFill>
            <a:prstDash val="solid"/>
          </a:ln>
        </p:spPr>
      </p:sp>
      <p:sp>
        <p:nvSpPr>
          <p:cNvPr id="11" name="Text 9"/>
          <p:cNvSpPr txBox="1"/>
          <p:nvPr/>
        </p:nvSpPr>
        <p:spPr>
          <a:xfrm>
            <a:off x="914400" y="4014216"/>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applies to most teams</a:t>
            </a:r>
            <a:endParaRPr lang="en-US" sz="1900" dirty="0"/>
          </a:p>
        </p:txBody>
      </p:sp>
      <p:sp>
        <p:nvSpPr>
          <p:cNvPr id="12" name="Text 10"/>
          <p:cNvSpPr txBox="1"/>
          <p:nvPr/>
        </p:nvSpPr>
        <p:spPr>
          <a:xfrm>
            <a:off x="914400" y="4416552"/>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If you have e2e tests and a monorepo, you already have the preconditions.</a:t>
            </a:r>
            <a:endParaRPr lang="en-US" sz="1400" dirty="0"/>
          </a:p>
        </p:txBody>
      </p:sp>
      <p:sp>
        <p:nvSpPr>
          <p:cNvPr id="13" name="Shape 11"/>
          <p:cNvSpPr/>
          <p:nvPr/>
        </p:nvSpPr>
        <p:spPr>
          <a:xfrm>
            <a:off x="640080" y="5084064"/>
            <a:ext cx="45720" cy="749808"/>
          </a:xfrm>
          <a:prstGeom prst="rect">
            <a:avLst/>
          </a:prstGeom>
          <a:solidFill>
            <a:srgbClr val="0B7A44"/>
          </a:solidFill>
          <a:ln w="12700">
            <a:solidFill>
              <a:srgbClr val="333333"/>
            </a:solidFill>
            <a:prstDash val="solid"/>
          </a:ln>
        </p:spPr>
      </p:sp>
      <p:sp>
        <p:nvSpPr>
          <p:cNvPr id="14" name="Text 12"/>
          <p:cNvSpPr txBox="1"/>
          <p:nvPr/>
        </p:nvSpPr>
        <p:spPr>
          <a:xfrm>
            <a:off x="914400" y="5038344"/>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You can use it today</a:t>
            </a:r>
            <a:endParaRPr lang="en-US" sz="1900" dirty="0"/>
          </a:p>
        </p:txBody>
      </p:sp>
      <p:sp>
        <p:nvSpPr>
          <p:cNvPr id="15" name="Text 13"/>
          <p:cNvSpPr txBox="1"/>
          <p:nvPr/>
        </p:nvSpPr>
        <p:spPr>
          <a:xfrm>
            <a:off x="914400" y="5440680"/>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Everything here is in the open-source plugin you probably already depend on.</a:t>
            </a:r>
            <a:endParaRPr lang="en-US" sz="1400" dirty="0"/>
          </a:p>
        </p:txBody>
      </p:sp>
      <p:sp>
        <p:nvSpPr>
          <p:cNvPr id="16" name="Text 14"/>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600" i="1" dirty="0">
                <a:solidFill>
                  <a:srgbClr val="0B7A44"/>
                </a:solidFill>
                <a:latin typeface="Calibri" pitchFamily="34" charset="0"/>
                <a:ea typeface="Calibri" pitchFamily="34" charset="-122"/>
                <a:cs typeface="Calibri" pitchFamily="34" charset="-120"/>
              </a:rPr>
              <a:t>Change got cheap this year. Confidence did not.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The same command locally and on CI</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and what it did on a real project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2F4F7"/>
          </a:solidFill>
          <a:ln w="12700">
            <a:solidFill>
              <a:srgbClr val="DDE3EA"/>
            </a:solidFill>
            <a:prstDash val="dash"/>
          </a:ln>
        </p:spPr>
      </p:sp>
      <p:sp>
        <p:nvSpPr>
          <p:cNvPr id="9" name="Text 7"/>
          <p:cNvSpPr txBox="1"/>
          <p:nvPr/>
        </p:nvSpPr>
        <p:spPr>
          <a:xfrm>
            <a:off x="434340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2</a:t>
            </a:r>
            <a:endParaRPr lang="en-US" sz="4000" dirty="0"/>
          </a:p>
        </p:txBody>
      </p:sp>
      <p:sp>
        <p:nvSpPr>
          <p:cNvPr id="10" name="Shape 8"/>
          <p:cNvSpPr/>
          <p:nvPr/>
        </p:nvSpPr>
        <p:spPr>
          <a:xfrm>
            <a:off x="8046720" y="2011680"/>
            <a:ext cx="3429000" cy="1737360"/>
          </a:xfrm>
          <a:prstGeom prst="roundRect">
            <a:avLst>
              <a:gd name="adj" fmla="val 4737"/>
            </a:avLst>
          </a:prstGeom>
          <a:solidFill>
            <a:srgbClr val="F2F4F7"/>
          </a:solidFill>
          <a:ln w="12700">
            <a:solidFill>
              <a:srgbClr val="DDE3EA"/>
            </a:solidFill>
            <a:prstDash val="dash"/>
          </a:ln>
        </p:spPr>
      </p:sp>
      <p:sp>
        <p:nvSpPr>
          <p:cNvPr id="11" name="Text 9"/>
          <p:cNvSpPr txBox="1"/>
          <p:nvPr/>
        </p:nvSpPr>
        <p:spPr>
          <a:xfrm>
            <a:off x="804672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FFFFF"/>
          </a:solidFill>
          <a:ln w="12700">
            <a:solidFill>
              <a:srgbClr val="E2E6ED"/>
            </a:solidFill>
            <a:prstDash val="solid"/>
          </a:ln>
        </p:spPr>
      </p:sp>
      <p:sp>
        <p:nvSpPr>
          <p:cNvPr id="9" name="Shape 7"/>
          <p:cNvSpPr/>
          <p:nvPr/>
        </p:nvSpPr>
        <p:spPr>
          <a:xfrm>
            <a:off x="4572000" y="2240280"/>
            <a:ext cx="566928" cy="566928"/>
          </a:xfrm>
          <a:prstGeom prst="ellipse">
            <a:avLst/>
          </a:prstGeom>
          <a:solidFill>
            <a:srgbClr val="DCF5E7"/>
          </a:solidFill>
          <a:ln w="12700">
            <a:solidFill>
              <a:srgbClr val="333333"/>
            </a:solidFill>
            <a:prstDash val="solid"/>
          </a:ln>
        </p:spPr>
      </p:sp>
      <p:sp>
        <p:nvSpPr>
          <p:cNvPr id="10" name="Text 8"/>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457200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2" name="Shape 10"/>
          <p:cNvSpPr/>
          <p:nvPr/>
        </p:nvSpPr>
        <p:spPr>
          <a:xfrm>
            <a:off x="8046720" y="2011680"/>
            <a:ext cx="3429000" cy="1737360"/>
          </a:xfrm>
          <a:prstGeom prst="roundRect">
            <a:avLst>
              <a:gd name="adj" fmla="val 4737"/>
            </a:avLst>
          </a:prstGeom>
          <a:solidFill>
            <a:srgbClr val="F2F4F7"/>
          </a:solidFill>
          <a:ln w="12700">
            <a:solidFill>
              <a:srgbClr val="DDE3EA"/>
            </a:solidFill>
            <a:prstDash val="dash"/>
          </a:ln>
        </p:spPr>
      </p:sp>
      <p:sp>
        <p:nvSpPr>
          <p:cNvPr id="13" name="Text 11"/>
          <p:cNvSpPr txBox="1"/>
          <p:nvPr/>
        </p:nvSpPr>
        <p:spPr>
          <a:xfrm>
            <a:off x="804672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FFFFF"/>
          </a:solidFill>
          <a:ln w="12700">
            <a:solidFill>
              <a:srgbClr val="E2E6ED"/>
            </a:solidFill>
            <a:prstDash val="solid"/>
          </a:ln>
        </p:spPr>
      </p:sp>
      <p:sp>
        <p:nvSpPr>
          <p:cNvPr id="9" name="Shape 7"/>
          <p:cNvSpPr/>
          <p:nvPr/>
        </p:nvSpPr>
        <p:spPr>
          <a:xfrm>
            <a:off x="4572000" y="2240280"/>
            <a:ext cx="566928" cy="566928"/>
          </a:xfrm>
          <a:prstGeom prst="ellipse">
            <a:avLst/>
          </a:prstGeom>
          <a:solidFill>
            <a:srgbClr val="DCF5E7"/>
          </a:solidFill>
          <a:ln w="12700">
            <a:solidFill>
              <a:srgbClr val="333333"/>
            </a:solidFill>
            <a:prstDash val="solid"/>
          </a:ln>
        </p:spPr>
      </p:sp>
      <p:sp>
        <p:nvSpPr>
          <p:cNvPr id="10" name="Text 8"/>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457200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2" name="Shape 10"/>
          <p:cNvSpPr/>
          <p:nvPr/>
        </p:nvSpPr>
        <p:spPr>
          <a:xfrm>
            <a:off x="8046720" y="2011680"/>
            <a:ext cx="3429000" cy="1737360"/>
          </a:xfrm>
          <a:prstGeom prst="roundRect">
            <a:avLst>
              <a:gd name="adj" fmla="val 4737"/>
            </a:avLst>
          </a:prstGeom>
          <a:solidFill>
            <a:srgbClr val="FFFFFF"/>
          </a:solidFill>
          <a:ln w="12700">
            <a:solidFill>
              <a:srgbClr val="E2E6ED"/>
            </a:solidFill>
            <a:prstDash val="solid"/>
          </a:ln>
        </p:spPr>
      </p:sp>
      <p:sp>
        <p:nvSpPr>
          <p:cNvPr id="13" name="Shape 11"/>
          <p:cNvSpPr/>
          <p:nvPr/>
        </p:nvSpPr>
        <p:spPr>
          <a:xfrm>
            <a:off x="8275320" y="2240280"/>
            <a:ext cx="566928" cy="566928"/>
          </a:xfrm>
          <a:prstGeom prst="ellipse">
            <a:avLst/>
          </a:prstGeom>
          <a:solidFill>
            <a:srgbClr val="FBE0E2"/>
          </a:solidFill>
          <a:ln w="12700">
            <a:solidFill>
              <a:srgbClr val="333333"/>
            </a:solidFill>
            <a:prstDash val="solid"/>
          </a:ln>
        </p:spPr>
      </p:sp>
      <p:sp>
        <p:nvSpPr>
          <p:cNvPr id="14" name="Text 12"/>
          <p:cNvSpPr txBox="1"/>
          <p:nvPr/>
        </p:nvSpPr>
        <p:spPr>
          <a:xfrm>
            <a:off x="8275320" y="2240280"/>
            <a:ext cx="566928" cy="566928"/>
          </a:xfrm>
          <a:prstGeom prst="rect">
            <a:avLst/>
          </a:prstGeom>
          <a:noFill/>
          <a:ln/>
        </p:spPr>
        <p:txBody>
          <a:bodyPr wrap="square" lIns="0" tIns="0" rIns="0" bIns="0" rtlCol="0" anchor="ctr"/>
          <a:lstStyle/>
          <a:p>
            <a:pPr algn="ctr" indent="0" marL="0">
              <a:buNone/>
            </a:pPr>
            <a:r>
              <a:rPr lang="en-US" sz="2000" b="1" dirty="0">
                <a:solidFill>
                  <a:srgbClr val="8D1B22"/>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827532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blocks a PR on it?</a:t>
            </a:r>
            <a:endParaRPr lang="en-US" sz="1900" dirty="0"/>
          </a:p>
        </p:txBody>
      </p:sp>
      <p:sp>
        <p:nvSpPr>
          <p:cNvPr id="16" name="Shape 14"/>
          <p:cNvSpPr/>
          <p:nvPr/>
        </p:nvSpPr>
        <p:spPr>
          <a:xfrm>
            <a:off x="640080" y="4343400"/>
            <a:ext cx="10881360" cy="1051560"/>
          </a:xfrm>
          <a:prstGeom prst="roundRect">
            <a:avLst>
              <a:gd name="adj" fmla="val 6087"/>
            </a:avLst>
          </a:prstGeom>
          <a:solidFill>
            <a:srgbClr val="FFF7E6"/>
          </a:solidFill>
          <a:ln w="12700">
            <a:solidFill>
              <a:srgbClr val="F5A524"/>
            </a:solidFill>
            <a:prstDash val="solid"/>
          </a:ln>
        </p:spPr>
      </p:sp>
      <p:sp>
        <p:nvSpPr>
          <p:cNvPr id="17" name="Text 15"/>
          <p:cNvSpPr txBox="1"/>
          <p:nvPr/>
        </p:nvSpPr>
        <p:spPr>
          <a:xfrm>
            <a:off x="914400" y="4526280"/>
            <a:ext cx="10332720" cy="731520"/>
          </a:xfrm>
          <a:prstGeom prst="rect">
            <a:avLst/>
          </a:prstGeom>
          <a:noFill/>
          <a:ln/>
        </p:spPr>
        <p:txBody>
          <a:bodyPr wrap="square" lIns="0" tIns="0" rIns="0" bIns="0" rtlCol="0" anchor="ctr"/>
          <a:lstStyle/>
          <a:p>
            <a:pPr indent="0" marL="0">
              <a:buNone/>
            </a:pPr>
            <a:r>
              <a:rPr lang="en-US" sz="1500" dirty="0">
                <a:solidFill>
                  <a:srgbClr val="5B4308"/>
                </a:solidFill>
                <a:latin typeface="Calibri" pitchFamily="34" charset="0"/>
                <a:ea typeface="Calibri" pitchFamily="34" charset="-122"/>
                <a:cs typeface="Calibri" pitchFamily="34" charset="-120"/>
              </a:rPr>
              <a:t>The distance between the first hand and the last one is this talk. Nobody blocks a merge on a suite that takes an hour and fails for reasons nobody trusts.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WHY NOW</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got cheap. Confidence did not.</a:t>
            </a:r>
            <a:endParaRPr lang="en-US" sz="3800" dirty="0"/>
          </a:p>
        </p:txBody>
      </p:sp>
      <p:sp>
        <p:nvSpPr>
          <p:cNvPr id="4" name="Shape 2"/>
          <p:cNvSpPr/>
          <p:nvPr/>
        </p:nvSpPr>
        <p:spPr>
          <a:xfrm>
            <a:off x="640080" y="1783080"/>
            <a:ext cx="5257800" cy="1874520"/>
          </a:xfrm>
          <a:prstGeom prst="roundRect">
            <a:avLst>
              <a:gd name="adj" fmla="val 4390"/>
            </a:avLst>
          </a:prstGeom>
          <a:solidFill>
            <a:srgbClr val="1B2029"/>
          </a:solidFill>
          <a:ln w="19050">
            <a:solidFill>
              <a:srgbClr val="4ADE80"/>
            </a:solidFill>
            <a:prstDash val="solid"/>
          </a:ln>
        </p:spPr>
      </p:sp>
      <p:sp>
        <p:nvSpPr>
          <p:cNvPr id="5" name="Text 3"/>
          <p:cNvSpPr txBox="1"/>
          <p:nvPr/>
        </p:nvSpPr>
        <p:spPr>
          <a:xfrm>
            <a:off x="91440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Writing the change</a:t>
            </a:r>
            <a:endParaRPr lang="en-US" sz="1800" dirty="0"/>
          </a:p>
        </p:txBody>
      </p:sp>
      <p:sp>
        <p:nvSpPr>
          <p:cNvPr id="6" name="Text 4"/>
          <p:cNvSpPr txBox="1"/>
          <p:nvPr/>
        </p:nvSpPr>
        <p:spPr>
          <a:xfrm>
            <a:off x="914400" y="2359152"/>
            <a:ext cx="4709160" cy="411480"/>
          </a:xfrm>
          <a:prstGeom prst="rect">
            <a:avLst/>
          </a:prstGeom>
          <a:noFill/>
          <a:ln/>
        </p:spPr>
        <p:txBody>
          <a:bodyPr wrap="square" lIns="0" tIns="0" rIns="0" bIns="0" rtlCol="0" anchor="ctr"/>
          <a:lstStyle/>
          <a:p>
            <a:pPr indent="0" marL="0">
              <a:buNone/>
            </a:pPr>
            <a:r>
              <a:rPr lang="en-US" sz="2400" b="1" spc="100" kern="0" dirty="0">
                <a:solidFill>
                  <a:srgbClr val="4ADE80"/>
                </a:solidFill>
                <a:latin typeface="Courier New" pitchFamily="34" charset="0"/>
                <a:ea typeface="Courier New" pitchFamily="34" charset="-122"/>
                <a:cs typeface="Courier New" pitchFamily="34" charset="-120"/>
              </a:rPr>
              <a:t>MINUTES</a:t>
            </a:r>
            <a:endParaRPr lang="en-US" sz="2400" dirty="0"/>
          </a:p>
        </p:txBody>
      </p:sp>
      <p:sp>
        <p:nvSpPr>
          <p:cNvPr id="7" name="Text 5"/>
          <p:cNvSpPr txBox="1"/>
          <p:nvPr/>
        </p:nvSpPr>
        <p:spPr>
          <a:xfrm>
            <a:off x="91440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AI writes it, reviews it, refactors it. That cost collapsed this year.</a:t>
            </a:r>
            <a:endParaRPr lang="en-US" sz="1300" dirty="0"/>
          </a:p>
        </p:txBody>
      </p:sp>
      <p:sp>
        <p:nvSpPr>
          <p:cNvPr id="8" name="Shape 6"/>
          <p:cNvSpPr/>
          <p:nvPr/>
        </p:nvSpPr>
        <p:spPr>
          <a:xfrm>
            <a:off x="6263640" y="1783080"/>
            <a:ext cx="5257800" cy="1874520"/>
          </a:xfrm>
          <a:prstGeom prst="roundRect">
            <a:avLst>
              <a:gd name="adj" fmla="val 4390"/>
            </a:avLst>
          </a:prstGeom>
          <a:solidFill>
            <a:srgbClr val="1B2029"/>
          </a:solidFill>
          <a:ln w="19050">
            <a:solidFill>
              <a:srgbClr val="FB7185"/>
            </a:solidFill>
            <a:prstDash val="solid"/>
          </a:ln>
        </p:spPr>
      </p:sp>
      <p:sp>
        <p:nvSpPr>
          <p:cNvPr id="9" name="Text 7"/>
          <p:cNvSpPr txBox="1"/>
          <p:nvPr/>
        </p:nvSpPr>
        <p:spPr>
          <a:xfrm>
            <a:off x="653796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Trusting the change</a:t>
            </a:r>
            <a:endParaRPr lang="en-US" sz="1800" dirty="0"/>
          </a:p>
        </p:txBody>
      </p:sp>
      <p:sp>
        <p:nvSpPr>
          <p:cNvPr id="10" name="Text 8"/>
          <p:cNvSpPr txBox="1"/>
          <p:nvPr/>
        </p:nvSpPr>
        <p:spPr>
          <a:xfrm>
            <a:off x="6537960" y="2359152"/>
            <a:ext cx="4709160" cy="411480"/>
          </a:xfrm>
          <a:prstGeom prst="rect">
            <a:avLst/>
          </a:prstGeom>
          <a:noFill/>
          <a:ln/>
        </p:spPr>
        <p:txBody>
          <a:bodyPr wrap="square" lIns="0" tIns="0" rIns="0" bIns="0" rtlCol="0" anchor="ctr"/>
          <a:lstStyle/>
          <a:p>
            <a:pPr indent="0" marL="0">
              <a:buNone/>
            </a:pPr>
            <a:r>
              <a:rPr lang="en-US" sz="2400" b="1" spc="100" kern="0" dirty="0">
                <a:solidFill>
                  <a:srgbClr val="FB7185"/>
                </a:solidFill>
                <a:latin typeface="Courier New" pitchFamily="34" charset="0"/>
                <a:ea typeface="Courier New" pitchFamily="34" charset="-122"/>
                <a:cs typeface="Courier New" pitchFamily="34" charset="-120"/>
              </a:rPr>
              <a:t>AN HOUR</a:t>
            </a:r>
            <a:endParaRPr lang="en-US" sz="2400" dirty="0"/>
          </a:p>
        </p:txBody>
      </p:sp>
      <p:sp>
        <p:nvSpPr>
          <p:cNvPr id="11" name="Text 9"/>
          <p:cNvSpPr txBox="1"/>
          <p:nvPr/>
        </p:nvSpPr>
        <p:spPr>
          <a:xfrm>
            <a:off x="653796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suite, same nightly run, same shrug. That cost did not move.</a:t>
            </a:r>
            <a:endParaRPr lang="en-US" sz="1300" dirty="0"/>
          </a:p>
        </p:txBody>
      </p:sp>
      <p:sp>
        <p:nvSpPr>
          <p:cNvPr id="12" name="Text 10"/>
          <p:cNvSpPr txBox="1"/>
          <p:nvPr/>
        </p:nvSpPr>
        <p:spPr>
          <a:xfrm>
            <a:off x="640080" y="393192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What it should cost instead</a:t>
            </a:r>
            <a:endParaRPr lang="en-US" sz="1600" dirty="0"/>
          </a:p>
        </p:txBody>
      </p:sp>
      <p:sp>
        <p:nvSpPr>
          <p:cNvPr id="13" name="Text 11"/>
          <p:cNvSpPr txBox="1"/>
          <p:nvPr/>
        </p:nvSpPr>
        <p:spPr>
          <a:xfrm>
            <a:off x="640080" y="4434840"/>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Today — every change runs everything</a:t>
            </a:r>
            <a:endParaRPr lang="en-US" sz="1400" dirty="0"/>
          </a:p>
        </p:txBody>
      </p:sp>
      <p:sp>
        <p:nvSpPr>
          <p:cNvPr id="14" name="Shape 12"/>
          <p:cNvSpPr/>
          <p:nvPr/>
        </p:nvSpPr>
        <p:spPr>
          <a:xfrm>
            <a:off x="4754880" y="4498848"/>
            <a:ext cx="4937760" cy="274320"/>
          </a:xfrm>
          <a:prstGeom prst="roundRect">
            <a:avLst>
              <a:gd name="adj" fmla="val 13333"/>
            </a:avLst>
          </a:prstGeom>
          <a:solidFill>
            <a:srgbClr val="F5A524"/>
          </a:solidFill>
          <a:ln w="12700">
            <a:solidFill>
              <a:srgbClr val="333333"/>
            </a:solidFill>
            <a:prstDash val="solid"/>
          </a:ln>
        </p:spPr>
      </p:sp>
      <p:sp>
        <p:nvSpPr>
          <p:cNvPr id="15" name="Text 13"/>
          <p:cNvSpPr txBox="1"/>
          <p:nvPr/>
        </p:nvSpPr>
        <p:spPr>
          <a:xfrm>
            <a:off x="9829800" y="4434840"/>
            <a:ext cx="1463040" cy="384048"/>
          </a:xfrm>
          <a:prstGeom prst="rect">
            <a:avLst/>
          </a:prstGeom>
          <a:noFill/>
          <a:ln/>
        </p:spPr>
        <p:txBody>
          <a:bodyPr wrap="square" lIns="0" tIns="0" rIns="0" bIns="0" rtlCol="0" anchor="ctr"/>
          <a:lstStyle/>
          <a:p>
            <a:pPr indent="0" marL="0">
              <a:buNone/>
            </a:pPr>
            <a:r>
              <a:rPr lang="en-US" sz="1500" b="1" dirty="0">
                <a:solidFill>
                  <a:srgbClr val="F5A524"/>
                </a:solidFill>
                <a:latin typeface="Calibri" pitchFamily="34" charset="0"/>
                <a:ea typeface="Calibri" pitchFamily="34" charset="-122"/>
                <a:cs typeface="Calibri" pitchFamily="34" charset="-120"/>
              </a:rPr>
              <a:t>60 min</a:t>
            </a:r>
            <a:endParaRPr lang="en-US" sz="1500" dirty="0"/>
          </a:p>
        </p:txBody>
      </p:sp>
      <p:sp>
        <p:nvSpPr>
          <p:cNvPr id="16" name="Text 14"/>
          <p:cNvSpPr txBox="1"/>
          <p:nvPr/>
        </p:nvSpPr>
        <p:spPr>
          <a:xfrm>
            <a:off x="640080" y="5093208"/>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Target — an isolated change</a:t>
            </a:r>
            <a:endParaRPr lang="en-US" sz="1400" dirty="0"/>
          </a:p>
        </p:txBody>
      </p:sp>
      <p:sp>
        <p:nvSpPr>
          <p:cNvPr id="17" name="Shape 15"/>
          <p:cNvSpPr/>
          <p:nvPr/>
        </p:nvSpPr>
        <p:spPr>
          <a:xfrm>
            <a:off x="4754880" y="5157216"/>
            <a:ext cx="822960" cy="274320"/>
          </a:xfrm>
          <a:prstGeom prst="roundRect">
            <a:avLst>
              <a:gd name="adj" fmla="val 13333"/>
            </a:avLst>
          </a:prstGeom>
          <a:solidFill>
            <a:srgbClr val="4ADE80"/>
          </a:solidFill>
          <a:ln w="12700">
            <a:solidFill>
              <a:srgbClr val="333333"/>
            </a:solidFill>
            <a:prstDash val="solid"/>
          </a:ln>
        </p:spPr>
      </p:sp>
      <p:sp>
        <p:nvSpPr>
          <p:cNvPr id="18" name="Text 16"/>
          <p:cNvSpPr txBox="1"/>
          <p:nvPr/>
        </p:nvSpPr>
        <p:spPr>
          <a:xfrm>
            <a:off x="5715000" y="5093208"/>
            <a:ext cx="1463040" cy="384048"/>
          </a:xfrm>
          <a:prstGeom prst="rect">
            <a:avLst/>
          </a:prstGeom>
          <a:noFill/>
          <a:ln/>
        </p:spPr>
        <p:txBody>
          <a:bodyPr wrap="square" lIns="0" tIns="0" rIns="0" bIns="0" rtlCol="0" anchor="ctr"/>
          <a:lstStyle/>
          <a:p>
            <a:pPr indent="0" marL="0">
              <a:buNone/>
            </a:pPr>
            <a:r>
              <a:rPr lang="en-US" sz="1500" b="1" dirty="0">
                <a:solidFill>
                  <a:srgbClr val="4ADE80"/>
                </a:solidFill>
                <a:latin typeface="Calibri" pitchFamily="34" charset="0"/>
                <a:ea typeface="Calibri" pitchFamily="34" charset="-122"/>
                <a:cs typeface="Calibri" pitchFamily="34" charset="-120"/>
              </a:rPr>
              <a:t>10 min</a:t>
            </a:r>
            <a:endParaRPr lang="en-US" sz="1500" dirty="0"/>
          </a:p>
        </p:txBody>
      </p:sp>
      <p:sp>
        <p:nvSpPr>
          <p:cNvPr id="19" name="Text 17"/>
          <p:cNvSpPr txBox="1"/>
          <p:nvPr/>
        </p:nvSpPr>
        <p:spPr>
          <a:xfrm>
            <a:off x="640080" y="5806440"/>
            <a:ext cx="10881360" cy="54864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Ten minutes is a coffee. An hour is a context switch — so the suite moves to nightly, and nightly means nobody is gating on it.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EXAMPLE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One repo, three apps, one graph</a:t>
            </a:r>
            <a:endParaRPr lang="en-US" sz="3800" dirty="0"/>
          </a:p>
        </p:txBody>
      </p:sp>
      <p:sp>
        <p:nvSpPr>
          <p:cNvPr id="4" name="Shape 2"/>
          <p:cNvSpPr/>
          <p:nvPr/>
        </p:nvSpPr>
        <p:spPr>
          <a:xfrm>
            <a:off x="640080" y="1572768"/>
            <a:ext cx="10881360" cy="841248"/>
          </a:xfrm>
          <a:prstGeom prst="roundRect">
            <a:avLst>
              <a:gd name="adj" fmla="val 8696"/>
            </a:avLst>
          </a:prstGeom>
          <a:solidFill>
            <a:srgbClr val="FFFFFF"/>
          </a:solidFill>
          <a:ln w="12700">
            <a:solidFill>
              <a:srgbClr val="E2E6ED"/>
            </a:solidFill>
            <a:prstDash val="solid"/>
          </a:ln>
        </p:spPr>
      </p:sp>
      <p:sp>
        <p:nvSpPr>
          <p:cNvPr id="5" name="Text 3"/>
          <p:cNvSpPr txBox="1"/>
          <p:nvPr/>
        </p:nvSpPr>
        <p:spPr>
          <a:xfrm>
            <a:off x="914400" y="1691640"/>
            <a:ext cx="1033272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“A build system with smart caching and task orchestration.”</a:t>
            </a:r>
            <a:pPr indent="0" marL="0">
              <a:buNone/>
            </a:pPr>
            <a:r>
              <a:rPr lang="en-US" sz="1200" dirty="0">
                <a:solidFill>
                  <a:srgbClr val="8A94A6"/>
                </a:solidFill>
                <a:latin typeface="Calibri" pitchFamily="34" charset="0"/>
                <a:ea typeface="Calibri" pitchFamily="34" charset="-122"/>
                <a:cs typeface="Calibri" pitchFamily="34" charset="-120"/>
              </a:rPr>
              <a:t>   nx.dev</a:t>
            </a:r>
            <a:endParaRPr lang="en-US" sz="1500" dirty="0"/>
          </a:p>
        </p:txBody>
      </p:sp>
      <p:sp>
        <p:nvSpPr>
          <p:cNvPr id="6" name="Text 4"/>
          <p:cNvSpPr txBox="1"/>
          <p:nvPr/>
        </p:nvSpPr>
        <p:spPr>
          <a:xfrm>
            <a:off x="914400" y="2011680"/>
            <a:ext cx="10332720" cy="320040"/>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It knows what depends on what, so it can skip work. It does not run your tests — Cypress still does that.</a:t>
            </a:r>
            <a:endParaRPr lang="en-US" sz="1300" dirty="0"/>
          </a:p>
        </p:txBody>
      </p:sp>
      <p:sp>
        <p:nvSpPr>
          <p:cNvPr id="7" name="Shape 5"/>
          <p:cNvSpPr/>
          <p:nvPr/>
        </p:nvSpPr>
        <p:spPr>
          <a:xfrm>
            <a:off x="2148840" y="3364992"/>
            <a:ext cx="1965960" cy="731520"/>
          </a:xfrm>
          <a:prstGeom prst="line">
            <a:avLst/>
          </a:prstGeom>
          <a:noFill/>
          <a:ln w="19050">
            <a:solidFill>
              <a:srgbClr val="B8C0CC"/>
            </a:solidFill>
            <a:prstDash val="solid"/>
          </a:ln>
        </p:spPr>
      </p:sp>
      <p:sp>
        <p:nvSpPr>
          <p:cNvPr id="8" name="Shape 6"/>
          <p:cNvSpPr/>
          <p:nvPr/>
        </p:nvSpPr>
        <p:spPr>
          <a:xfrm flipH="1">
            <a:off x="4114800" y="3364992"/>
            <a:ext cx="1965960" cy="731520"/>
          </a:xfrm>
          <a:prstGeom prst="line">
            <a:avLst/>
          </a:prstGeom>
          <a:noFill/>
          <a:ln w="19050">
            <a:solidFill>
              <a:srgbClr val="B8C0CC"/>
            </a:solidFill>
            <a:prstDash val="solid"/>
          </a:ln>
        </p:spPr>
      </p:sp>
      <p:sp>
        <p:nvSpPr>
          <p:cNvPr id="9" name="Shape 7"/>
          <p:cNvSpPr/>
          <p:nvPr/>
        </p:nvSpPr>
        <p:spPr>
          <a:xfrm>
            <a:off x="6080760" y="3364992"/>
            <a:ext cx="1965960" cy="731520"/>
          </a:xfrm>
          <a:prstGeom prst="line">
            <a:avLst/>
          </a:prstGeom>
          <a:noFill/>
          <a:ln w="19050">
            <a:solidFill>
              <a:srgbClr val="B8C0CC"/>
            </a:solidFill>
            <a:prstDash val="solid"/>
          </a:ln>
        </p:spPr>
      </p:sp>
      <p:sp>
        <p:nvSpPr>
          <p:cNvPr id="10" name="Shape 8"/>
          <p:cNvSpPr/>
          <p:nvPr/>
        </p:nvSpPr>
        <p:spPr>
          <a:xfrm flipH="1">
            <a:off x="8046720" y="3364992"/>
            <a:ext cx="1965960" cy="731520"/>
          </a:xfrm>
          <a:prstGeom prst="line">
            <a:avLst/>
          </a:prstGeom>
          <a:noFill/>
          <a:ln w="19050">
            <a:solidFill>
              <a:srgbClr val="B8C0CC"/>
            </a:solidFill>
            <a:prstDash val="solid"/>
          </a:ln>
        </p:spPr>
      </p:sp>
      <p:sp>
        <p:nvSpPr>
          <p:cNvPr id="11" name="Text 9"/>
          <p:cNvSpPr txBox="1"/>
          <p:nvPr/>
        </p:nvSpPr>
        <p:spPr>
          <a:xfrm>
            <a:off x="82296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2" name="Shape 10"/>
          <p:cNvSpPr/>
          <p:nvPr/>
        </p:nvSpPr>
        <p:spPr>
          <a:xfrm>
            <a:off x="822960" y="2679192"/>
            <a:ext cx="2651760" cy="685800"/>
          </a:xfrm>
          <a:prstGeom prst="roundRect">
            <a:avLst>
              <a:gd name="adj" fmla="val 10667"/>
            </a:avLst>
          </a:prstGeom>
          <a:solidFill>
            <a:srgbClr val="10131A"/>
          </a:solidFill>
          <a:ln w="12700">
            <a:solidFill>
              <a:srgbClr val="10131A"/>
            </a:solidFill>
            <a:prstDash val="solid"/>
          </a:ln>
        </p:spPr>
      </p:sp>
      <p:sp>
        <p:nvSpPr>
          <p:cNvPr id="13" name="Text 11"/>
          <p:cNvSpPr txBox="1"/>
          <p:nvPr/>
        </p:nvSpPr>
        <p:spPr>
          <a:xfrm>
            <a:off x="82296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shop</a:t>
            </a:r>
            <a:endParaRPr lang="en-US" sz="1700" dirty="0"/>
          </a:p>
        </p:txBody>
      </p:sp>
      <p:sp>
        <p:nvSpPr>
          <p:cNvPr id="14" name="Text 12"/>
          <p:cNvSpPr txBox="1"/>
          <p:nvPr/>
        </p:nvSpPr>
        <p:spPr>
          <a:xfrm>
            <a:off x="475488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5" name="Shape 13"/>
          <p:cNvSpPr/>
          <p:nvPr/>
        </p:nvSpPr>
        <p:spPr>
          <a:xfrm>
            <a:off x="4754880" y="2679192"/>
            <a:ext cx="2651760" cy="685800"/>
          </a:xfrm>
          <a:prstGeom prst="roundRect">
            <a:avLst>
              <a:gd name="adj" fmla="val 10667"/>
            </a:avLst>
          </a:prstGeom>
          <a:solidFill>
            <a:srgbClr val="10131A"/>
          </a:solidFill>
          <a:ln w="12700">
            <a:solidFill>
              <a:srgbClr val="10131A"/>
            </a:solidFill>
            <a:prstDash val="solid"/>
          </a:ln>
        </p:spPr>
      </p:sp>
      <p:sp>
        <p:nvSpPr>
          <p:cNvPr id="16" name="Text 14"/>
          <p:cNvSpPr txBox="1"/>
          <p:nvPr/>
        </p:nvSpPr>
        <p:spPr>
          <a:xfrm>
            <a:off x="475488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admin</a:t>
            </a:r>
            <a:endParaRPr lang="en-US" sz="1700" dirty="0"/>
          </a:p>
        </p:txBody>
      </p:sp>
      <p:sp>
        <p:nvSpPr>
          <p:cNvPr id="17" name="Text 15"/>
          <p:cNvSpPr txBox="1"/>
          <p:nvPr/>
        </p:nvSpPr>
        <p:spPr>
          <a:xfrm>
            <a:off x="868680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8" name="Shape 16"/>
          <p:cNvSpPr/>
          <p:nvPr/>
        </p:nvSpPr>
        <p:spPr>
          <a:xfrm>
            <a:off x="8686800" y="2679192"/>
            <a:ext cx="2651760" cy="685800"/>
          </a:xfrm>
          <a:prstGeom prst="roundRect">
            <a:avLst>
              <a:gd name="adj" fmla="val 10667"/>
            </a:avLst>
          </a:prstGeom>
          <a:solidFill>
            <a:srgbClr val="10131A"/>
          </a:solidFill>
          <a:ln w="12700">
            <a:solidFill>
              <a:srgbClr val="10131A"/>
            </a:solidFill>
            <a:prstDash val="solid"/>
          </a:ln>
        </p:spPr>
      </p:sp>
      <p:sp>
        <p:nvSpPr>
          <p:cNvPr id="19" name="Text 17"/>
          <p:cNvSpPr txBox="1"/>
          <p:nvPr/>
        </p:nvSpPr>
        <p:spPr>
          <a:xfrm>
            <a:off x="868680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docs</a:t>
            </a:r>
            <a:endParaRPr lang="en-US" sz="1700" dirty="0"/>
          </a:p>
        </p:txBody>
      </p:sp>
      <p:sp>
        <p:nvSpPr>
          <p:cNvPr id="20" name="Shape 18"/>
          <p:cNvSpPr/>
          <p:nvPr/>
        </p:nvSpPr>
        <p:spPr>
          <a:xfrm>
            <a:off x="2788920" y="4096512"/>
            <a:ext cx="2651760" cy="640080"/>
          </a:xfrm>
          <a:prstGeom prst="roundRect">
            <a:avLst>
              <a:gd name="adj" fmla="val 11429"/>
            </a:avLst>
          </a:prstGeom>
          <a:solidFill>
            <a:srgbClr val="FFFFFF"/>
          </a:solidFill>
          <a:ln w="19050">
            <a:solidFill>
              <a:srgbClr val="0B7A44"/>
            </a:solidFill>
            <a:prstDash val="solid"/>
          </a:ln>
        </p:spPr>
      </p:sp>
      <p:sp>
        <p:nvSpPr>
          <p:cNvPr id="21" name="Text 19"/>
          <p:cNvSpPr txBox="1"/>
          <p:nvPr/>
        </p:nvSpPr>
        <p:spPr>
          <a:xfrm>
            <a:off x="278892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formatting</a:t>
            </a:r>
            <a:endParaRPr lang="en-US" sz="1500" dirty="0"/>
          </a:p>
        </p:txBody>
      </p:sp>
      <p:sp>
        <p:nvSpPr>
          <p:cNvPr id="22" name="Shape 20"/>
          <p:cNvSpPr/>
          <p:nvPr/>
        </p:nvSpPr>
        <p:spPr>
          <a:xfrm>
            <a:off x="6720840" y="4096512"/>
            <a:ext cx="2651760" cy="640080"/>
          </a:xfrm>
          <a:prstGeom prst="roundRect">
            <a:avLst>
              <a:gd name="adj" fmla="val 11429"/>
            </a:avLst>
          </a:prstGeom>
          <a:solidFill>
            <a:srgbClr val="FFFFFF"/>
          </a:solidFill>
          <a:ln w="19050">
            <a:solidFill>
              <a:srgbClr val="0B7A44"/>
            </a:solidFill>
            <a:prstDash val="solid"/>
          </a:ln>
        </p:spPr>
      </p:sp>
      <p:sp>
        <p:nvSpPr>
          <p:cNvPr id="23" name="Text 21"/>
          <p:cNvSpPr txBox="1"/>
          <p:nvPr/>
        </p:nvSpPr>
        <p:spPr>
          <a:xfrm>
            <a:off x="672084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ui</a:t>
            </a:r>
            <a:endParaRPr lang="en-US" sz="1500" dirty="0"/>
          </a:p>
        </p:txBody>
      </p:sp>
      <p:sp>
        <p:nvSpPr>
          <p:cNvPr id="24" name="Text 22"/>
          <p:cNvSpPr txBox="1"/>
          <p:nvPr/>
        </p:nvSpPr>
        <p:spPr>
          <a:xfrm>
            <a:off x="822960" y="4096512"/>
            <a:ext cx="1783080" cy="640080"/>
          </a:xfrm>
          <a:prstGeom prst="rect">
            <a:avLst/>
          </a:prstGeom>
          <a:noFill/>
          <a:ln/>
        </p:spPr>
        <p:txBody>
          <a:bodyPr wrap="square" lIns="0" tIns="0" rIns="0" bIns="0" rtlCol="0" anchor="ctr"/>
          <a:lstStyle/>
          <a:p>
            <a:pPr algn="r" indent="0" marL="0">
              <a:buNone/>
            </a:pPr>
            <a:r>
              <a:rPr lang="en-US" sz="1200" i="1" dirty="0">
                <a:solidFill>
                  <a:srgbClr val="8A94A6"/>
                </a:solidFill>
                <a:latin typeface="Calibri" pitchFamily="34" charset="0"/>
                <a:ea typeface="Calibri" pitchFamily="34" charset="-122"/>
                <a:cs typeface="Calibri" pitchFamily="34" charset="-120"/>
              </a:rPr>
              <a:t>shared libs</a:t>
            </a:r>
            <a:endParaRPr lang="en-US" sz="1200" dirty="0"/>
          </a:p>
        </p:txBody>
      </p:sp>
      <p:sp>
        <p:nvSpPr>
          <p:cNvPr id="25" name="Shape 23"/>
          <p:cNvSpPr/>
          <p:nvPr/>
        </p:nvSpPr>
        <p:spPr>
          <a:xfrm>
            <a:off x="640080" y="4983480"/>
            <a:ext cx="3429000" cy="1051560"/>
          </a:xfrm>
          <a:prstGeom prst="roundRect">
            <a:avLst>
              <a:gd name="adj" fmla="val 7826"/>
            </a:avLst>
          </a:prstGeom>
          <a:solidFill>
            <a:srgbClr val="FFFFFF"/>
          </a:solidFill>
          <a:ln w="12700">
            <a:solidFill>
              <a:srgbClr val="E2E6ED"/>
            </a:solidFill>
            <a:prstDash val="solid"/>
          </a:ln>
        </p:spPr>
      </p:sp>
      <p:sp>
        <p:nvSpPr>
          <p:cNvPr id="26" name="Text 24"/>
          <p:cNvSpPr txBox="1"/>
          <p:nvPr/>
        </p:nvSpPr>
        <p:spPr>
          <a:xfrm>
            <a:off x="868680" y="5120640"/>
            <a:ext cx="2971800" cy="548640"/>
          </a:xfrm>
          <a:prstGeom prst="rect">
            <a:avLst/>
          </a:prstGeom>
          <a:noFill/>
          <a:ln/>
        </p:spPr>
        <p:txBody>
          <a:bodyPr wrap="square" lIns="0" tIns="0" rIns="0" bIns="0" rtlCol="0" anchor="ctr"/>
          <a:lstStyle/>
          <a:p>
            <a:pPr indent="0" marL="0">
              <a:buNone/>
            </a:pPr>
            <a:r>
              <a:rPr lang="en-US" sz="3000" b="1" dirty="0">
                <a:solidFill>
                  <a:srgbClr val="0B7A44"/>
                </a:solidFill>
                <a:latin typeface="Cambria" pitchFamily="34" charset="0"/>
                <a:ea typeface="Cambria" pitchFamily="34" charset="-122"/>
                <a:cs typeface="Cambria" pitchFamily="34" charset="-120"/>
              </a:rPr>
              <a:t>30</a:t>
            </a:r>
            <a:endParaRPr lang="en-US" sz="3000" dirty="0"/>
          </a:p>
        </p:txBody>
      </p:sp>
      <p:sp>
        <p:nvSpPr>
          <p:cNvPr id="27" name="Text 25"/>
          <p:cNvSpPr txBox="1"/>
          <p:nvPr/>
        </p:nvSpPr>
        <p:spPr>
          <a:xfrm>
            <a:off x="86868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spec files</a:t>
            </a:r>
            <a:endParaRPr lang="en-US" sz="1300" dirty="0"/>
          </a:p>
        </p:txBody>
      </p:sp>
      <p:sp>
        <p:nvSpPr>
          <p:cNvPr id="28" name="Shape 26"/>
          <p:cNvSpPr/>
          <p:nvPr/>
        </p:nvSpPr>
        <p:spPr>
          <a:xfrm>
            <a:off x="4343400" y="4983480"/>
            <a:ext cx="3429000" cy="1051560"/>
          </a:xfrm>
          <a:prstGeom prst="roundRect">
            <a:avLst>
              <a:gd name="adj" fmla="val 7826"/>
            </a:avLst>
          </a:prstGeom>
          <a:solidFill>
            <a:srgbClr val="FFFFFF"/>
          </a:solidFill>
          <a:ln w="12700">
            <a:solidFill>
              <a:srgbClr val="E2E6ED"/>
            </a:solidFill>
            <a:prstDash val="solid"/>
          </a:ln>
        </p:spPr>
      </p:sp>
      <p:sp>
        <p:nvSpPr>
          <p:cNvPr id="29" name="Text 27"/>
          <p:cNvSpPr txBox="1"/>
          <p:nvPr/>
        </p:nvSpPr>
        <p:spPr>
          <a:xfrm>
            <a:off x="4572000" y="5120640"/>
            <a:ext cx="2971800" cy="548640"/>
          </a:xfrm>
          <a:prstGeom prst="rect">
            <a:avLst/>
          </a:prstGeom>
          <a:noFill/>
          <a:ln/>
        </p:spPr>
        <p:txBody>
          <a:bodyPr wrap="square" lIns="0" tIns="0" rIns="0" bIns="0" rtlCol="0" anchor="ctr"/>
          <a:lstStyle/>
          <a:p>
            <a:pPr indent="0" marL="0">
              <a:buNone/>
            </a:pPr>
            <a:r>
              <a:rPr lang="en-US" sz="3000" b="1" dirty="0">
                <a:solidFill>
                  <a:srgbClr val="10131A"/>
                </a:solidFill>
                <a:latin typeface="Cambria" pitchFamily="34" charset="0"/>
                <a:ea typeface="Cambria" pitchFamily="34" charset="-122"/>
                <a:cs typeface="Cambria" pitchFamily="34" charset="-120"/>
              </a:rPr>
              <a:t>202</a:t>
            </a:r>
            <a:endParaRPr lang="en-US" sz="3000" dirty="0"/>
          </a:p>
        </p:txBody>
      </p:sp>
      <p:sp>
        <p:nvSpPr>
          <p:cNvPr id="30" name="Text 28"/>
          <p:cNvSpPr txBox="1"/>
          <p:nvPr/>
        </p:nvSpPr>
        <p:spPr>
          <a:xfrm>
            <a:off x="457200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tests</a:t>
            </a:r>
            <a:endParaRPr lang="en-US" sz="1300" dirty="0"/>
          </a:p>
        </p:txBody>
      </p:sp>
      <p:sp>
        <p:nvSpPr>
          <p:cNvPr id="31" name="Shape 29"/>
          <p:cNvSpPr/>
          <p:nvPr/>
        </p:nvSpPr>
        <p:spPr>
          <a:xfrm>
            <a:off x="8046720" y="4983480"/>
            <a:ext cx="3429000" cy="1051560"/>
          </a:xfrm>
          <a:prstGeom prst="roundRect">
            <a:avLst>
              <a:gd name="adj" fmla="val 7826"/>
            </a:avLst>
          </a:prstGeom>
          <a:solidFill>
            <a:srgbClr val="FFFFFF"/>
          </a:solidFill>
          <a:ln w="12700">
            <a:solidFill>
              <a:srgbClr val="E2E6ED"/>
            </a:solidFill>
            <a:prstDash val="solid"/>
          </a:ln>
        </p:spPr>
      </p:sp>
      <p:sp>
        <p:nvSpPr>
          <p:cNvPr id="32" name="Text 30"/>
          <p:cNvSpPr txBox="1"/>
          <p:nvPr/>
        </p:nvSpPr>
        <p:spPr>
          <a:xfrm>
            <a:off x="8275320" y="5120640"/>
            <a:ext cx="2971800" cy="548640"/>
          </a:xfrm>
          <a:prstGeom prst="rect">
            <a:avLst/>
          </a:prstGeom>
          <a:noFill/>
          <a:ln/>
        </p:spPr>
        <p:txBody>
          <a:bodyPr wrap="square" lIns="0" tIns="0" rIns="0" bIns="0" rtlCol="0" anchor="ctr"/>
          <a:lstStyle/>
          <a:p>
            <a:pPr indent="0" marL="0">
              <a:buNone/>
            </a:pPr>
            <a:r>
              <a:rPr lang="en-US" sz="3000" b="1" dirty="0">
                <a:solidFill>
                  <a:srgbClr val="B45309"/>
                </a:solidFill>
                <a:latin typeface="Cambria" pitchFamily="34" charset="0"/>
                <a:ea typeface="Cambria" pitchFamily="34" charset="-122"/>
                <a:cs typeface="Cambria" pitchFamily="34" charset="-120"/>
              </a:rPr>
              <a:t>3</a:t>
            </a:r>
            <a:endParaRPr lang="en-US" sz="3000" dirty="0"/>
          </a:p>
        </p:txBody>
      </p:sp>
      <p:sp>
        <p:nvSpPr>
          <p:cNvPr id="33" name="Text 31"/>
          <p:cNvSpPr txBox="1"/>
          <p:nvPr/>
        </p:nvSpPr>
        <p:spPr>
          <a:xfrm>
            <a:off x="827532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tasks that can run them</a:t>
            </a:r>
            <a:endParaRPr lang="en-US" sz="1300" dirty="0"/>
          </a:p>
        </p:txBody>
      </p:sp>
      <p:sp>
        <p:nvSpPr>
          <p:cNvPr id="34" name="Text 32"/>
          <p:cNvSpPr txBox="1"/>
          <p:nvPr/>
        </p:nvSpPr>
        <p:spPr>
          <a:xfrm>
            <a:off x="640080" y="6144768"/>
            <a:ext cx="10881360" cy="365760"/>
          </a:xfrm>
          <a:prstGeom prst="rect">
            <a:avLst/>
          </a:prstGeom>
          <a:noFill/>
          <a:ln/>
        </p:spPr>
        <p:txBody>
          <a:bodyPr wrap="square" lIns="0" tIns="0" rIns="0" bIns="0" rtlCol="0" anchor="ctr"/>
          <a:lstStyle/>
          <a:p>
            <a:pPr indent="0" marL="0">
              <a:buNone/>
            </a:pPr>
            <a:r>
              <a:rPr lang="en-US" sz="1400" i="1" dirty="0">
                <a:solidFill>
                  <a:srgbClr val="5C6675"/>
                </a:solidFill>
                <a:latin typeface="Calibri" pitchFamily="34" charset="0"/>
                <a:ea typeface="Calibri" pitchFamily="34" charset="-122"/>
                <a:cs typeface="Calibri" pitchFamily="34" charset="-120"/>
              </a:rPr>
              <a:t>Thirty files, but only three things you can actually run — one e2e task per app. Closing that gap is the rest of the talk.</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BASELINE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So how fast is the feedback?</a:t>
            </a:r>
            <a:endParaRPr lang="en-US" sz="3800" dirty="0"/>
          </a:p>
        </p:txBody>
      </p:sp>
      <p:sp>
        <p:nvSpPr>
          <p:cNvPr id="4" name="Shape 2"/>
          <p:cNvSpPr/>
          <p:nvPr/>
        </p:nvSpPr>
        <p:spPr>
          <a:xfrm>
            <a:off x="640080" y="1783080"/>
            <a:ext cx="6675120" cy="2633472"/>
          </a:xfrm>
          <a:prstGeom prst="roundRect">
            <a:avLst>
              <a:gd name="adj" fmla="val 2083"/>
            </a:avLst>
          </a:prstGeom>
          <a:solidFill>
            <a:srgbClr val="0A0D13"/>
          </a:solidFill>
          <a:ln w="12700">
            <a:solidFill>
              <a:srgbClr val="2C3340"/>
            </a:solidFill>
            <a:prstDash val="solid"/>
          </a:ln>
        </p:spPr>
      </p:sp>
      <p:sp>
        <p:nvSpPr>
          <p:cNvPr id="5" name="Text 3"/>
          <p:cNvSpPr txBox="1"/>
          <p:nvPr/>
        </p:nvSpPr>
        <p:spPr>
          <a:xfrm>
            <a:off x="868680" y="1984248"/>
            <a:ext cx="6217920" cy="2231136"/>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urier New" pitchFamily="34" charset="0"/>
                <a:ea typeface="Courier New" pitchFamily="34" charset="-122"/>
                <a:cs typeface="Courier New" pitchFamily="34" charset="-120"/>
              </a:rPr>
              <a:t>$ nx run-many -t e2e --parallel=1</a:t>
            </a:r>
            <a:endParaRPr lang="en-US" sz="1400" dirty="0"/>
          </a:p>
          <a:p>
            <a:pPr indent="0" marL="0">
              <a:lnSpc>
                <a:spcPct val="125000"/>
              </a:lnSpc>
              <a:buNone/>
            </a:pP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shop-e2e    10 specs ....... 1m 33s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admin-e2e   10 specs ....... 1m 20s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docs-e2e    10 specs ....... 1m 27s</a:t>
            </a:r>
            <a:endParaRPr lang="en-US" sz="1400" dirty="0"/>
          </a:p>
          <a:p>
            <a:pPr indent="0" marL="0">
              <a:lnSpc>
                <a:spcPct val="125000"/>
              </a:lnSpc>
              <a:buNone/>
            </a:pPr>
            <a:r>
              <a:rPr lang="en-US" sz="1400" dirty="0">
                <a:solidFill>
                  <a:srgbClr val="2C3340"/>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b="1" dirty="0">
                <a:solidFill>
                  <a:srgbClr val="F5A524"/>
                </a:solidFill>
                <a:latin typeface="Courier New" pitchFamily="34" charset="0"/>
                <a:ea typeface="Courier New" pitchFamily="34" charset="-122"/>
                <a:cs typeface="Courier New" pitchFamily="34" charset="-120"/>
              </a:rPr>
              <a:t>  Run duration:              4m 20s</a:t>
            </a:r>
            <a:endParaRPr lang="en-US" sz="1400" dirty="0"/>
          </a:p>
        </p:txBody>
      </p:sp>
      <p:sp>
        <p:nvSpPr>
          <p:cNvPr id="6" name="Shape 4"/>
          <p:cNvSpPr/>
          <p:nvPr/>
        </p:nvSpPr>
        <p:spPr>
          <a:xfrm>
            <a:off x="7680960" y="1783080"/>
            <a:ext cx="3840480" cy="2651760"/>
          </a:xfrm>
          <a:prstGeom prst="roundRect">
            <a:avLst>
              <a:gd name="adj" fmla="val 3103"/>
            </a:avLst>
          </a:prstGeom>
          <a:solidFill>
            <a:srgbClr val="1B2029"/>
          </a:solidFill>
          <a:ln w="19050">
            <a:solidFill>
              <a:srgbClr val="F5A524"/>
            </a:solidFill>
            <a:prstDash val="solid"/>
          </a:ln>
        </p:spPr>
      </p:sp>
      <p:sp>
        <p:nvSpPr>
          <p:cNvPr id="7" name="Text 5"/>
          <p:cNvSpPr txBox="1"/>
          <p:nvPr/>
        </p:nvSpPr>
        <p:spPr>
          <a:xfrm>
            <a:off x="7909560" y="2148840"/>
            <a:ext cx="3383280" cy="822960"/>
          </a:xfrm>
          <a:prstGeom prst="rect">
            <a:avLst/>
          </a:prstGeom>
          <a:noFill/>
          <a:ln/>
        </p:spPr>
        <p:txBody>
          <a:bodyPr wrap="square" lIns="0" tIns="0" rIns="0" bIns="0" rtlCol="0" anchor="ctr"/>
          <a:lstStyle/>
          <a:p>
            <a:pPr indent="0" marL="0">
              <a:buNone/>
            </a:pPr>
            <a:r>
              <a:rPr lang="en-US" sz="4800" b="1" dirty="0">
                <a:solidFill>
                  <a:srgbClr val="F5A524"/>
                </a:solidFill>
                <a:latin typeface="Cambria" pitchFamily="34" charset="0"/>
                <a:ea typeface="Cambria" pitchFamily="34" charset="-122"/>
                <a:cs typeface="Cambria" pitchFamily="34" charset="-120"/>
              </a:rPr>
              <a:t>4m 20s</a:t>
            </a:r>
            <a:endParaRPr lang="en-US" sz="4800" dirty="0"/>
          </a:p>
        </p:txBody>
      </p:sp>
      <p:sp>
        <p:nvSpPr>
          <p:cNvPr id="8" name="Text 6"/>
          <p:cNvSpPr txBox="1"/>
          <p:nvPr/>
        </p:nvSpPr>
        <p:spPr>
          <a:xfrm>
            <a:off x="7909560" y="2971800"/>
            <a:ext cx="3383280" cy="64008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for one opinion on whether your change is safe</a:t>
            </a:r>
            <a:endParaRPr lang="en-US" sz="1400" dirty="0"/>
          </a:p>
        </p:txBody>
      </p:sp>
      <p:sp>
        <p:nvSpPr>
          <p:cNvPr id="9" name="Text 7"/>
          <p:cNvSpPr txBox="1"/>
          <p:nvPr/>
        </p:nvSpPr>
        <p:spPr>
          <a:xfrm>
            <a:off x="7909560" y="3657600"/>
            <a:ext cx="3383280" cy="54864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Three apps. One process each. Nothing overlaps.</a:t>
            </a:r>
            <a:endParaRPr lang="en-US" sz="1200" dirty="0"/>
          </a:p>
        </p:txBody>
      </p:sp>
      <p:sp>
        <p:nvSpPr>
          <p:cNvPr id="10" name="Text 8"/>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And this is the small version. Fifteen apps and 1,500 tests is the project this came from — the shape is the same, the number is not.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WISH LIST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Imagine you could run only…</a:t>
            </a:r>
            <a:endParaRPr lang="en-US" sz="3800" dirty="0"/>
          </a:p>
        </p:txBody>
      </p:sp>
      <p:sp>
        <p:nvSpPr>
          <p:cNvPr id="4" name="Shape 2"/>
          <p:cNvSpPr/>
          <p:nvPr/>
        </p:nvSpPr>
        <p:spPr>
          <a:xfrm>
            <a:off x="640080" y="2011680"/>
            <a:ext cx="5257800" cy="1691640"/>
          </a:xfrm>
          <a:prstGeom prst="roundRect">
            <a:avLst>
              <a:gd name="adj" fmla="val 4865"/>
            </a:avLst>
          </a:prstGeom>
          <a:solidFill>
            <a:srgbClr val="FFFFFF"/>
          </a:solidFill>
          <a:ln w="12700">
            <a:solidFill>
              <a:srgbClr val="E2E6ED"/>
            </a:solidFill>
            <a:prstDash val="solid"/>
          </a:ln>
        </p:spPr>
      </p:sp>
      <p:sp>
        <p:nvSpPr>
          <p:cNvPr id="5" name="Shape 3"/>
          <p:cNvSpPr/>
          <p:nvPr/>
        </p:nvSpPr>
        <p:spPr>
          <a:xfrm>
            <a:off x="640080" y="2212848"/>
            <a:ext cx="45720" cy="1280160"/>
          </a:xfrm>
          <a:prstGeom prst="rect">
            <a:avLst/>
          </a:prstGeom>
          <a:solidFill>
            <a:srgbClr val="0B7A44"/>
          </a:solidFill>
          <a:ln w="12700">
            <a:solidFill>
              <a:srgbClr val="333333"/>
            </a:solidFill>
            <a:prstDash val="solid"/>
          </a:ln>
        </p:spPr>
      </p:sp>
      <p:sp>
        <p:nvSpPr>
          <p:cNvPr id="6" name="Text 4"/>
          <p:cNvSpPr txBox="1"/>
          <p:nvPr/>
        </p:nvSpPr>
        <p:spPr>
          <a:xfrm>
            <a:off x="96012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…what the change touched</a:t>
            </a:r>
            <a:endParaRPr lang="en-US" sz="2000" dirty="0"/>
          </a:p>
        </p:txBody>
      </p:sp>
      <p:sp>
        <p:nvSpPr>
          <p:cNvPr id="7" name="Text 5"/>
          <p:cNvSpPr txBox="1"/>
          <p:nvPr/>
        </p:nvSpPr>
        <p:spPr>
          <a:xfrm>
            <a:off x="96012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Not the whole suite. The apps the diff can actually break.</a:t>
            </a:r>
            <a:endParaRPr lang="en-US" sz="1400" dirty="0"/>
          </a:p>
        </p:txBody>
      </p:sp>
      <p:sp>
        <p:nvSpPr>
          <p:cNvPr id="8" name="Shape 6"/>
          <p:cNvSpPr/>
          <p:nvPr/>
        </p:nvSpPr>
        <p:spPr>
          <a:xfrm>
            <a:off x="6263640" y="2011680"/>
            <a:ext cx="5257800" cy="1691640"/>
          </a:xfrm>
          <a:prstGeom prst="roundRect">
            <a:avLst>
              <a:gd name="adj" fmla="val 4865"/>
            </a:avLst>
          </a:prstGeom>
          <a:solidFill>
            <a:srgbClr val="FFFFFF"/>
          </a:solidFill>
          <a:ln w="12700">
            <a:solidFill>
              <a:srgbClr val="E2E6ED"/>
            </a:solidFill>
            <a:prstDash val="solid"/>
          </a:ln>
        </p:spPr>
      </p:sp>
      <p:sp>
        <p:nvSpPr>
          <p:cNvPr id="9" name="Shape 7"/>
          <p:cNvSpPr/>
          <p:nvPr/>
        </p:nvSpPr>
        <p:spPr>
          <a:xfrm>
            <a:off x="6263640" y="2212848"/>
            <a:ext cx="45720" cy="1280160"/>
          </a:xfrm>
          <a:prstGeom prst="rect">
            <a:avLst/>
          </a:prstGeom>
          <a:solidFill>
            <a:srgbClr val="0B7A44"/>
          </a:solidFill>
          <a:ln w="12700">
            <a:solidFill>
              <a:srgbClr val="333333"/>
            </a:solidFill>
            <a:prstDash val="solid"/>
          </a:ln>
        </p:spPr>
      </p:sp>
      <p:sp>
        <p:nvSpPr>
          <p:cNvPr id="10" name="Text 8"/>
          <p:cNvSpPr txBox="1"/>
          <p:nvPr/>
        </p:nvSpPr>
        <p:spPr>
          <a:xfrm>
            <a:off x="658368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…several specs at once</a:t>
            </a:r>
            <a:endParaRPr lang="en-US" sz="2000" dirty="0"/>
          </a:p>
        </p:txBody>
      </p:sp>
      <p:sp>
        <p:nvSpPr>
          <p:cNvPr id="11" name="Text 9"/>
          <p:cNvSpPr txBox="1"/>
          <p:nvPr/>
        </p:nvSpPr>
        <p:spPr>
          <a:xfrm>
            <a:off x="658368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 the cores you already paid for.</a:t>
            </a:r>
            <a:endParaRPr lang="en-US" sz="1400" dirty="0"/>
          </a:p>
        </p:txBody>
      </p:sp>
      <p:sp>
        <p:nvSpPr>
          <p:cNvPr id="12" name="Shape 10"/>
          <p:cNvSpPr/>
          <p:nvPr/>
        </p:nvSpPr>
        <p:spPr>
          <a:xfrm>
            <a:off x="640080" y="3977640"/>
            <a:ext cx="5257800" cy="1691640"/>
          </a:xfrm>
          <a:prstGeom prst="roundRect">
            <a:avLst>
              <a:gd name="adj" fmla="val 4865"/>
            </a:avLst>
          </a:prstGeom>
          <a:solidFill>
            <a:srgbClr val="FFFFFF"/>
          </a:solidFill>
          <a:ln w="12700">
            <a:solidFill>
              <a:srgbClr val="E2E6ED"/>
            </a:solidFill>
            <a:prstDash val="solid"/>
          </a:ln>
        </p:spPr>
      </p:sp>
      <p:sp>
        <p:nvSpPr>
          <p:cNvPr id="13" name="Shape 11"/>
          <p:cNvSpPr/>
          <p:nvPr/>
        </p:nvSpPr>
        <p:spPr>
          <a:xfrm>
            <a:off x="640080" y="4178808"/>
            <a:ext cx="45720" cy="1280160"/>
          </a:xfrm>
          <a:prstGeom prst="rect">
            <a:avLst/>
          </a:prstGeom>
          <a:solidFill>
            <a:srgbClr val="0B7A44"/>
          </a:solidFill>
          <a:ln w="12700">
            <a:solidFill>
              <a:srgbClr val="333333"/>
            </a:solidFill>
            <a:prstDash val="solid"/>
          </a:ln>
        </p:spPr>
      </p:sp>
      <p:sp>
        <p:nvSpPr>
          <p:cNvPr id="14" name="Text 12"/>
          <p:cNvSpPr txBox="1"/>
          <p:nvPr/>
        </p:nvSpPr>
        <p:spPr>
          <a:xfrm>
            <a:off x="96012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…the same way everywhere</a:t>
            </a:r>
            <a:endParaRPr lang="en-US" sz="2000" dirty="0"/>
          </a:p>
        </p:txBody>
      </p:sp>
      <p:sp>
        <p:nvSpPr>
          <p:cNvPr id="15" name="Text 13"/>
          <p:cNvSpPr txBox="1"/>
          <p:nvPr/>
        </p:nvSpPr>
        <p:spPr>
          <a:xfrm>
            <a:off x="96012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One command, identical locally and on CI.</a:t>
            </a:r>
            <a:endParaRPr lang="en-US" sz="1400" dirty="0"/>
          </a:p>
        </p:txBody>
      </p:sp>
      <p:sp>
        <p:nvSpPr>
          <p:cNvPr id="16" name="Shape 14"/>
          <p:cNvSpPr/>
          <p:nvPr/>
        </p:nvSpPr>
        <p:spPr>
          <a:xfrm>
            <a:off x="6263640" y="3977640"/>
            <a:ext cx="5257800" cy="1691640"/>
          </a:xfrm>
          <a:prstGeom prst="roundRect">
            <a:avLst>
              <a:gd name="adj" fmla="val 4865"/>
            </a:avLst>
          </a:prstGeom>
          <a:solidFill>
            <a:srgbClr val="FFFFFF"/>
          </a:solidFill>
          <a:ln w="12700">
            <a:solidFill>
              <a:srgbClr val="E2E6ED"/>
            </a:solidFill>
            <a:prstDash val="solid"/>
          </a:ln>
        </p:spPr>
      </p:sp>
      <p:sp>
        <p:nvSpPr>
          <p:cNvPr id="17" name="Shape 15"/>
          <p:cNvSpPr/>
          <p:nvPr/>
        </p:nvSpPr>
        <p:spPr>
          <a:xfrm>
            <a:off x="6263640" y="4178808"/>
            <a:ext cx="45720" cy="1280160"/>
          </a:xfrm>
          <a:prstGeom prst="rect">
            <a:avLst/>
          </a:prstGeom>
          <a:solidFill>
            <a:srgbClr val="0B7A44"/>
          </a:solidFill>
          <a:ln w="12700">
            <a:solidFill>
              <a:srgbClr val="333333"/>
            </a:solidFill>
            <a:prstDash val="solid"/>
          </a:ln>
        </p:spPr>
      </p:sp>
      <p:sp>
        <p:nvSpPr>
          <p:cNvPr id="18" name="Text 16"/>
          <p:cNvSpPr txBox="1"/>
          <p:nvPr/>
        </p:nvSpPr>
        <p:spPr>
          <a:xfrm>
            <a:off x="658368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…only what failed last time</a:t>
            </a:r>
            <a:endParaRPr lang="en-US" sz="2000" dirty="0"/>
          </a:p>
        </p:txBody>
      </p:sp>
      <p:sp>
        <p:nvSpPr>
          <p:cNvPr id="19" name="Text 17"/>
          <p:cNvSpPr txBox="1"/>
          <p:nvPr/>
        </p:nvSpPr>
        <p:spPr>
          <a:xfrm>
            <a:off x="658368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A retry that skips the 28 specs that already passed.</a:t>
            </a:r>
            <a:endParaRPr lang="en-US" sz="1400" dirty="0"/>
          </a:p>
        </p:txBody>
      </p:sp>
      <p:sp>
        <p:nvSpPr>
          <p:cNvPr id="20" name="Text 18"/>
          <p:cNvSpPr txBox="1"/>
          <p:nvPr/>
        </p:nvSpPr>
        <p:spPr>
          <a:xfrm>
            <a:off x="640080" y="6035040"/>
            <a:ext cx="10881360" cy="457200"/>
          </a:xfrm>
          <a:prstGeom prst="rect">
            <a:avLst/>
          </a:prstGeom>
          <a:noFill/>
          <a:ln/>
        </p:spPr>
        <p:txBody>
          <a:bodyPr wrap="square" lIns="0" tIns="0" rIns="0" bIns="0" rtlCol="0" anchor="ctr"/>
          <a:lstStyle/>
          <a:p>
            <a:pPr algn="ctr" indent="0" marL="0">
              <a:buNone/>
            </a:pPr>
            <a:r>
              <a:rPr lang="en-US" sz="1700" b="1" dirty="0">
                <a:solidFill>
                  <a:srgbClr val="0B7A44"/>
                </a:solidFill>
                <a:latin typeface="Calibri" pitchFamily="34" charset="0"/>
                <a:ea typeface="Calibri" pitchFamily="34" charset="-122"/>
                <a:cs typeface="Calibri" pitchFamily="34" charset="-120"/>
              </a:rPr>
              <a:t>All four are configuration. None of them need a subscription.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783080"/>
          </a:xfrm>
          <a:prstGeom prst="roundRect">
            <a:avLst>
              <a:gd name="adj" fmla="val 3590"/>
            </a:avLst>
          </a:prstGeom>
          <a:solidFill>
            <a:srgbClr val="2A1116"/>
          </a:solidFill>
          <a:ln w="19050">
            <a:solidFill>
              <a:srgbClr val="FB7185"/>
            </a:solidFill>
            <a:prstDash val="solid"/>
          </a:ln>
        </p:spPr>
      </p:sp>
      <p:sp>
        <p:nvSpPr>
          <p:cNvPr id="7" name="Text 5"/>
          <p:cNvSpPr txBox="1"/>
          <p:nvPr/>
        </p:nvSpPr>
        <p:spPr>
          <a:xfrm>
            <a:off x="914400" y="2880360"/>
            <a:ext cx="10332720" cy="146304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following tasks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admin-e2e:e2e-ci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docs-e2e:e2e-ci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shop-e2e:e2e-ci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663440"/>
            <a:ext cx="10881360" cy="411480"/>
          </a:xfrm>
          <a:prstGeom prst="rect">
            <a:avLst/>
          </a:prstGeom>
          <a:noFill/>
          <a:ln/>
        </p:spPr>
        <p:txBody>
          <a:bodyPr wrap="square" lIns="0" tIns="0" rIns="0" bIns="0" rtlCol="0" anchor="ctr"/>
          <a:lstStyle/>
          <a:p>
            <a:pPr indent="0" marL="0">
              <a:buNone/>
            </a:pPr>
            <a:r>
              <a:rPr lang="en-US" sz="2400" b="1" dirty="0">
                <a:solidFill>
                  <a:srgbClr val="F5A524"/>
                </a:solidFill>
                <a:latin typeface="Cambria" pitchFamily="34" charset="0"/>
                <a:ea typeface="Cambria" pitchFamily="34" charset="-122"/>
                <a:cs typeface="Cambria" pitchFamily="34" charset="-120"/>
              </a:rPr>
              <a:t>So now it is a procurement question.</a:t>
            </a:r>
            <a:endParaRPr lang="en-US" sz="2400" dirty="0"/>
          </a:p>
        </p:txBody>
      </p:sp>
      <p:sp>
        <p:nvSpPr>
          <p:cNvPr id="9" name="Text 7"/>
          <p:cNvSpPr txBox="1"/>
          <p:nvPr/>
        </p:nvSpPr>
        <p:spPr>
          <a:xfrm>
            <a:off x="640080" y="5166360"/>
            <a:ext cx="10881360" cy="13716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Cloud is a premium service from Nx</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Is it approved in your organisation?</a:t>
            </a:r>
            <a:endParaRPr lang="en-US" sz="1500" dirty="0"/>
          </a:p>
          <a:p>
            <a:pPr marL="342900" indent="-342900">
              <a:spcAft>
                <a:spcPts val="1000"/>
              </a:spcAft>
              <a:buSzPct val="100000"/>
              <a:buChar char="•"/>
            </a:pPr>
            <a:r>
              <a:rPr lang="en-US" sz="1500" b="1" dirty="0">
                <a:solidFill>
                  <a:srgbClr val="FB7185"/>
                </a:solidFill>
                <a:latin typeface="Calibri" pitchFamily="34" charset="0"/>
                <a:ea typeface="Calibri" pitchFamily="34" charset="-122"/>
                <a:cs typeface="Calibri" pitchFamily="34" charset="-120"/>
              </a:rPr>
              <a:t>If not approved — you are blocked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6675120" cy="2322576"/>
          </a:xfrm>
          <a:prstGeom prst="roundRect">
            <a:avLst>
              <a:gd name="adj" fmla="val 2362"/>
            </a:avLst>
          </a:prstGeom>
          <a:solidFill>
            <a:srgbClr val="0A0D13"/>
          </a:solidFill>
          <a:ln w="12700">
            <a:solidFill>
              <a:srgbClr val="2C3340"/>
            </a:solidFill>
            <a:prstDash val="solid"/>
          </a:ln>
        </p:spPr>
      </p:sp>
      <p:sp>
        <p:nvSpPr>
          <p:cNvPr id="5" name="Text 3"/>
          <p:cNvSpPr txBox="1"/>
          <p:nvPr/>
        </p:nvSpPr>
        <p:spPr>
          <a:xfrm>
            <a:off x="868680" y="1984248"/>
            <a:ext cx="6217920" cy="1920240"/>
          </a:xfrm>
          <a:prstGeom prst="rect">
            <a:avLst/>
          </a:prstGeom>
          <a:noFill/>
          <a:ln/>
        </p:spPr>
        <p:txBody>
          <a:bodyPr wrap="square" lIns="0" tIns="0" rIns="0" bIns="0" rtlCol="0" anchor="t"/>
          <a:lstStyle/>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the wrapper is gated — the leaves are not</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e2e-ci--src/e2e/catalog.cy.ts</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e2e-ci--src/e2e/search.cy.ts   …</a:t>
            </a:r>
            <a:endParaRPr lang="en-US" sz="1300" dirty="0"/>
          </a:p>
          <a:p>
            <a:pPr indent="0" marL="0">
              <a:lnSpc>
                <a:spcPct val="125000"/>
              </a:lnSpc>
              <a:buNone/>
            </a:pPr>
            <a:endParaRPr lang="en-US" sz="1300" dirty="0"/>
          </a:p>
          <a:p>
            <a:pPr indent="0" marL="0">
              <a:lnSpc>
                <a:spcPct val="125000"/>
              </a:lnSpc>
              <a:buNone/>
            </a:pPr>
            <a:r>
              <a:rPr lang="en-US" sz="1300" b="1" dirty="0">
                <a:solidFill>
                  <a:srgbClr val="4ADE80"/>
                </a:solidFill>
                <a:latin typeface="Courier New" pitchFamily="34" charset="0"/>
                <a:ea typeface="Courier New" pitchFamily="34" charset="-122"/>
                <a:cs typeface="Courier New" pitchFamily="34" charset="-120"/>
              </a:rPr>
              <a:t>nx run-many --targets=&lt;that list&gt; --parallel=5</a:t>
            </a:r>
            <a:endParaRPr lang="en-US" sz="1300" dirty="0"/>
          </a:p>
        </p:txBody>
      </p:sp>
      <p:sp>
        <p:nvSpPr>
          <p:cNvPr id="6" name="Shape 4"/>
          <p:cNvSpPr/>
          <p:nvPr/>
        </p:nvSpPr>
        <p:spPr>
          <a:xfrm>
            <a:off x="7680960" y="1783080"/>
            <a:ext cx="3840480" cy="2286000"/>
          </a:xfrm>
          <a:prstGeom prst="roundRect">
            <a:avLst>
              <a:gd name="adj" fmla="val 3600"/>
            </a:avLst>
          </a:prstGeom>
          <a:solidFill>
            <a:srgbClr val="1B2029"/>
          </a:solidFill>
          <a:ln w="19050">
            <a:solidFill>
              <a:srgbClr val="4ADE80"/>
            </a:solidFill>
            <a:prstDash val="solid"/>
          </a:ln>
        </p:spPr>
      </p:sp>
      <p:sp>
        <p:nvSpPr>
          <p:cNvPr id="7" name="Text 5"/>
          <p:cNvSpPr txBox="1"/>
          <p:nvPr/>
        </p:nvSpPr>
        <p:spPr>
          <a:xfrm>
            <a:off x="7909560" y="1965960"/>
            <a:ext cx="3383280" cy="502920"/>
          </a:xfrm>
          <a:prstGeom prst="rect">
            <a:avLst/>
          </a:prstGeom>
          <a:noFill/>
          <a:ln/>
        </p:spPr>
        <p:txBody>
          <a:bodyPr wrap="square" lIns="0" tIns="0" rIns="0" bIns="0" rtlCol="0" anchor="ctr"/>
          <a:lstStyle/>
          <a:p>
            <a:pPr indent="0" marL="0">
              <a:buNone/>
            </a:pPr>
            <a:r>
              <a:rPr lang="en-US" sz="2400" b="1" dirty="0">
                <a:solidFill>
                  <a:srgbClr val="8A94A6"/>
                </a:solidFill>
                <a:latin typeface="Cambria" pitchFamily="34" charset="0"/>
                <a:ea typeface="Cambria" pitchFamily="34" charset="-122"/>
                <a:cs typeface="Cambria" pitchFamily="34" charset="-120"/>
              </a:rPr>
              <a:t>4m 20s</a:t>
            </a:r>
            <a:endParaRPr lang="en-US" sz="2400" dirty="0"/>
          </a:p>
        </p:txBody>
      </p:sp>
      <p:sp>
        <p:nvSpPr>
          <p:cNvPr id="8" name="Text 6"/>
          <p:cNvSpPr txBox="1"/>
          <p:nvPr/>
        </p:nvSpPr>
        <p:spPr>
          <a:xfrm>
            <a:off x="7909560" y="2395728"/>
            <a:ext cx="3383280" cy="27432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7909560" y="2670048"/>
            <a:ext cx="3383280" cy="731520"/>
          </a:xfrm>
          <a:prstGeom prst="rect">
            <a:avLst/>
          </a:prstGeom>
          <a:noFill/>
          <a:ln/>
        </p:spPr>
        <p:txBody>
          <a:bodyPr wrap="square" lIns="0" tIns="0" rIns="0" bIns="0" rtlCol="0" anchor="ctr"/>
          <a:lstStyle/>
          <a:p>
            <a:pPr indent="0" marL="0">
              <a:buNone/>
            </a:pPr>
            <a:r>
              <a:rPr lang="en-US" sz="4200" b="1" dirty="0">
                <a:solidFill>
                  <a:srgbClr val="4ADE80"/>
                </a:solidFill>
                <a:latin typeface="Cambria" pitchFamily="34" charset="0"/>
                <a:ea typeface="Cambria" pitchFamily="34" charset="-122"/>
                <a:cs typeface="Cambria" pitchFamily="34" charset="-120"/>
              </a:rPr>
              <a:t>2m 20s</a:t>
            </a:r>
            <a:endParaRPr lang="en-US" sz="4200" dirty="0"/>
          </a:p>
        </p:txBody>
      </p:sp>
      <p:sp>
        <p:nvSpPr>
          <p:cNvPr id="10" name="Text 8"/>
          <p:cNvSpPr txBox="1"/>
          <p:nvPr/>
        </p:nvSpPr>
        <p:spPr>
          <a:xfrm>
            <a:off x="7909560" y="3429000"/>
            <a:ext cx="3383280" cy="4572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laptop, one flag</a:t>
            </a:r>
            <a:endParaRPr lang="en-US" sz="1300" dirty="0"/>
          </a:p>
        </p:txBody>
      </p:sp>
      <p:sp>
        <p:nvSpPr>
          <p:cNvPr id="11" name="Shape 9"/>
          <p:cNvSpPr/>
          <p:nvPr/>
        </p:nvSpPr>
        <p:spPr>
          <a:xfrm>
            <a:off x="640080" y="4526280"/>
            <a:ext cx="10881360" cy="1371600"/>
          </a:xfrm>
          <a:prstGeom prst="roundRect">
            <a:avLst>
              <a:gd name="adj" fmla="val 4667"/>
            </a:avLst>
          </a:prstGeom>
          <a:solidFill>
            <a:srgbClr val="2A1F0A"/>
          </a:solidFill>
          <a:ln w="12700">
            <a:solidFill>
              <a:srgbClr val="F5A524"/>
            </a:solidFill>
            <a:prstDash val="solid"/>
          </a:ln>
        </p:spPr>
      </p:sp>
      <p:sp>
        <p:nvSpPr>
          <p:cNvPr id="12" name="Text 10"/>
          <p:cNvSpPr txBox="1"/>
          <p:nvPr/>
        </p:nvSpPr>
        <p:spPr>
          <a:xfrm>
            <a:off x="914400" y="4681728"/>
            <a:ext cx="10332720"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part people skip</a:t>
            </a:r>
            <a:endParaRPr lang="en-US" sz="1400" dirty="0"/>
          </a:p>
        </p:txBody>
      </p:sp>
      <p:sp>
        <p:nvSpPr>
          <p:cNvPr id="13" name="Text 11"/>
          <p:cNvSpPr txBox="1"/>
          <p:nvPr/>
        </p:nvSpPr>
        <p:spPr>
          <a:xfrm>
            <a:off x="914400" y="5029200"/>
            <a:ext cx="10332720" cy="777240"/>
          </a:xfrm>
          <a:prstGeom prst="rect">
            <a:avLst/>
          </a:prstGeom>
          <a:noFill/>
          <a:ln/>
        </p:spPr>
        <p:txBody>
          <a:bodyPr wrap="square" lIns="0" tIns="0" rIns="0" bIns="0" rtlCol="0" anchor="ctr"/>
          <a:lstStyle/>
          <a:p>
            <a:pPr indent="0" marL="0">
              <a:buNone/>
            </a:pPr>
            <a:r>
              <a:rPr lang="en-US" sz="1400" dirty="0">
                <a:solidFill>
                  <a:srgbClr val="F3D9A4"/>
                </a:solidFill>
                <a:latin typeface="Calibri" pitchFamily="34" charset="0"/>
                <a:ea typeface="Calibri" pitchFamily="34" charset="-122"/>
                <a:cs typeface="Calibri" pitchFamily="34" charset="-120"/>
              </a:rPr>
              <a:t>Atomize and run them serially and you get 5m 40s — 31% SLOWER than not splitting at all, because every spec now boots its own Cypress. Splitting is not a speedup. It is the precondition for one.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29184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4617720" y="1627632"/>
            <a:ext cx="4572000" cy="274320"/>
          </a:xfrm>
          <a:prstGeom prst="rect">
            <a:avLst/>
          </a:prstGeom>
          <a:noFill/>
          <a:ln/>
        </p:spPr>
        <p:txBody>
          <a:bodyPr wrap="square" lIns="0" tIns="0" rIns="0" bIns="0" rtlCol="0" anchor="ctr"/>
          <a:lstStyle/>
          <a:p>
            <a:pPr indent="0" marL="0">
              <a:buNone/>
            </a:pPr>
            <a:r>
              <a:rPr lang="en-US" sz="1100" b="1" spc="100" kern="0" dirty="0">
                <a:solidFill>
                  <a:srgbClr val="0B7A44"/>
                </a:solidFill>
                <a:latin typeface="Calibri" pitchFamily="34" charset="0"/>
                <a:ea typeface="Calibri" pitchFamily="34" charset="-122"/>
                <a:cs typeface="Calibri" pitchFamily="34" charset="-120"/>
              </a:rPr>
              <a:t>M1 PRO · 10 CORES · LIVE DEMO</a:t>
            </a:r>
            <a:endParaRPr lang="en-US" sz="1100" dirty="0"/>
          </a:p>
        </p:txBody>
      </p:sp>
      <p:sp>
        <p:nvSpPr>
          <p:cNvPr id="5" name="Text 3"/>
          <p:cNvSpPr txBox="1"/>
          <p:nvPr/>
        </p:nvSpPr>
        <p:spPr>
          <a:xfrm>
            <a:off x="10104120" y="1627632"/>
            <a:ext cx="1645920" cy="274320"/>
          </a:xfrm>
          <a:prstGeom prst="rect">
            <a:avLst/>
          </a:prstGeom>
          <a:noFill/>
          <a:ln/>
        </p:spPr>
        <p:txBody>
          <a:bodyPr wrap="square" lIns="0" tIns="0" rIns="0" bIns="0" rtlCol="0" anchor="ctr"/>
          <a:lstStyle/>
          <a:p>
            <a:pPr indent="0" marL="0">
              <a:buNone/>
            </a:pPr>
            <a:r>
              <a:rPr lang="en-US" sz="1100" b="1" spc="100" kern="0" dirty="0">
                <a:solidFill>
                  <a:srgbClr val="8A94A6"/>
                </a:solidFill>
                <a:latin typeface="Calibri" pitchFamily="34" charset="0"/>
                <a:ea typeface="Calibri" pitchFamily="34" charset="-122"/>
                <a:cs typeface="Calibri" pitchFamily="34" charset="-120"/>
              </a:rPr>
              <a:t>M5 · 18 CORES</a:t>
            </a:r>
            <a:endParaRPr lang="en-US" sz="1100" dirty="0"/>
          </a:p>
        </p:txBody>
      </p:sp>
      <p:sp>
        <p:nvSpPr>
          <p:cNvPr id="6" name="Shape 4"/>
          <p:cNvSpPr/>
          <p:nvPr/>
        </p:nvSpPr>
        <p:spPr>
          <a:xfrm>
            <a:off x="9829800" y="1572768"/>
            <a:ext cx="10973" cy="3703320"/>
          </a:xfrm>
          <a:prstGeom prst="rect">
            <a:avLst/>
          </a:prstGeom>
          <a:solidFill>
            <a:srgbClr val="E2E6ED"/>
          </a:solidFill>
          <a:ln w="12700">
            <a:solidFill>
              <a:srgbClr val="333333"/>
            </a:solidFill>
            <a:prstDash val="solid"/>
          </a:ln>
        </p:spPr>
      </p:sp>
      <p:sp>
        <p:nvSpPr>
          <p:cNvPr id="7" name="Text 5"/>
          <p:cNvSpPr txBox="1"/>
          <p:nvPr/>
        </p:nvSpPr>
        <p:spPr>
          <a:xfrm>
            <a:off x="640080" y="201168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8" name="Text 6"/>
          <p:cNvSpPr txBox="1"/>
          <p:nvPr/>
        </p:nvSpPr>
        <p:spPr>
          <a:xfrm>
            <a:off x="1051560" y="2011680"/>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9" name="Shape 7"/>
          <p:cNvSpPr/>
          <p:nvPr/>
        </p:nvSpPr>
        <p:spPr>
          <a:xfrm>
            <a:off x="4617720" y="2075688"/>
            <a:ext cx="3146612" cy="292608"/>
          </a:xfrm>
          <a:prstGeom prst="roundRect">
            <a:avLst>
              <a:gd name="adj" fmla="val 12500"/>
            </a:avLst>
          </a:prstGeom>
          <a:solidFill>
            <a:srgbClr val="F5A524"/>
          </a:solidFill>
          <a:ln w="12700">
            <a:solidFill>
              <a:srgbClr val="F5A524"/>
            </a:solidFill>
            <a:prstDash val="solid"/>
          </a:ln>
        </p:spPr>
      </p:sp>
      <p:sp>
        <p:nvSpPr>
          <p:cNvPr id="10" name="Text 8"/>
          <p:cNvSpPr txBox="1"/>
          <p:nvPr/>
        </p:nvSpPr>
        <p:spPr>
          <a:xfrm>
            <a:off x="7855772" y="201168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11" name="Text 9"/>
          <p:cNvSpPr txBox="1"/>
          <p:nvPr/>
        </p:nvSpPr>
        <p:spPr>
          <a:xfrm>
            <a:off x="10104120" y="2011680"/>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3m 16s</a:t>
            </a:r>
            <a:endParaRPr lang="en-US" sz="1400" dirty="0"/>
          </a:p>
        </p:txBody>
      </p:sp>
      <p:sp>
        <p:nvSpPr>
          <p:cNvPr id="12" name="Text 10"/>
          <p:cNvSpPr txBox="1"/>
          <p:nvPr/>
        </p:nvSpPr>
        <p:spPr>
          <a:xfrm>
            <a:off x="640080" y="272491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13" name="Text 11"/>
          <p:cNvSpPr txBox="1"/>
          <p:nvPr/>
        </p:nvSpPr>
        <p:spPr>
          <a:xfrm>
            <a:off x="1051560" y="2724912"/>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4" name="Shape 12"/>
          <p:cNvSpPr/>
          <p:nvPr/>
        </p:nvSpPr>
        <p:spPr>
          <a:xfrm>
            <a:off x="4617720" y="2788920"/>
            <a:ext cx="4114800" cy="292608"/>
          </a:xfrm>
          <a:prstGeom prst="roundRect">
            <a:avLst>
              <a:gd name="adj" fmla="val 12500"/>
            </a:avLst>
          </a:prstGeom>
          <a:solidFill>
            <a:srgbClr val="C2410C"/>
          </a:solidFill>
          <a:ln w="12700">
            <a:solidFill>
              <a:srgbClr val="C2410C"/>
            </a:solidFill>
            <a:prstDash val="solid"/>
          </a:ln>
        </p:spPr>
      </p:sp>
      <p:sp>
        <p:nvSpPr>
          <p:cNvPr id="15" name="Text 13"/>
          <p:cNvSpPr txBox="1"/>
          <p:nvPr/>
        </p:nvSpPr>
        <p:spPr>
          <a:xfrm>
            <a:off x="8823960" y="2724912"/>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40s</a:t>
            </a:r>
            <a:endParaRPr lang="en-US" sz="1400" dirty="0"/>
          </a:p>
        </p:txBody>
      </p:sp>
      <p:sp>
        <p:nvSpPr>
          <p:cNvPr id="16" name="Text 14"/>
          <p:cNvSpPr txBox="1"/>
          <p:nvPr/>
        </p:nvSpPr>
        <p:spPr>
          <a:xfrm>
            <a:off x="10104120" y="2724912"/>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4m 00s</a:t>
            </a:r>
            <a:endParaRPr lang="en-US" sz="1400" dirty="0"/>
          </a:p>
        </p:txBody>
      </p:sp>
      <p:sp>
        <p:nvSpPr>
          <p:cNvPr id="17" name="Text 15"/>
          <p:cNvSpPr txBox="1"/>
          <p:nvPr/>
        </p:nvSpPr>
        <p:spPr>
          <a:xfrm>
            <a:off x="640080" y="343814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8" name="Text 16"/>
          <p:cNvSpPr txBox="1"/>
          <p:nvPr/>
        </p:nvSpPr>
        <p:spPr>
          <a:xfrm>
            <a:off x="1051560" y="3438144"/>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half your cores at once</a:t>
            </a:r>
            <a:endParaRPr lang="en-US" sz="1300" dirty="0"/>
          </a:p>
        </p:txBody>
      </p:sp>
      <p:sp>
        <p:nvSpPr>
          <p:cNvPr id="19" name="Shape 17"/>
          <p:cNvSpPr/>
          <p:nvPr/>
        </p:nvSpPr>
        <p:spPr>
          <a:xfrm>
            <a:off x="4617720" y="3502152"/>
            <a:ext cx="1694329" cy="292608"/>
          </a:xfrm>
          <a:prstGeom prst="roundRect">
            <a:avLst>
              <a:gd name="adj" fmla="val 12500"/>
            </a:avLst>
          </a:prstGeom>
          <a:solidFill>
            <a:srgbClr val="0B7A44"/>
          </a:solidFill>
          <a:ln w="12700">
            <a:solidFill>
              <a:srgbClr val="0B7A44"/>
            </a:solidFill>
            <a:prstDash val="solid"/>
          </a:ln>
        </p:spPr>
      </p:sp>
      <p:sp>
        <p:nvSpPr>
          <p:cNvPr id="20" name="Text 18"/>
          <p:cNvSpPr txBox="1"/>
          <p:nvPr/>
        </p:nvSpPr>
        <p:spPr>
          <a:xfrm>
            <a:off x="6403489" y="3438144"/>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20s</a:t>
            </a:r>
            <a:endParaRPr lang="en-US" sz="1400" dirty="0"/>
          </a:p>
        </p:txBody>
      </p:sp>
      <p:sp>
        <p:nvSpPr>
          <p:cNvPr id="21" name="Text 19"/>
          <p:cNvSpPr txBox="1"/>
          <p:nvPr/>
        </p:nvSpPr>
        <p:spPr>
          <a:xfrm>
            <a:off x="10104120" y="3438144"/>
            <a:ext cx="1371600" cy="365760"/>
          </a:xfrm>
          <a:prstGeom prst="rect">
            <a:avLst/>
          </a:prstGeom>
          <a:noFill/>
          <a:ln/>
        </p:spPr>
        <p:txBody>
          <a:bodyPr wrap="square" lIns="0" tIns="0" rIns="0" bIns="0" rtlCol="0" anchor="ctr"/>
          <a:lstStyle/>
          <a:p>
            <a:pPr indent="0" marL="0">
              <a:buNone/>
            </a:pPr>
            <a:r>
              <a:rPr lang="en-US" sz="1400" b="1" dirty="0">
                <a:solidFill>
                  <a:srgbClr val="0B7A44"/>
                </a:solidFill>
                <a:latin typeface="Calibri" pitchFamily="34" charset="0"/>
                <a:ea typeface="Calibri" pitchFamily="34" charset="-122"/>
                <a:cs typeface="Calibri" pitchFamily="34" charset="-120"/>
              </a:rPr>
              <a:t>48s</a:t>
            </a:r>
            <a:endParaRPr lang="en-US" sz="1400" dirty="0"/>
          </a:p>
        </p:txBody>
      </p:sp>
      <p:sp>
        <p:nvSpPr>
          <p:cNvPr id="22" name="Text 20"/>
          <p:cNvSpPr txBox="1"/>
          <p:nvPr/>
        </p:nvSpPr>
        <p:spPr>
          <a:xfrm>
            <a:off x="640080" y="415137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23" name="Text 21"/>
          <p:cNvSpPr txBox="1"/>
          <p:nvPr/>
        </p:nvSpPr>
        <p:spPr>
          <a:xfrm>
            <a:off x="1051560" y="4151376"/>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24" name="Shape 22"/>
          <p:cNvSpPr/>
          <p:nvPr/>
        </p:nvSpPr>
        <p:spPr>
          <a:xfrm>
            <a:off x="4617720" y="4215384"/>
            <a:ext cx="665629" cy="292608"/>
          </a:xfrm>
          <a:prstGeom prst="roundRect">
            <a:avLst>
              <a:gd name="adj" fmla="val 12500"/>
            </a:avLst>
          </a:prstGeom>
          <a:solidFill>
            <a:srgbClr val="0B7A44"/>
          </a:solidFill>
          <a:ln w="12700">
            <a:solidFill>
              <a:srgbClr val="0B7A44"/>
            </a:solidFill>
            <a:prstDash val="solid"/>
          </a:ln>
        </p:spPr>
      </p:sp>
      <p:sp>
        <p:nvSpPr>
          <p:cNvPr id="25" name="Text 23"/>
          <p:cNvSpPr txBox="1"/>
          <p:nvPr/>
        </p:nvSpPr>
        <p:spPr>
          <a:xfrm>
            <a:off x="5374789" y="4151376"/>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6" name="Text 24"/>
          <p:cNvSpPr txBox="1"/>
          <p:nvPr/>
        </p:nvSpPr>
        <p:spPr>
          <a:xfrm>
            <a:off x="10104120" y="4151376"/>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55s</a:t>
            </a:r>
            <a:endParaRPr lang="en-US" sz="1400" dirty="0"/>
          </a:p>
        </p:txBody>
      </p:sp>
      <p:sp>
        <p:nvSpPr>
          <p:cNvPr id="27" name="Text 25"/>
          <p:cNvSpPr txBox="1"/>
          <p:nvPr/>
        </p:nvSpPr>
        <p:spPr>
          <a:xfrm>
            <a:off x="640080" y="486460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8" name="Text 26"/>
          <p:cNvSpPr txBox="1"/>
          <p:nvPr/>
        </p:nvSpPr>
        <p:spPr>
          <a:xfrm>
            <a:off x="1051560" y="4864608"/>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9" name="Shape 27"/>
          <p:cNvSpPr/>
          <p:nvPr/>
        </p:nvSpPr>
        <p:spPr>
          <a:xfrm>
            <a:off x="4617720" y="4928616"/>
            <a:ext cx="73152" cy="292608"/>
          </a:xfrm>
          <a:prstGeom prst="roundRect">
            <a:avLst>
              <a:gd name="adj" fmla="val 50000"/>
            </a:avLst>
          </a:prstGeom>
          <a:solidFill>
            <a:srgbClr val="15803D"/>
          </a:solidFill>
          <a:ln w="12700">
            <a:solidFill>
              <a:srgbClr val="15803D"/>
            </a:solidFill>
            <a:prstDash val="solid"/>
          </a:ln>
        </p:spPr>
      </p:sp>
      <p:sp>
        <p:nvSpPr>
          <p:cNvPr id="30" name="Text 28"/>
          <p:cNvSpPr txBox="1"/>
          <p:nvPr/>
        </p:nvSpPr>
        <p:spPr>
          <a:xfrm>
            <a:off x="4782312" y="4864608"/>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31" name="Text 29"/>
          <p:cNvSpPr txBox="1"/>
          <p:nvPr/>
        </p:nvSpPr>
        <p:spPr>
          <a:xfrm>
            <a:off x="10104120" y="4864608"/>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5s</a:t>
            </a:r>
            <a:endParaRPr lang="en-US" sz="1400" dirty="0"/>
          </a:p>
        </p:txBody>
      </p:sp>
      <p:sp>
        <p:nvSpPr>
          <p:cNvPr id="32" name="Shape 30"/>
          <p:cNvSpPr/>
          <p:nvPr/>
        </p:nvSpPr>
        <p:spPr>
          <a:xfrm>
            <a:off x="640080" y="5440680"/>
            <a:ext cx="10881360" cy="1170432"/>
          </a:xfrm>
          <a:prstGeom prst="roundRect">
            <a:avLst>
              <a:gd name="adj" fmla="val 5469"/>
            </a:avLst>
          </a:prstGeom>
          <a:solidFill>
            <a:srgbClr val="FFF7E6"/>
          </a:solidFill>
          <a:ln w="12700">
            <a:solidFill>
              <a:srgbClr val="F5A524"/>
            </a:solidFill>
            <a:prstDash val="solid"/>
          </a:ln>
        </p:spPr>
      </p:sp>
      <p:sp>
        <p:nvSpPr>
          <p:cNvPr id="33" name="Text 31"/>
          <p:cNvSpPr txBox="1"/>
          <p:nvPr/>
        </p:nvSpPr>
        <p:spPr>
          <a:xfrm>
            <a:off x="914400" y="5577840"/>
            <a:ext cx="10332720" cy="914400"/>
          </a:xfrm>
          <a:prstGeom prst="rect">
            <a:avLst/>
          </a:prstGeom>
          <a:noFill/>
          <a:ln/>
        </p:spPr>
        <p:txBody>
          <a:bodyPr wrap="square" lIns="0" tIns="0" rIns="0" bIns="0" rtlCol="0" anchor="ctr"/>
          <a:lstStyle/>
          <a:p>
            <a:pPr indent="0" marL="0">
              <a:lnSpc>
                <a:spcPct val="115000"/>
              </a:lnSpc>
              <a:buNone/>
            </a:pPr>
            <a:r>
              <a:rPr lang="en-US" sz="1300" b="1" dirty="0">
                <a:solidFill>
                  <a:srgbClr val="5B4308"/>
                </a:solidFill>
                <a:latin typeface="Calibri" pitchFamily="34" charset="0"/>
                <a:ea typeface="Calibri" pitchFamily="34" charset="-122"/>
                <a:cs typeface="Calibri" pitchFamily="34" charset="-120"/>
              </a:rPr>
              <a:t>Rung 2 is the honest one — </a:t>
            </a:r>
            <a:pPr indent="0" marL="0">
              <a:lnSpc>
                <a:spcPct val="115000"/>
              </a:lnSpc>
              <a:buNone/>
            </a:pPr>
            <a:r>
              <a:rPr lang="en-US" sz="1300" dirty="0">
                <a:solidFill>
                  <a:srgbClr val="5B4308"/>
                </a:solidFill>
                <a:latin typeface="Calibri" pitchFamily="34" charset="0"/>
                <a:ea typeface="Calibri" pitchFamily="34" charset="-122"/>
                <a:cs typeface="Calibri" pitchFamily="34" charset="-120"/>
              </a:rPr>
              <a:t>atomizing without parallelism is slower than not atomizing at all. On both machines.</a:t>
            </a:r>
            <a:endParaRPr lang="en-US" sz="1300" dirty="0"/>
          </a:p>
          <a:p>
            <a:pPr indent="0" marL="0">
              <a:lnSpc>
                <a:spcPct val="115000"/>
              </a:lnSpc>
              <a:buNone/>
            </a:pPr>
            <a:r>
              <a:rPr lang="en-US" sz="1300" b="1" dirty="0">
                <a:solidFill>
                  <a:srgbClr val="5B4308"/>
                </a:solidFill>
                <a:latin typeface="Calibri" pitchFamily="34" charset="0"/>
                <a:ea typeface="Calibri" pitchFamily="34" charset="-122"/>
                <a:cs typeface="Calibri" pitchFamily="34" charset="-120"/>
              </a:rPr>
              <a:t>Rung 4 is not always a rung — </a:t>
            </a:r>
            <a:pPr indent="0" marL="0">
              <a:lnSpc>
                <a:spcPct val="115000"/>
              </a:lnSpc>
              <a:buNone/>
            </a:pPr>
            <a:r>
              <a:rPr lang="en-US" sz="1300" dirty="0">
                <a:solidFill>
                  <a:srgbClr val="5B4308"/>
                </a:solidFill>
                <a:latin typeface="Calibri" pitchFamily="34" charset="0"/>
                <a:ea typeface="Calibri" pitchFamily="34" charset="-122"/>
                <a:cs typeface="Calibri" pitchFamily="34" charset="-120"/>
              </a:rPr>
              <a:t>on 18 cores, nine local processes beat three runners. Distribution pays once one machine runs out of cores.</a:t>
            </a:r>
            <a:endParaRPr lang="en-US" sz="1300" dirty="0"/>
          </a:p>
          <a:p>
            <a:pPr indent="0" marL="0">
              <a:lnSpc>
                <a:spcPct val="115000"/>
              </a:lnSpc>
              <a:buNone/>
            </a:pPr>
            <a:r>
              <a:rPr lang="en-US" sz="1300" b="1" dirty="0">
                <a:solidFill>
                  <a:srgbClr val="5B4308"/>
                </a:solidFill>
                <a:latin typeface="Calibri" pitchFamily="34" charset="0"/>
                <a:ea typeface="Calibri" pitchFamily="34" charset="-122"/>
                <a:cs typeface="Calibri" pitchFamily="34" charset="-120"/>
              </a:rPr>
              <a:t>And the ceiling moves — </a:t>
            </a:r>
            <a:pPr indent="0" marL="0">
              <a:lnSpc>
                <a:spcPct val="115000"/>
              </a:lnSpc>
              <a:buNone/>
            </a:pPr>
            <a:r>
              <a:rPr lang="en-US" sz="1300" dirty="0">
                <a:solidFill>
                  <a:srgbClr val="5B4308"/>
                </a:solidFill>
                <a:latin typeface="Calibri" pitchFamily="34" charset="0"/>
                <a:ea typeface="Calibri" pitchFamily="34" charset="-122"/>
                <a:cs typeface="Calibri" pitchFamily="34" charset="-120"/>
              </a:rPr>
              <a:t>the M5 at all 18 cores reached 34s, while this laptop got slower and flakier past 5. Measure your own.</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FROM A REAL PROJECT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Fifteen apps, and what changed</a:t>
            </a:r>
            <a:endParaRPr lang="en-US" sz="3800" dirty="0"/>
          </a:p>
        </p:txBody>
      </p:sp>
      <p:sp>
        <p:nvSpPr>
          <p:cNvPr id="4" name="Shape 2"/>
          <p:cNvSpPr/>
          <p:nvPr/>
        </p:nvSpPr>
        <p:spPr>
          <a:xfrm>
            <a:off x="640080" y="1920240"/>
            <a:ext cx="3429000" cy="1691640"/>
          </a:xfrm>
          <a:prstGeom prst="roundRect">
            <a:avLst>
              <a:gd name="adj" fmla="val 4865"/>
            </a:avLst>
          </a:prstGeom>
          <a:solidFill>
            <a:srgbClr val="FFFFFF"/>
          </a:solidFill>
          <a:ln w="12700">
            <a:solidFill>
              <a:srgbClr val="E2E6ED"/>
            </a:solidFill>
            <a:prstDash val="solid"/>
          </a:ln>
        </p:spPr>
      </p:sp>
      <p:sp>
        <p:nvSpPr>
          <p:cNvPr id="5" name="Text 3"/>
          <p:cNvSpPr txBox="1"/>
          <p:nvPr/>
        </p:nvSpPr>
        <p:spPr>
          <a:xfrm>
            <a:off x="868680" y="2103120"/>
            <a:ext cx="2971800" cy="658368"/>
          </a:xfrm>
          <a:prstGeom prst="rect">
            <a:avLst/>
          </a:prstGeom>
          <a:noFill/>
          <a:ln/>
        </p:spPr>
        <p:txBody>
          <a:bodyPr wrap="square" lIns="0" tIns="0" rIns="0" bIns="0" rtlCol="0" anchor="ctr"/>
          <a:lstStyle/>
          <a:p>
            <a:pPr indent="0" marL="0">
              <a:buNone/>
            </a:pPr>
            <a:r>
              <a:rPr lang="en-US" sz="3400" b="1" dirty="0">
                <a:solidFill>
                  <a:srgbClr val="10131A"/>
                </a:solidFill>
                <a:latin typeface="Cambria" pitchFamily="34" charset="0"/>
                <a:ea typeface="Cambria" pitchFamily="34" charset="-122"/>
                <a:cs typeface="Cambria" pitchFamily="34" charset="-120"/>
              </a:rPr>
              <a:t>15</a:t>
            </a:r>
            <a:endParaRPr lang="en-US" sz="3400" dirty="0"/>
          </a:p>
        </p:txBody>
      </p:sp>
      <p:sp>
        <p:nvSpPr>
          <p:cNvPr id="6" name="Text 4"/>
          <p:cNvSpPr txBox="1"/>
          <p:nvPr/>
        </p:nvSpPr>
        <p:spPr>
          <a:xfrm>
            <a:off x="86868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applications</a:t>
            </a:r>
            <a:endParaRPr lang="en-US" sz="1500" dirty="0"/>
          </a:p>
        </p:txBody>
      </p:sp>
      <p:sp>
        <p:nvSpPr>
          <p:cNvPr id="7" name="Text 5"/>
          <p:cNvSpPr txBox="1"/>
          <p:nvPr/>
        </p:nvSpPr>
        <p:spPr>
          <a:xfrm>
            <a:off x="86868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every E2E suite reviewed</a:t>
            </a:r>
            <a:endParaRPr lang="en-US" sz="1200" dirty="0"/>
          </a:p>
        </p:txBody>
      </p:sp>
      <p:sp>
        <p:nvSpPr>
          <p:cNvPr id="8" name="Shape 6"/>
          <p:cNvSpPr/>
          <p:nvPr/>
        </p:nvSpPr>
        <p:spPr>
          <a:xfrm>
            <a:off x="4343400" y="1920240"/>
            <a:ext cx="3429000" cy="1691640"/>
          </a:xfrm>
          <a:prstGeom prst="roundRect">
            <a:avLst>
              <a:gd name="adj" fmla="val 4865"/>
            </a:avLst>
          </a:prstGeom>
          <a:solidFill>
            <a:srgbClr val="FFFFFF"/>
          </a:solidFill>
          <a:ln w="12700">
            <a:solidFill>
              <a:srgbClr val="E2E6ED"/>
            </a:solidFill>
            <a:prstDash val="solid"/>
          </a:ln>
        </p:spPr>
      </p:sp>
      <p:sp>
        <p:nvSpPr>
          <p:cNvPr id="9" name="Text 7"/>
          <p:cNvSpPr txBox="1"/>
          <p:nvPr/>
        </p:nvSpPr>
        <p:spPr>
          <a:xfrm>
            <a:off x="457200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1K → 1.5K</a:t>
            </a:r>
            <a:endParaRPr lang="en-US" sz="3400" dirty="0"/>
          </a:p>
        </p:txBody>
      </p:sp>
      <p:sp>
        <p:nvSpPr>
          <p:cNvPr id="10" name="Text 8"/>
          <p:cNvSpPr txBox="1"/>
          <p:nvPr/>
        </p:nvSpPr>
        <p:spPr>
          <a:xfrm>
            <a:off x="457200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57200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deleted a lot, added more</a:t>
            </a:r>
            <a:endParaRPr lang="en-US" sz="1200" dirty="0"/>
          </a:p>
        </p:txBody>
      </p:sp>
      <p:sp>
        <p:nvSpPr>
          <p:cNvPr id="12" name="Shape 10"/>
          <p:cNvSpPr/>
          <p:nvPr/>
        </p:nvSpPr>
        <p:spPr>
          <a:xfrm>
            <a:off x="8046720" y="1920240"/>
            <a:ext cx="3429000" cy="1691640"/>
          </a:xfrm>
          <a:prstGeom prst="roundRect">
            <a:avLst>
              <a:gd name="adj" fmla="val 4865"/>
            </a:avLst>
          </a:prstGeom>
          <a:solidFill>
            <a:srgbClr val="FFFFFF"/>
          </a:solidFill>
          <a:ln w="12700">
            <a:solidFill>
              <a:srgbClr val="E2E6ED"/>
            </a:solidFill>
            <a:prstDash val="solid"/>
          </a:ln>
        </p:spPr>
      </p:sp>
      <p:sp>
        <p:nvSpPr>
          <p:cNvPr id="13" name="Text 11"/>
          <p:cNvSpPr txBox="1"/>
          <p:nvPr/>
        </p:nvSpPr>
        <p:spPr>
          <a:xfrm>
            <a:off x="827532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85%</a:t>
            </a:r>
            <a:endParaRPr lang="en-US" sz="3400" dirty="0"/>
          </a:p>
        </p:txBody>
      </p:sp>
      <p:sp>
        <p:nvSpPr>
          <p:cNvPr id="14" name="Text 12"/>
          <p:cNvSpPr txBox="1"/>
          <p:nvPr/>
        </p:nvSpPr>
        <p:spPr>
          <a:xfrm>
            <a:off x="827532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code coverage</a:t>
            </a:r>
            <a:endParaRPr lang="en-US" sz="1500" dirty="0"/>
          </a:p>
        </p:txBody>
      </p:sp>
      <p:sp>
        <p:nvSpPr>
          <p:cNvPr id="15" name="Text 13"/>
          <p:cNvSpPr txBox="1"/>
          <p:nvPr/>
        </p:nvSpPr>
        <p:spPr>
          <a:xfrm>
            <a:off x="827532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and stable, not "mostly"</a:t>
            </a:r>
            <a:endParaRPr lang="en-US" sz="1200" dirty="0"/>
          </a:p>
        </p:txBody>
      </p:sp>
      <p:sp>
        <p:nvSpPr>
          <p:cNvPr id="16" name="Text 14"/>
          <p:cNvSpPr txBox="1"/>
          <p:nvPr/>
        </p:nvSpPr>
        <p:spPr>
          <a:xfrm>
            <a:off x="640080" y="3886200"/>
            <a:ext cx="457200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CI build time</a:t>
            </a:r>
            <a:endParaRPr lang="en-US" sz="1500" dirty="0"/>
          </a:p>
        </p:txBody>
      </p:sp>
      <p:sp>
        <p:nvSpPr>
          <p:cNvPr id="17" name="Text 15"/>
          <p:cNvSpPr txBox="1"/>
          <p:nvPr/>
        </p:nvSpPr>
        <p:spPr>
          <a:xfrm>
            <a:off x="640080" y="4297680"/>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Before — whole repo</a:t>
            </a:r>
            <a:endParaRPr lang="en-US" sz="1300" dirty="0"/>
          </a:p>
        </p:txBody>
      </p:sp>
      <p:sp>
        <p:nvSpPr>
          <p:cNvPr id="18" name="Shape 16"/>
          <p:cNvSpPr/>
          <p:nvPr/>
        </p:nvSpPr>
        <p:spPr>
          <a:xfrm>
            <a:off x="3749040" y="4370832"/>
            <a:ext cx="3840480" cy="256032"/>
          </a:xfrm>
          <a:prstGeom prst="roundRect">
            <a:avLst>
              <a:gd name="adj" fmla="val 14286"/>
            </a:avLst>
          </a:prstGeom>
          <a:solidFill>
            <a:srgbClr val="F5A524"/>
          </a:solidFill>
          <a:ln w="12700">
            <a:solidFill>
              <a:srgbClr val="333333"/>
            </a:solidFill>
            <a:prstDash val="solid"/>
          </a:ln>
        </p:spPr>
      </p:sp>
      <p:sp>
        <p:nvSpPr>
          <p:cNvPr id="19" name="Text 17"/>
          <p:cNvSpPr txBox="1"/>
          <p:nvPr/>
        </p:nvSpPr>
        <p:spPr>
          <a:xfrm>
            <a:off x="7680960" y="4297680"/>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48m</a:t>
            </a:r>
            <a:endParaRPr lang="en-US" sz="1300" dirty="0"/>
          </a:p>
        </p:txBody>
      </p:sp>
      <p:sp>
        <p:nvSpPr>
          <p:cNvPr id="20" name="Text 18"/>
          <p:cNvSpPr txBox="1"/>
          <p:nvPr/>
        </p:nvSpPr>
        <p:spPr>
          <a:xfrm>
            <a:off x="640080" y="4864608"/>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whole repo</a:t>
            </a:r>
            <a:endParaRPr lang="en-US" sz="1300" dirty="0"/>
          </a:p>
        </p:txBody>
      </p:sp>
      <p:sp>
        <p:nvSpPr>
          <p:cNvPr id="21" name="Shape 19"/>
          <p:cNvSpPr/>
          <p:nvPr/>
        </p:nvSpPr>
        <p:spPr>
          <a:xfrm>
            <a:off x="3749040" y="4937760"/>
            <a:ext cx="2000250" cy="256032"/>
          </a:xfrm>
          <a:prstGeom prst="roundRect">
            <a:avLst>
              <a:gd name="adj" fmla="val 14286"/>
            </a:avLst>
          </a:prstGeom>
          <a:solidFill>
            <a:srgbClr val="0B7A44"/>
          </a:solidFill>
          <a:ln w="12700">
            <a:solidFill>
              <a:srgbClr val="333333"/>
            </a:solidFill>
            <a:prstDash val="solid"/>
          </a:ln>
        </p:spPr>
      </p:sp>
      <p:sp>
        <p:nvSpPr>
          <p:cNvPr id="22" name="Text 20"/>
          <p:cNvSpPr txBox="1"/>
          <p:nvPr/>
        </p:nvSpPr>
        <p:spPr>
          <a:xfrm>
            <a:off x="5840730" y="4864608"/>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25m</a:t>
            </a:r>
            <a:endParaRPr lang="en-US" sz="1300" dirty="0"/>
          </a:p>
        </p:txBody>
      </p:sp>
      <p:sp>
        <p:nvSpPr>
          <p:cNvPr id="23" name="Text 21"/>
          <p:cNvSpPr txBox="1"/>
          <p:nvPr/>
        </p:nvSpPr>
        <p:spPr>
          <a:xfrm>
            <a:off x="640080" y="5431536"/>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one app changed</a:t>
            </a:r>
            <a:endParaRPr lang="en-US" sz="1300" dirty="0"/>
          </a:p>
        </p:txBody>
      </p:sp>
      <p:sp>
        <p:nvSpPr>
          <p:cNvPr id="24" name="Shape 22"/>
          <p:cNvSpPr/>
          <p:nvPr/>
        </p:nvSpPr>
        <p:spPr>
          <a:xfrm>
            <a:off x="3749040" y="5504688"/>
            <a:ext cx="800100" cy="256032"/>
          </a:xfrm>
          <a:prstGeom prst="roundRect">
            <a:avLst>
              <a:gd name="adj" fmla="val 14286"/>
            </a:avLst>
          </a:prstGeom>
          <a:solidFill>
            <a:srgbClr val="15803D"/>
          </a:solidFill>
          <a:ln w="12700">
            <a:solidFill>
              <a:srgbClr val="333333"/>
            </a:solidFill>
            <a:prstDash val="solid"/>
          </a:ln>
        </p:spPr>
      </p:sp>
      <p:sp>
        <p:nvSpPr>
          <p:cNvPr id="25" name="Text 23"/>
          <p:cNvSpPr txBox="1"/>
          <p:nvPr/>
        </p:nvSpPr>
        <p:spPr>
          <a:xfrm>
            <a:off x="4640580" y="5431536"/>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10m</a:t>
            </a:r>
            <a:endParaRPr lang="en-US" sz="1300" dirty="0"/>
          </a:p>
        </p:txBody>
      </p:sp>
      <p:sp>
        <p:nvSpPr>
          <p:cNvPr id="26" name="Shape 24"/>
          <p:cNvSpPr/>
          <p:nvPr/>
        </p:nvSpPr>
        <p:spPr>
          <a:xfrm>
            <a:off x="8778240" y="4206240"/>
            <a:ext cx="2743200" cy="1691640"/>
          </a:xfrm>
          <a:prstGeom prst="roundRect">
            <a:avLst>
              <a:gd name="adj" fmla="val 4865"/>
            </a:avLst>
          </a:prstGeom>
          <a:solidFill>
            <a:srgbClr val="DCF5E7"/>
          </a:solidFill>
          <a:ln w="12700">
            <a:solidFill>
              <a:srgbClr val="0B7A44"/>
            </a:solidFill>
            <a:prstDash val="solid"/>
          </a:ln>
        </p:spPr>
      </p:sp>
      <p:sp>
        <p:nvSpPr>
          <p:cNvPr id="27" name="Text 25"/>
          <p:cNvSpPr txBox="1"/>
          <p:nvPr/>
        </p:nvSpPr>
        <p:spPr>
          <a:xfrm>
            <a:off x="9006840" y="4434840"/>
            <a:ext cx="2286000" cy="640080"/>
          </a:xfrm>
          <a:prstGeom prst="rect">
            <a:avLst/>
          </a:prstGeom>
          <a:noFill/>
          <a:ln/>
        </p:spPr>
        <p:txBody>
          <a:bodyPr wrap="square" lIns="0" tIns="0" rIns="0" bIns="0" rtlCol="0" anchor="ctr"/>
          <a:lstStyle/>
          <a:p>
            <a:pPr indent="0" marL="0">
              <a:buNone/>
            </a:pPr>
            <a:r>
              <a:rPr lang="en-US" sz="1700" b="1" dirty="0">
                <a:solidFill>
                  <a:srgbClr val="14603C"/>
                </a:solidFill>
                <a:latin typeface="Calibri" pitchFamily="34" charset="0"/>
                <a:ea typeface="Calibri" pitchFamily="34" charset="-122"/>
                <a:cs typeface="Calibri" pitchFamily="34" charset="-120"/>
              </a:rPr>
              <a:t>Half the Actions bill</a:t>
            </a:r>
            <a:endParaRPr lang="en-US" sz="1700" dirty="0"/>
          </a:p>
        </p:txBody>
      </p:sp>
      <p:sp>
        <p:nvSpPr>
          <p:cNvPr id="28" name="Text 26"/>
          <p:cNvSpPr txBox="1"/>
          <p:nvPr/>
        </p:nvSpPr>
        <p:spPr>
          <a:xfrm>
            <a:off x="9006840" y="5074920"/>
            <a:ext cx="2286000" cy="685800"/>
          </a:xfrm>
          <a:prstGeom prst="rect">
            <a:avLst/>
          </a:prstGeom>
          <a:noFill/>
          <a:ln/>
        </p:spPr>
        <p:txBody>
          <a:bodyPr wrap="square" lIns="0" tIns="0" rIns="0" bIns="0" rtlCol="0" anchor="ctr"/>
          <a:lstStyle/>
          <a:p>
            <a:pPr indent="0" marL="0">
              <a:buNone/>
            </a:pPr>
            <a:r>
              <a:rPr lang="en-US" sz="1300" dirty="0">
                <a:solidFill>
                  <a:srgbClr val="14603C"/>
                </a:solidFill>
                <a:latin typeface="Calibri" pitchFamily="34" charset="0"/>
                <a:ea typeface="Calibri" pitchFamily="34" charset="-122"/>
                <a:cs typeface="Calibri" pitchFamily="34" charset="-120"/>
              </a:rPr>
              <a:t>Minutes are billed. Cache hits are not.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YOUR TURN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Same problem? Start here.</a:t>
            </a:r>
            <a:endParaRPr lang="en-US" sz="3800" dirty="0"/>
          </a:p>
        </p:txBody>
      </p:sp>
      <p:sp>
        <p:nvSpPr>
          <p:cNvPr id="4" name="Text 2"/>
          <p:cNvSpPr txBox="1"/>
          <p:nvPr/>
        </p:nvSpPr>
        <p:spPr>
          <a:xfrm>
            <a:off x="640080" y="1874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74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Clone the repo</a:t>
            </a:r>
            <a:endParaRPr lang="en-US" sz="2000" dirty="0"/>
          </a:p>
        </p:txBody>
      </p:sp>
      <p:sp>
        <p:nvSpPr>
          <p:cNvPr id="6" name="Text 4"/>
          <p:cNvSpPr txBox="1"/>
          <p:nvPr/>
        </p:nvSpPr>
        <p:spPr>
          <a:xfrm>
            <a:off x="1508760" y="2286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Everything in this talk, measured and reproducible.</a:t>
            </a:r>
            <a:endParaRPr lang="en-US" sz="1400" dirty="0"/>
          </a:p>
        </p:txBody>
      </p:sp>
      <p:sp>
        <p:nvSpPr>
          <p:cNvPr id="7" name="Text 5"/>
          <p:cNvSpPr txBox="1"/>
          <p:nvPr/>
        </p:nvSpPr>
        <p:spPr>
          <a:xfrm>
            <a:off x="640080" y="3017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3017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Point your agent at it</a:t>
            </a:r>
            <a:endParaRPr lang="en-US" sz="2000" dirty="0"/>
          </a:p>
        </p:txBody>
      </p:sp>
      <p:sp>
        <p:nvSpPr>
          <p:cNvPr id="9" name="Text 7"/>
          <p:cNvSpPr txBox="1"/>
          <p:nvPr/>
        </p:nvSpPr>
        <p:spPr>
          <a:xfrm>
            <a:off x="1508760" y="3429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"Apply this Nx atomizer + cache setup to my repo."</a:t>
            </a:r>
            <a:endParaRPr lang="en-US" sz="1400" dirty="0"/>
          </a:p>
        </p:txBody>
      </p:sp>
      <p:sp>
        <p:nvSpPr>
          <p:cNvPr id="10" name="Text 8"/>
          <p:cNvSpPr txBox="1"/>
          <p:nvPr/>
        </p:nvSpPr>
        <p:spPr>
          <a:xfrm>
            <a:off x="640080" y="4160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4160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Measure before you believe it</a:t>
            </a:r>
            <a:endParaRPr lang="en-US" sz="2000" dirty="0"/>
          </a:p>
        </p:txBody>
      </p:sp>
      <p:sp>
        <p:nvSpPr>
          <p:cNvPr id="12" name="Text 10"/>
          <p:cNvSpPr txBox="1"/>
          <p:nvPr/>
        </p:nvSpPr>
        <p:spPr>
          <a:xfrm>
            <a:off x="1508760" y="4572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npm run e2e:benchmark, on your machine, on your suite.</a:t>
            </a:r>
            <a:endParaRPr lang="en-US" sz="1400" dirty="0"/>
          </a:p>
        </p:txBody>
      </p:sp>
      <p:sp>
        <p:nvSpPr>
          <p:cNvPr id="13" name="Shape 11"/>
          <p:cNvSpPr/>
          <p:nvPr/>
        </p:nvSpPr>
        <p:spPr>
          <a:xfrm>
            <a:off x="640080" y="5394960"/>
            <a:ext cx="7680960" cy="685800"/>
          </a:xfrm>
          <a:prstGeom prst="roundRect">
            <a:avLst>
              <a:gd name="adj" fmla="val 9333"/>
            </a:avLst>
          </a:prstGeom>
          <a:solidFill>
            <a:srgbClr val="0A0D13"/>
          </a:solidFill>
          <a:ln w="12700">
            <a:solidFill>
              <a:srgbClr val="2C3340"/>
            </a:solidFill>
            <a:prstDash val="solid"/>
          </a:ln>
        </p:spPr>
      </p:sp>
      <p:sp>
        <p:nvSpPr>
          <p:cNvPr id="14" name="Text 12"/>
          <p:cNvSpPr txBox="1"/>
          <p:nvPr/>
        </p:nvSpPr>
        <p:spPr>
          <a:xfrm>
            <a:off x="914400" y="5394960"/>
            <a:ext cx="7132320" cy="685800"/>
          </a:xfrm>
          <a:prstGeom prst="rect">
            <a:avLst/>
          </a:prstGeom>
          <a:noFill/>
          <a:ln/>
        </p:spPr>
        <p:txBody>
          <a:bodyPr wrap="square" lIns="0" tIns="0" rIns="0" bIns="0" rtlCol="0" anchor="ctr"/>
          <a:lstStyle/>
          <a:p>
            <a:pPr indent="0" marL="0">
              <a:buNone/>
            </a:pPr>
            <a:r>
              <a:rPr lang="en-US" sz="1400" dirty="0">
                <a:solidFill>
                  <a:srgbClr val="4ADE80"/>
                </a:solidFill>
                <a:latin typeface="Courier New" pitchFamily="34" charset="0"/>
                <a:ea typeface="Courier New" pitchFamily="34" charset="-122"/>
                <a:cs typeface="Courier New" pitchFamily="34" charset="-120"/>
              </a:rPr>
              <a:t>github.com/radzivil/nx-scaling-e2e-tests-with-atomizer</a:t>
            </a:r>
            <a:endParaRPr lang="en-US" sz="1400" dirty="0"/>
          </a:p>
        </p:txBody>
      </p:sp>
      <p:sp>
        <p:nvSpPr>
          <p:cNvPr id="15" name="Shape 13"/>
          <p:cNvSpPr/>
          <p:nvPr/>
        </p:nvSpPr>
        <p:spPr>
          <a:xfrm>
            <a:off x="8778240" y="1874520"/>
            <a:ext cx="2651760" cy="2651760"/>
          </a:xfrm>
          <a:prstGeom prst="roundRect">
            <a:avLst>
              <a:gd name="adj" fmla="val 2069"/>
            </a:avLst>
          </a:prstGeom>
          <a:solidFill>
            <a:srgbClr val="FFFFFF"/>
          </a:solidFill>
          <a:ln w="12700">
            <a:solidFill>
              <a:srgbClr val="333333"/>
            </a:solidFill>
            <a:prstDash val="solid"/>
          </a:ln>
        </p:spPr>
      </p:sp>
      <p:pic>
        <p:nvPicPr>
          <p:cNvPr id="16" name="Image 0" descr="/Users/vra/IdeaProjects/nx-scaling-e2e-tests-with-atomizer/talk/assets/qr-repo.png">    </p:cNvPr>
          <p:cNvPicPr>
            <a:picLocks noChangeAspect="1"/>
          </p:cNvPicPr>
          <p:nvPr/>
        </p:nvPicPr>
        <p:blipFill>
          <a:blip r:embed="rId1"/>
          <a:stretch>
            <a:fillRect/>
          </a:stretch>
        </p:blipFill>
        <p:spPr>
          <a:xfrm>
            <a:off x="8897112" y="1993392"/>
            <a:ext cx="2414016" cy="2414016"/>
          </a:xfrm>
          <a:prstGeom prst="rect">
            <a:avLst/>
          </a:prstGeom>
        </p:spPr>
      </p:pic>
      <p:sp>
        <p:nvSpPr>
          <p:cNvPr id="17" name="Text 14"/>
          <p:cNvSpPr txBox="1"/>
          <p:nvPr/>
        </p:nvSpPr>
        <p:spPr>
          <a:xfrm>
            <a:off x="8778240" y="4654296"/>
            <a:ext cx="265176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Clone the demo repo</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THANK YOU</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Feedback &amp; Q&amp;A</a:t>
            </a:r>
            <a:endParaRPr lang="en-US" sz="3800" dirty="0"/>
          </a:p>
        </p:txBody>
      </p:sp>
      <p:sp>
        <p:nvSpPr>
          <p:cNvPr id="4" name="Text 2"/>
          <p:cNvSpPr txBox="1"/>
          <p:nvPr/>
        </p:nvSpPr>
        <p:spPr>
          <a:xfrm>
            <a:off x="640080" y="1874520"/>
            <a:ext cx="7223760" cy="457200"/>
          </a:xfrm>
          <a:prstGeom prst="rect">
            <a:avLst/>
          </a:prstGeom>
          <a:noFill/>
          <a:ln/>
        </p:spPr>
        <p:txBody>
          <a:bodyPr wrap="square" lIns="0" tIns="0" rIns="0" bIns="0" rtlCol="0" anchor="ctr"/>
          <a:lstStyle/>
          <a:p>
            <a:pPr indent="0" marL="0">
              <a:buNone/>
            </a:pPr>
            <a:r>
              <a:rPr lang="en-US" sz="1900" dirty="0">
                <a:solidFill>
                  <a:srgbClr val="10131A"/>
                </a:solidFill>
                <a:latin typeface="Calibri" pitchFamily="34" charset="0"/>
                <a:ea typeface="Calibri" pitchFamily="34" charset="-122"/>
                <a:cs typeface="Calibri" pitchFamily="34" charset="-120"/>
              </a:rPr>
              <a:t>Take a minute to give your feedback — it makes the next session better.</a:t>
            </a:r>
            <a:endParaRPr lang="en-US" sz="1900" dirty="0"/>
          </a:p>
        </p:txBody>
      </p:sp>
      <p:sp>
        <p:nvSpPr>
          <p:cNvPr id="5" name="Text 3"/>
          <p:cNvSpPr txBox="1"/>
          <p:nvPr/>
        </p:nvSpPr>
        <p:spPr>
          <a:xfrm>
            <a:off x="640080" y="2651760"/>
            <a:ext cx="7223760" cy="320040"/>
          </a:xfrm>
          <a:prstGeom prst="rect">
            <a:avLst/>
          </a:prstGeom>
          <a:noFill/>
          <a:ln/>
        </p:spPr>
        <p:txBody>
          <a:bodyPr wrap="square" lIns="0" tIns="0" rIns="0" bIns="0" rtlCol="0" anchor="ctr"/>
          <a:lstStyle/>
          <a:p>
            <a:pPr indent="0" marL="0">
              <a:buNone/>
            </a:pPr>
            <a:r>
              <a:rPr lang="en-US" sz="1400" b="1" spc="100" kern="0" dirty="0">
                <a:solidFill>
                  <a:srgbClr val="8A94A6"/>
                </a:solidFill>
                <a:latin typeface="Calibri" pitchFamily="34" charset="0"/>
                <a:ea typeface="Calibri" pitchFamily="34" charset="-122"/>
                <a:cs typeface="Calibri" pitchFamily="34" charset="-120"/>
              </a:rPr>
              <a:t>What to take back</a:t>
            </a:r>
            <a:endParaRPr lang="en-US" sz="1400" dirty="0"/>
          </a:p>
        </p:txBody>
      </p:sp>
      <p:sp>
        <p:nvSpPr>
          <p:cNvPr id="6" name="Text 4"/>
          <p:cNvSpPr txBox="1"/>
          <p:nvPr/>
        </p:nvSpPr>
        <p:spPr>
          <a:xfrm>
            <a:off x="640080" y="3063240"/>
            <a:ext cx="72237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is generated, not maintained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alone is not a speedup — concurrency is</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The cache is the retry story: failures are never cached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Distribute by app before you distribute by index</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None of it needs Nx Cloud</a:t>
            </a:r>
            <a:endParaRPr lang="en-US" sz="1400" dirty="0"/>
          </a:p>
        </p:txBody>
      </p:sp>
      <p:sp>
        <p:nvSpPr>
          <p:cNvPr id="7" name="Shape 5"/>
          <p:cNvSpPr/>
          <p:nvPr/>
        </p:nvSpPr>
        <p:spPr>
          <a:xfrm>
            <a:off x="8412480" y="1874520"/>
            <a:ext cx="2834640" cy="2834640"/>
          </a:xfrm>
          <a:prstGeom prst="roundRect">
            <a:avLst>
              <a:gd name="adj" fmla="val 1935"/>
            </a:avLst>
          </a:prstGeom>
          <a:solidFill>
            <a:srgbClr val="FFFFFF"/>
          </a:solidFill>
          <a:ln w="12700">
            <a:solidFill>
              <a:srgbClr val="333333"/>
            </a:solidFill>
            <a:prstDash val="solid"/>
          </a:ln>
        </p:spPr>
      </p:sp>
      <p:pic>
        <p:nvPicPr>
          <p:cNvPr id="8" name="Image 0" descr="/Users/vra/IdeaProjects/nx-scaling-e2e-tests-with-atomizer/talk/assets/qr-feedback.png">    </p:cNvPr>
          <p:cNvPicPr>
            <a:picLocks noChangeAspect="1"/>
          </p:cNvPicPr>
          <p:nvPr/>
        </p:nvPicPr>
        <p:blipFill>
          <a:blip r:embed="rId1"/>
          <a:stretch>
            <a:fillRect/>
          </a:stretch>
        </p:blipFill>
        <p:spPr>
          <a:xfrm>
            <a:off x="8531352" y="1993392"/>
            <a:ext cx="2596896" cy="2596896"/>
          </a:xfrm>
          <a:prstGeom prst="rect">
            <a:avLst/>
          </a:prstGeom>
        </p:spPr>
      </p:pic>
      <p:sp>
        <p:nvSpPr>
          <p:cNvPr id="9" name="Text 6"/>
          <p:cNvSpPr txBox="1"/>
          <p:nvPr/>
        </p:nvSpPr>
        <p:spPr>
          <a:xfrm>
            <a:off x="8412480" y="4837176"/>
            <a:ext cx="2834640" cy="320040"/>
          </a:xfrm>
          <a:prstGeom prst="rect">
            <a:avLst/>
          </a:prstGeom>
          <a:noFill/>
          <a:ln/>
        </p:spPr>
        <p:txBody>
          <a:bodyPr wrap="square" lIns="0" tIns="0" rIns="0" bIns="0" rtlCol="0" anchor="ctr"/>
          <a:lstStyle/>
          <a:p>
            <a:pPr algn="ctr" indent="0" marL="0">
              <a:buNone/>
            </a:pPr>
            <a:r>
              <a:rPr lang="en-US" sz="1200" dirty="0">
                <a:solidFill>
                  <a:srgbClr val="5C6675"/>
                </a:solidFill>
                <a:latin typeface="Calibri" pitchFamily="34" charset="0"/>
                <a:ea typeface="Calibri" pitchFamily="34" charset="-122"/>
                <a:cs typeface="Calibri" pitchFamily="34" charset="-120"/>
              </a:rPr>
              <a:t>Session feedback</a:t>
            </a:r>
            <a:endParaRPr lang="en-US" sz="1200" dirty="0"/>
          </a:p>
        </p:txBody>
      </p:sp>
      <p:sp>
        <p:nvSpPr>
          <p:cNvPr id="10" name="Text 7"/>
          <p:cNvSpPr txBox="1"/>
          <p:nvPr/>
        </p:nvSpPr>
        <p:spPr>
          <a:xfrm>
            <a:off x="640080" y="5806440"/>
            <a:ext cx="7223760" cy="320040"/>
          </a:xfrm>
          <a:prstGeom prst="rect">
            <a:avLst/>
          </a:prstGeom>
          <a:noFill/>
          <a:ln/>
        </p:spPr>
        <p:txBody>
          <a:bodyPr wrap="square" lIns="0" tIns="0" rIns="0" bIns="0" rtlCol="0" anchor="ctr"/>
          <a:lstStyle/>
          <a:p>
            <a:pPr indent="0" marL="0">
              <a:buNone/>
            </a:pPr>
            <a:r>
              <a:rPr lang="en-US" sz="1300" dirty="0">
                <a:solidFill>
                  <a:srgbClr val="5C6675"/>
                </a:solidFill>
                <a:latin typeface="Courier New" pitchFamily="34" charset="0"/>
                <a:ea typeface="Courier New" pitchFamily="34" charset="-122"/>
                <a:cs typeface="Courier New" pitchFamily="34" charset="-120"/>
              </a:rPr>
              <a:t>github.com/radzivil/nx-scaling-e2e-tests-with-atomizer</a:t>
            </a:r>
            <a:endParaRPr lang="en-US" sz="1300" dirty="0"/>
          </a:p>
        </p:txBody>
      </p:sp>
      <p:sp>
        <p:nvSpPr>
          <p:cNvPr id="11" name="Text 8"/>
          <p:cNvSpPr txBox="1"/>
          <p:nvPr/>
        </p:nvSpPr>
        <p:spPr>
          <a:xfrm>
            <a:off x="640080" y="6144768"/>
            <a:ext cx="7223760" cy="32004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Vladimir Radzivil · linkedin.com/in/vladimirradzivil</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7432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640080" y="3566160"/>
            <a:ext cx="10881360" cy="457200"/>
          </a:xfrm>
          <a:prstGeom prst="rect">
            <a:avLst/>
          </a:prstGeom>
          <a:noFill/>
          <a:ln/>
        </p:spPr>
        <p:txBody>
          <a:bodyPr wrap="square" lIns="0" tIns="0" rIns="0" bIns="0" rtlCol="0" anchor="ctr"/>
          <a:lstStyle/>
          <a:p>
            <a:pPr indent="0" marL="0">
              <a:buNone/>
            </a:pPr>
            <a:r>
              <a:rPr lang="en-US" sz="1700" dirty="0">
                <a:solidFill>
                  <a:srgbClr val="8A94A6"/>
                </a:solidFill>
                <a:latin typeface="Calibri" pitchFamily="34" charset="0"/>
                <a:ea typeface="Calibri" pitchFamily="34" charset="-122"/>
                <a:cs typeface="Calibri" pitchFamily="34" charset="-120"/>
              </a:rPr>
              <a:t>Kept back for questions.</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Seven things that will bite you</a:t>
            </a:r>
            <a:endParaRPr lang="en-US" sz="3800" dirty="0"/>
          </a:p>
        </p:txBody>
      </p:sp>
      <p:sp>
        <p:nvSpPr>
          <p:cNvPr id="4" name="Shape 2"/>
          <p:cNvSpPr/>
          <p:nvPr/>
        </p:nvSpPr>
        <p:spPr>
          <a:xfrm>
            <a:off x="640080" y="1837944"/>
            <a:ext cx="365760" cy="365760"/>
          </a:xfrm>
          <a:prstGeom prst="ellipse">
            <a:avLst/>
          </a:prstGeom>
          <a:solidFill>
            <a:srgbClr val="B45309"/>
          </a:solidFill>
          <a:ln/>
        </p:spPr>
      </p:sp>
      <p:sp>
        <p:nvSpPr>
          <p:cNvPr id="5" name="Text 3"/>
          <p:cNvSpPr txBox="1"/>
          <p:nvPr/>
        </p:nvSpPr>
        <p:spPr>
          <a:xfrm>
            <a:off x="640080" y="18379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7830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7830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514600"/>
            <a:ext cx="365760" cy="365760"/>
          </a:xfrm>
          <a:prstGeom prst="ellipse">
            <a:avLst/>
          </a:prstGeom>
          <a:solidFill>
            <a:srgbClr val="B45309"/>
          </a:solidFill>
          <a:ln/>
        </p:spPr>
      </p:sp>
      <p:sp>
        <p:nvSpPr>
          <p:cNvPr id="9" name="Text 7"/>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459736"/>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Parallelism has a ceiling — find yours</a:t>
            </a:r>
            <a:endParaRPr lang="en-US" sz="1600" dirty="0"/>
          </a:p>
        </p:txBody>
      </p:sp>
      <p:sp>
        <p:nvSpPr>
          <p:cNvPr id="11" name="Text 9"/>
          <p:cNvSpPr txBox="1"/>
          <p:nvPr/>
        </p:nvSpPr>
        <p:spPr>
          <a:xfrm>
            <a:off x="5303520" y="2459736"/>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10-core M1: 8 was no faster than 5, and went red 2 runs in 5. 18-core M5: 18 beat 9 by 29%. Measure, do not assume.</a:t>
            </a:r>
            <a:endParaRPr lang="en-US" sz="1400" dirty="0"/>
          </a:p>
        </p:txBody>
      </p:sp>
      <p:sp>
        <p:nvSpPr>
          <p:cNvPr id="12" name="Shape 10"/>
          <p:cNvSpPr/>
          <p:nvPr/>
        </p:nvSpPr>
        <p:spPr>
          <a:xfrm>
            <a:off x="640080" y="3191256"/>
            <a:ext cx="365760" cy="365760"/>
          </a:xfrm>
          <a:prstGeom prst="ellipse">
            <a:avLst/>
          </a:prstGeom>
          <a:solidFill>
            <a:srgbClr val="B45309"/>
          </a:solidFill>
          <a:ln/>
        </p:spPr>
      </p:sp>
      <p:sp>
        <p:nvSpPr>
          <p:cNvPr id="13" name="Text 11"/>
          <p:cNvSpPr txBox="1"/>
          <p:nvPr/>
        </p:nvSpPr>
        <p:spPr>
          <a:xfrm>
            <a:off x="640080" y="319125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136392"/>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5" name="Text 13"/>
          <p:cNvSpPr txBox="1"/>
          <p:nvPr/>
        </p:nvSpPr>
        <p:spPr>
          <a:xfrm>
            <a:off x="5303520" y="3136392"/>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6" name="Shape 14"/>
          <p:cNvSpPr/>
          <p:nvPr/>
        </p:nvSpPr>
        <p:spPr>
          <a:xfrm>
            <a:off x="640080" y="3867912"/>
            <a:ext cx="365760" cy="365760"/>
          </a:xfrm>
          <a:prstGeom prst="ellipse">
            <a:avLst/>
          </a:prstGeom>
          <a:solidFill>
            <a:srgbClr val="B45309"/>
          </a:solidFill>
          <a:ln/>
        </p:spPr>
      </p:sp>
      <p:sp>
        <p:nvSpPr>
          <p:cNvPr id="17" name="Text 15"/>
          <p:cNvSpPr txBox="1"/>
          <p:nvPr/>
        </p:nvSpPr>
        <p:spPr>
          <a:xfrm>
            <a:off x="640080" y="386791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3813048"/>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9" name="Text 17"/>
          <p:cNvSpPr txBox="1"/>
          <p:nvPr/>
        </p:nvSpPr>
        <p:spPr>
          <a:xfrm>
            <a:off x="5303520" y="3813048"/>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20" name="Shape 18"/>
          <p:cNvSpPr/>
          <p:nvPr/>
        </p:nvSpPr>
        <p:spPr>
          <a:xfrm>
            <a:off x="640080" y="4544568"/>
            <a:ext cx="365760" cy="365760"/>
          </a:xfrm>
          <a:prstGeom prst="ellipse">
            <a:avLst/>
          </a:prstGeom>
          <a:solidFill>
            <a:srgbClr val="B45309"/>
          </a:solidFill>
          <a:ln/>
        </p:spPr>
      </p:sp>
      <p:sp>
        <p:nvSpPr>
          <p:cNvPr id="21" name="Text 19"/>
          <p:cNvSpPr txBox="1"/>
          <p:nvPr/>
        </p:nvSpPr>
        <p:spPr>
          <a:xfrm>
            <a:off x="640080" y="454456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489704"/>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23" name="Text 21"/>
          <p:cNvSpPr txBox="1"/>
          <p:nvPr/>
        </p:nvSpPr>
        <p:spPr>
          <a:xfrm>
            <a:off x="5303520" y="4489704"/>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4" name="Shape 22"/>
          <p:cNvSpPr/>
          <p:nvPr/>
        </p:nvSpPr>
        <p:spPr>
          <a:xfrm>
            <a:off x="640080" y="5221224"/>
            <a:ext cx="365760" cy="365760"/>
          </a:xfrm>
          <a:prstGeom prst="ellipse">
            <a:avLst/>
          </a:prstGeom>
          <a:solidFill>
            <a:srgbClr val="B45309"/>
          </a:solidFill>
          <a:ln/>
        </p:spPr>
      </p:sp>
      <p:sp>
        <p:nvSpPr>
          <p:cNvPr id="25" name="Text 23"/>
          <p:cNvSpPr txBox="1"/>
          <p:nvPr/>
        </p:nvSpPr>
        <p:spPr>
          <a:xfrm>
            <a:off x="640080" y="52212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1663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7" name="Text 25"/>
          <p:cNvSpPr txBox="1"/>
          <p:nvPr/>
        </p:nvSpPr>
        <p:spPr>
          <a:xfrm>
            <a:off x="5303520" y="51663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8" name="Shape 26"/>
          <p:cNvSpPr/>
          <p:nvPr/>
        </p:nvSpPr>
        <p:spPr>
          <a:xfrm>
            <a:off x="640080" y="5897880"/>
            <a:ext cx="365760" cy="365760"/>
          </a:xfrm>
          <a:prstGeom prst="ellipse">
            <a:avLst/>
          </a:prstGeom>
          <a:solidFill>
            <a:srgbClr val="B45309"/>
          </a:solidFill>
          <a:ln/>
        </p:spPr>
      </p:sp>
      <p:sp>
        <p:nvSpPr>
          <p:cNvPr id="29" name="Text 27"/>
          <p:cNvSpPr txBox="1"/>
          <p:nvPr/>
        </p:nvSpPr>
        <p:spPr>
          <a:xfrm>
            <a:off x="640080" y="58978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0" name="Text 28"/>
          <p:cNvSpPr txBox="1"/>
          <p:nvPr/>
        </p:nvSpPr>
        <p:spPr>
          <a:xfrm>
            <a:off x="1188720" y="5843016"/>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31" name="Text 29"/>
          <p:cNvSpPr txBox="1"/>
          <p:nvPr/>
        </p:nvSpPr>
        <p:spPr>
          <a:xfrm>
            <a:off x="5303520" y="5843016"/>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2026-09-09T02:50:31Z</dcterms:created>
  <dcterms:modified xsi:type="dcterms:W3CDTF">2026-09-09T02:50:31Z</dcterms:modified>
</cp:coreProperties>
</file>