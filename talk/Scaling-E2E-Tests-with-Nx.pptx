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
BEFORE YOU PRESENT
  $ cd ~/IdeaProjects/nx-scaling-e2e-tests-with-atomizer
  $ npm ci &amp;&amp; npx cypress install
  $ npm run demo:status      → expect buggyDiscount: false
  $ npx nx reset             → cold cache, so the first number is honest
  Keep a terminal in the repo root on a second screen or a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Expect nearly everyone — that is the point,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Expect far fewer hands and some laughter. Do not rush past that laugh —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Expect almost no hands — nobody gates a merge on a suite they cannot trust. Reveal the line at the bottom and move;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not content — keep it under a minute. Two things to point at. One: the libs are shared unevenly, formatting by shop and admin, ui by admin and docs, which is what makes the affected demo land later. Two: thirty spec files but only three runnable tasks, because nx e2e is one Cypress process per app. That three is the number the atomizer turns into thirty. Have `nx graph` open in a tab if you would rather show the real thing.
DEMO — show the real graph
  $ npx nx graph
  Opens a browser. Click shop, then ui, to show what depends on what.
  Ctrl+C when done. `npx nx graph --print` if the projector hates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
DEMO — the un-atomized baseline
  $ npx nx e2e shop-e2e
  ~1m 33s for ONE app. Start it, keep talking, come back to it.
  All three serially is 4m 20s — quote that, do not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
DEMO — what the atomizer generated
  $ npm run e2e:targets
  30 targets across 3 projects. Point out the names are file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
DEMO — where the targets come from
  $ npx nx show project shop-e2e --json
  (wide — use `npm run e2e:targets` if the JSON does not fit the screen)
  $ grep -A8 "cypress/plugin" nx.json
  Nine lines of config generate all thirty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 Nx 23 added the guard. Do not rush to the workaround: sit on the third bullet. For a lot of the room this is not a technical problem at all, it is a purchase order they are not going to win this quarter. The good news lands on the next slide.
DEMO — hit the gate, then walk around it
  $ npx nx run-many -t e2e-ci --parallel=5
  Fails, listing all three e2e-ci tasks. Read it out loud.
  $ npx nx run "shop-e2e:e2e-ci--src/e2e/catalog.cy.ts"
  Same plugin, one leaf target, green. ~25s from cold because it builds the
  app and starts preview first; a couple of seconds once those are cached.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
DEMO — parallel on one machine
  $ npx nx reset
  $ node tools/run-e2e.mjs --project=shop-e2e --parallel=5
  ~40-46s across runs, against the 1m 33s baseline from earlier.
  Whole workspace if you have time: node tools/run-e2e.mjs --parallel=5  (~2m 06s)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
DEMO — the same thing on CI
  $ gh run list --limit 5
  $ gh run view --web
  One job per app, and the matrix is generated from the graph:
  $ sed -n "1,40p" .github/workflows/e2e.yml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
DEMO — run it again
  $ node tools/run-e2e.mjs --project=shop-e2e --parallel=5
  Up-arrow, enter. Back in ~0.2s with 11/12 cache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
DEMO — the money moment
  $ npm run demo:break
  $ node tools/run-e2e.mjs --project=shop-e2e --parallel=5   → ~40s, 2 fail
  $ node tools/run-e2e.mjs --project=shop-e2e --parallel=5   → ~28s, 9/10 cached
  Nothing changed between those two. Only the failures re-executed.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
DEMO — undo it
  $ npm run demo:fix
  $ node tools/run-e2e.mjs --project=shop-e2e --parallel=5
  ~0.2s. Reverting restored the old input hash, so the old results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are this laptop — the same machine they just watched the demo on — so the numbers match what they saw. The right column is an 18-core M5 for contrast. Two things to land. One: rung 2 is slower than not splitting on both machines, 31% here and 22% there, so the startup tax is real and not a quirk of old hardware. Two: on the M5 rung 3 beats rung 4, 48s against 55s. More cores beat more machines until you run out of cores — which is why CI still needs rung 4, because a CI runner is small.
DO NOT RUN THIS LIVE
  $ npm run e2e:benchmark
  ~15 minutes — it runs every rung from a cold cache.
  Run it the morning of the talk and read the numbers off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
DEMO — let the graph choose
  $ npm run e2e:affected                                    → nothing affected, instant
  $ echo "/* demo */" &gt;&gt; libs/ui/src/styles.css
  $ node tools/e2e-targets.mjs --affected --projects-json   → ["admin-e2e","docs-e2e"]
  $ git checkout -- libs/ui/src/styles.css
  Discovery is instant. Only run the full affected suite (~1m 22s)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the whole close. Put it up before the first question so the QR is on screen for the entire Q&amp;A — that is when people actually scan it. The recap is there for the room to read, not for you to read out. If nobody opens, the honest prompts are the Nx Cloud gate, Playwright instead of Cypress, and what the cache does and does not do for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4 and 5 all bit this repo for real — worth telling as war stories rather than reading out. On item 2: on this laptop five and eight came out at the same 141s mean, but eight failed two runs in five, and the spec that failed passes on its own in 13s. On an 18-core M5 the opposite happened — 18 beat 9 by 29% and stayed green. Memory was not the constraint on either machine. The real limit here is the 8 performance cores, and a Cypress target wants about 1.5 of them, which puts the ceiling near 5. Divide performance cores by what a task costs, then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Checked against @nx/playwright 23.2.0 rather than from memory: the plugin builds target names as `${ciTargetName}--${relativeSpecFilePath}` and sets the same nonAtomizedTarget marker, which is what triggers the Nx Cloud refusal. One extra detail if someone digs: Playwright's plugin also emits an e2e-ci--wait-for-webserver target, because it coordinates the shared dev server across atomized runs differently from Cypress. If the questioner owns a Playwright suite, the honest advice is to take section 05 and skip section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777240"/>
          </a:xfrm>
          <a:prstGeom prst="rect">
            <a:avLst/>
          </a:prstGeom>
          <a:noFill/>
          <a:ln/>
        </p:spPr>
        <p:txBody>
          <a:bodyPr wrap="square" lIns="0" tIns="0" rIns="0" bIns="0" rtlCol="0" anchor="ctr"/>
          <a:lstStyle/>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Making your slowest quality gate fast enough</a:t>
            </a:r>
            <a:endParaRPr lang="en-US" sz="1700" dirty="0"/>
          </a:p>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to actually use and trust on every pull request</a:t>
            </a:r>
            <a:endParaRPr lang="en-US" sz="1700" dirty="0"/>
          </a:p>
        </p:txBody>
      </p:sp>
      <p:sp>
        <p:nvSpPr>
          <p:cNvPr id="5" name="Shape 3"/>
          <p:cNvSpPr/>
          <p:nvPr/>
        </p:nvSpPr>
        <p:spPr>
          <a:xfrm>
            <a:off x="640080" y="4224528"/>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480560"/>
            <a:ext cx="1234440" cy="1234440"/>
          </a:xfrm>
          <a:prstGeom prst="ellipse">
            <a:avLst/>
          </a:prstGeom>
        </p:spPr>
      </p:pic>
      <p:sp>
        <p:nvSpPr>
          <p:cNvPr id="7" name="Text 4"/>
          <p:cNvSpPr txBox="1"/>
          <p:nvPr/>
        </p:nvSpPr>
        <p:spPr>
          <a:xfrm>
            <a:off x="2148840" y="4672584"/>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5084064"/>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2F4F7"/>
          </a:solidFill>
          <a:ln w="12700">
            <a:solidFill>
              <a:srgbClr val="DDE3EA"/>
            </a:solidFill>
            <a:prstDash val="dash"/>
          </a:ln>
        </p:spPr>
      </p:sp>
      <p:sp>
        <p:nvSpPr>
          <p:cNvPr id="9" name="Text 7"/>
          <p:cNvSpPr txBox="1"/>
          <p:nvPr/>
        </p:nvSpPr>
        <p:spPr>
          <a:xfrm>
            <a:off x="434340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0" name="Shape 8"/>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1" name="Text 9"/>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3" name="Text 11"/>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FFFFF"/>
          </a:solidFill>
          <a:ln w="12700">
            <a:solidFill>
              <a:srgbClr val="E2E6ED"/>
            </a:solidFill>
            <a:prstDash val="solid"/>
          </a:ln>
        </p:spPr>
      </p:sp>
      <p:sp>
        <p:nvSpPr>
          <p:cNvPr id="13" name="Shape 11"/>
          <p:cNvSpPr/>
          <p:nvPr/>
        </p:nvSpPr>
        <p:spPr>
          <a:xfrm>
            <a:off x="8275320" y="2240280"/>
            <a:ext cx="566928" cy="566928"/>
          </a:xfrm>
          <a:prstGeom prst="ellipse">
            <a:avLst/>
          </a:prstGeom>
          <a:solidFill>
            <a:srgbClr val="FBE0E2"/>
          </a:solidFill>
          <a:ln w="12700">
            <a:solidFill>
              <a:srgbClr val="333333"/>
            </a:solidFill>
            <a:prstDash val="solid"/>
          </a:ln>
        </p:spPr>
      </p:sp>
      <p:sp>
        <p:nvSpPr>
          <p:cNvPr id="14" name="Text 12"/>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827532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6" name="Shape 14"/>
          <p:cNvSpPr/>
          <p:nvPr/>
        </p:nvSpPr>
        <p:spPr>
          <a:xfrm>
            <a:off x="640080" y="4343400"/>
            <a:ext cx="10881360" cy="1051560"/>
          </a:xfrm>
          <a:prstGeom prst="roundRect">
            <a:avLst>
              <a:gd name="adj" fmla="val 6087"/>
            </a:avLst>
          </a:prstGeom>
          <a:solidFill>
            <a:srgbClr val="FFF7E6"/>
          </a:solidFill>
          <a:ln w="12700">
            <a:solidFill>
              <a:srgbClr val="F5A524"/>
            </a:solidFill>
            <a:prstDash val="solid"/>
          </a:ln>
        </p:spPr>
      </p:sp>
      <p:sp>
        <p:nvSpPr>
          <p:cNvPr id="17" name="Text 15"/>
          <p:cNvSpPr txBox="1"/>
          <p:nvPr/>
        </p:nvSpPr>
        <p:spPr>
          <a:xfrm>
            <a:off x="914400" y="45262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640080" y="1572768"/>
            <a:ext cx="10881360" cy="841248"/>
          </a:xfrm>
          <a:prstGeom prst="roundRect">
            <a:avLst>
              <a:gd name="adj" fmla="val 8696"/>
            </a:avLst>
          </a:prstGeom>
          <a:solidFill>
            <a:srgbClr val="FFFFFF"/>
          </a:solidFill>
          <a:ln w="12700">
            <a:solidFill>
              <a:srgbClr val="E2E6ED"/>
            </a:solidFill>
            <a:prstDash val="solid"/>
          </a:ln>
        </p:spPr>
      </p:sp>
      <p:sp>
        <p:nvSpPr>
          <p:cNvPr id="5" name="Text 3"/>
          <p:cNvSpPr txBox="1"/>
          <p:nvPr/>
        </p:nvSpPr>
        <p:spPr>
          <a:xfrm>
            <a:off x="914400" y="1691640"/>
            <a:ext cx="1033272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“A build system with smart caching and task orchestration.”</a:t>
            </a:r>
            <a:pPr indent="0" marL="0">
              <a:buNone/>
            </a:pPr>
            <a:r>
              <a:rPr lang="en-US" sz="1200" dirty="0">
                <a:solidFill>
                  <a:srgbClr val="8A94A6"/>
                </a:solidFill>
                <a:latin typeface="Calibri" pitchFamily="34" charset="0"/>
                <a:ea typeface="Calibri" pitchFamily="34" charset="-122"/>
                <a:cs typeface="Calibri" pitchFamily="34" charset="-120"/>
              </a:rPr>
              <a:t>   nx.dev</a:t>
            </a:r>
            <a:endParaRPr lang="en-US" sz="1500" dirty="0"/>
          </a:p>
        </p:txBody>
      </p:sp>
      <p:sp>
        <p:nvSpPr>
          <p:cNvPr id="6" name="Text 4"/>
          <p:cNvSpPr txBox="1"/>
          <p:nvPr/>
        </p:nvSpPr>
        <p:spPr>
          <a:xfrm>
            <a:off x="914400" y="2011680"/>
            <a:ext cx="10332720" cy="320040"/>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It knows what depends on what, so it can skip work. It does not run your tests — Cypress still does that.</a:t>
            </a:r>
            <a:endParaRPr lang="en-US" sz="1300" dirty="0"/>
          </a:p>
        </p:txBody>
      </p:sp>
      <p:sp>
        <p:nvSpPr>
          <p:cNvPr id="7" name="Shape 5"/>
          <p:cNvSpPr/>
          <p:nvPr/>
        </p:nvSpPr>
        <p:spPr>
          <a:xfrm>
            <a:off x="2148840" y="3364992"/>
            <a:ext cx="1965960" cy="731520"/>
          </a:xfrm>
          <a:prstGeom prst="line">
            <a:avLst/>
          </a:prstGeom>
          <a:noFill/>
          <a:ln w="19050">
            <a:solidFill>
              <a:srgbClr val="B8C0CC"/>
            </a:solidFill>
            <a:prstDash val="solid"/>
          </a:ln>
        </p:spPr>
      </p:sp>
      <p:sp>
        <p:nvSpPr>
          <p:cNvPr id="8" name="Shape 6"/>
          <p:cNvSpPr/>
          <p:nvPr/>
        </p:nvSpPr>
        <p:spPr>
          <a:xfrm flipH="1">
            <a:off x="4114800" y="3364992"/>
            <a:ext cx="1965960" cy="731520"/>
          </a:xfrm>
          <a:prstGeom prst="line">
            <a:avLst/>
          </a:prstGeom>
          <a:noFill/>
          <a:ln w="19050">
            <a:solidFill>
              <a:srgbClr val="B8C0CC"/>
            </a:solidFill>
            <a:prstDash val="solid"/>
          </a:ln>
        </p:spPr>
      </p:sp>
      <p:sp>
        <p:nvSpPr>
          <p:cNvPr id="9" name="Shape 7"/>
          <p:cNvSpPr/>
          <p:nvPr/>
        </p:nvSpPr>
        <p:spPr>
          <a:xfrm>
            <a:off x="6080760" y="3364992"/>
            <a:ext cx="1965960" cy="731520"/>
          </a:xfrm>
          <a:prstGeom prst="line">
            <a:avLst/>
          </a:prstGeom>
          <a:noFill/>
          <a:ln w="19050">
            <a:solidFill>
              <a:srgbClr val="B8C0CC"/>
            </a:solidFill>
            <a:prstDash val="solid"/>
          </a:ln>
        </p:spPr>
      </p:sp>
      <p:sp>
        <p:nvSpPr>
          <p:cNvPr id="10" name="Shape 8"/>
          <p:cNvSpPr/>
          <p:nvPr/>
        </p:nvSpPr>
        <p:spPr>
          <a:xfrm flipH="1">
            <a:off x="8046720" y="3364992"/>
            <a:ext cx="1965960" cy="731520"/>
          </a:xfrm>
          <a:prstGeom prst="line">
            <a:avLst/>
          </a:prstGeom>
          <a:noFill/>
          <a:ln w="19050">
            <a:solidFill>
              <a:srgbClr val="B8C0CC"/>
            </a:solidFill>
            <a:prstDash val="solid"/>
          </a:ln>
        </p:spPr>
      </p:sp>
      <p:sp>
        <p:nvSpPr>
          <p:cNvPr id="11" name="Text 9"/>
          <p:cNvSpPr txBox="1"/>
          <p:nvPr/>
        </p:nvSpPr>
        <p:spPr>
          <a:xfrm>
            <a:off x="82296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2" name="Shape 10"/>
          <p:cNvSpPr/>
          <p:nvPr/>
        </p:nvSpPr>
        <p:spPr>
          <a:xfrm>
            <a:off x="822960" y="2679192"/>
            <a:ext cx="2651760" cy="685800"/>
          </a:xfrm>
          <a:prstGeom prst="roundRect">
            <a:avLst>
              <a:gd name="adj" fmla="val 10667"/>
            </a:avLst>
          </a:prstGeom>
          <a:solidFill>
            <a:srgbClr val="10131A"/>
          </a:solidFill>
          <a:ln w="12700">
            <a:solidFill>
              <a:srgbClr val="10131A"/>
            </a:solidFill>
            <a:prstDash val="solid"/>
          </a:ln>
        </p:spPr>
      </p:sp>
      <p:sp>
        <p:nvSpPr>
          <p:cNvPr id="13" name="Text 11"/>
          <p:cNvSpPr txBox="1"/>
          <p:nvPr/>
        </p:nvSpPr>
        <p:spPr>
          <a:xfrm>
            <a:off x="82296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4" name="Text 12"/>
          <p:cNvSpPr txBox="1"/>
          <p:nvPr/>
        </p:nvSpPr>
        <p:spPr>
          <a:xfrm>
            <a:off x="475488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5" name="Shape 13"/>
          <p:cNvSpPr/>
          <p:nvPr/>
        </p:nvSpPr>
        <p:spPr>
          <a:xfrm>
            <a:off x="4754880" y="2679192"/>
            <a:ext cx="2651760" cy="685800"/>
          </a:xfrm>
          <a:prstGeom prst="roundRect">
            <a:avLst>
              <a:gd name="adj" fmla="val 10667"/>
            </a:avLst>
          </a:prstGeom>
          <a:solidFill>
            <a:srgbClr val="10131A"/>
          </a:solidFill>
          <a:ln w="12700">
            <a:solidFill>
              <a:srgbClr val="10131A"/>
            </a:solidFill>
            <a:prstDash val="solid"/>
          </a:ln>
        </p:spPr>
      </p:sp>
      <p:sp>
        <p:nvSpPr>
          <p:cNvPr id="16" name="Text 14"/>
          <p:cNvSpPr txBox="1"/>
          <p:nvPr/>
        </p:nvSpPr>
        <p:spPr>
          <a:xfrm>
            <a:off x="475488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7" name="Text 15"/>
          <p:cNvSpPr txBox="1"/>
          <p:nvPr/>
        </p:nvSpPr>
        <p:spPr>
          <a:xfrm>
            <a:off x="868680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8" name="Shape 16"/>
          <p:cNvSpPr/>
          <p:nvPr/>
        </p:nvSpPr>
        <p:spPr>
          <a:xfrm>
            <a:off x="8686800" y="2679192"/>
            <a:ext cx="2651760" cy="685800"/>
          </a:xfrm>
          <a:prstGeom prst="roundRect">
            <a:avLst>
              <a:gd name="adj" fmla="val 10667"/>
            </a:avLst>
          </a:prstGeom>
          <a:solidFill>
            <a:srgbClr val="10131A"/>
          </a:solidFill>
          <a:ln w="12700">
            <a:solidFill>
              <a:srgbClr val="10131A"/>
            </a:solidFill>
            <a:prstDash val="solid"/>
          </a:ln>
        </p:spPr>
      </p:sp>
      <p:sp>
        <p:nvSpPr>
          <p:cNvPr id="19" name="Text 17"/>
          <p:cNvSpPr txBox="1"/>
          <p:nvPr/>
        </p:nvSpPr>
        <p:spPr>
          <a:xfrm>
            <a:off x="868680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20" name="Shape 18"/>
          <p:cNvSpPr/>
          <p:nvPr/>
        </p:nvSpPr>
        <p:spPr>
          <a:xfrm>
            <a:off x="2788920" y="4096512"/>
            <a:ext cx="2651760" cy="640080"/>
          </a:xfrm>
          <a:prstGeom prst="roundRect">
            <a:avLst>
              <a:gd name="adj" fmla="val 11429"/>
            </a:avLst>
          </a:prstGeom>
          <a:solidFill>
            <a:srgbClr val="FFFFFF"/>
          </a:solidFill>
          <a:ln w="19050">
            <a:solidFill>
              <a:srgbClr val="0B7A44"/>
            </a:solidFill>
            <a:prstDash val="solid"/>
          </a:ln>
        </p:spPr>
      </p:sp>
      <p:sp>
        <p:nvSpPr>
          <p:cNvPr id="21" name="Text 19"/>
          <p:cNvSpPr txBox="1"/>
          <p:nvPr/>
        </p:nvSpPr>
        <p:spPr>
          <a:xfrm>
            <a:off x="278892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22" name="Shape 20"/>
          <p:cNvSpPr/>
          <p:nvPr/>
        </p:nvSpPr>
        <p:spPr>
          <a:xfrm>
            <a:off x="6720840" y="4096512"/>
            <a:ext cx="2651760" cy="640080"/>
          </a:xfrm>
          <a:prstGeom prst="roundRect">
            <a:avLst>
              <a:gd name="adj" fmla="val 11429"/>
            </a:avLst>
          </a:prstGeom>
          <a:solidFill>
            <a:srgbClr val="FFFFFF"/>
          </a:solidFill>
          <a:ln w="19050">
            <a:solidFill>
              <a:srgbClr val="0B7A44"/>
            </a:solidFill>
            <a:prstDash val="solid"/>
          </a:ln>
        </p:spPr>
      </p:sp>
      <p:sp>
        <p:nvSpPr>
          <p:cNvPr id="23" name="Text 21"/>
          <p:cNvSpPr txBox="1"/>
          <p:nvPr/>
        </p:nvSpPr>
        <p:spPr>
          <a:xfrm>
            <a:off x="672084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4" name="Text 22"/>
          <p:cNvSpPr txBox="1"/>
          <p:nvPr/>
        </p:nvSpPr>
        <p:spPr>
          <a:xfrm>
            <a:off x="822960" y="4096512"/>
            <a:ext cx="1783080" cy="64008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5" name="Shape 23"/>
          <p:cNvSpPr/>
          <p:nvPr/>
        </p:nvSpPr>
        <p:spPr>
          <a:xfrm>
            <a:off x="640080" y="4983480"/>
            <a:ext cx="3429000" cy="1051560"/>
          </a:xfrm>
          <a:prstGeom prst="roundRect">
            <a:avLst>
              <a:gd name="adj" fmla="val 7826"/>
            </a:avLst>
          </a:prstGeom>
          <a:solidFill>
            <a:srgbClr val="FFFFFF"/>
          </a:solidFill>
          <a:ln w="12700">
            <a:solidFill>
              <a:srgbClr val="E2E6ED"/>
            </a:solidFill>
            <a:prstDash val="solid"/>
          </a:ln>
        </p:spPr>
      </p:sp>
      <p:sp>
        <p:nvSpPr>
          <p:cNvPr id="26" name="Text 24"/>
          <p:cNvSpPr txBox="1"/>
          <p:nvPr/>
        </p:nvSpPr>
        <p:spPr>
          <a:xfrm>
            <a:off x="868680" y="5120640"/>
            <a:ext cx="2971800" cy="548640"/>
          </a:xfrm>
          <a:prstGeom prst="rect">
            <a:avLst/>
          </a:prstGeom>
          <a:noFill/>
          <a:ln/>
        </p:spPr>
        <p:txBody>
          <a:bodyPr wrap="square" lIns="0" tIns="0" rIns="0" bIns="0" rtlCol="0" anchor="ctr"/>
          <a:lstStyle/>
          <a:p>
            <a:pPr indent="0" marL="0">
              <a:buNone/>
            </a:pPr>
            <a:r>
              <a:rPr lang="en-US" sz="3000" b="1" dirty="0">
                <a:solidFill>
                  <a:srgbClr val="0B7A44"/>
                </a:solidFill>
                <a:latin typeface="Cambria" pitchFamily="34" charset="0"/>
                <a:ea typeface="Cambria" pitchFamily="34" charset="-122"/>
                <a:cs typeface="Cambria" pitchFamily="34" charset="-120"/>
              </a:rPr>
              <a:t>30</a:t>
            </a:r>
            <a:endParaRPr lang="en-US" sz="3000" dirty="0"/>
          </a:p>
        </p:txBody>
      </p:sp>
      <p:sp>
        <p:nvSpPr>
          <p:cNvPr id="27" name="Text 25"/>
          <p:cNvSpPr txBox="1"/>
          <p:nvPr/>
        </p:nvSpPr>
        <p:spPr>
          <a:xfrm>
            <a:off x="86868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spec files</a:t>
            </a:r>
            <a:endParaRPr lang="en-US" sz="1300" dirty="0"/>
          </a:p>
        </p:txBody>
      </p:sp>
      <p:sp>
        <p:nvSpPr>
          <p:cNvPr id="28" name="Shape 26"/>
          <p:cNvSpPr/>
          <p:nvPr/>
        </p:nvSpPr>
        <p:spPr>
          <a:xfrm>
            <a:off x="4343400" y="4983480"/>
            <a:ext cx="3429000" cy="1051560"/>
          </a:xfrm>
          <a:prstGeom prst="roundRect">
            <a:avLst>
              <a:gd name="adj" fmla="val 7826"/>
            </a:avLst>
          </a:prstGeom>
          <a:solidFill>
            <a:srgbClr val="FFFFFF"/>
          </a:solidFill>
          <a:ln w="12700">
            <a:solidFill>
              <a:srgbClr val="E2E6ED"/>
            </a:solidFill>
            <a:prstDash val="solid"/>
          </a:ln>
        </p:spPr>
      </p:sp>
      <p:sp>
        <p:nvSpPr>
          <p:cNvPr id="29" name="Text 27"/>
          <p:cNvSpPr txBox="1"/>
          <p:nvPr/>
        </p:nvSpPr>
        <p:spPr>
          <a:xfrm>
            <a:off x="4572000" y="5120640"/>
            <a:ext cx="2971800" cy="548640"/>
          </a:xfrm>
          <a:prstGeom prst="rect">
            <a:avLst/>
          </a:prstGeom>
          <a:noFill/>
          <a:ln/>
        </p:spPr>
        <p:txBody>
          <a:bodyPr wrap="square" lIns="0" tIns="0" rIns="0" bIns="0" rtlCol="0" anchor="ctr"/>
          <a:lstStyle/>
          <a:p>
            <a:pPr indent="0" marL="0">
              <a:buNone/>
            </a:pPr>
            <a:r>
              <a:rPr lang="en-US" sz="3000" b="1" dirty="0">
                <a:solidFill>
                  <a:srgbClr val="10131A"/>
                </a:solidFill>
                <a:latin typeface="Cambria" pitchFamily="34" charset="0"/>
                <a:ea typeface="Cambria" pitchFamily="34" charset="-122"/>
                <a:cs typeface="Cambria" pitchFamily="34" charset="-120"/>
              </a:rPr>
              <a:t>202</a:t>
            </a:r>
            <a:endParaRPr lang="en-US" sz="3000" dirty="0"/>
          </a:p>
        </p:txBody>
      </p:sp>
      <p:sp>
        <p:nvSpPr>
          <p:cNvPr id="30" name="Text 28"/>
          <p:cNvSpPr txBox="1"/>
          <p:nvPr/>
        </p:nvSpPr>
        <p:spPr>
          <a:xfrm>
            <a:off x="457200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tests</a:t>
            </a:r>
            <a:endParaRPr lang="en-US" sz="1300" dirty="0"/>
          </a:p>
        </p:txBody>
      </p:sp>
      <p:sp>
        <p:nvSpPr>
          <p:cNvPr id="31" name="Shape 29"/>
          <p:cNvSpPr/>
          <p:nvPr/>
        </p:nvSpPr>
        <p:spPr>
          <a:xfrm>
            <a:off x="8046720" y="4983480"/>
            <a:ext cx="3429000" cy="1051560"/>
          </a:xfrm>
          <a:prstGeom prst="roundRect">
            <a:avLst>
              <a:gd name="adj" fmla="val 7826"/>
            </a:avLst>
          </a:prstGeom>
          <a:solidFill>
            <a:srgbClr val="FFFFFF"/>
          </a:solidFill>
          <a:ln w="12700">
            <a:solidFill>
              <a:srgbClr val="E2E6ED"/>
            </a:solidFill>
            <a:prstDash val="solid"/>
          </a:ln>
        </p:spPr>
      </p:sp>
      <p:sp>
        <p:nvSpPr>
          <p:cNvPr id="32" name="Text 30"/>
          <p:cNvSpPr txBox="1"/>
          <p:nvPr/>
        </p:nvSpPr>
        <p:spPr>
          <a:xfrm>
            <a:off x="8275320" y="5120640"/>
            <a:ext cx="2971800" cy="548640"/>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3</a:t>
            </a:r>
            <a:endParaRPr lang="en-US" sz="3000" dirty="0"/>
          </a:p>
        </p:txBody>
      </p:sp>
      <p:sp>
        <p:nvSpPr>
          <p:cNvPr id="33" name="Text 31"/>
          <p:cNvSpPr txBox="1"/>
          <p:nvPr/>
        </p:nvSpPr>
        <p:spPr>
          <a:xfrm>
            <a:off x="827532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tasks that can run them</a:t>
            </a:r>
            <a:endParaRPr lang="en-US" sz="1300" dirty="0"/>
          </a:p>
        </p:txBody>
      </p:sp>
      <p:sp>
        <p:nvSpPr>
          <p:cNvPr id="34" name="Text 32"/>
          <p:cNvSpPr txBox="1"/>
          <p:nvPr/>
        </p:nvSpPr>
        <p:spPr>
          <a:xfrm>
            <a:off x="640080" y="6144768"/>
            <a:ext cx="10881360" cy="365760"/>
          </a:xfrm>
          <a:prstGeom prst="rect">
            <a:avLst/>
          </a:prstGeom>
          <a:noFill/>
          <a:ln/>
        </p:spPr>
        <p:txBody>
          <a:bodyPr wrap="square" lIns="0" tIns="0" rIns="0" bIns="0" rtlCol="0" anchor="ctr"/>
          <a:lstStyle/>
          <a:p>
            <a:pPr indent="0" marL="0">
              <a:buNone/>
            </a:pPr>
            <a:r>
              <a:rPr lang="en-US" sz="1400" i="1" dirty="0">
                <a:solidFill>
                  <a:srgbClr val="5C6675"/>
                </a:solidFill>
                <a:latin typeface="Calibri" pitchFamily="34" charset="0"/>
                <a:ea typeface="Calibri" pitchFamily="34" charset="-122"/>
                <a:cs typeface="Calibri" pitchFamily="34" charset="-120"/>
              </a:rPr>
              <a:t>Thirty files, but only three things you can actually run — one e2e task per app. Closing that gap is the rest of the talk.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783080"/>
          </a:xfrm>
          <a:prstGeom prst="roundRect">
            <a:avLst>
              <a:gd name="adj" fmla="val 3590"/>
            </a:avLst>
          </a:prstGeom>
          <a:solidFill>
            <a:srgbClr val="2A1116"/>
          </a:solidFill>
          <a:ln w="19050">
            <a:solidFill>
              <a:srgbClr val="FB7185"/>
            </a:solidFill>
            <a:prstDash val="solid"/>
          </a:ln>
        </p:spPr>
      </p:sp>
      <p:sp>
        <p:nvSpPr>
          <p:cNvPr id="7" name="Text 5"/>
          <p:cNvSpPr txBox="1"/>
          <p:nvPr/>
        </p:nvSpPr>
        <p:spPr>
          <a:xfrm>
            <a:off x="914400" y="2880360"/>
            <a:ext cx="10332720" cy="146304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following tasks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admin-e2e:e2e-ci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docs-e2e:e2e-ci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shop-e2e:e2e-ci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663440"/>
            <a:ext cx="10881360" cy="411480"/>
          </a:xfrm>
          <a:prstGeom prst="rect">
            <a:avLst/>
          </a:prstGeom>
          <a:noFill/>
          <a:ln/>
        </p:spPr>
        <p:txBody>
          <a:bodyPr wrap="square" lIns="0" tIns="0" rIns="0" bIns="0" rtlCol="0" anchor="ctr"/>
          <a:lstStyle/>
          <a:p>
            <a:pPr indent="0" marL="0">
              <a:buNone/>
            </a:pPr>
            <a:r>
              <a:rPr lang="en-US" sz="2400" b="1" dirty="0">
                <a:solidFill>
                  <a:srgbClr val="F5A524"/>
                </a:solidFill>
                <a:latin typeface="Cambria" pitchFamily="34" charset="0"/>
                <a:ea typeface="Cambria" pitchFamily="34" charset="-122"/>
                <a:cs typeface="Cambria" pitchFamily="34" charset="-120"/>
              </a:rPr>
              <a:t>So now it is a procurement question.</a:t>
            </a:r>
            <a:endParaRPr lang="en-US" sz="2400" dirty="0"/>
          </a:p>
        </p:txBody>
      </p:sp>
      <p:sp>
        <p:nvSpPr>
          <p:cNvPr id="9" name="Text 7"/>
          <p:cNvSpPr txBox="1"/>
          <p:nvPr/>
        </p:nvSpPr>
        <p:spPr>
          <a:xfrm>
            <a:off x="640080" y="5166360"/>
            <a:ext cx="10881360" cy="13716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Cloud is a premium service from Nx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Is it approved in your organisation?</a:t>
            </a:r>
            <a:endParaRPr lang="en-US" sz="1500" dirty="0"/>
          </a:p>
          <a:p>
            <a:pPr marL="342900" indent="-342900">
              <a:spcAft>
                <a:spcPts val="1000"/>
              </a:spcAft>
              <a:buSzPct val="100000"/>
              <a:buChar char="•"/>
            </a:pPr>
            <a:r>
              <a:rPr lang="en-US" sz="1500" b="1" dirty="0">
                <a:solidFill>
                  <a:srgbClr val="FB7185"/>
                </a:solidFill>
                <a:latin typeface="Calibri" pitchFamily="34" charset="0"/>
                <a:ea typeface="Calibri" pitchFamily="34" charset="-122"/>
                <a:cs typeface="Calibri" pitchFamily="34" charset="-120"/>
              </a:rPr>
              <a:t>If not approved — you are blocked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4617720" y="1627632"/>
            <a:ext cx="4572000" cy="274320"/>
          </a:xfrm>
          <a:prstGeom prst="rect">
            <a:avLst/>
          </a:prstGeom>
          <a:noFill/>
          <a:ln/>
        </p:spPr>
        <p:txBody>
          <a:bodyPr wrap="square" lIns="0" tIns="0" rIns="0" bIns="0" rtlCol="0" anchor="ctr"/>
          <a:lstStyle/>
          <a:p>
            <a:pPr indent="0" marL="0">
              <a:buNone/>
            </a:pPr>
            <a:r>
              <a:rPr lang="en-US" sz="1100" b="1" spc="100" kern="0" dirty="0">
                <a:solidFill>
                  <a:srgbClr val="0B7A44"/>
                </a:solidFill>
                <a:latin typeface="Calibri" pitchFamily="34" charset="0"/>
                <a:ea typeface="Calibri" pitchFamily="34" charset="-122"/>
                <a:cs typeface="Calibri" pitchFamily="34" charset="-120"/>
              </a:rPr>
              <a:t>M1 PRO · 10 CORES · LIVE DEMO</a:t>
            </a:r>
            <a:endParaRPr lang="en-US" sz="1100" dirty="0"/>
          </a:p>
        </p:txBody>
      </p:sp>
      <p:sp>
        <p:nvSpPr>
          <p:cNvPr id="5" name="Text 3"/>
          <p:cNvSpPr txBox="1"/>
          <p:nvPr/>
        </p:nvSpPr>
        <p:spPr>
          <a:xfrm>
            <a:off x="10104120" y="1627632"/>
            <a:ext cx="1645920" cy="274320"/>
          </a:xfrm>
          <a:prstGeom prst="rect">
            <a:avLst/>
          </a:prstGeom>
          <a:noFill/>
          <a:ln/>
        </p:spPr>
        <p:txBody>
          <a:bodyPr wrap="square" lIns="0" tIns="0" rIns="0" bIns="0" rtlCol="0" anchor="ctr"/>
          <a:lstStyle/>
          <a:p>
            <a:pPr indent="0" marL="0">
              <a:buNone/>
            </a:pPr>
            <a:r>
              <a:rPr lang="en-US" sz="1100" b="1" spc="100" kern="0" dirty="0">
                <a:solidFill>
                  <a:srgbClr val="8A94A6"/>
                </a:solidFill>
                <a:latin typeface="Calibri" pitchFamily="34" charset="0"/>
                <a:ea typeface="Calibri" pitchFamily="34" charset="-122"/>
                <a:cs typeface="Calibri" pitchFamily="34" charset="-120"/>
              </a:rPr>
              <a:t>M5 · 18 CORES</a:t>
            </a:r>
            <a:endParaRPr lang="en-US" sz="1100" dirty="0"/>
          </a:p>
        </p:txBody>
      </p:sp>
      <p:sp>
        <p:nvSpPr>
          <p:cNvPr id="6" name="Shape 4"/>
          <p:cNvSpPr/>
          <p:nvPr/>
        </p:nvSpPr>
        <p:spPr>
          <a:xfrm>
            <a:off x="9829800" y="1572768"/>
            <a:ext cx="10973" cy="3703320"/>
          </a:xfrm>
          <a:prstGeom prst="rect">
            <a:avLst/>
          </a:prstGeom>
          <a:solidFill>
            <a:srgbClr val="E2E6ED"/>
          </a:solidFill>
          <a:ln w="12700">
            <a:solidFill>
              <a:srgbClr val="333333"/>
            </a:solidFill>
            <a:prstDash val="solid"/>
          </a:ln>
        </p:spPr>
      </p:sp>
      <p:sp>
        <p:nvSpPr>
          <p:cNvPr id="7" name="Text 5"/>
          <p:cNvSpPr txBox="1"/>
          <p:nvPr/>
        </p:nvSpPr>
        <p:spPr>
          <a:xfrm>
            <a:off x="640080" y="201168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8" name="Text 6"/>
          <p:cNvSpPr txBox="1"/>
          <p:nvPr/>
        </p:nvSpPr>
        <p:spPr>
          <a:xfrm>
            <a:off x="1051560" y="2011680"/>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9" name="Shape 7"/>
          <p:cNvSpPr/>
          <p:nvPr/>
        </p:nvSpPr>
        <p:spPr>
          <a:xfrm>
            <a:off x="4617720" y="2075688"/>
            <a:ext cx="3146612" cy="292608"/>
          </a:xfrm>
          <a:prstGeom prst="roundRect">
            <a:avLst>
              <a:gd name="adj" fmla="val 12500"/>
            </a:avLst>
          </a:prstGeom>
          <a:solidFill>
            <a:srgbClr val="F5A524"/>
          </a:solidFill>
          <a:ln w="12700">
            <a:solidFill>
              <a:srgbClr val="F5A524"/>
            </a:solidFill>
            <a:prstDash val="solid"/>
          </a:ln>
        </p:spPr>
      </p:sp>
      <p:sp>
        <p:nvSpPr>
          <p:cNvPr id="10" name="Text 8"/>
          <p:cNvSpPr txBox="1"/>
          <p:nvPr/>
        </p:nvSpPr>
        <p:spPr>
          <a:xfrm>
            <a:off x="7855772" y="201168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11" name="Text 9"/>
          <p:cNvSpPr txBox="1"/>
          <p:nvPr/>
        </p:nvSpPr>
        <p:spPr>
          <a:xfrm>
            <a:off x="10104120" y="2011680"/>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3m 16s</a:t>
            </a:r>
            <a:endParaRPr lang="en-US" sz="1400" dirty="0"/>
          </a:p>
        </p:txBody>
      </p:sp>
      <p:sp>
        <p:nvSpPr>
          <p:cNvPr id="12" name="Text 10"/>
          <p:cNvSpPr txBox="1"/>
          <p:nvPr/>
        </p:nvSpPr>
        <p:spPr>
          <a:xfrm>
            <a:off x="640080" y="272491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13" name="Text 11"/>
          <p:cNvSpPr txBox="1"/>
          <p:nvPr/>
        </p:nvSpPr>
        <p:spPr>
          <a:xfrm>
            <a:off x="1051560" y="2724912"/>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4" name="Shape 12"/>
          <p:cNvSpPr/>
          <p:nvPr/>
        </p:nvSpPr>
        <p:spPr>
          <a:xfrm>
            <a:off x="4617720" y="2788920"/>
            <a:ext cx="4114800" cy="292608"/>
          </a:xfrm>
          <a:prstGeom prst="roundRect">
            <a:avLst>
              <a:gd name="adj" fmla="val 12500"/>
            </a:avLst>
          </a:prstGeom>
          <a:solidFill>
            <a:srgbClr val="C2410C"/>
          </a:solidFill>
          <a:ln w="12700">
            <a:solidFill>
              <a:srgbClr val="C2410C"/>
            </a:solidFill>
            <a:prstDash val="solid"/>
          </a:ln>
        </p:spPr>
      </p:sp>
      <p:sp>
        <p:nvSpPr>
          <p:cNvPr id="15" name="Text 13"/>
          <p:cNvSpPr txBox="1"/>
          <p:nvPr/>
        </p:nvSpPr>
        <p:spPr>
          <a:xfrm>
            <a:off x="8823960" y="2724912"/>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40s</a:t>
            </a:r>
            <a:endParaRPr lang="en-US" sz="1400" dirty="0"/>
          </a:p>
        </p:txBody>
      </p:sp>
      <p:sp>
        <p:nvSpPr>
          <p:cNvPr id="16" name="Text 14"/>
          <p:cNvSpPr txBox="1"/>
          <p:nvPr/>
        </p:nvSpPr>
        <p:spPr>
          <a:xfrm>
            <a:off x="10104120" y="2724912"/>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4m 00s</a:t>
            </a:r>
            <a:endParaRPr lang="en-US" sz="1400" dirty="0"/>
          </a:p>
        </p:txBody>
      </p:sp>
      <p:sp>
        <p:nvSpPr>
          <p:cNvPr id="17" name="Text 15"/>
          <p:cNvSpPr txBox="1"/>
          <p:nvPr/>
        </p:nvSpPr>
        <p:spPr>
          <a:xfrm>
            <a:off x="640080" y="343814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8" name="Text 16"/>
          <p:cNvSpPr txBox="1"/>
          <p:nvPr/>
        </p:nvSpPr>
        <p:spPr>
          <a:xfrm>
            <a:off x="1051560" y="3438144"/>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half your cores at once</a:t>
            </a:r>
            <a:endParaRPr lang="en-US" sz="1300" dirty="0"/>
          </a:p>
        </p:txBody>
      </p:sp>
      <p:sp>
        <p:nvSpPr>
          <p:cNvPr id="19" name="Shape 17"/>
          <p:cNvSpPr/>
          <p:nvPr/>
        </p:nvSpPr>
        <p:spPr>
          <a:xfrm>
            <a:off x="4617720" y="3502152"/>
            <a:ext cx="1694329" cy="292608"/>
          </a:xfrm>
          <a:prstGeom prst="roundRect">
            <a:avLst>
              <a:gd name="adj" fmla="val 12500"/>
            </a:avLst>
          </a:prstGeom>
          <a:solidFill>
            <a:srgbClr val="0B7A44"/>
          </a:solidFill>
          <a:ln w="12700">
            <a:solidFill>
              <a:srgbClr val="0B7A44"/>
            </a:solidFill>
            <a:prstDash val="solid"/>
          </a:ln>
        </p:spPr>
      </p:sp>
      <p:sp>
        <p:nvSpPr>
          <p:cNvPr id="20" name="Text 18"/>
          <p:cNvSpPr txBox="1"/>
          <p:nvPr/>
        </p:nvSpPr>
        <p:spPr>
          <a:xfrm>
            <a:off x="6403489" y="3438144"/>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20s</a:t>
            </a:r>
            <a:endParaRPr lang="en-US" sz="1400" dirty="0"/>
          </a:p>
        </p:txBody>
      </p:sp>
      <p:sp>
        <p:nvSpPr>
          <p:cNvPr id="21" name="Text 19"/>
          <p:cNvSpPr txBox="1"/>
          <p:nvPr/>
        </p:nvSpPr>
        <p:spPr>
          <a:xfrm>
            <a:off x="10104120" y="3438144"/>
            <a:ext cx="1371600" cy="365760"/>
          </a:xfrm>
          <a:prstGeom prst="rect">
            <a:avLst/>
          </a:prstGeom>
          <a:noFill/>
          <a:ln/>
        </p:spPr>
        <p:txBody>
          <a:bodyPr wrap="square" lIns="0" tIns="0" rIns="0" bIns="0" rtlCol="0" anchor="ctr"/>
          <a:lstStyle/>
          <a:p>
            <a:pPr indent="0" marL="0">
              <a:buNone/>
            </a:pPr>
            <a:r>
              <a:rPr lang="en-US" sz="1400" b="1" dirty="0">
                <a:solidFill>
                  <a:srgbClr val="0B7A44"/>
                </a:solidFill>
                <a:latin typeface="Calibri" pitchFamily="34" charset="0"/>
                <a:ea typeface="Calibri" pitchFamily="34" charset="-122"/>
                <a:cs typeface="Calibri" pitchFamily="34" charset="-120"/>
              </a:rPr>
              <a:t>48s</a:t>
            </a:r>
            <a:endParaRPr lang="en-US" sz="1400" dirty="0"/>
          </a:p>
        </p:txBody>
      </p:sp>
      <p:sp>
        <p:nvSpPr>
          <p:cNvPr id="22" name="Text 20"/>
          <p:cNvSpPr txBox="1"/>
          <p:nvPr/>
        </p:nvSpPr>
        <p:spPr>
          <a:xfrm>
            <a:off x="640080" y="415137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23" name="Text 21"/>
          <p:cNvSpPr txBox="1"/>
          <p:nvPr/>
        </p:nvSpPr>
        <p:spPr>
          <a:xfrm>
            <a:off x="1051560" y="4151376"/>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24" name="Shape 22"/>
          <p:cNvSpPr/>
          <p:nvPr/>
        </p:nvSpPr>
        <p:spPr>
          <a:xfrm>
            <a:off x="4617720" y="4215384"/>
            <a:ext cx="665629" cy="292608"/>
          </a:xfrm>
          <a:prstGeom prst="roundRect">
            <a:avLst>
              <a:gd name="adj" fmla="val 12500"/>
            </a:avLst>
          </a:prstGeom>
          <a:solidFill>
            <a:srgbClr val="0B7A44"/>
          </a:solidFill>
          <a:ln w="12700">
            <a:solidFill>
              <a:srgbClr val="0B7A44"/>
            </a:solidFill>
            <a:prstDash val="solid"/>
          </a:ln>
        </p:spPr>
      </p:sp>
      <p:sp>
        <p:nvSpPr>
          <p:cNvPr id="25" name="Text 23"/>
          <p:cNvSpPr txBox="1"/>
          <p:nvPr/>
        </p:nvSpPr>
        <p:spPr>
          <a:xfrm>
            <a:off x="5374789" y="4151376"/>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6" name="Text 24"/>
          <p:cNvSpPr txBox="1"/>
          <p:nvPr/>
        </p:nvSpPr>
        <p:spPr>
          <a:xfrm>
            <a:off x="10104120" y="4151376"/>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55s</a:t>
            </a:r>
            <a:endParaRPr lang="en-US" sz="1400" dirty="0"/>
          </a:p>
        </p:txBody>
      </p:sp>
      <p:sp>
        <p:nvSpPr>
          <p:cNvPr id="27" name="Text 25"/>
          <p:cNvSpPr txBox="1"/>
          <p:nvPr/>
        </p:nvSpPr>
        <p:spPr>
          <a:xfrm>
            <a:off x="640080" y="486460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8" name="Text 26"/>
          <p:cNvSpPr txBox="1"/>
          <p:nvPr/>
        </p:nvSpPr>
        <p:spPr>
          <a:xfrm>
            <a:off x="1051560" y="4864608"/>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9" name="Shape 27"/>
          <p:cNvSpPr/>
          <p:nvPr/>
        </p:nvSpPr>
        <p:spPr>
          <a:xfrm>
            <a:off x="4617720" y="4928616"/>
            <a:ext cx="73152" cy="292608"/>
          </a:xfrm>
          <a:prstGeom prst="roundRect">
            <a:avLst>
              <a:gd name="adj" fmla="val 50000"/>
            </a:avLst>
          </a:prstGeom>
          <a:solidFill>
            <a:srgbClr val="15803D"/>
          </a:solidFill>
          <a:ln w="12700">
            <a:solidFill>
              <a:srgbClr val="15803D"/>
            </a:solidFill>
            <a:prstDash val="solid"/>
          </a:ln>
        </p:spPr>
      </p:sp>
      <p:sp>
        <p:nvSpPr>
          <p:cNvPr id="30" name="Text 28"/>
          <p:cNvSpPr txBox="1"/>
          <p:nvPr/>
        </p:nvSpPr>
        <p:spPr>
          <a:xfrm>
            <a:off x="4782312" y="4864608"/>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31" name="Text 29"/>
          <p:cNvSpPr txBox="1"/>
          <p:nvPr/>
        </p:nvSpPr>
        <p:spPr>
          <a:xfrm>
            <a:off x="10104120" y="4864608"/>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5s</a:t>
            </a:r>
            <a:endParaRPr lang="en-US" sz="1400" dirty="0"/>
          </a:p>
        </p:txBody>
      </p:sp>
      <p:sp>
        <p:nvSpPr>
          <p:cNvPr id="32" name="Shape 30"/>
          <p:cNvSpPr/>
          <p:nvPr/>
        </p:nvSpPr>
        <p:spPr>
          <a:xfrm>
            <a:off x="640080" y="5440680"/>
            <a:ext cx="10881360" cy="1170432"/>
          </a:xfrm>
          <a:prstGeom prst="roundRect">
            <a:avLst>
              <a:gd name="adj" fmla="val 5469"/>
            </a:avLst>
          </a:prstGeom>
          <a:solidFill>
            <a:srgbClr val="FFF7E6"/>
          </a:solidFill>
          <a:ln w="12700">
            <a:solidFill>
              <a:srgbClr val="F5A524"/>
            </a:solidFill>
            <a:prstDash val="solid"/>
          </a:ln>
        </p:spPr>
      </p:sp>
      <p:sp>
        <p:nvSpPr>
          <p:cNvPr id="33" name="Text 31"/>
          <p:cNvSpPr txBox="1"/>
          <p:nvPr/>
        </p:nvSpPr>
        <p:spPr>
          <a:xfrm>
            <a:off x="914400" y="5577840"/>
            <a:ext cx="10332720" cy="914400"/>
          </a:xfrm>
          <a:prstGeom prst="rect">
            <a:avLst/>
          </a:prstGeom>
          <a:noFill/>
          <a:ln/>
        </p:spPr>
        <p:txBody>
          <a:bodyPr wrap="square" lIns="0" tIns="0" rIns="0" bIns="0" rtlCol="0" anchor="ctr"/>
          <a:lstStyle/>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Rung 2 is the honest one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atomizing without parallelism is slower than not atomizing at all. On both machines.</a:t>
            </a:r>
            <a:endParaRPr lang="en-US" sz="1300" dirty="0"/>
          </a:p>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Rung 4 is not always a rung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on 18 cores, nine local processes beat three runners. Distribution pays once one machine runs out of cores.</a:t>
            </a:r>
            <a:endParaRPr lang="en-US" sz="1300" dirty="0"/>
          </a:p>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And the ceiling moves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the M5 at all 18 cores reached 34s, while this laptop got slower and flakier past 5. Measure your own.</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Start here.</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Feedback &amp; Q&amp;A</a:t>
            </a:r>
            <a:endParaRPr lang="en-US" sz="3800" dirty="0"/>
          </a:p>
        </p:txBody>
      </p:sp>
      <p:sp>
        <p:nvSpPr>
          <p:cNvPr id="4" name="Text 2"/>
          <p:cNvSpPr txBox="1"/>
          <p:nvPr/>
        </p:nvSpPr>
        <p:spPr>
          <a:xfrm>
            <a:off x="640080" y="1874520"/>
            <a:ext cx="72237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Take a minute to give your feedback — it makes the next session better.</a:t>
            </a:r>
            <a:endParaRPr lang="en-US" sz="1900" dirty="0"/>
          </a:p>
        </p:txBody>
      </p:sp>
      <p:sp>
        <p:nvSpPr>
          <p:cNvPr id="5" name="Text 3"/>
          <p:cNvSpPr txBox="1"/>
          <p:nvPr/>
        </p:nvSpPr>
        <p:spPr>
          <a:xfrm>
            <a:off x="640080" y="2651760"/>
            <a:ext cx="72237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063240"/>
            <a:ext cx="72237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412480" y="1874520"/>
            <a:ext cx="2834640" cy="2834640"/>
          </a:xfrm>
          <a:prstGeom prst="roundRect">
            <a:avLst>
              <a:gd name="adj" fmla="val 193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531352" y="1993392"/>
            <a:ext cx="2596896" cy="2596896"/>
          </a:xfrm>
          <a:prstGeom prst="rect">
            <a:avLst/>
          </a:prstGeom>
        </p:spPr>
      </p:pic>
      <p:sp>
        <p:nvSpPr>
          <p:cNvPr id="9" name="Text 6"/>
          <p:cNvSpPr txBox="1"/>
          <p:nvPr/>
        </p:nvSpPr>
        <p:spPr>
          <a:xfrm>
            <a:off x="8412480" y="4837176"/>
            <a:ext cx="283464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7223760" cy="320040"/>
          </a:xfrm>
          <a:prstGeom prst="rect">
            <a:avLst/>
          </a:prstGeom>
          <a:noFill/>
          <a:ln/>
        </p:spPr>
        <p:txBody>
          <a:bodyPr wrap="square" lIns="0" tIns="0" rIns="0" bIns="0" rtlCol="0" anchor="ctr"/>
          <a:lstStyle/>
          <a:p>
            <a:pPr indent="0" marL="0">
              <a:buNone/>
            </a:pPr>
            <a:r>
              <a:rPr lang="en-US" sz="1300" dirty="0">
                <a:solidFill>
                  <a:srgbClr val="5C6675"/>
                </a:solidFill>
                <a:latin typeface="Courier New" pitchFamily="34" charset="0"/>
                <a:ea typeface="Courier New" pitchFamily="34" charset="-122"/>
                <a:cs typeface="Courier New" pitchFamily="34" charset="-120"/>
              </a:rPr>
              <a:t>github.com/radzivil/nx-scaling-e2e-tests-with-atomizer</a:t>
            </a:r>
            <a:endParaRPr lang="en-US" sz="1300" dirty="0"/>
          </a:p>
        </p:txBody>
      </p:sp>
      <p:sp>
        <p:nvSpPr>
          <p:cNvPr id="11" name="Text 8"/>
          <p:cNvSpPr txBox="1"/>
          <p:nvPr/>
        </p:nvSpPr>
        <p:spPr>
          <a:xfrm>
            <a:off x="640080" y="6144768"/>
            <a:ext cx="7223760" cy="32004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Vladimir Radzivil · linkedin.com/in/vladimirradzivil</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Seven things that will bite you</a:t>
            </a:r>
            <a:endParaRPr lang="en-US" sz="3800" dirty="0"/>
          </a:p>
        </p:txBody>
      </p:sp>
      <p:sp>
        <p:nvSpPr>
          <p:cNvPr id="4" name="Shape 2"/>
          <p:cNvSpPr/>
          <p:nvPr/>
        </p:nvSpPr>
        <p:spPr>
          <a:xfrm>
            <a:off x="640080" y="1837944"/>
            <a:ext cx="365760" cy="365760"/>
          </a:xfrm>
          <a:prstGeom prst="ellipse">
            <a:avLst/>
          </a:prstGeom>
          <a:solidFill>
            <a:srgbClr val="B45309"/>
          </a:solidFill>
          <a:ln/>
        </p:spPr>
      </p:sp>
      <p:sp>
        <p:nvSpPr>
          <p:cNvPr id="5" name="Text 3"/>
          <p:cNvSpPr txBox="1"/>
          <p:nvPr/>
        </p:nvSpPr>
        <p:spPr>
          <a:xfrm>
            <a:off x="640080" y="18379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7830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7830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514600"/>
            <a:ext cx="365760" cy="365760"/>
          </a:xfrm>
          <a:prstGeom prst="ellipse">
            <a:avLst/>
          </a:prstGeom>
          <a:solidFill>
            <a:srgbClr val="B45309"/>
          </a:solidFill>
          <a:ln/>
        </p:spPr>
      </p:sp>
      <p:sp>
        <p:nvSpPr>
          <p:cNvPr id="9" name="Text 7"/>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45973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Parallelism has a ceiling — find yours</a:t>
            </a:r>
            <a:endParaRPr lang="en-US" sz="1600" dirty="0"/>
          </a:p>
        </p:txBody>
      </p:sp>
      <p:sp>
        <p:nvSpPr>
          <p:cNvPr id="11" name="Text 9"/>
          <p:cNvSpPr txBox="1"/>
          <p:nvPr/>
        </p:nvSpPr>
        <p:spPr>
          <a:xfrm>
            <a:off x="5303520" y="245973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10-core M1: 8 was no faster than 5, and went red 2 runs in 5. 18-core M5: 18 beat 9 by 29%. Measure, do not assume.</a:t>
            </a:r>
            <a:endParaRPr lang="en-US" sz="1400" dirty="0"/>
          </a:p>
        </p:txBody>
      </p:sp>
      <p:sp>
        <p:nvSpPr>
          <p:cNvPr id="12" name="Shape 10"/>
          <p:cNvSpPr/>
          <p:nvPr/>
        </p:nvSpPr>
        <p:spPr>
          <a:xfrm>
            <a:off x="640080" y="3191256"/>
            <a:ext cx="365760" cy="365760"/>
          </a:xfrm>
          <a:prstGeom prst="ellipse">
            <a:avLst/>
          </a:prstGeom>
          <a:solidFill>
            <a:srgbClr val="B45309"/>
          </a:solidFill>
          <a:ln/>
        </p:spPr>
      </p:sp>
      <p:sp>
        <p:nvSpPr>
          <p:cNvPr id="13" name="Text 11"/>
          <p:cNvSpPr txBox="1"/>
          <p:nvPr/>
        </p:nvSpPr>
        <p:spPr>
          <a:xfrm>
            <a:off x="640080" y="3191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136392"/>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5" name="Text 13"/>
          <p:cNvSpPr txBox="1"/>
          <p:nvPr/>
        </p:nvSpPr>
        <p:spPr>
          <a:xfrm>
            <a:off x="5303520" y="3136392"/>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6" name="Shape 14"/>
          <p:cNvSpPr/>
          <p:nvPr/>
        </p:nvSpPr>
        <p:spPr>
          <a:xfrm>
            <a:off x="640080" y="3867912"/>
            <a:ext cx="365760" cy="365760"/>
          </a:xfrm>
          <a:prstGeom prst="ellipse">
            <a:avLst/>
          </a:prstGeom>
          <a:solidFill>
            <a:srgbClr val="B45309"/>
          </a:solidFill>
          <a:ln/>
        </p:spPr>
      </p:sp>
      <p:sp>
        <p:nvSpPr>
          <p:cNvPr id="17" name="Text 15"/>
          <p:cNvSpPr txBox="1"/>
          <p:nvPr/>
        </p:nvSpPr>
        <p:spPr>
          <a:xfrm>
            <a:off x="640080" y="386791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3813048"/>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9" name="Text 17"/>
          <p:cNvSpPr txBox="1"/>
          <p:nvPr/>
        </p:nvSpPr>
        <p:spPr>
          <a:xfrm>
            <a:off x="5303520" y="3813048"/>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20" name="Shape 18"/>
          <p:cNvSpPr/>
          <p:nvPr/>
        </p:nvSpPr>
        <p:spPr>
          <a:xfrm>
            <a:off x="640080" y="4544568"/>
            <a:ext cx="365760" cy="365760"/>
          </a:xfrm>
          <a:prstGeom prst="ellipse">
            <a:avLst/>
          </a:prstGeom>
          <a:solidFill>
            <a:srgbClr val="B45309"/>
          </a:solidFill>
          <a:ln/>
        </p:spPr>
      </p:sp>
      <p:sp>
        <p:nvSpPr>
          <p:cNvPr id="21" name="Text 19"/>
          <p:cNvSpPr txBox="1"/>
          <p:nvPr/>
        </p:nvSpPr>
        <p:spPr>
          <a:xfrm>
            <a:off x="640080" y="454456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489704"/>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23" name="Text 21"/>
          <p:cNvSpPr txBox="1"/>
          <p:nvPr/>
        </p:nvSpPr>
        <p:spPr>
          <a:xfrm>
            <a:off x="5303520" y="4489704"/>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4" name="Shape 22"/>
          <p:cNvSpPr/>
          <p:nvPr/>
        </p:nvSpPr>
        <p:spPr>
          <a:xfrm>
            <a:off x="640080" y="5221224"/>
            <a:ext cx="365760" cy="365760"/>
          </a:xfrm>
          <a:prstGeom prst="ellipse">
            <a:avLst/>
          </a:prstGeom>
          <a:solidFill>
            <a:srgbClr val="B45309"/>
          </a:solidFill>
          <a:ln/>
        </p:spPr>
      </p:sp>
      <p:sp>
        <p:nvSpPr>
          <p:cNvPr id="25" name="Text 23"/>
          <p:cNvSpPr txBox="1"/>
          <p:nvPr/>
        </p:nvSpPr>
        <p:spPr>
          <a:xfrm>
            <a:off x="640080" y="52212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1663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7" name="Text 25"/>
          <p:cNvSpPr txBox="1"/>
          <p:nvPr/>
        </p:nvSpPr>
        <p:spPr>
          <a:xfrm>
            <a:off x="5303520" y="51663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8" name="Shape 26"/>
          <p:cNvSpPr/>
          <p:nvPr/>
        </p:nvSpPr>
        <p:spPr>
          <a:xfrm>
            <a:off x="640080" y="5897880"/>
            <a:ext cx="365760" cy="365760"/>
          </a:xfrm>
          <a:prstGeom prst="ellipse">
            <a:avLst/>
          </a:prstGeom>
          <a:solidFill>
            <a:srgbClr val="B45309"/>
          </a:solidFill>
          <a:ln/>
        </p:spPr>
      </p:sp>
      <p:sp>
        <p:nvSpPr>
          <p:cNvPr id="29" name="Text 27"/>
          <p:cNvSpPr txBox="1"/>
          <p:nvPr/>
        </p:nvSpPr>
        <p:spPr>
          <a:xfrm>
            <a:off x="640080" y="5897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0" name="Text 28"/>
          <p:cNvSpPr txBox="1"/>
          <p:nvPr/>
        </p:nvSpPr>
        <p:spPr>
          <a:xfrm>
            <a:off x="1188720" y="584301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31" name="Text 29"/>
          <p:cNvSpPr txBox="1"/>
          <p:nvPr/>
        </p:nvSpPr>
        <p:spPr>
          <a:xfrm>
            <a:off x="5303520" y="584301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APPENDIX · THE QUESTION THAT ALWAYS COMES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What about Playwright?</a:t>
            </a:r>
            <a:endParaRPr lang="en-US" sz="3800" dirty="0"/>
          </a:p>
        </p:txBody>
      </p:sp>
      <p:sp>
        <p:nvSpPr>
          <p:cNvPr id="4" name="Shape 2"/>
          <p:cNvSpPr/>
          <p:nvPr/>
        </p:nvSpPr>
        <p:spPr>
          <a:xfrm>
            <a:off x="640080" y="1828800"/>
            <a:ext cx="5349240" cy="3200400"/>
          </a:xfrm>
          <a:prstGeom prst="roundRect">
            <a:avLst>
              <a:gd name="adj" fmla="val 2286"/>
            </a:avLst>
          </a:prstGeom>
          <a:solidFill>
            <a:srgbClr val="F1FAF5"/>
          </a:solidFill>
          <a:ln w="12700">
            <a:solidFill>
              <a:srgbClr val="0B7A44"/>
            </a:solidFill>
            <a:prstDash val="solid"/>
          </a:ln>
        </p:spPr>
      </p:sp>
      <p:sp>
        <p:nvSpPr>
          <p:cNvPr id="5" name="Text 3"/>
          <p:cNvSpPr txBox="1"/>
          <p:nvPr/>
        </p:nvSpPr>
        <p:spPr>
          <a:xfrm>
            <a:off x="914400" y="2011680"/>
            <a:ext cx="4800600" cy="320040"/>
          </a:xfrm>
          <a:prstGeom prst="rect">
            <a:avLst/>
          </a:prstGeom>
          <a:noFill/>
          <a:ln/>
        </p:spPr>
        <p:txBody>
          <a:bodyPr wrap="square" lIns="0" tIns="0" rIns="0" bIns="0" rtlCol="0" anchor="ctr"/>
          <a:lstStyle/>
          <a:p>
            <a:pPr indent="0" marL="0">
              <a:buNone/>
            </a:pPr>
            <a:r>
              <a:rPr lang="en-US" sz="1600" b="1" dirty="0">
                <a:solidFill>
                  <a:srgbClr val="0B7A44"/>
                </a:solidFill>
                <a:latin typeface="Calibri" pitchFamily="34" charset="0"/>
                <a:ea typeface="Calibri" pitchFamily="34" charset="-122"/>
                <a:cs typeface="Calibri" pitchFamily="34" charset="-120"/>
              </a:rPr>
              <a:t>Carries over unchanged</a:t>
            </a:r>
            <a:endParaRPr lang="en-US" sz="1600" dirty="0"/>
          </a:p>
        </p:txBody>
      </p:sp>
      <p:sp>
        <p:nvSpPr>
          <p:cNvPr id="6" name="Shape 4"/>
          <p:cNvSpPr/>
          <p:nvPr/>
        </p:nvSpPr>
        <p:spPr>
          <a:xfrm>
            <a:off x="932688" y="2500884"/>
            <a:ext cx="82296" cy="82296"/>
          </a:xfrm>
          <a:prstGeom prst="ellipse">
            <a:avLst/>
          </a:prstGeom>
          <a:solidFill>
            <a:srgbClr val="0B7A44"/>
          </a:solidFill>
          <a:ln w="12700">
            <a:solidFill>
              <a:srgbClr val="333333"/>
            </a:solidFill>
            <a:prstDash val="solid"/>
          </a:ln>
        </p:spPr>
      </p:sp>
      <p:sp>
        <p:nvSpPr>
          <p:cNvPr id="7" name="Text 5"/>
          <p:cNvSpPr txBox="1"/>
          <p:nvPr/>
        </p:nvSpPr>
        <p:spPr>
          <a:xfrm>
            <a:off x="1170432" y="2450592"/>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@nx/playwright has the same atomizer — one target per spec file</a:t>
            </a:r>
            <a:endParaRPr lang="en-US" sz="1200" dirty="0"/>
          </a:p>
        </p:txBody>
      </p:sp>
      <p:sp>
        <p:nvSpPr>
          <p:cNvPr id="8" name="Shape 6"/>
          <p:cNvSpPr/>
          <p:nvPr/>
        </p:nvSpPr>
        <p:spPr>
          <a:xfrm>
            <a:off x="932688" y="3122676"/>
            <a:ext cx="82296" cy="82296"/>
          </a:xfrm>
          <a:prstGeom prst="ellipse">
            <a:avLst/>
          </a:prstGeom>
          <a:solidFill>
            <a:srgbClr val="0B7A44"/>
          </a:solidFill>
          <a:ln w="12700">
            <a:solidFill>
              <a:srgbClr val="333333"/>
            </a:solidFill>
            <a:prstDash val="solid"/>
          </a:ln>
        </p:spPr>
      </p:sp>
      <p:sp>
        <p:nvSpPr>
          <p:cNvPr id="9" name="Text 7"/>
          <p:cNvSpPr txBox="1"/>
          <p:nvPr/>
        </p:nvSpPr>
        <p:spPr>
          <a:xfrm>
            <a:off x="1170432" y="3072384"/>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Same names: e2e-ci--src/e2e/checkout.spec.ts</a:t>
            </a:r>
            <a:endParaRPr lang="en-US" sz="1200" dirty="0"/>
          </a:p>
        </p:txBody>
      </p:sp>
      <p:sp>
        <p:nvSpPr>
          <p:cNvPr id="10" name="Shape 8"/>
          <p:cNvSpPr/>
          <p:nvPr/>
        </p:nvSpPr>
        <p:spPr>
          <a:xfrm>
            <a:off x="932688" y="3744468"/>
            <a:ext cx="82296" cy="82296"/>
          </a:xfrm>
          <a:prstGeom prst="ellipse">
            <a:avLst/>
          </a:prstGeom>
          <a:solidFill>
            <a:srgbClr val="0B7A44"/>
          </a:solidFill>
          <a:ln w="12700">
            <a:solidFill>
              <a:srgbClr val="333333"/>
            </a:solidFill>
            <a:prstDash val="solid"/>
          </a:ln>
        </p:spPr>
      </p:sp>
      <p:sp>
        <p:nvSpPr>
          <p:cNvPr id="11" name="Text 9"/>
          <p:cNvSpPr txBox="1"/>
          <p:nvPr/>
        </p:nvSpPr>
        <p:spPr>
          <a:xfrm>
            <a:off x="1170432" y="3694176"/>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Same Nx Cloud gate on the e2e-ci wrapper</a:t>
            </a:r>
            <a:endParaRPr lang="en-US" sz="1200" dirty="0"/>
          </a:p>
        </p:txBody>
      </p:sp>
      <p:sp>
        <p:nvSpPr>
          <p:cNvPr id="12" name="Shape 10"/>
          <p:cNvSpPr/>
          <p:nvPr/>
        </p:nvSpPr>
        <p:spPr>
          <a:xfrm>
            <a:off x="932688" y="4366260"/>
            <a:ext cx="82296" cy="82296"/>
          </a:xfrm>
          <a:prstGeom prst="ellipse">
            <a:avLst/>
          </a:prstGeom>
          <a:solidFill>
            <a:srgbClr val="0B7A44"/>
          </a:solidFill>
          <a:ln w="12700">
            <a:solidFill>
              <a:srgbClr val="333333"/>
            </a:solidFill>
            <a:prstDash val="solid"/>
          </a:ln>
        </p:spPr>
      </p:sp>
      <p:sp>
        <p:nvSpPr>
          <p:cNvPr id="13" name="Text 11"/>
          <p:cNvSpPr txBox="1"/>
          <p:nvPr/>
        </p:nvSpPr>
        <p:spPr>
          <a:xfrm>
            <a:off x="1170432" y="4315968"/>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run-e2e.mjs needs no changes — it only reads the graph</a:t>
            </a:r>
            <a:endParaRPr lang="en-US" sz="1200" dirty="0"/>
          </a:p>
        </p:txBody>
      </p:sp>
      <p:sp>
        <p:nvSpPr>
          <p:cNvPr id="14" name="Shape 12"/>
          <p:cNvSpPr/>
          <p:nvPr/>
        </p:nvSpPr>
        <p:spPr>
          <a:xfrm>
            <a:off x="6263640" y="1828800"/>
            <a:ext cx="5349240" cy="3200400"/>
          </a:xfrm>
          <a:prstGeom prst="roundRect">
            <a:avLst>
              <a:gd name="adj" fmla="val 2286"/>
            </a:avLst>
          </a:prstGeom>
          <a:solidFill>
            <a:srgbClr val="FFF7E6"/>
          </a:solidFill>
          <a:ln w="12700">
            <a:solidFill>
              <a:srgbClr val="B45309"/>
            </a:solidFill>
            <a:prstDash val="solid"/>
          </a:ln>
        </p:spPr>
      </p:sp>
      <p:sp>
        <p:nvSpPr>
          <p:cNvPr id="15" name="Text 13"/>
          <p:cNvSpPr txBox="1"/>
          <p:nvPr/>
        </p:nvSpPr>
        <p:spPr>
          <a:xfrm>
            <a:off x="6537960" y="2011680"/>
            <a:ext cx="4800600" cy="320040"/>
          </a:xfrm>
          <a:prstGeom prst="rect">
            <a:avLst/>
          </a:prstGeom>
          <a:noFill/>
          <a:ln/>
        </p:spPr>
        <p:txBody>
          <a:bodyPr wrap="square" lIns="0" tIns="0" rIns="0" bIns="0" rtlCol="0" anchor="ctr"/>
          <a:lstStyle/>
          <a:p>
            <a:pPr indent="0" marL="0">
              <a:buNone/>
            </a:pPr>
            <a:r>
              <a:rPr lang="en-US" sz="1600" b="1" dirty="0">
                <a:solidFill>
                  <a:srgbClr val="B45309"/>
                </a:solidFill>
                <a:latin typeface="Calibri" pitchFamily="34" charset="0"/>
                <a:ea typeface="Calibri" pitchFamily="34" charset="-122"/>
                <a:cs typeface="Calibri" pitchFamily="34" charset="-120"/>
              </a:rPr>
              <a:t>What changes</a:t>
            </a:r>
            <a:endParaRPr lang="en-US" sz="1600" dirty="0"/>
          </a:p>
        </p:txBody>
      </p:sp>
      <p:sp>
        <p:nvSpPr>
          <p:cNvPr id="16" name="Shape 14"/>
          <p:cNvSpPr/>
          <p:nvPr/>
        </p:nvSpPr>
        <p:spPr>
          <a:xfrm>
            <a:off x="6556248" y="2500884"/>
            <a:ext cx="82296" cy="82296"/>
          </a:xfrm>
          <a:prstGeom prst="ellipse">
            <a:avLst/>
          </a:prstGeom>
          <a:solidFill>
            <a:srgbClr val="B45309"/>
          </a:solidFill>
          <a:ln w="12700">
            <a:solidFill>
              <a:srgbClr val="333333"/>
            </a:solidFill>
            <a:prstDash val="solid"/>
          </a:ln>
        </p:spPr>
      </p:sp>
      <p:sp>
        <p:nvSpPr>
          <p:cNvPr id="17" name="Text 15"/>
          <p:cNvSpPr txBox="1"/>
          <p:nvPr/>
        </p:nvSpPr>
        <p:spPr>
          <a:xfrm>
            <a:off x="6793992" y="2450592"/>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Playwright already runs spec files across worker processes. Cypress does not — that gap is most of the win here</a:t>
            </a:r>
            <a:endParaRPr lang="en-US" sz="1200" dirty="0"/>
          </a:p>
        </p:txBody>
      </p:sp>
      <p:sp>
        <p:nvSpPr>
          <p:cNvPr id="18" name="Shape 16"/>
          <p:cNvSpPr/>
          <p:nvPr/>
        </p:nvSpPr>
        <p:spPr>
          <a:xfrm>
            <a:off x="6556248" y="3122676"/>
            <a:ext cx="82296" cy="82296"/>
          </a:xfrm>
          <a:prstGeom prst="ellipse">
            <a:avLst/>
          </a:prstGeom>
          <a:solidFill>
            <a:srgbClr val="B45309"/>
          </a:solidFill>
          <a:ln w="12700">
            <a:solidFill>
              <a:srgbClr val="333333"/>
            </a:solidFill>
            <a:prstDash val="solid"/>
          </a:ln>
        </p:spPr>
      </p:sp>
      <p:sp>
        <p:nvSpPr>
          <p:cNvPr id="19" name="Text 17"/>
          <p:cNvSpPr txBox="1"/>
          <p:nvPr/>
        </p:nvSpPr>
        <p:spPr>
          <a:xfrm>
            <a:off x="6793992" y="3072384"/>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Atomizing swaps that warm pool for one cold browser launch per target</a:t>
            </a:r>
            <a:endParaRPr lang="en-US" sz="1200" dirty="0"/>
          </a:p>
        </p:txBody>
      </p:sp>
      <p:sp>
        <p:nvSpPr>
          <p:cNvPr id="20" name="Shape 18"/>
          <p:cNvSpPr/>
          <p:nvPr/>
        </p:nvSpPr>
        <p:spPr>
          <a:xfrm>
            <a:off x="6556248" y="3744468"/>
            <a:ext cx="82296" cy="82296"/>
          </a:xfrm>
          <a:prstGeom prst="ellipse">
            <a:avLst/>
          </a:prstGeom>
          <a:solidFill>
            <a:srgbClr val="B45309"/>
          </a:solidFill>
          <a:ln w="12700">
            <a:solidFill>
              <a:srgbClr val="333333"/>
            </a:solidFill>
            <a:prstDash val="solid"/>
          </a:ln>
        </p:spPr>
      </p:sp>
      <p:sp>
        <p:nvSpPr>
          <p:cNvPr id="21" name="Text 19"/>
          <p:cNvSpPr txBox="1"/>
          <p:nvPr/>
        </p:nvSpPr>
        <p:spPr>
          <a:xfrm>
            <a:off x="6793992" y="3694176"/>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Playwright ships native --shard, so rung 4 needs no Nx either</a:t>
            </a:r>
            <a:endParaRPr lang="en-US" sz="1200" dirty="0"/>
          </a:p>
        </p:txBody>
      </p:sp>
      <p:sp>
        <p:nvSpPr>
          <p:cNvPr id="22" name="Shape 20"/>
          <p:cNvSpPr/>
          <p:nvPr/>
        </p:nvSpPr>
        <p:spPr>
          <a:xfrm>
            <a:off x="640080" y="5212080"/>
            <a:ext cx="10881360" cy="1097280"/>
          </a:xfrm>
          <a:prstGeom prst="roundRect">
            <a:avLst>
              <a:gd name="adj" fmla="val 5833"/>
            </a:avLst>
          </a:prstGeom>
          <a:solidFill>
            <a:srgbClr val="FFFFFF"/>
          </a:solidFill>
          <a:ln w="12700">
            <a:solidFill>
              <a:srgbClr val="E2E6ED"/>
            </a:solidFill>
            <a:prstDash val="solid"/>
          </a:ln>
        </p:spPr>
      </p:sp>
      <p:sp>
        <p:nvSpPr>
          <p:cNvPr id="23" name="Text 21"/>
          <p:cNvSpPr txBox="1"/>
          <p:nvPr/>
        </p:nvSpPr>
        <p:spPr>
          <a:xfrm>
            <a:off x="914400" y="5349240"/>
            <a:ext cx="10332720" cy="868680"/>
          </a:xfrm>
          <a:prstGeom prst="rect">
            <a:avLst/>
          </a:prstGeom>
          <a:noFill/>
          <a:ln/>
        </p:spPr>
        <p:txBody>
          <a:bodyPr wrap="square" lIns="0" tIns="0" rIns="0" bIns="0" rtlCol="0" anchor="t"/>
          <a:lstStyle/>
          <a:p>
            <a:pPr indent="0" marL="0">
              <a:lnSpc>
                <a:spcPct val="115000"/>
              </a:lnSpc>
              <a:buNone/>
            </a:pPr>
            <a:r>
              <a:rPr lang="en-US" sz="1300" b="1" dirty="0">
                <a:solidFill>
                  <a:srgbClr val="10131A"/>
                </a:solidFill>
                <a:latin typeface="Calibri" pitchFamily="34" charset="0"/>
                <a:ea typeface="Calibri" pitchFamily="34" charset="-122"/>
                <a:cs typeface="Calibri" pitchFamily="34" charset="-120"/>
              </a:rPr>
              <a:t>The short answer — </a:t>
            </a:r>
            <a:pPr indent="0" marL="0">
              <a:lnSpc>
                <a:spcPct val="115000"/>
              </a:lnSpc>
              <a:buNone/>
            </a:pPr>
            <a:r>
              <a:rPr lang="en-US" sz="1300" dirty="0">
                <a:solidFill>
                  <a:srgbClr val="10131A"/>
                </a:solidFill>
                <a:latin typeface="Calibri" pitchFamily="34" charset="0"/>
                <a:ea typeface="Calibri" pitchFamily="34" charset="-122"/>
                <a:cs typeface="Calibri" pitchFamily="34" charset="-120"/>
              </a:rPr>
              <a:t>on Cypress the atomizer buys you parallelism and caching. On Playwright it mostly buys caching, because the parallelism was already there.</a:t>
            </a:r>
            <a:endParaRPr lang="en-US" sz="1300" dirty="0"/>
          </a:p>
          <a:p>
            <a:pPr indent="0" marL="0">
              <a:lnSpc>
                <a:spcPct val="115000"/>
              </a:lnSpc>
              <a:buNone/>
            </a:pPr>
            <a:r>
              <a:rPr lang="en-US" sz="1300" dirty="0">
                <a:solidFill>
                  <a:srgbClr val="5C6675"/>
                </a:solidFill>
                <a:latin typeface="Calibri" pitchFamily="34" charset="0"/>
                <a:ea typeface="Calibri" pitchFamily="34" charset="-122"/>
                <a:cs typeface="Calibri" pitchFamily="34" charset="-120"/>
              </a:rPr>
              <a:t>Still worth it: the cache and failure-only retries have no Playwright equivalent, and affected does not care which runner you use. Measure before you trade away the worker pool.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2026-09-09T03:07:57Z</dcterms:created>
  <dcterms:modified xsi:type="dcterms:W3CDTF">2026-09-09T03:07:57Z</dcterms:modified>
</cp:coreProperties>
</file>