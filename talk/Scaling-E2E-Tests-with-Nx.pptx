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
BEFORE YOU PRESENT
  $ cd ~/IdeaProjects/nx-scaling-e2e-tests-with-atomizer
  $ npm ci &amp;&amp; npx cypress install
  $ npm run demo:status      → expect buggyDiscount: false
  $ npx nx reset             → cold cache, so the first number is honest
  Keep a terminal in the repo root on a second screen or a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Nearly everyone puts one up, which is the point —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The hands thin out and someone usually laughs. Do not rush past that laugh,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Almost nobody gates a merge on a suite they cannot trust. Now reveal the line at the bottom and move —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
DEMO — show the real graph
  $ npx nx graph
  Opens a browser. Click shop, then ui, to show what depends on what.
  Ctrl+C when done. `npx nx graph --print` if the projector hates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
DEMO — the un-atomized baseline
  $ npx nx e2e shop-e2e
  ~1m 33s for ONE app. Start it, keep talking, come back to it.
  All three serially is 4m 20s — quote that, do not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
DEMO — what the atomizer generated
  $ npm run e2e:targets
  30 targets across 3 projects. Point out the names are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
DEMO — where the targets come from
  $ npx nx show project shop-e2e --json
  (wide — use `npm run e2e:targets` if the JSON does not fit the screen)
  $ grep -A8 "cypress/plugin" nx.json
  Nine lines of config generate all thirty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 Nx 23 added the guard. Do not rush to the workaround: sit on the third bullet. For a lot of the room this is not a technical problem at all, it is a purchase order they are not going to win this quarter. The good news lands on the next slide.
DEMO — hit the gate, then walk around it
  $ npx nx run-many -t e2e-ci --parallel=5
  Fails, listing all three e2e-ci tasks. Read it out loud.
  $ npx nx run "shop-e2e:e2e-ci--src/e2e/catalog.cy.ts"
  Same plugin, one leaf target, green. ~25s from cold because it builds the
  app and starts preview first; a couple of seconds once those are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
DEMO — parallel on one machine
  $ npx nx reset
  $ node tools/run-e2e.mjs --project=shop-e2e --parallel=5
  ~40-46s across runs, against the 1m 33s baseline from earlier.
  Whole workspace if you have time: node tools/run-e2e.mjs --parallel=5  (~2m 06s)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
DEMO — the same thing on CI
  $ gh run list --limit 5
  $ gh run view --web
  One job per app, and the matrix is generated from the graph:
  $ sed -n "1,40p" .github/workflows/e2e.yml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
DEMO — run it again
  $ node tools/run-e2e.mjs --project=shop-e2e --parallel=5
  Up-arrow, enter. Back in ~0.2s with 11/12 cache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
DEMO — the money moment
  $ npm run demo:break
  $ node tools/run-e2e.mjs --project=shop-e2e --parallel=5   → ~40s, 2 fail
  $ node tools/run-e2e.mjs --project=shop-e2e --parallel=5   → ~28s, 9/10 cached
  Nothing changed between those two. Only the failures re-executed.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
DEMO — undo it
  $ npm run demo:fix
  $ node tools/run-e2e.mjs --project=shop-e2e --parallel=5
  ~0.2s. Reverting restored the old input hash, so the old results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
DO NOT RUN THIS LIVE
  $ npm run e2e:benchmark
  ~15 minutes — it runs every rung from a cold cache.
  Run it the morning of the talk and read the numbers off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
DEMO — let the graph choose
  $ npm run e2e:affected                                    → nothing affected, instant
  $ echo "/* demo */" &gt;&gt; libs/ui/src/styles.css
  $ node tools/e2e-targets.mjs --affected --projects-json   → ["admin-e2e","docs-e2e"]
  $ git checkout -- libs/ui/src/styles.css
  Discovery is instant. Only run the full affected suite (~1m 22s)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777240"/>
          </a:xfrm>
          <a:prstGeom prst="rect">
            <a:avLst/>
          </a:prstGeom>
          <a:noFill/>
          <a:ln/>
        </p:spPr>
        <p:txBody>
          <a:bodyPr wrap="square" lIns="0" tIns="0" rIns="0" bIns="0" rtlCol="0" anchor="ctr"/>
          <a:lstStyle/>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Making your slowest quality gate fast enough</a:t>
            </a:r>
            <a:endParaRPr lang="en-US" sz="1700" dirty="0"/>
          </a:p>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to actually use and trust on every pull request</a:t>
            </a:r>
            <a:endParaRPr lang="en-US" sz="1700" dirty="0"/>
          </a:p>
        </p:txBody>
      </p:sp>
      <p:sp>
        <p:nvSpPr>
          <p:cNvPr id="5" name="Shape 3"/>
          <p:cNvSpPr/>
          <p:nvPr/>
        </p:nvSpPr>
        <p:spPr>
          <a:xfrm>
            <a:off x="640080" y="4224528"/>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480560"/>
            <a:ext cx="1234440" cy="1234440"/>
          </a:xfrm>
          <a:prstGeom prst="ellipse">
            <a:avLst/>
          </a:prstGeom>
        </p:spPr>
      </p:pic>
      <p:sp>
        <p:nvSpPr>
          <p:cNvPr id="7" name="Text 4"/>
          <p:cNvSpPr txBox="1"/>
          <p:nvPr/>
        </p:nvSpPr>
        <p:spPr>
          <a:xfrm>
            <a:off x="2148840" y="4672584"/>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5084064"/>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2F4F7"/>
          </a:solidFill>
          <a:ln w="12700">
            <a:solidFill>
              <a:srgbClr val="DDE3EA"/>
            </a:solidFill>
            <a:prstDash val="dash"/>
          </a:ln>
        </p:spPr>
      </p:sp>
      <p:sp>
        <p:nvSpPr>
          <p:cNvPr id="10" name="Text 8"/>
          <p:cNvSpPr txBox="1"/>
          <p:nvPr/>
        </p:nvSpPr>
        <p:spPr>
          <a:xfrm>
            <a:off x="434340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1" name="Shape 9"/>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2" name="Text 10"/>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5" name="Text 13"/>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783080"/>
          </a:xfrm>
          <a:prstGeom prst="roundRect">
            <a:avLst>
              <a:gd name="adj" fmla="val 3590"/>
            </a:avLst>
          </a:prstGeom>
          <a:solidFill>
            <a:srgbClr val="2A1116"/>
          </a:solidFill>
          <a:ln w="19050">
            <a:solidFill>
              <a:srgbClr val="FB7185"/>
            </a:solidFill>
            <a:prstDash val="solid"/>
          </a:ln>
        </p:spPr>
      </p:sp>
      <p:sp>
        <p:nvSpPr>
          <p:cNvPr id="7" name="Text 5"/>
          <p:cNvSpPr txBox="1"/>
          <p:nvPr/>
        </p:nvSpPr>
        <p:spPr>
          <a:xfrm>
            <a:off x="914400" y="2880360"/>
            <a:ext cx="10332720" cy="146304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following tasks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admin-e2e:e2e-ci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docs-e2e:e2e-ci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shop-e2e:e2e-ci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663440"/>
            <a:ext cx="10881360" cy="411480"/>
          </a:xfrm>
          <a:prstGeom prst="rect">
            <a:avLst/>
          </a:prstGeom>
          <a:noFill/>
          <a:ln/>
        </p:spPr>
        <p:txBody>
          <a:bodyPr wrap="square" lIns="0" tIns="0" rIns="0" bIns="0" rtlCol="0" anchor="ctr"/>
          <a:lstStyle/>
          <a:p>
            <a:pPr indent="0" marL="0">
              <a:buNone/>
            </a:pPr>
            <a:r>
              <a:rPr lang="en-US" sz="2400" b="1" dirty="0">
                <a:solidFill>
                  <a:srgbClr val="F5A524"/>
                </a:solidFill>
                <a:latin typeface="Cambria" pitchFamily="34" charset="0"/>
                <a:ea typeface="Cambria" pitchFamily="34" charset="-122"/>
                <a:cs typeface="Cambria" pitchFamily="34" charset="-120"/>
              </a:rPr>
              <a:t>So now it is a procurement question.</a:t>
            </a:r>
            <a:endParaRPr lang="en-US" sz="2400" dirty="0"/>
          </a:p>
        </p:txBody>
      </p:sp>
      <p:sp>
        <p:nvSpPr>
          <p:cNvPr id="9" name="Text 7"/>
          <p:cNvSpPr txBox="1"/>
          <p:nvPr/>
        </p:nvSpPr>
        <p:spPr>
          <a:xfrm>
            <a:off x="640080" y="5166360"/>
            <a:ext cx="10881360" cy="1371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Cloud is a premium service from Nx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Is it approved in your organisation?</a:t>
            </a:r>
            <a:endParaRPr lang="en-US" sz="1500" dirty="0"/>
          </a:p>
          <a:p>
            <a:pPr marL="342900" indent="-342900">
              <a:spcAft>
                <a:spcPts val="1000"/>
              </a:spcAft>
              <a:buSzPct val="100000"/>
              <a:buChar char="•"/>
            </a:pPr>
            <a:r>
              <a:rPr lang="en-US" sz="1500" b="1" dirty="0">
                <a:solidFill>
                  <a:srgbClr val="FB7185"/>
                </a:solidFill>
                <a:latin typeface="Calibri" pitchFamily="34" charset="0"/>
                <a:ea typeface="Calibri" pitchFamily="34" charset="-122"/>
                <a:cs typeface="Calibri" pitchFamily="34" charset="-120"/>
              </a:rPr>
              <a:t>If not approved — you are blocked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824805"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71125"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40s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597972"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444292"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20s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20632"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6952"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785" cy="292608"/>
          </a:xfrm>
          <a:prstGeom prst="roundRect">
            <a:avLst>
              <a:gd name="adj" fmla="val 39420"/>
            </a:avLst>
          </a:prstGeom>
          <a:solidFill>
            <a:srgbClr val="15803D"/>
          </a:solidFill>
          <a:ln w="12700">
            <a:solidFill>
              <a:srgbClr val="15803D"/>
            </a:solidFill>
            <a:prstDash val="solid"/>
          </a:ln>
        </p:spPr>
      </p:sp>
      <p:sp>
        <p:nvSpPr>
          <p:cNvPr id="23" name="Text 21"/>
          <p:cNvSpPr txBox="1"/>
          <p:nvPr/>
        </p:nvSpPr>
        <p:spPr>
          <a:xfrm>
            <a:off x="4939105"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2026-09-08T03:03:24Z</dcterms:created>
  <dcterms:modified xsi:type="dcterms:W3CDTF">2026-09-08T03:03:24Z</dcterms:modified>
</cp:coreProperties>
</file>